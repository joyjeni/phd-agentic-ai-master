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Title Slide</a:t>
            </a:r>
          </a:p>
          <a:p/>
          <a:p>
            <a:r>
              <a:rPr lang="en-US" dirty="0" sz="1200"/>
              <a:t>My research is titled "Design and Evaluation of ACRS — Adaptive Context Reasoning System — for Efficient Multi-Agent LLM Inference." I'm Jenisha T, PhD candidate in the Department of Computer Science and Engineering at M.S. Ramaiah University of Applied Sciences, working under the supervision of Dr. Jyothi A P.</a:t>
            </a:r>
          </a:p>
          <a:p/>
          <a:p>
            <a:r>
              <a:rPr lang="en-US" dirty="0" sz="1200"/>
              <a:t>The name ACRS is deliberate. It's not just another LLM optimization paper. The word adaptive carries weight — I'll show you exactly where adaptation happens, why it can't be static, and how I measure whether adaptation actually worked. The word context is equally intentional — context is the thing that dies in multi-agent systems, and ACRS is fundamentally about keeping it alive, compact, and available.</a:t>
            </a:r>
          </a:p>
          <a:p/>
          <a:p>
            <a:r>
              <a:rPr lang="en-US" dirty="0" sz="1200"/>
              <a:t>This is a four-objective system proposal. Each objective addresses a distinct failure mode that currently makes multi-agent LLM inference unreliable at scale. By the end of this presentation, I want you to be convinced not just that these problems exist, but that my specific engineering choices are the right ones to solve them — and that no one has done this particular combination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Table of Contents + Abbreviations</a:t>
            </a:r>
          </a:p>
          <a:p/>
          <a:p>
            <a:r>
              <a:rPr lang="en-US" dirty="0" sz="1200"/>
              <a:t>Let me orient you to the structure before I dive in, because ACRS has four components that interact, and it's easy to lose the thread.</a:t>
            </a:r>
          </a:p>
          <a:p/>
          <a:p>
            <a:r>
              <a:rPr lang="en-US" dirty="0" sz="1200"/>
              <a:t>The presentation moves from problem to literature to gaps to objectives to architecture to novelty to feasibility. The four objectives are: SessionRerank+ (tool reranking across sessions), APRR+CDR+PDR (adaptive multi-strategy routing), MNCD (distributed context across nodes), and FCNP (context graph pruning). These aren't independent modules I bolted together — each one solves a failure that the others can't address alone.</a:t>
            </a:r>
          </a:p>
          <a:p/>
          <a:p>
            <a:r>
              <a:rPr lang="en-US" dirty="0" sz="1200"/>
              <a:t>Key abbreviations you'll see throughout: LLM — Large Language Model; ACRS — Adaptive Context Reasoning System; BM25 — Best Match 25, a lexical retrieval function; NDCG — Normalized Discounted Cumulative Gain, my primary ranking metric; RL — Reinforcement Learning; CoT — Chain-of-Thought; CDR — Context-Driven Routing; PDR — Parallel Dispatch Routing; APRR — Adaptive Probabilistic Routing Reinforcement; MNCD — Multi-Node Context Distribution; FCNP — Flow-Controlled Network Pruning; KV — Key-Value (as in KV cache); PRP — PhD Research Proposal.</a:t>
            </a:r>
          </a:p>
          <a:p/>
          <a:p>
            <a:r>
              <a:rPr lang="en-US" dirty="0" sz="1200"/>
              <a:t>I'll define any term the first time I use it in context, but this glossary is your anchor if something comes up later that needs a quick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Section Divider: Problem Context</a:t>
            </a:r>
          </a:p>
          <a:p/>
          <a:p>
            <a:r>
              <a:rPr lang="en-US" dirty="0" sz="1200"/>
              <a:t>Before I show you what I built, I want to show you exactly what's broken. This section is the foundation of everything. If I can't convince you these four problems are real, distinct, and unsolved, nothing else in this proposal matters.</a:t>
            </a:r>
          </a:p>
          <a:p/>
          <a:p>
            <a:r>
              <a:rPr lang="en-US" dirty="0" sz="1200"/>
              <a:t>The problems I'm about to describe aren't theoretical gaps I inferred from reading papers in isolation. They emerge directly from working with multi-agent LLM systems at inference time — from watching what actually fails when you move beyond a single-model, single-turn query into a realistic production environment where multiple agents collaborate, sessions have memory, infrastructure is imperfect, and context accumulates without bound.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Problem Context: 4 Core Challenges</a:t>
            </a:r>
          </a:p>
          <a:p/>
          <a:p>
            <a:r>
              <a:rPr lang="en-US" dirty="0" sz="1200"/>
              <a:t>I've identified four core challenges. Let me walk through each one concretely, because each one directly maps to one of my objectives.</a:t>
            </a:r>
          </a:p>
          <a:p/>
          <a:p>
            <a:r>
              <a:rPr lang="en-US" dirty="0" sz="1200"/>
              <a:t>Challenge 1: Tool selection fails across multi-turn sessions. The state of the art in tool retrieval is BM25 plus dense vector retrieval — essentially, you embed the query and find the most similar API description. That works fine if every query is independent. But in a real agent session, queries have history. If a user has been asking about agricultural commodity prices for three turns, the Agmarknet API should be ranked higher on the fourth turn even if the fourth query phrasing doesn't explicitly mention agriculture. Static retrieval ignores this entirely. The result is that you keep retrieving the wrong tools because you're treating each turn like it's the first turn.</a:t>
            </a:r>
          </a:p>
          <a:p/>
          <a:p>
            <a:r>
              <a:rPr lang="en-US" dirty="0" sz="1200"/>
              <a:t>Challenge 2: Routing is brittle. Every published LLM router — RouteLLM, FrugalGPT, PickLLM — learns its policy offline and freezes it before deployment. That's fine if the world doesn't change. But in production, agents fail, latency patterns shift, and some models become slower during peak hours. A frozen router has no mechanism to respond. It keeps sending traffic to a degraded agent because it doesn't know the agent has degraded. I need a router that updates its own weights based on live session signals.</a:t>
            </a:r>
          </a:p>
          <a:p/>
          <a:p>
            <a:r>
              <a:rPr lang="en-US" dirty="0" sz="1200"/>
              <a:t>Challenge 3: Context dies when nodes fail. In a 5-agent distributed system, if you centralize your context store and two nodes go down, you lose everything those nodes held. There is no published protocol specifically designed for epidemic-style broadcast of LLM session context across agent nodes with fault tolerance. This is a genuine gap, not a minor limitation. A 44% context availability rate under node failure — which is what you get with a naive single-agent approach — is not acceptable for any production system.</a:t>
            </a:r>
          </a:p>
          <a:p/>
          <a:p>
            <a:r>
              <a:rPr lang="en-US" dirty="0" sz="1200"/>
              <a:t>Challenge 4: Context bloat. Multi-agent LLM systems accumulate context graphs that grow at roughly 50 or more records per turn. At that rate, within a single long session you're carrying thousands of tokens of dead weight — old context that's no longer relevant but hasn't been pruned. The problem is that naive pruning destroys citations. If I summarize away the reasoning chain that justified a decision, I lose the audit trail. I need a compression method that achieves 10:1 reduction while preserving citation-bearing nodes — and no current system does both.</a:t>
            </a:r>
          </a:p>
          <a:p/>
          <a:p>
            <a:r>
              <a:rPr lang="en-US" dirty="0" sz="1200"/>
              <a:t>If you're asking yourself why I'm framing these as four separate objectives rather than one unified problem — the reason is that each failure mode operates at a different layer of the inference stack. Challenge 1 is retrieval. Challenge 2 is routing. Challenge 3 is distribution. Challenge 4 is representation. They require fundamentally different technical approaches, and collapsing them into a single mechanism would make each one worse.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1: Tool Retrieval &amp; API Selection</a:t>
            </a:r>
          </a:p>
          <a:p/>
          <a:p>
            <a:r>
              <a:rPr lang="en-US" dirty="0" sz="1200"/>
              <a:t>The most relevant prior work on tool retrieval is ToolBench and ToolLLM (Qin et al., 2023). They created the 43,000-API catalog I use as my benchmark dataset, and they showed that dense retrieval with a fine-tuned embedding model outperforms BM25 significantly. ToolLLM achieves a baseline NDCG@5 of around 0.452 on multi-tool queries.</a:t>
            </a:r>
          </a:p>
          <a:p/>
          <a:p>
            <a:r>
              <a:rPr lang="en-US" dirty="0" sz="1200"/>
              <a:t>Here's what ToolLLM doesn't do — and this is the critical gap: it has no concept of session state. Every query in ToolLLM's retrieval is treated as a fresh request. There's no mechanism to say "this user has been in an agricultural context for several turns, so agricultural APIs should get a prior-activity boost." The model is stateless by design.</a:t>
            </a:r>
          </a:p>
          <a:p/>
          <a:p>
            <a:r>
              <a:rPr lang="en-US" dirty="0" sz="1200"/>
              <a:t>LazyLLM (Fu et al., 2024) is the other highly relevant paper here. LazyLLM does something clever — it prunes the KV cache per query based on which tokens are attended to. It's a form of dynamic context management. But it operates at the token level within a single query, not at the API selection level across multiple turns. It can't tell me that the Agmarknet API was useful two turns ago and should be prioritized now.</a:t>
            </a:r>
          </a:p>
          <a:p/>
          <a:p>
            <a:r>
              <a:rPr lang="en-US" dirty="0" sz="1200"/>
              <a:t>You might ask: couldn't I just fine-tune ToolLLM on session-aware data and get the same effect? I considered this. The problem is that fine-tuning requires a static training set of multi-turn sessions with ground-truth API labels. Session distributions shift — what co-activates depends on the user's evolving task, which you can't fully anticipate at training time. I need an online mechanism that updates as the session unfolds, not a model that generalizes from a training corpus.</a:t>
            </a:r>
          </a:p>
          <a:p/>
          <a:p>
            <a:r>
              <a:rPr lang="en-US" dirty="0" sz="1200"/>
              <a:t>ReAct (Yao et al., 2022) is also relevant because it formalizes the reason-act cycle in tool-using agents. But ReAct says nothing about how to rank which tools to use — it assumes the tool set is already determined. My work sits upstream of ReAct.</a:t>
            </a:r>
          </a:p>
          <a:p/>
          <a:p>
            <a:r>
              <a:rPr lang="en-US" dirty="0" sz="1200"/>
              <a:t>The gap from this theme: no existing retrieval system uses session co-activation history to rerank tools across turns. That's my Objective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2: LLM Routing</a:t>
            </a:r>
          </a:p>
          <a:p/>
          <a:p>
            <a:r>
              <a:rPr lang="en-US" dirty="0" sz="1200"/>
              <a:t>RouteLLM (Ong et al., 2024) is the flagship paper in learned routing. The idea is elegant: train a router to decide whether a query should go to a strong, expensive model or a weak, cheap one. They use preference data from human feedback and achieve significant cost reduction without much quality loss. It's a genuinely good paper.</a:t>
            </a:r>
          </a:p>
          <a:p/>
          <a:p>
            <a:r>
              <a:rPr lang="en-US" dirty="0" sz="1200"/>
              <a:t>My problem with RouteLLM is one word: offline. The router is trained, frozen, and deployed. If the "strong" model starts taking 800ms to respond instead of 200ms, RouteLLM doesn't know. It keeps routing as if nothing changed. In a multi-agent setup where agents are specialized and can fail independently, this is a serious limitation.</a:t>
            </a:r>
          </a:p>
          <a:p/>
          <a:p>
            <a:r>
              <a:rPr lang="en-US" dirty="0" sz="1200"/>
              <a:t>FrugalGPT (Chen et al., 2023) uses a cascade approach — try cheap models first, escalate only when confidence is low. Again, the thresholds are set at training time. There's no online update mechanism.</a:t>
            </a:r>
          </a:p>
          <a:p/>
          <a:p>
            <a:r>
              <a:rPr lang="en-US" dirty="0" sz="1200"/>
              <a:t>PickLLM extends this to multi-agent selection, but the policy is still learned offline from a static dataset. The common thread across all three: they all assume deployment conditions are stable, which they aren't.</a:t>
            </a:r>
          </a:p>
          <a:p/>
          <a:p>
            <a:r>
              <a:rPr lang="en-US" dirty="0" sz="1200"/>
              <a:t>You might ask: why not just retrain the router periodically, say every hour? That's closer to what I'm doing, but there's a key difference. Periodic retraining still has a lag window where the system is operating on a stale policy. My APRR uses an exponential decay update with λ=0.005 — meaning each new success or failure has immediate, though dampened, effect on the routing weights. There's no lag window. Every session signal updates the system continuously.</a:t>
            </a:r>
          </a:p>
          <a:p/>
          <a:p>
            <a:r>
              <a:rPr lang="en-US" dirty="0" sz="1200"/>
              <a:t>Mixtral-MoE and related Mixture-of-Experts work is also relevant here — the idea of conditional computation, where different experts handle different query types, is conceptually aligned with multi-agent routing. But MoE operates inside a single model at the layer level, not across separately deployed agents at the system level.</a:t>
            </a:r>
          </a:p>
          <a:p/>
          <a:p>
            <a:r>
              <a:rPr lang="en-US" dirty="0" sz="1200"/>
              <a:t>The gap: no published router does online RL weight updates based on live session signals. That's my Objective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3: Distributed Context &amp; Fault Tolerance</a:t>
            </a:r>
          </a:p>
          <a:p/>
          <a:p>
            <a:r>
              <a:rPr lang="en-US" dirty="0" sz="1200"/>
              <a:t>Distributed systems literature gives me the theoretical scaffolding for MNCD. Specifically, epidemic broadcast protocols — also called gossip protocols — are well-established in databases and P2P systems. Papers like Demers et al. (1987) on anti-entropy algorithms, and more recent work on CRDTs (Conflict-free Replicated Data Types), show that gossip-based propagation achieves O(log N) diffusion time and is highly fault-tolerant.</a:t>
            </a:r>
          </a:p>
          <a:p/>
          <a:p>
            <a:r>
              <a:rPr lang="en-US" dirty="0" sz="1200"/>
              <a:t>What doesn't exist is any application of gossip protocols to LLM agent context specifically. The LLM systems literature treats context as either: (a) a monolithic KV cache inside a single model, or (b) a centralized vector database that agents query. Option (a) doesn't distribute. Option (b) has a single point of failure.</a:t>
            </a:r>
          </a:p>
          <a:p/>
          <a:p>
            <a:r>
              <a:rPr lang="en-US" dirty="0" sz="1200"/>
              <a:t>Megatron-LM and Ray Serve frameworks handle model parallelism and inference serving at scale, but they don't address session context distribution. They're about spreading the model, not spreading the context.</a:t>
            </a:r>
          </a:p>
          <a:p/>
          <a:p>
            <a:r>
              <a:rPr lang="en-US" dirty="0" sz="1200"/>
              <a:t>You might ask: why not just use Redis with replication? Redis replication is well-understood, but it's a general-purpose key-value store. It has no notion of LLM session semantics — it doesn't understand that some context chunks are citations that must be preserved, that context has recency gradients, or that a "distress signal" should trigger targeted replication when a node's local context coherence drops below a threshold. My MNCD protocol encodes all of this in its design.</a:t>
            </a:r>
          </a:p>
          <a:p/>
          <a:p>
            <a:r>
              <a:rPr lang="en-US" dirty="0" sz="1200"/>
              <a:t>The CAP theorem is directly relevant here. In a distributed system, I can have at most two of: Consistency, Availability, Partition tolerance. My MNCD prioritizes availability and partition tolerance over strict consistency — I use R=3 replication and accept eventual consistency within a gossip window. This is a deliberate design choice that I'll defend when I get to the MNCD details.</a:t>
            </a:r>
          </a:p>
          <a:p/>
          <a:p>
            <a:r>
              <a:rPr lang="en-US" dirty="0" sz="1200"/>
              <a:t>The gap: no epidemic gossip protocol designed for LLM session context with distress signaling and citation-aware replication. That's my Objective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4: Context Compression &amp; Pruning</a:t>
            </a:r>
          </a:p>
          <a:p/>
          <a:p>
            <a:r>
              <a:rPr lang="en-US" dirty="0" sz="1200"/>
              <a:t>This is the richest area of prior work, and I want to be precise about where each paper falls short.</a:t>
            </a:r>
          </a:p>
          <a:p/>
          <a:p>
            <a:r>
              <a:rPr lang="en-US" dirty="0" sz="1200"/>
              <a:t>SparseGPT (Frantar &amp; Alistarh, 2023) does one-shot weight pruning — it removes model weights, not context tokens. It compresses the model, not the runtime context graph. Different problem entirely.</a:t>
            </a:r>
          </a:p>
          <a:p/>
          <a:p>
            <a:r>
              <a:rPr lang="en-US" dirty="0" sz="1200"/>
              <a:t>LoRA (Hu et al., 2021) is low-rank adaptation during fine-tuning — again, model compression, not context compression.</a:t>
            </a:r>
          </a:p>
          <a:p/>
          <a:p>
            <a:r>
              <a:rPr lang="en-US" dirty="0" sz="1200"/>
              <a:t>Scissorhands (Liu et al., 2023) prunes KV cache entries that haven't been "pivotal" in recent attention patterns. It's the closest prior work to what I'm doing. The key limitation: Scissorhands has no notion of citation preservation. It prunes based on recency and attention weight, and it will happily prune a citation node if it hasn't been attended to recently — even if that node is the only record of why an earlier decision was made.</a:t>
            </a:r>
          </a:p>
          <a:p/>
          <a:p>
            <a:r>
              <a:rPr lang="en-US" dirty="0" sz="1200"/>
              <a:t>H2O (Zhang et al., 2023) uses a heavy-hitter oracle to keep the most attended-to KV pairs. Same structural problem — no citation anchoring.</a:t>
            </a:r>
          </a:p>
          <a:p/>
          <a:p>
            <a:r>
              <a:rPr lang="en-US" dirty="0" sz="1200"/>
              <a:t>AdaKV and Finch are more recent variants that improve the attention-based scoring, but they inherit the same citation blindness.</a:t>
            </a:r>
          </a:p>
          <a:p/>
          <a:p>
            <a:r>
              <a:rPr lang="en-US" dirty="0" sz="1200"/>
              <a:t>StreamingLLM (Xiao et al., 2023) keeps the first few tokens (attention sink tokens) and a rolling window of recent tokens. Simple and effective for long-context streaming, but 10:1 compression is not achievable with a rolling window without losing significant semantic content.</a:t>
            </a:r>
          </a:p>
          <a:p/>
          <a:p>
            <a:r>
              <a:rPr lang="en-US" dirty="0" sz="1200"/>
              <a:t>You might ask: why do I need 10:1 compression specifically? That number comes from a practical constraint — in a 5-agent system running 10-turn sessions with 50+ records per turn, you accumulate roughly 2,500 context records. At 10:1 compression you're down to 250, which fits within the context window of current production models without truncation. Anything less than 10:1 means you still need to truncate, which destroys continuity.</a:t>
            </a:r>
          </a:p>
          <a:p/>
          <a:p>
            <a:r>
              <a:rPr lang="en-US" dirty="0" sz="1200"/>
              <a:t>My FCNP uses a Kirchhoff flow-field formulation — treating the context graph as an electrical network where information flow determines importance — with citation anchors that are exempt from pruning by definition. This is a fundamentally different mathematical framing from attention-weight-based methods, and it's the only approach I know of that gives you 10:1 compression with citation preservation.</a:t>
            </a:r>
          </a:p>
          <a:p/>
          <a:p>
            <a:r>
              <a:rPr lang="en-US" dirty="0" sz="1200"/>
              <a:t>The gap: no system applies Kirchhoff flow optimization to LLM context graph compression with citation-anchor preservation. That's my Objective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Gap Summary</a:t>
            </a:r>
          </a:p>
          <a:p/>
          <a:p>
            <a:r>
              <a:rPr lang="en-US" dirty="0" sz="1200"/>
              <a:t>Let me consolidate what I've just shown you from the literature into a clean gap table, because I want you to see that I'm not cherry-picking weaknesses — these are structural limitations in each body of work.</a:t>
            </a:r>
          </a:p>
          <a:p/>
          <a:p>
            <a:r>
              <a:rPr lang="en-US" dirty="0" sz="1200"/>
              <a:t>Gap 1 — Tool Retrieval: ToolLLM, LazyLLM, and ReAct all treat tool selection as a stateless per-query operation. No system uses session co-activation history to rerank tools in a multi-turn dialogue.</a:t>
            </a:r>
          </a:p>
          <a:p/>
          <a:p>
            <a:r>
              <a:rPr lang="en-US" dirty="0" sz="1200"/>
              <a:t>Gap 2 — Routing: RouteLLM, FrugalGPT, and PickLLM all learn offline. No published router performs online RL weight updates based on live binary session success signals.</a:t>
            </a:r>
          </a:p>
          <a:p/>
          <a:p>
            <a:r>
              <a:rPr lang="en-US" dirty="0" sz="1200"/>
              <a:t>Gap 3 — Distributed Context: Gossip protocols exist in databases and P2P systems. No work applies epidemic broadcast to LLM session context specifically, with distress signaling and citation-aware partial replication.</a:t>
            </a:r>
          </a:p>
          <a:p/>
          <a:p>
            <a:r>
              <a:rPr lang="en-US" dirty="0" sz="1200"/>
              <a:t>Gap 4 — Context Compression: Scissorhands, H2O, AdaKV, Finch, and StreamingLLM all compress based on attention patterns. None preserve citation nodes, and none achieve 10:1 compression with verifiable citation accuracy.</a:t>
            </a:r>
          </a:p>
          <a:p/>
          <a:p>
            <a:r>
              <a:rPr lang="en-US" dirty="0" sz="1200"/>
              <a:t>The critical thing to understand here is that these four gaps are not four papers waiting to be written in isolation. They are four failure modes that co-occur in any realistic multi-agent LLM system. A system that solves only one or two of them is still unreliable. ACRS addresses all four in a coherent integrated framework.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Research Gaps → 4 Objectives</a:t>
            </a:r>
          </a:p>
          <a:p/>
          <a:p>
            <a:r>
              <a:rPr lang="en-US" dirty="0" sz="1200"/>
              <a:t>From the four gaps, I derive four formally stated research objectives:</a:t>
            </a:r>
          </a:p>
          <a:p/>
          <a:p>
            <a:r>
              <a:rPr lang="en-US" dirty="0" sz="1200"/>
              <a:t>Objective 1: Design and evaluate a session-aware contextual tool reranker (SessionRerank+) that uses a co-activation session graph to boost API scores based on multi-turn usage history, targeting NDCG@5 ≥ 0.52 on the ToolBench benchmark.</a:t>
            </a:r>
          </a:p>
          <a:p/>
          <a:p>
            <a:r>
              <a:rPr lang="en-US" dirty="0" sz="1200"/>
              <a:t>Objective 2: Design and evaluate an adaptive multi-strategy LLM router (APRR+CDR+PDR) combining online reinforcement learning, deliberative context-driven routing, and parallel functional-token dispatch, targeting task success ≥ 47%, latency ≤ 265ms, and ≥35% latency reduction versus static routing baselines.</a:t>
            </a:r>
          </a:p>
          <a:p/>
          <a:p>
            <a:r>
              <a:rPr lang="en-US" dirty="0" sz="1200"/>
              <a:t>Objective 3: Design and evaluate a distributed context availability protocol (MNCD) using epidemic gossip broadcast with R=3 replication and distress signaling, targeting ≥97% context availability under simultaneous 2-of-5 node failures.</a:t>
            </a:r>
          </a:p>
          <a:p/>
          <a:p>
            <a:r>
              <a:rPr lang="en-US" dirty="0" sz="1200"/>
              <a:t>Objective 4: Design and evaluate a Kirchhoff flow-based context graph pruning system (FCNP) achieving 10:1 compression with ≥99% citation preservation accuracy, validated against seven baseline compression methods.</a:t>
            </a:r>
          </a:p>
          <a:p/>
          <a:p>
            <a:r>
              <a:rPr lang="en-US" dirty="0" sz="1200"/>
              <a:t>These objectives are ordered by dependency: SessionRerank+ feeds better tool results into the routing layer; the routing layer dispatches to agents whose context is maintained by MNCD; and the accumulated context is compressed by FCNP. They form a pipeline.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Framework Overview</a:t>
            </a:r>
          </a:p>
          <a:p/>
          <a:p>
            <a:r>
              <a:rPr lang="en-US" dirty="0" sz="1200"/>
              <a:t>ACRS is the unified system that integrates all four objectives. Let me describe it at the level of data flow so the architecture makes intuitive sense before I go into each component.</a:t>
            </a:r>
          </a:p>
          <a:p/>
          <a:p>
            <a:r>
              <a:rPr lang="en-US" dirty="0" sz="1200"/>
              <a:t>A user query enters the system. SessionRerank+ first processes it against the session co-activation graph to produce a ranked list of relevant APIs — not just based on semantic similarity, but on what has been useful in this session recently. That ranked list is passed to the routing layer. APRR evaluates the query's complexity and the current live performance weights of available agents. CDR intercepts high-ambiguity queries before dispatch and runs a deliberation step to reduce routing errors. PDR decomposes the query into sub-tasks and dispatches them to specialist agents in parallel. The agents execute their sub-tasks, drawing on session context maintained by MNCD across the distributed node mesh. As the session accumulates context, FCNP runs continuously to compress the context graph, keeping it within bounds while preserving all citation nodes.</a:t>
            </a:r>
          </a:p>
          <a:p/>
          <a:p>
            <a:r>
              <a:rPr lang="en-US" dirty="0" sz="1200"/>
              <a:t>The aim of ACRS is stated precisely: to enable multi-agent LLM inference that is session-aware at the retrieval layer, adaptive at the routing layer, fault-tolerant at the context layer, and bounded in memory growth at the compression layer. No existing system addresses all four simultaneously.</a:t>
            </a:r>
          </a:p>
          <a:p/>
          <a:p>
            <a:r>
              <a:rPr lang="en-US" dirty="0" sz="1200"/>
              <a:t>You might ask whether this is four papers dressed up as one system — whether the components are genuinely integrated or just co-authored. The integration is real. SessionRerank+ uses the same session co-activation graph that MNCD distributes across nodes. FCNP's citation anchors are seeded from the API selection logs that SessionRerank+ generates. APRR's routing weights are updated by the success/failure signals from the same sessions that feed SessionRerank+'s edge weights. The system shares data structures, not just a figure.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Divider: SessionRerank+</a:t>
            </a:r>
          </a:p>
          <a:p/>
          <a:p>
            <a:r>
              <a:rPr lang="en-US" dirty="0" sz="1200"/>
              <a:t>Objective 1: SessionRerank+ — Session-Aware Contextual Tool Reranker Plus.</a:t>
            </a:r>
          </a:p>
          <a:p/>
          <a:p>
            <a:r>
              <a:rPr lang="en-US" dirty="0" sz="1200"/>
              <a:t>The core question this objective answers: when you have a 43,000-API catalog and a user who has been in a coherent multi-turn session, how do you rank APIs so that session-relevant tools surface higher than the static embedding similarity would suggest?</a:t>
            </a:r>
          </a:p>
          <a:p/>
          <a:p>
            <a:r>
              <a:rPr lang="en-US" dirty="0" sz="1200"/>
              <a:t>The answer I propose is a session co-activation graph with exponential discount and online edge updates. Before I explain the math, let me explain the intuition — because the math is in service of a simple insight that I think is genuinely correct.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Detail: Approach and Expected Outcomes</a:t>
            </a:r>
          </a:p>
          <a:p/>
          <a:p>
            <a:r>
              <a:rPr lang="en-US" dirty="0" sz="1200"/>
              <a:t>The central insight of SessionRerank+ is this: if API A and API B were used in the same session turn — they co-activated — then when A is retrieved in a later turn, B deserves a score boost, discounted by how many turns ago the co-activation happened. This is analogous to how citation networks work in academic literature, but applied to live session behavior.</a:t>
            </a:r>
          </a:p>
          <a:p/>
          <a:p>
            <a:r>
              <a:rPr lang="en-US" dirty="0" sz="1200"/>
              <a:t>The full scoring function is: score(q, api) = w_s · s_n + w_m · m + w_h · φ_n, where s_n is the standard semantic similarity score, m is the metadata relevance score, and φ_n is my session co-activation history score. The weights w_s, w_m, w_h sum to 1 and are learned from validation data.</a:t>
            </a:r>
          </a:p>
          <a:p/>
          <a:p>
            <a:r>
              <a:rPr lang="en-US" dirty="0" sz="1200"/>
              <a:t>The key term is φ_n = Σ γ^(n−i) · log(1 + w_{h_i, v}), which is a discounted sum over session history turns. γ=0.7 is the temporal discount factor — turns that happened further back get less weight. The log term prevents runaway amplification when an API is used many times. w_{h_i, v} is the edge weight between the historical query context and the current API candidate, maintained in the co-activation graph.</a:t>
            </a:r>
          </a:p>
          <a:p/>
          <a:p>
            <a:r>
              <a:rPr lang="en-US" dirty="0" sz="1200"/>
              <a:t>The online edge update rule is: w_{u,v} ← (1−ρ)·w_{u,v} + δ·1[success], where ρ=0.02 is the decay rate (edges fade slowly if not reinforced) and δ=1.0 is the reward for a successful co-activation. The 50-session half-life means an edge that was strong six months ago but hasn't been activated since will decay toward zero — which is correct behavior for a system tracking evolving user context.</a:t>
            </a:r>
          </a:p>
          <a:p/>
          <a:p>
            <a:r>
              <a:rPr lang="en-US" dirty="0" sz="1200"/>
              <a:t>You might ask: why γ=0.7 specifically? I ran ablations over γ ∈ {0.5, 0.6, 0.7, 0.8, 0.9} on a 500-query held-out set. γ=0.7 minimizes the validation NDCG@5 loss while keeping the effective history window to roughly 5 turns, which is consistent with how task contexts actually evolve in conversational agents. γ=0.9 caused the system to over-weight stale history when the user pivoted to a new topic.</a:t>
            </a:r>
          </a:p>
          <a:p/>
          <a:p>
            <a:r>
              <a:rPr lang="en-US" dirty="0" sz="1200"/>
              <a:t>My target metric is NDCG@5 ≥ 0.52. I'm using NDCG@5 rather than simple hit rate because in a 43,000-API catalog, rank matters. If the correct API is returned in position 1 versus position 5, that's the difference between the agent invoking the right tool immediately versus wasting two to three retry turns. A binary hit rate metric would treat those as equal. NDCG penalizes lower ranks with a logarithmic discount, which directly captures the practical cost of poor ranking.</a:t>
            </a:r>
          </a:p>
          <a:p/>
          <a:p>
            <a:r>
              <a:rPr lang="en-US" dirty="0" sz="1200"/>
              <a:t>Year 1 pilot results: NDCG@5 = 0.516 on 500 test queries, p&lt;0.0001 versus the ToolBench dense retrieval baseline of 0.452. The result is significant and directionally on target. I need to close the gap from 0.516 to 0.52+, which I believe is achievable with a larger session graph — my pilot used 6-turn sessions; full experiments will use 15+ turn sessions where co-activation patterns are richer.</a:t>
            </a:r>
          </a:p>
          <a:p/>
          <a:p>
            <a:r>
              <a:rPr lang="en-US" dirty="0" sz="1200"/>
              <a:t>If you're asking why I didn't just fine-tune ToolLLM's embedding model on session-aware training data and call it done — I addressed this on the literature slide, but let me be concrete here. Fine-tuning freezes the learned co-activation patterns at training time. My graph updates online. In a production scenario where a new government API releases that wasn't in the training data, my system can learn its co-activation pattern within a single session. A fine-tuned model can't adapt without retraining.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Architecture Diagram</a:t>
            </a:r>
          </a:p>
          <a:p/>
          <a:p>
            <a:r>
              <a:rPr lang="en-US" dirty="0" sz="1200"/>
              <a:t>This diagram shows the two-layer architecture of SessionRerank+. The left side shows the session co-activation graph — a live, updating weighted graph where nodes are API identifiers and edge weights represent co-activation frequency, decayed over session turns. Each new session turn triggers an edge weight update cycle: successful API invocations send a +δ signal back to all edges involved in that turn.</a:t>
            </a:r>
          </a:p>
          <a:p/>
          <a:p>
            <a:r>
              <a:rPr lang="en-US" dirty="0" sz="1200"/>
              <a:t>On the right side is the scoring pipeline. An incoming query is first embedded using the ToolBench dense encoder to get s_n — the standard semantic similarity vector. Simultaneously, the session co-activation graph is queried to compute φ_n for the top-50 candidate APIs. The three scores — s_n, m (metadata), φ_n — are linearly combined with the learned weights to produce the final reranked list.</a:t>
            </a:r>
          </a:p>
          <a:p/>
          <a:p>
            <a:r>
              <a:rPr lang="en-US" dirty="0" sz="1200"/>
              <a:t>The key engineering insight visible in this diagram is the separation of the graph update path from the query scoring path. These run asynchronously — graph updates happen in a background thread triggered by success signals, while scoring happens synchronously in the query path. This is what keeps latency bounded. If the graph update were synchronous, every query would stall waiting for edge weight recalculation across 43,000 nodes.</a:t>
            </a:r>
          </a:p>
          <a:p/>
          <a:p>
            <a:r>
              <a:rPr lang="en-US" dirty="0" sz="1200"/>
              <a:t>Point to the edge weight decay block — this is where the 50-session half-life and ρ=0.02 parameters live. The decay is multiplicative per turn, meaning a session that ended 50 turns ago has contributed roughly half its original weight to the current graph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Flow Diagram</a:t>
            </a:r>
          </a:p>
          <a:p/>
          <a:p>
            <a:r>
              <a:rPr lang="en-US" dirty="0" sz="1200"/>
              <a:t>This flow diagram traces a single query through the SessionRerank+ pipeline from input to ranked output.</a:t>
            </a:r>
          </a:p>
          <a:p/>
          <a:p>
            <a:r>
              <a:rPr lang="en-US" dirty="0" sz="1200"/>
              <a:t>Step 1: Query arrives. The system checks whether there is an active session context — if this is the first turn, φ_n defaults to 0 and the system falls back to pure semantic+metadata scoring. For turns 2 and beyond, the co-activation graph is live.</a:t>
            </a:r>
          </a:p>
          <a:p/>
          <a:p>
            <a:r>
              <a:rPr lang="en-US" dirty="0" sz="1200"/>
              <a:t>Step 2: Top-50 candidates are retrieved by the dense encoder (standard ToolBench retrieval). These 50 form the candidate pool for reranking.</a:t>
            </a:r>
          </a:p>
          <a:p/>
          <a:p>
            <a:r>
              <a:rPr lang="en-US" dirty="0" sz="1200"/>
              <a:t>Step 3: For each of the 50 candidates, φ_n is computed by traversing the co-activation graph edges from the current session's active API set.</a:t>
            </a:r>
          </a:p>
          <a:p/>
          <a:p>
            <a:r>
              <a:rPr lang="en-US" dirty="0" sz="1200"/>
              <a:t>Step 4: The weighted composite score is computed and the list is re-sorted.</a:t>
            </a:r>
          </a:p>
          <a:p/>
          <a:p>
            <a:r>
              <a:rPr lang="en-US" dirty="0" sz="1200"/>
              <a:t>Step 5: The top-5 re-ranked APIs are returned to the agent dispatcher.</a:t>
            </a:r>
          </a:p>
          <a:p/>
          <a:p>
            <a:r>
              <a:rPr lang="en-US" dirty="0" sz="1200"/>
              <a:t>Step 6: After execution, a success/failure signal feeds back into the edge weight updater.</a:t>
            </a:r>
          </a:p>
          <a:p/>
          <a:p>
            <a:r>
              <a:rPr lang="en-US" dirty="0" sz="1200"/>
              <a:t>The critical path latency for steps 2–4 on 50 candidates is approximately 12ms in my pilot implementation — well within the latency budget. The graph traversal is O(k · d) where k=50 candidates and d is the average node degree in the co-activation graph, which stabilizes around 8–12 in practice.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Divider: APRR+CDR+PDR</a:t>
            </a:r>
          </a:p>
          <a:p/>
          <a:p>
            <a:r>
              <a:rPr lang="en-US" dirty="0" sz="1200"/>
              <a:t>Objective 2: APRR+CDR+PDR — Adaptive Probabilistic Routing Reinforcement, Context-Driven Routing, and Parallel Dispatch Routing.</a:t>
            </a:r>
          </a:p>
          <a:p/>
          <a:p>
            <a:r>
              <a:rPr lang="en-US" dirty="0" sz="1200"/>
              <a:t>This is the most complex objective technically, so let me frame it before I explain any component. I need a routing system that does three things that no current system does together: it needs to learn from live signals (APRR), it needs to deliberate before dispatching ambiguous queries (CDR), and it needs to dispatch decomposable queries in parallel (PDR).</a:t>
            </a:r>
          </a:p>
          <a:p/>
          <a:p>
            <a:r>
              <a:rPr lang="en-US" dirty="0" sz="1200"/>
              <a:t>These aren't arbitrary complexity — each one addresses a specific failure mode I observed in baseline experiments.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Detail: Three Routing Strategies</a:t>
            </a:r>
          </a:p>
          <a:p/>
          <a:p>
            <a:r>
              <a:rPr lang="en-US" dirty="0" sz="1200"/>
              <a:t>APRR — the base RL engine. The routing probability is: P(a_j | a_i, q) ∝ W_{ij}^n · η_{ij}^d · ψ_j(q)^β. Breaking this down: W_{ij}^n is the learned routing weight between agent pair (i,j), updated every session. η_{ij}^d captures the drift penalty — how much agent j's performance has drifted from its historical baseline. ψ_j(q)^β is the query-agent affinity, which is a static capability signature for agent j weighted against the current query type.</a:t>
            </a:r>
          </a:p>
          <a:p/>
          <a:p>
            <a:r>
              <a:rPr lang="en-US" dirty="0" sz="1200"/>
              <a:t>The weight update is: W ← (1−λ)·W + κ·1[success]/(L²·lat_norm), where λ=0.005 is the decay rate, κ=5.0 is the learning rate, L is the current routing path length (longer paths are penalized quadratically), and lat_norm normalizes by current latency. The division by L² is deliberate — it's a structural incentive to prefer direct routes over relay routes when performance is comparable.</a:t>
            </a:r>
          </a:p>
          <a:p/>
          <a:p>
            <a:r>
              <a:rPr lang="en-US" dirty="0" sz="1200"/>
              <a:t>ε=0.15 is my exploration rate — 15% of the time, the router tries a non-greedy route to continue learning. This is standard ε-greedy RL, but the key is that ε doesn't decay to zero as in most RL systems. I keep it fixed at 0.15 because the routing environment is non-stationary. Agents change, latencies shift, new agents are added. If ε decayed to zero, the router would stop exploring and get stuck in a local optimum.</a:t>
            </a:r>
          </a:p>
          <a:p/>
          <a:p>
            <a:r>
              <a:rPr lang="en-US" dirty="0" sz="1200"/>
              <a:t>You might ask: isn't 15% exploration expensive in production? Yes, it has a cost. My analysis shows that at 15% exploration, the expected performance degradation versus the greedy policy is approximately 2.3% on task success. I accept that cost because the alternative — a router that can't respond to agent degradation — causes catastrophic failures during production incidents, not just 2.3% degradation.</a:t>
            </a:r>
          </a:p>
          <a:p/>
          <a:p>
            <a:r>
              <a:rPr lang="en-US" dirty="0" sz="1200"/>
              <a:t>CDR — Context-Driven Routing. CDR intercepts queries where the routing decision is ambiguous — specifically, queries with high entropy over the routing probability distribution. For these queries, CDR runs a lightweight Chain-of-Thought quality scoring step before dispatching. The CoT scorer generates two candidate reasoning chains for the query and scores them on coherence and grounding. The score gates whether to dispatch directly to the currently favored agent or to escalate to a more capable but slower agent.</a:t>
            </a:r>
          </a:p>
          <a:p/>
          <a:p>
            <a:r>
              <a:rPr lang="en-US" dirty="0" sz="1200"/>
              <a:t>CDR is not applied to every query — only those where the argmax of the routing distribution is below a confidence threshold. In practice, about 18% of queries go through CDR in my pilot, which is consistent with the rate of genuinely ambiguous queries in the ToolBench test set.</a:t>
            </a:r>
          </a:p>
          <a:p/>
          <a:p>
            <a:r>
              <a:rPr lang="en-US" dirty="0" sz="1200"/>
              <a:t>PDR — Parallel Dispatch Routing. For queries that can be decomposed into functionally independent sub-tasks, PDR maps each sub-task to a specialist agent and dispatches them simultaneously using functional token markers — specifically &lt;route_k&gt; tokens that signal which agent k should handle which token sequence. The agent mesh receives the decomposed query, each specialist processes its segment, and results are aggregated back.</a:t>
            </a:r>
          </a:p>
          <a:p/>
          <a:p>
            <a:r>
              <a:rPr lang="en-US" dirty="0" sz="1200"/>
              <a:t>PDR contributes a measured −22% to the overall latency reduction versus sequential dispatch. This is well-defined: for a query decomposable into k sub-tasks, the wall-clock latency is max(latency_1 ... latency_k) instead of sum(latency_1 ... latency_k), which for k=3 sub-tasks with similar individual latencies gives roughly 65% of sequential time — a 35% reduction from PDR alone.</a:t>
            </a:r>
          </a:p>
          <a:p/>
          <a:p>
            <a:r>
              <a:rPr lang="en-US" dirty="0" sz="1200"/>
              <a:t>Year 1 results: 47.0% task success, 261ms average latency, 35.7% latency reduction, 23.9% hop reduction versus the RouteLLM static baseline. All four metrics meet or exceed their targets.</a:t>
            </a:r>
          </a:p>
          <a:p/>
          <a:p>
            <a:r>
              <a:rPr lang="en-US" dirty="0" sz="1200"/>
              <a:t>The critical thing to understand about the novelty here is that APRR, CDR, and PDR have individually appeared in approximate form in the literature — online RL routing exists in experimental work, CoT deliberation exists, parallel dispatch exists. What hasn't appeared is all three operating as a unified system with shared session-state, where APRR's weight updates inform CDR's confidence thresholds and CDR's deliberation results feed back into PDR's decomposition quality. The integration is the contribution.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Architecture Diagram</a:t>
            </a:r>
          </a:p>
          <a:p/>
          <a:p>
            <a:r>
              <a:rPr lang="en-US" dirty="0" sz="1200"/>
              <a:t>This architecture diagram shows the routing system as three concentric decision layers.</a:t>
            </a:r>
          </a:p>
          <a:p/>
          <a:p>
            <a:r>
              <a:rPr lang="en-US" dirty="0" sz="1200"/>
              <a:t>The outermost layer is the query classifier — it labels incoming queries as high-confidence single-task, ambiguous single-task, or decomposable multi-task. This label determines which routing path is followed.</a:t>
            </a:r>
          </a:p>
          <a:p/>
          <a:p>
            <a:r>
              <a:rPr lang="en-US" dirty="0" sz="1200"/>
              <a:t>High-confidence single-task queries go directly to APRR, which consults the live weight matrix W and selects the best agent.</a:t>
            </a:r>
          </a:p>
          <a:p/>
          <a:p>
            <a:r>
              <a:rPr lang="en-US" dirty="0" sz="1200"/>
              <a:t>Ambiguous queries go to CDR first. CDR's CoT scorer runs in approximately 35ms on a lightweight 7B-parameter model. If the CoT score exceeds the dispatch threshold, CDR releases the query to APRR. If not, CDR escalates to a stronger agent.</a:t>
            </a:r>
          </a:p>
          <a:p/>
          <a:p>
            <a:r>
              <a:rPr lang="en-US" dirty="0" sz="1200"/>
              <a:t>Decomposable queries go to PDR's decomposition engine, which parses functional token boundaries, splits the query, and fans out to k specialist agents simultaneously.</a:t>
            </a:r>
          </a:p>
          <a:p/>
          <a:p>
            <a:r>
              <a:rPr lang="en-US" dirty="0" sz="1200"/>
              <a:t>All three paths reconverge at the result aggregator, which merges parallel results and computes a session-level success signal. That signal flows back into APRR's weight updater and CDR's threshold calibrator.</a:t>
            </a:r>
          </a:p>
          <a:p/>
          <a:p>
            <a:r>
              <a:rPr lang="en-US" dirty="0" sz="1200"/>
              <a:t>The key engineering insight in this diagram is the shared session state bus connecting all three routing components. APRR, CDR, and PDR are not independent modules — they share the session success/failure log, which is what allows the system to adapt as a whole rather than having each component optimize independently and potentially conflict.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Flow Diagram</a:t>
            </a:r>
          </a:p>
          <a:p/>
          <a:p>
            <a:r>
              <a:rPr lang="en-US" dirty="0" sz="1200"/>
              <a:t>This flow diagram traces one complete routing cycle for a decomposable query.</a:t>
            </a:r>
          </a:p>
          <a:p/>
          <a:p>
            <a:r>
              <a:rPr lang="en-US" dirty="0" sz="1200"/>
              <a:t>Step 1: Query arrives with session context. The classifier computes entropy over the routing distribution. Entropy &gt; θ_cdr triggers CDR. Decomposability score &gt; θ_pdr triggers PDR. Both can trigger simultaneously.</a:t>
            </a:r>
          </a:p>
          <a:p/>
          <a:p>
            <a:r>
              <a:rPr lang="en-US" dirty="0" sz="1200"/>
              <a:t>Step 2 (PDR path): The decomposition engine parses the query into sub-tasks T1, T2, T3 using the &lt;route_k&gt; token grammar. Each sub-task is tagged with an agent affinity vector ψ_j.</a:t>
            </a:r>
          </a:p>
          <a:p/>
          <a:p>
            <a:r>
              <a:rPr lang="en-US" dirty="0" sz="1200"/>
              <a:t>Step 3: Sub-tasks are dispatched in parallel. Each agent processes independently, drawing on its local context slice (maintained by MNCD, as I'll describe later).</a:t>
            </a:r>
          </a:p>
          <a:p/>
          <a:p>
            <a:r>
              <a:rPr lang="en-US" dirty="0" sz="1200"/>
              <a:t>Step 4 (CDR path, running concurrently): The CoT scorer evaluates the top-2 candidate agents for the full query. If score &lt; threshold, an escalation flag is raised.</a:t>
            </a:r>
          </a:p>
          <a:p/>
          <a:p>
            <a:r>
              <a:rPr lang="en-US" dirty="0" sz="1200"/>
              <a:t>Step 5: Results from parallel agents are aggregated. If CDR raised an escalation flag, the aggregation step routes to the stronger agent rather than accepting the current result.</a:t>
            </a:r>
          </a:p>
          <a:p/>
          <a:p>
            <a:r>
              <a:rPr lang="en-US" dirty="0" sz="1200"/>
              <a:t>Step 6: Final result is returned. Success/failure signal is broadcast to APRR's weight updater via the session state bus.</a:t>
            </a:r>
          </a:p>
          <a:p/>
          <a:p>
            <a:r>
              <a:rPr lang="en-US" dirty="0" sz="1200"/>
              <a:t>The total wall-clock time for this cycle in my pilot is 261ms average, with the dominant cost being parallel agent execution (~180ms). CDR scoring adds ~35ms in the worst case but runs off the critical path since PDR dispatch begins before CDR completes.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Divider: MNCD</a:t>
            </a:r>
          </a:p>
          <a:p/>
          <a:p>
            <a:r>
              <a:rPr lang="en-US" dirty="0" sz="1200"/>
              <a:t>Objective 3: MNCD — Multi-Node Context Distribution.</a:t>
            </a:r>
          </a:p>
          <a:p/>
          <a:p>
            <a:r>
              <a:rPr lang="en-US" dirty="0" sz="1200"/>
              <a:t>This objective addresses the infrastructure layer. Even if SessionRerank+ and the routing system work perfectly, they're useless if the context those agents need is lost because a node failed. Reliability isn't optional — it's the condition under which everything else runs.</a:t>
            </a:r>
          </a:p>
          <a:p/>
          <a:p>
            <a:r>
              <a:rPr lang="en-US" dirty="0" sz="1200"/>
              <a:t>The specific failure scenario I'm designing for: a 5-agent mesh where any 2 of the 5 nodes can fail simultaneously. I need context availability to stay above 97% under this condition.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Detail</a:t>
            </a:r>
          </a:p>
          <a:p/>
          <a:p>
            <a:r>
              <a:rPr lang="en-US" dirty="0" sz="1200"/>
              <a:t>MNCD uses a gossip-based epidemic broadcast protocol adapted from distributed systems literature to the specific semantics of LLM session context. Let me explain the core design.</a:t>
            </a:r>
          </a:p>
          <a:p/>
          <a:p>
            <a:r>
              <a:rPr lang="en-US" dirty="0" sz="1200"/>
              <a:t>Each agent node holds a partial replica of the session context — not the full context of all agents, but a subset determined by the gossip protocol. When a node updates its context (e.g., a new API call result is added), it gossips the delta to R=3 randomly selected peer nodes. Those peers gossip to their own R=3 peers, and so on. The expected diffusion time for a context update to reach all N nodes is O(log N) — for N=5, that's effectively 2–3 gossip rounds, which takes on the order of milliseconds.</a:t>
            </a:r>
          </a:p>
          <a:p/>
          <a:p>
            <a:r>
              <a:rPr lang="en-US" dirty="0" sz="1200"/>
              <a:t>The gossip weight function determines who to gossip with: w(p,q) = α·s_pq + (1−α)·1/(1+ℓ_pq), where s_pq is the semantic similarity between nodes p and q's current context (nodes with similar context benefit more from each other's updates), ℓ_pq is the network latency between nodes (prefer low-latency links), and α=0.3 balances these two factors. I chose α=0.3 rather than 0.5 because in my pilot, network latency was the more reliable signal for gossip partner selection — semantic similarity computation has its own latency overhead that partially offsets its benefit.</a:t>
            </a:r>
          </a:p>
          <a:p/>
          <a:p>
            <a:r>
              <a:rPr lang="en-US" dirty="0" sz="1200"/>
              <a:t>The distress signal is the key novel mechanism. When a node's local context coherence score c_local drops below τ=0.55 — meaning it detects that its context replica is becoming incoherent or stale relative to the session — it broadcasts a targeted help request to all live nodes. Live nodes respond by sending their freshest context chunks to the distressed node. This is analogous to a node saying "I know I'm missing context; please help me catch up." τ=0.55 was calibrated on validation data to trigger before the coherence loss becomes visible to the agent, not after.</a:t>
            </a:r>
          </a:p>
          <a:p/>
          <a:p>
            <a:r>
              <a:rPr lang="en-US" dirty="0" sz="1200"/>
              <a:t>The failure detection threshold is φ*=8 — a node is declared failed after 8 consecutive missed heartbeats. This is tuned to minimize false positives (declaring a slow node dead) while failing fast enough that context redistribution begins before the session times out.</a:t>
            </a:r>
          </a:p>
          <a:p/>
          <a:p>
            <a:r>
              <a:rPr lang="en-US" dirty="0" sz="1200"/>
              <a:t>You might ask: why R=3 replication specifically rather than R=2 or R=4? With R=2, a simultaneous 2-node failure can eliminate all replicas of a context chunk with probability (2/5)·(1/4) ≈ 10% per chunk — unacceptably high. With R=4, you're storing 80% redundancy which is expensive. R=3 gives you 60% redundancy and reduces the probability of total replica loss under 2-of-5 failure to approximately 1/(C(5,2)) for the worst-case chunk distribution, which is well below my 3% availability loss budget.</a:t>
            </a:r>
          </a:p>
          <a:p/>
          <a:p>
            <a:r>
              <a:rPr lang="en-US" dirty="0" sz="1200"/>
              <a:t>Year 1 results: 97.5% context availability under no failures, 97.0% under 2-of-5 simultaneous node failures, versus 44% for the single-agent baseline. The drop from 97.5% to 97.0% under failure is remarkably small, which validates that the R=3 + distress signal combination is providing genuine redundancy.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Architecture Diagram</a:t>
            </a:r>
          </a:p>
          <a:p/>
          <a:p>
            <a:r>
              <a:rPr lang="en-US" dirty="0" sz="1200"/>
              <a:t>This architecture diagram shows a 5-node agent mesh with the MNCD protocol overlaid.</a:t>
            </a:r>
          </a:p>
          <a:p/>
          <a:p>
            <a:r>
              <a:rPr lang="en-US" dirty="0" sz="1200"/>
              <a:t>Each node is shown with three layers: a local context store (the primary replica), a partial replica buffer (holding chunks gossipped from other nodes), and a gossip interface. The gossip connections between nodes are shown as weighted edges — heavier edges indicate higher w(p,q) gossip preference.</a:t>
            </a:r>
          </a:p>
          <a:p/>
          <a:p>
            <a:r>
              <a:rPr lang="en-US" dirty="0" sz="1200"/>
              <a:t>The distress signal path is highlighted — when Node 3 drops below τ=0.55 coherence, the broadcast goes to Nodes 1, 2, 4, 5 simultaneously. Node 3's coherence graph shows the before/after effect: within 2 gossip rounds, its coherence recovers to above threshold.</a:t>
            </a:r>
          </a:p>
          <a:p/>
          <a:p>
            <a:r>
              <a:rPr lang="en-US" dirty="0" sz="1200"/>
              <a:t>The failure scenario visualization shows Nodes 2 and 4 going dark. The context chunks that were primary on those nodes (colored red) are shown redistributing to Nodes 1, 3, 5 via the existing partial replicas and the distress recovery mechanism.</a:t>
            </a:r>
          </a:p>
          <a:p/>
          <a:p>
            <a:r>
              <a:rPr lang="en-US" dirty="0" sz="1200"/>
              <a:t>The key engineering insight is the asymmetry of the gossip weight function. Node 1 prefers gossiping with Node 3 because they share semantic context (they're both handling agricultural API queries in this session). Node 5 prefers gossiping with Node 2 because they have the lowest latency link. This asymmetry means the gossip topology is not a random graph — it's a session-aware topology that concentrates replication where it's most useful.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Flow Diagram</a:t>
            </a:r>
          </a:p>
          <a:p/>
          <a:p>
            <a:r>
              <a:rPr lang="en-US" dirty="0" sz="1200"/>
              <a:t>This flow diagram shows one complete distress-recovery cycle.</a:t>
            </a:r>
          </a:p>
          <a:p/>
          <a:p>
            <a:r>
              <a:rPr lang="en-US" dirty="0" sz="1200"/>
              <a:t>Step 1: Node 3 executes a context coherence check after receiving a new session turn. c_local = 0.48 &lt; τ=0.55. Distress flag raised.</a:t>
            </a:r>
          </a:p>
          <a:p/>
          <a:p>
            <a:r>
              <a:rPr lang="en-US" dirty="0" sz="1200"/>
              <a:t>Step 2: Distress broadcast goes to all live nodes (1, 2, 4, 5). Each live node computes which of its context chunks are missing from Node 3's index.</a:t>
            </a:r>
          </a:p>
          <a:p/>
          <a:p>
            <a:r>
              <a:rPr lang="en-US" dirty="0" sz="1200"/>
              <a:t>Step 3: Each live node sends its highest-priority missing chunks to Node 3. Priority is determined by recency and citation-anchor status — citation-anchored chunks are sent first.</a:t>
            </a:r>
          </a:p>
          <a:p/>
          <a:p>
            <a:r>
              <a:rPr lang="en-US" dirty="0" sz="1200"/>
              <a:t>Step 4: Node 3 merges received chunks into its local store. Coherence score is recomputed. c_local = 0.61 &gt; τ. Distress flag cleared.</a:t>
            </a:r>
          </a:p>
          <a:p/>
          <a:p>
            <a:r>
              <a:rPr lang="en-US" dirty="0" sz="1200"/>
              <a:t>Step 5: Normal gossip resumes. The gossip weight function updates to slightly favor the nodes that provided the most useful chunks — a soft form of social credit in the gossip network.</a:t>
            </a:r>
          </a:p>
          <a:p/>
          <a:p>
            <a:r>
              <a:rPr lang="en-US" dirty="0" sz="1200"/>
              <a:t>Round-trip time for a distress recovery cycle is approximately 18ms in my pilot, which is fast enough to be invisible to the user-facing agent response latency. The system heals faster than the session produces new context.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Divider: FCNP</a:t>
            </a:r>
          </a:p>
          <a:p/>
          <a:p>
            <a:r>
              <a:rPr lang="en-US" dirty="0" sz="1200"/>
              <a:t>Objective 4: FCNP — Flow-Controlled Network Pruning.</a:t>
            </a:r>
          </a:p>
          <a:p/>
          <a:p>
            <a:r>
              <a:rPr lang="en-US" dirty="0" sz="1200"/>
              <a:t>This is the component that keeps the system from running out of memory. Everything else in ACRS assumes that the context is available, coherent, and routable — FCNP is what ensures the context stays bounded so those assumptions remain valid over long sessions.</a:t>
            </a:r>
          </a:p>
          <a:p/>
          <a:p>
            <a:r>
              <a:rPr lang="en-US" dirty="0" sz="1200"/>
              <a:t>The specific target: 10:1 compression of the context graph with ≥99% citation accuracy. That second number is the harder constraint. Anyone can compress to 10:1 if they don't care what they delete.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Detail</a:t>
            </a:r>
          </a:p>
          <a:p/>
          <a:p>
            <a:r>
              <a:rPr lang="en-US" dirty="0" sz="1200"/>
              <a:t>FCNP represents the session context as a graph G = (V, E) where V is the set of token-level nodes and E is the set of attention dependency edges. This is not a novel graph representation — attention graphs have been studied extensively. What is novel is the flow-field scoring mechanism I use to determine which nodes to prune.</a:t>
            </a:r>
          </a:p>
          <a:p/>
          <a:p>
            <a:r>
              <a:rPr lang="en-US" dirty="0" sz="1200"/>
              <a:t>The flow scoring is based on Kirchhoff's potential field — the same mathematics used in electrical network analysis. I assign a "conductance" to each edge proportional to its attention weight, and then solve for the potential field that satisfies L(D)·p = I, where L(D) is the weighted graph Laplacian, p is the potential vector, and I is a source current injected at the high-importance input nodes. Nodes with high potential in this field carry significant information flow through the graph — they are critical junctions. Nodes with near-zero potential are peripheral and safe to prune.</a:t>
            </a:r>
          </a:p>
          <a:p/>
          <a:p>
            <a:r>
              <a:rPr lang="en-US" dirty="0" sz="1200"/>
              <a:t>The dynamic update rule is: D_{ij}(t+1) = (1−μ)·D_{ij}(t) + α·|Q_{ij}|^γ, where D_{ij} is the conductance of edge (i,j), μ=0.10 is the decay rate (edges that aren't activated fade slowly), |Q_{ij}| is the recent attention flow on that edge, and γ is a nonlinearity parameter. Convergence is checked as Σ|D(t+1)−D(t)| &lt; ε·ΣD(t) with ε=1e-4 and max_iter=200. In practice, convergence happens within 40–60 iterations on typical context graphs.</a:t>
            </a:r>
          </a:p>
          <a:p/>
          <a:p>
            <a:r>
              <a:rPr lang="en-US" dirty="0" sz="1200"/>
              <a:t>The citation anchor mechanism is: A_{ij} = max(0, cos(x_i, x_j) − τ) where τ=0.30 is the cosine similarity threshold below which two nodes are considered semantically unrelated (and thus not a citation relationship). Any node that participates in at least one citation anchor relationship — meaning it is semantically linked to another node that justifies or references it — is flagged as a citation-preserved node. These nodes are never pruned, regardless of their Kirchhoff potential. They represent the audit trail of reasoning, and destroying them destroys accountability.</a:t>
            </a:r>
          </a:p>
          <a:p/>
          <a:p>
            <a:r>
              <a:rPr lang="en-US" dirty="0" sz="1200"/>
              <a:t>You might ask: what if citation-preserving all the relevant citation nodes means I can't hit 10:1 compression because there are too many citations? This is a real concern. In my pilot data, citation-anchored nodes constitute approximately 4–7% of the total context graph by node count. At 10:1 compression, I'm pruning 90% of nodes, so preserving 4–7% of them as citation anchors still leaves plenty of pruning headroom. If a particular session had an unusually citation-dense context — say, 20%+ citation-anchored nodes — the achievable compression ratio would drop. I have a fallback mechanism that compresses citation anchor descriptions rather than deleting them, reducing their footprint by approximately 60% while preserving their semantic content. This is disclosed as a limitation in my experimental design.</a:t>
            </a:r>
          </a:p>
          <a:p/>
          <a:p>
            <a:r>
              <a:rPr lang="en-US" dirty="0" sz="1200"/>
              <a:t>You might also ask: why Kirchhoff flow rather than just attention weight as Scissorhands uses? The key difference is that attention weight is a local, pairwise property — it tells you how much node A attends to node B right now. Kirchhoff potential is a global, flow-through property — it tells you how much information must pass through node A to connect the rest of the graph. A node can have low pairwise attention weight but high Kirchhoff potential if it's a structural bridge. Scissorhands would prune that bridge node; FCNP preserves it. I can demonstrate this on specific examples from my pilot data.</a:t>
            </a:r>
          </a:p>
          <a:p/>
          <a:p>
            <a:r>
              <a:rPr lang="en-US" dirty="0" sz="1200"/>
              <a:t>Year 1 pilot results: 9.8:1 compression, 98.9% citation accuracy. Both are within 2% of their targets, which I'm confident I can close with the full-scale experiments using larger context graphs where the Kirchhoff field has more signal to work with.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Architecture Diagram</a:t>
            </a:r>
          </a:p>
          <a:p/>
          <a:p>
            <a:r>
              <a:rPr lang="en-US" dirty="0" sz="1200"/>
              <a:t>This architecture diagram shows the three-stage FCNP pipeline.</a:t>
            </a:r>
          </a:p>
          <a:p/>
          <a:p>
            <a:r>
              <a:rPr lang="en-US" dirty="0" sz="1200"/>
              <a:t>Stage 1: Graph Construction. The raw context — token sequences plus attention matrices from the LLM — is converted into the G=(V,E) representation. Citation anchor detection runs in parallel: the cosine similarity matrix is thresholded at τ=0.30 to produce the citation anchor set A. Anchored nodes are immediately marked as preserved.</a:t>
            </a:r>
          </a:p>
          <a:p/>
          <a:p>
            <a:r>
              <a:rPr lang="en-US" dirty="0" sz="1200"/>
              <a:t>Stage 2: Kirchhoff Flow Computation. The weighted Laplacian L(D) is assembled from the edge conductance matrix. Source currents I are injected at the top-k highest-weight input nodes (the "important" entry points to the context). The linear system L(D)·p = I is solved for the potential vector p. Nodes are ranked by their potential score.</a:t>
            </a:r>
          </a:p>
          <a:p/>
          <a:p>
            <a:r>
              <a:rPr lang="en-US" dirty="0" sz="1200"/>
              <a:t>Stage 3: Pruning Decision. Nodes with potential score below the pruning threshold — set to achieve the target compression ratio — are pruned, subject to the citation preservation constraint. The pruned graph is returned as the compressed context.</a:t>
            </a:r>
          </a:p>
          <a:p/>
          <a:p>
            <a:r>
              <a:rPr lang="en-US" dirty="0" sz="1200"/>
              <a:t>The key engineering insight is that Stage 2 is the bottleneck. Solving L(D)·p = I is an O(N^1.5) operation for sparse graphs using conjugate gradient methods. For context graphs of up to 10,000 nodes, this runs in under 50ms on CPU — acceptable for background compression. For larger graphs, I use a hierarchical approximation that partitions the graph into subgraphs and solves each independently.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Flow Diagram</a:t>
            </a:r>
          </a:p>
          <a:p/>
          <a:p>
            <a:r>
              <a:rPr lang="en-US" dirty="0" sz="1200"/>
              <a:t>This flow diagram shows the iteration cycle of the dynamic conductance update and convergence check.</a:t>
            </a:r>
          </a:p>
          <a:p/>
          <a:p>
            <a:r>
              <a:rPr lang="en-US" dirty="0" sz="1200"/>
              <a:t>Starting state: context graph G at turn t with conductance matrix D(t).</a:t>
            </a:r>
          </a:p>
          <a:p/>
          <a:p>
            <a:r>
              <a:rPr lang="en-US" dirty="0" sz="1200"/>
              <a:t>Step 1: Compute updated conductance D(t+1) using the update rule for all edges in E.</a:t>
            </a:r>
          </a:p>
          <a:p/>
          <a:p>
            <a:r>
              <a:rPr lang="en-US" dirty="0" sz="1200"/>
              <a:t>Step 2: Compute convergence metric Σ|D(t+1)−D(t)| / ΣD(t).</a:t>
            </a:r>
          </a:p>
          <a:p/>
          <a:p>
            <a:r>
              <a:rPr lang="en-US" dirty="0" sz="1200"/>
              <a:t>Step 3: If metric &lt; ε=1e-4, convergence reached. Proceed to pruning. If not, and if iteration count &lt; 200, return to Step 1 with D(t) = D(t+1).</a:t>
            </a:r>
          </a:p>
          <a:p/>
          <a:p>
            <a:r>
              <a:rPr lang="en-US" dirty="0" sz="1200"/>
              <a:t>Step 4 (post-convergence): Solve Kirchhoff system for final potential vector p.</a:t>
            </a:r>
          </a:p>
          <a:p/>
          <a:p>
            <a:r>
              <a:rPr lang="en-US" dirty="0" sz="1200"/>
              <a:t>Step 5: Apply pruning threshold. Citation-preserved nodes are exempted. All other nodes below threshold are marked for pruning.</a:t>
            </a:r>
          </a:p>
          <a:p/>
          <a:p>
            <a:r>
              <a:rPr lang="en-US" dirty="0" sz="1200"/>
              <a:t>Step 6: Pruned graph G' is passed to the MNCD replication layer as the new compressed context.</a:t>
            </a:r>
          </a:p>
          <a:p/>
          <a:p>
            <a:r>
              <a:rPr lang="en-US" dirty="0" sz="1200"/>
              <a:t>The diagram shows the convergence curve for a representative session context — potential values stabilize around iteration 45, well within the max_iter=200 budget. This is typical behavior; I observed convergence between 30 and 70 iterations across my pilot dataset, with no cases exceeding 110 iterations.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System Architecture</a:t>
            </a:r>
          </a:p>
          <a:p/>
          <a:p>
            <a:r>
              <a:rPr lang="en-US" dirty="0" sz="1200"/>
              <a:t>This diagram shows ACRS as a complete integrated system. I want to point to the data flows that connect the four objectives, because this is what distinguishes ACRS from four separate papers.</a:t>
            </a:r>
          </a:p>
          <a:p/>
          <a:p>
            <a:r>
              <a:rPr lang="en-US" dirty="0" sz="1200"/>
              <a:t>Input path: A user query enters at the top left. It first hits SessionRerank+, which consults the session co-activation graph and returns a ranked API list. That ranked list is passed to the APRR+CDR+PDR routing layer.</a:t>
            </a:r>
          </a:p>
          <a:p/>
          <a:p>
            <a:r>
              <a:rPr lang="en-US" dirty="0" sz="1200"/>
              <a:t>Routing path: The router classifies the query and selects the appropriate dispatch strategy. The routing weights W are live — they update from session signals continuously. The output is one or more dispatch decisions sending sub-tasks to specific agents in the node mesh.</a:t>
            </a:r>
          </a:p>
          <a:p/>
          <a:p>
            <a:r>
              <a:rPr lang="en-US" dirty="0" sz="1200"/>
              <a:t>Execution path: Agent nodes execute their assigned sub-tasks. Each node draws on its local context replica, maintained by MNCD. MNCD gossip runs asynchronously in the background — nodes exchange context updates between turns without blocking the response path.</a:t>
            </a:r>
          </a:p>
          <a:p/>
          <a:p>
            <a:r>
              <a:rPr lang="en-US" dirty="0" sz="1200"/>
              <a:t>Compression path: After each turn, FCNP evaluates the accumulated context graph. If the graph exceeds the compression trigger threshold (typically when it has grown by 20% since the last compression), FCNP runs the Kirchhoff flow computation and returns a pruned graph. The pruned graph becomes the new context state for MNCD to distribute.</a:t>
            </a:r>
          </a:p>
          <a:p/>
          <a:p>
            <a:r>
              <a:rPr lang="en-US" dirty="0" sz="1200"/>
              <a:t>Feedback path: Success/failure signals from agent execution flow back to both SessionRerank+ (updating co-activation edge weights) and APRR (updating routing weights W). This feedback loop is what makes ACRS adaptive — every session teaches the system slightly more about what works.</a:t>
            </a:r>
          </a:p>
          <a:p/>
          <a:p>
            <a:r>
              <a:rPr lang="en-US" dirty="0" sz="1200"/>
              <a:t>The critical architectural point: the co-activation graph in SessionRerank+ and the context graph in FCNP are related but not identical. The co-activation graph tracks which APIs have been used together across turns — it's a lightweight index-level structure. The context graph in FCNP contains the full token-level content of session reasoning. They share session identifiers and citation anchor metadata, but operate on different levels of abstraction.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Algorithm Flow</a:t>
            </a:r>
          </a:p>
          <a:p/>
          <a:p>
            <a:r>
              <a:rPr lang="en-US" dirty="0" sz="1200"/>
              <a:t>This diagram presents the complete ACRS algorithm as a pseudocode-style flow, turn by turn.</a:t>
            </a:r>
          </a:p>
          <a:p/>
          <a:p>
            <a:r>
              <a:rPr lang="en-US" dirty="0" sz="1200"/>
              <a:t>Turn initialization: Load session state — co-activation graph, routing weights, distributed context replicas, and current compression state.</a:t>
            </a:r>
          </a:p>
          <a:p/>
          <a:p>
            <a:r>
              <a:rPr lang="en-US" dirty="0" sz="1200"/>
              <a:t>Tool retrieval (SessionRerank+): Compute φ_n from co-activation graph. Score and rerank top-50 candidates. Return top-5.</a:t>
            </a:r>
          </a:p>
          <a:p/>
          <a:p>
            <a:r>
              <a:rPr lang="en-US" dirty="0" sz="1200"/>
              <a:t>Routing decision (APRR+CDR+PDR): Classify query. If high-confidence single-task: APRR direct dispatch. If ambiguous: CDR deliberation → APRR. If decomposable: PDR fan-out → parallel APRR dispatch.</a:t>
            </a:r>
          </a:p>
          <a:p/>
          <a:p>
            <a:r>
              <a:rPr lang="en-US" dirty="0" sz="1200"/>
              <a:t>Execution: Agents execute. Context updates are generated.</a:t>
            </a:r>
          </a:p>
          <a:p/>
          <a:p>
            <a:r>
              <a:rPr lang="en-US" dirty="0" sz="1200"/>
              <a:t>Context distribution (MNCD): New context chunks are gossiped to R=3 peers. Coherence checks run on all live nodes. Any distress signals trigger immediate recovery protocol.</a:t>
            </a:r>
          </a:p>
          <a:p/>
          <a:p>
            <a:r>
              <a:rPr lang="en-US" dirty="0" sz="1200"/>
              <a:t>Compression check (FCNP): If context size &gt; trigger threshold: run Kirchhoff flow computation. Apply citation-preserving pruning. Distribute compressed context via MNCD.</a:t>
            </a:r>
          </a:p>
          <a:p/>
          <a:p>
            <a:r>
              <a:rPr lang="en-US" dirty="0" sz="1200"/>
              <a:t>Feedback: Success/failure signal updates SessionRerank+ edge weights and APRR routing weights W.</a:t>
            </a:r>
          </a:p>
          <a:p/>
          <a:p>
            <a:r>
              <a:rPr lang="en-US" dirty="0" sz="1200"/>
              <a:t>Turn completion: Session state persisted. Ready for next turn.</a:t>
            </a:r>
          </a:p>
          <a:p/>
          <a:p>
            <a:r>
              <a:rPr lang="en-US" dirty="0" sz="1200"/>
              <a:t>The algorithm is designed so that steps 4, 5, and 6 can run in parallel — gossip happens while agents are executing, and compression can begin while the success signal is being computed. This overlap is what keeps the per-turn overhead of ACRS to approximately 25ms above baseline inference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Novelty Matrix</a:t>
            </a:r>
          </a:p>
          <a:p/>
          <a:p>
            <a:r>
              <a:rPr lang="en-US" dirty="0" sz="1200"/>
              <a:t>I want to be completely explicit about novelty, because "novel" is a word that gets overused in proposals. Let me state exactly what exists before me and exactly what I'm adding.</a:t>
            </a:r>
          </a:p>
          <a:p/>
          <a:p>
            <a:r>
              <a:rPr lang="en-US" dirty="0" sz="1200"/>
              <a:t>SessionRerank+ novelty: ToolLLM does session-independent dense retrieval. LazyLLM does per-query KV pruning. No work uses a session co-activation graph with exponential discount and online edge updates for API reranking across multi-turn dialogue. My contribution is the φ_n score and the graph update mechanism — specifically the combination of temporal discount γ and online edge weight update with 50-session half-life.</a:t>
            </a:r>
          </a:p>
          <a:p/>
          <a:p>
            <a:r>
              <a:rPr lang="en-US" dirty="0" sz="1200"/>
              <a:t>APRR+CDR+PDR novelty: RouteLLM, FrugalGPT, and PickLLM all use offline-trained fixed policies. Approximate forms of CoT deliberation and parallel dispatch appear separately in the literature. No work combines online RL routing + CDR deliberation scoring + PDR parallel functional-token dispatch in a single system sharing session state. My contribution is the integration architecture and the shared session state bus that allows the three components to adapt together.</a:t>
            </a:r>
          </a:p>
          <a:p/>
          <a:p>
            <a:r>
              <a:rPr lang="en-US" dirty="0" sz="1200"/>
              <a:t>MNCD novelty: Gossip protocols exist in databases. CAP-aware distributed systems exist. No work applies epidemic gossip + pub/sub + R=3 replication + distress signaling to LLM session context specifically, with gossip weights that respond to both semantic similarity and network latency. My contribution is the LLM-semantic gossip weight function and the τ-threshold distress signal mechanism.</a:t>
            </a:r>
          </a:p>
          <a:p/>
          <a:p>
            <a:r>
              <a:rPr lang="en-US" dirty="0" sz="1200"/>
              <a:t>FCNP novelty: SparseGPT, LoRA, Scissorhands, H2O, AdaKV, Finch, and StreamingLLM all compress based on model weights or attention patterns without citation preservation. No work applies Kirchhoff flow-field potential scoring to LLM context graph compression with citation-anchor exemptions. My contribution is the flow-potential formulation and the cosine-threshold citation anchor detection mechanism.</a:t>
            </a:r>
          </a:p>
          <a:p/>
          <a:p>
            <a:r>
              <a:rPr lang="en-US" dirty="0" sz="1200"/>
              <a:t>You might challenge me: couldn't someone combine RouteLLM with Redis and call it novel? The answer is no, because Redis + RouteLLM would give you static routing + general-purpose key-value replication. You'd still have no online weight updates, no distress signaling, no citation preservation, and no session co-activation scoring. The novelty is not in the combination of off-the-shelf tools but in the new mechanisms I'm proposing within each layer.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Feasibility</a:t>
            </a:r>
          </a:p>
          <a:p/>
          <a:p>
            <a:r>
              <a:rPr lang="en-US" dirty="0" sz="1200"/>
              <a:t>Let me address feasibility directly, because a proposal with ambitious targets needs to show concrete viability — not just "it's theoretically possible."</a:t>
            </a:r>
          </a:p>
          <a:p/>
          <a:p>
            <a:r>
              <a:rPr lang="en-US" dirty="0" sz="1200"/>
              <a:t>Data: The ToolBench dataset (43,000 APIs, publicly available) provides the tool catalog for SessionRerank+ experiments. Agent routing experiments use the AgentBench benchmark. Context distribution experiments use a simulated 5-node mesh I've already implemented in Python using multiprocessing. FCNP experiments use context graphs extracted from GPT-4 API call logs on the ToolBench test set. No proprietary datasets are required.</a:t>
            </a:r>
          </a:p>
          <a:p/>
          <a:p>
            <a:r>
              <a:rPr lang="en-US" dirty="0" sz="1200"/>
              <a:t>Infrastructure: My pilot experiments ran on a single A100 GPU (80GB) available through the university HPC cluster. Full-scale experiments will use 4×A100 instances, which is within the approved compute budget. The 5-agent mesh simulation is CPU-only — no GPU dependency for MNCD experiments.</a:t>
            </a:r>
          </a:p>
          <a:p/>
          <a:p>
            <a:r>
              <a:rPr lang="en-US" dirty="0" sz="1200"/>
              <a:t>Compute estimates: SessionRerank+ graph operations: ~0.8 GPU-hours per 1,000 test queries. APRR routing simulation: ~2.1 GPU-hours per 10,000 sessions. FCNP Kirchhoff computation: ~0.3 GPU-hours per 1,000 context graphs. Total projected GPU usage across all experiments: approximately 600 GPU-hours, well within budget.</a:t>
            </a:r>
          </a:p>
          <a:p/>
          <a:p>
            <a:r>
              <a:rPr lang="en-US" dirty="0" sz="1200"/>
              <a:t>Software: All implementations are in Python (PyTorch, NetworkX for graph operations, custom gossip simulation). No commercial licenses required.</a:t>
            </a:r>
          </a:p>
          <a:p/>
          <a:p>
            <a:r>
              <a:rPr lang="en-US" dirty="0" sz="1200"/>
              <a:t>Timeline feasibility: Year 1 pilot results already validate the core hypotheses of all four objectives. The remaining work is scale-up and rigorous statistical validation, not proof-of-concept. This is the strongest feasibility signal I can give you — I have numbers, not just plans.</a:t>
            </a:r>
          </a:p>
          <a:p/>
          <a:p>
            <a:r>
              <a:rPr lang="en-US" dirty="0" sz="1200"/>
              <a:t>You might ask what happens if FCNP can't hit 10:1 compression in full-scale experiments. My fallback is a variable compression ratio target — I report the Pareto frontier of compression ratio versus citation accuracy, and argue for the best achievable point. The 10:1 target is a design goal, not a hard failure condition. The novelty of the Kirchhoff formulation is valid regardless of whether 10:1 is exactly achieved.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Ethics</a:t>
            </a:r>
          </a:p>
          <a:p/>
          <a:p>
            <a:r>
              <a:rPr lang="en-US" dirty="0" sz="1200"/>
              <a:t>I take research ethics seriously, and I want to address the considerations specific to this work — not as a checkbox exercise.</a:t>
            </a:r>
          </a:p>
          <a:p/>
          <a:p>
            <a:r>
              <a:rPr lang="en-US" dirty="0" sz="1200"/>
              <a:t>Data ethics: ToolBench is a publicly released research dataset. Its API metadata does not contain personally identifiable information. Agent execution logs used in FCNP experiments are synthetic or anonymized. No human subjects data is used.</a:t>
            </a:r>
          </a:p>
          <a:p/>
          <a:p>
            <a:r>
              <a:rPr lang="en-US" dirty="0" sz="1200"/>
              <a:t>AI safety considerations: ACRS is a routing and context management framework — it doesn't generate new content autonomously or take financial or medical decisions. The risk profile is low. However, I note one genuine concern: the online RL weight updates in APRR could theoretically be manipulated by an adversarial agent that consistently reports false success signals to skew routing weights. I address this in my implementation with a gradient clipping analog — the maximum per-session weight change is bounded by κ_max=0.1·W_max to prevent rapid manipulation.</a:t>
            </a:r>
          </a:p>
          <a:p/>
          <a:p>
            <a:r>
              <a:rPr lang="en-US" dirty="0" sz="1200"/>
              <a:t>Bias considerations: The co-activation graph in SessionRerank+ learns from session history. If a user's history reflects a particular domain bias (e.g., all queries are from one industry), the graph will amplify that bias. I disclose this as a limitation and include a bias audit metric in my evaluation — specifically, I check whether the NDCG@5 score degrades when the session history is artificially diverse versus domain-concentrated.</a:t>
            </a:r>
          </a:p>
          <a:p/>
          <a:p>
            <a:r>
              <a:rPr lang="en-US" dirty="0" sz="1200"/>
              <a:t>Reproducibility: All experiments will be fully described with hyperparameter tables and random seeds. Code will be released on GitHub upon publication. The ToolBench and AgentBench benchmarks are public, so results are independently reproducible.</a:t>
            </a:r>
          </a:p>
          <a:p/>
          <a:p>
            <a:r>
              <a:rPr lang="en-US" dirty="0" sz="1200"/>
              <a:t>Publication ethics: This proposal represents my original work. The four components have no direct predecessors that I would need to build on under license restrictions. All related work is properly cited.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Methodology &amp; Timeline</a:t>
            </a:r>
          </a:p>
          <a:p/>
          <a:p>
            <a:r>
              <a:rPr lang="en-US" dirty="0" sz="1200"/>
              <a:t>My research follows a design-evaluate-iterate methodology, with each objective advancing from pilot to full-scale evaluation across a structured timeline.</a:t>
            </a:r>
          </a:p>
          <a:p/>
          <a:p>
            <a:r>
              <a:rPr lang="en-US" dirty="0" sz="1200"/>
              <a:t>Year 1 (complete): Pilot implementations of all four objectives on reduced-scale experiments. Core algorithm designs validated. Preliminary results demonstrate feasibility across all four objectives: SessionRerank+ NDCG@5 = 0.516, APRR+CDR+PDR success = 47.0% / latency = 261ms, MNCD availability = 97.0%, FCNP compression = 9.8:1. One conference paper submitted (under review).</a:t>
            </a:r>
          </a:p>
          <a:p/>
          <a:p>
            <a:r>
              <a:rPr lang="en-US" dirty="0" sz="1200"/>
              <a:t>Year 2 (Q1–Q2): Full-scale implementation of SessionRerank+ and APRR+CDR+PDR. ToolBench full 43,000-API catalog experiments for Obj 1. AgentBench full-scale routing experiments for Obj 2. Statistical validation with n≥2,000 test queries. Target: two journal papers submitted.</a:t>
            </a:r>
          </a:p>
          <a:p/>
          <a:p>
            <a:r>
              <a:rPr lang="en-US" dirty="0" sz="1200"/>
              <a:t>Year 2 (Q3–Q4): Full-scale MNCD experiments on 5-node cluster. Fault injection experiments with systematic 1-of-5, 2-of-5 node failure scenarios. FCNP full-scale experiments with Wilcoxon validation against all 7 baselines. Begin integration of all four components into unified ACRS pipeline.</a:t>
            </a:r>
          </a:p>
          <a:p/>
          <a:p>
            <a:r>
              <a:rPr lang="en-US" dirty="0" sz="1200"/>
              <a:t>Year 3 (Q1–Q2): End-to-end ACRS integration experiments. Ablation studies on component interactions — specifically, does SessionRerank+ boost the routing accuracy of APRR, and does FCNP's compression affect MNCD's gossip efficiency? Dissertation writing begins.</a:t>
            </a:r>
          </a:p>
          <a:p/>
          <a:p>
            <a:r>
              <a:rPr lang="en-US" dirty="0" sz="1200"/>
              <a:t>Year 3 (Q3–Q4): Final experiments, statistical validation, dissertation completion, and pre-submission review with Dr. Jyothi A P.</a:t>
            </a:r>
          </a:p>
          <a:p/>
          <a:p>
            <a:r>
              <a:rPr lang="en-US" dirty="0" sz="1200"/>
              <a:t>The Gantt chart on this slide shows these phases with their dependencies. The critical path runs through the integration phase in Year 3 — the end-to-end ACRS experiments depend on all four components being individually validated, which is why front-loading the individual validations in Year 2 is important.</a:t>
            </a:r>
          </a:p>
          <a:p/>
          <a:p>
            <a:r>
              <a:rPr lang="en-US" dirty="0" sz="1200"/>
              <a:t>The methodology follows a principle I've tried to hold to throughout this proposal: every claim I make has a measurement attached to it. Not "ACRS will improve routing" — "ACRS targets 47% task success, measured by AgentBench completion rate, with p-value threshold 0.05 against the RouteLLM baseline."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Conclusion</a:t>
            </a:r>
          </a:p>
          <a:p/>
          <a:p>
            <a:r>
              <a:rPr lang="en-US" dirty="0" sz="1200"/>
              <a:t>Let me close by returning to the three questions that matter to you as the examiner — and answer each one directly.</a:t>
            </a:r>
          </a:p>
          <a:p/>
          <a:p>
            <a:r>
              <a:rPr lang="en-US" dirty="0" sz="1200"/>
              <a:t>Do I genuinely understand the concept? I hope the level of detail in this presentation answers that. I can explain why γ=0.7 in the session discount function. I can explain why I chose α=0.3 in the gossip weight function rather than 0.5. I can explain why Kirchhoff flow gives me something that attention-weight pruning doesn't. I know where my Year 1 numbers fell short of targets and why. Understanding means knowing where things can go wrong, not just where they work.</a:t>
            </a:r>
          </a:p>
          <a:p/>
          <a:p>
            <a:r>
              <a:rPr lang="en-US" dirty="0" sz="1200"/>
              <a:t>Can I implement this without blockers? I have a working pilot implementation of all four components. I have compute access, datasets, and an implementation plan with realistic GPU-hour estimates. The software stack is standard Python. The novel algorithms — the co-activation graph, the gossip protocol, the Kirchhoff flow solver — I have implemented and tested. The blockers I know about are primarily scale blockers — the full-scale Kirchhoff computation on large graphs, the 5-node hardware fault injection — and I have strategies for each.</a:t>
            </a:r>
          </a:p>
          <a:p/>
          <a:p>
            <a:r>
              <a:rPr lang="en-US" dirty="0" sz="1200"/>
              <a:t>Is this truly novel? I have described, paper by paper, what the prior work does and where it falls short. The four novelty claims are specific and falsifiable: if you can show me a paper that uses session co-activation history for API reranking, or online RL routing with CDR + PDR integration, or epidemic gossip for LLM context with distress signaling, or Kirchhoff flow for LLM context graph compression with citation anchors — then I need to reframe my novelty. I have not found such papers. If they exist, I want to know.</a:t>
            </a:r>
          </a:p>
          <a:p/>
          <a:p>
            <a:r>
              <a:rPr lang="en-US" dirty="0" sz="1200"/>
              <a:t>ACRS is not an incremental improvement on a single existing system. It is a new architecture for multi-agent LLM inference that addresses four currently unsolved failure modes in a single integrated framework. The Year 1 results suggest the components work. The next two years will determine whether they work together — and work at scale.</a:t>
            </a:r>
          </a:p>
          <a:p/>
          <a:p>
            <a:r>
              <a:rPr lang="en-US" dirty="0" sz="1200"/>
              <a:t>Thank you.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Integration: ToolBench + data.gov.in + HuggingFace</a:t>
            </a:r>
          </a:p>
          <a:p/>
          <a:p>
            <a:r>
              <a:rPr lang="en-US" dirty="0" sz="1200"/>
              <a:t>[SPEAKER NOTES — READ CAREFULLY]</a:t>
            </a:r>
          </a:p>
          <a:p/>
          <a:p>
            <a:r>
              <a:rPr lang="en-US" dirty="0" sz="1200"/>
              <a:t>This slide shows how all four objectives are connected into a single, deployed, real-time system — not four independent research contributions, but one integrated pipeline.</a:t>
            </a:r>
          </a:p>
          <a:p/>
          <a:p>
            <a:r>
              <a:rPr lang="en-US" dirty="0" sz="1200"/>
              <a:t>The common thread — ToolBench:</a:t>
            </a:r>
          </a:p>
          <a:p>
            <a:r>
              <a:rPr lang="en-US" dirty="0" sz="1200"/>
              <a:t>Every objective in ACRS operates on the same ToolBench dataset of 43,000 real-world APIs. Objective 1, SessionRerank+, is the entry point — it reranks those 43,000 APIs based on the farmer's current session context and co-activation history, selecting the Top-K most relevant APIs to pass downstream. Objective 2, APRR+CDR+PDR, receives that ranked list and uses its online RL weight matrix to route the query to the right specialist agent — MarketAgent, WeatherAgent, SchemeAgent, CropAgent, or FallbackAgent. Objective 3, MNCD, distributes the routing context across the agent mesh using gossip protocol, so every agent has the same session state. Objective 4, FCNP, prunes the accumulated KV context using flow conductance scores before the final response is generated.</a:t>
            </a:r>
          </a:p>
          <a:p/>
          <a:p>
            <a:r>
              <a:rPr lang="en-US" dirty="0" sz="1200"/>
              <a:t>Live data from data.gov.in:</a:t>
            </a:r>
          </a:p>
          <a:p>
            <a:r>
              <a:rPr lang="en-US" dirty="0" sz="1200"/>
              <a:t>The system connects to two live data.gov.in agriculture feeds in real time. The first is the mandi price feed — resource ID 9ef84268 — which returns today's commodity prices across Indian markets, including state, district, commodity, and modal price. The second is the historical crop arrivals feed — resource ID 35985678 — with over 80 million records. These live prices are the actual signal that drives the APRR routing weight update in Objective 2. When a farmer asks about rice prices in Karnataka today, MarketAgent calls the data.gov.in API, gets a live price, and that successful API call reinforces the W matrix weight for MarketAgent in the current session.</a:t>
            </a:r>
          </a:p>
          <a:p/>
          <a:p>
            <a:r>
              <a:rPr lang="en-US" dirty="0" sz="1200"/>
              <a:t>HuggingFace Spaces deployment:</a:t>
            </a:r>
          </a:p>
          <a:p>
            <a:r>
              <a:rPr lang="en-US" dirty="0" sz="1200"/>
              <a:t>The complete ACRS pipeline is deployed as a Gradio app at joyjeni/acrs-demo on HuggingFace Spaces. A farmer types a query in Hindi, Kannada, or English — IndicTrans2 translates it — SessionRerank+ selects relevant APIs from ToolBench — APRR+CDR+PDR routes to the right agent — that agent calls the live data.gov.in API — MNCD aggregates the mesh consensus — FCNP prunes the context — and the system returns a verified, source-attributed response citing the exact data.gov.in resource.</a:t>
            </a:r>
          </a:p>
          <a:p/>
          <a:p>
            <a:r>
              <a:rPr lang="en-US" dirty="0" sz="1200"/>
              <a:t>Why this matters for the PhD contribution:</a:t>
            </a:r>
          </a:p>
          <a:p>
            <a:r>
              <a:rPr lang="en-US" dirty="0" sz="1200"/>
              <a:t>This is the key architectural novelty — not one component but the integration. No existing system in the literature combines session-aware tool reranking, online RL routing, fault-tolerant mesh distribution, and flow-based context pruning into a single pipeline operating on live government open data. This is ACRS.</a:t>
            </a:r>
          </a:p>
          <a:p/>
          <a:p>
            <a:r>
              <a:rPr lang="en-US" dirty="0" sz="1200"/>
              <a:t>Transition: The following slides contain the full reference list for all 55 papers cited in this proposal.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1)</a:t>
            </a:r>
          </a:p>
          <a:p/>
          <a:p>
            <a:r>
              <a:rPr lang="en-US" dirty="0" sz="1200"/>
              <a:t>1. Qin, Y., et al. (2023). ToolLLM: Facilitating Large Language Models to Master 16000+ Real-World APIs. arXiv:2307.16789. [ToolBench dataset; baseline NDCG@5 = 0.452]</a:t>
            </a:r>
          </a:p>
          <a:p/>
          <a:p>
            <a:r>
              <a:rPr lang="en-US" dirty="0" sz="1200"/>
              <a:t>2. Fu, Y., et al. (2024). LazyLLM: Dynamic Token Pruning for Efficient Long Context LLM Inference. arXiv:2407.14057. [Per-query KV pruning; no session history]</a:t>
            </a:r>
          </a:p>
          <a:p/>
          <a:p>
            <a:r>
              <a:rPr lang="en-US" dirty="0" sz="1200"/>
              <a:t>3. Yao, S., et al. (2022). ReAct: Synergizing Reasoning and Acting in Language Models. arXiv:2210.03629. [Reason-Act cycle; assumes tool set predetermined]</a:t>
            </a:r>
          </a:p>
          <a:p/>
          <a:p>
            <a:r>
              <a:rPr lang="en-US" dirty="0" sz="1200"/>
              <a:t>4. Ong, I., et al. (2024). RouteLLM: Learning to Route LLMs with Preference Data. arXiv:2406.18665. [Offline-trained router; no live adaptation]</a:t>
            </a:r>
          </a:p>
          <a:p/>
          <a:p>
            <a:r>
              <a:rPr lang="en-US" dirty="0" sz="1200"/>
              <a:t>5. Chen, L., et al. (2023). FrugalGPT: How to Use Large Language Models While Reducing Cost and Improving Performance. arXiv:2305.05176. [Cascade routing; fixed thresholds]</a:t>
            </a:r>
          </a:p>
          <a:p/>
          <a:p>
            <a:r>
              <a:rPr lang="en-US" dirty="0" sz="1200"/>
              <a:t>6. Frantar, E., &amp; Alistarh, D. (2023). SparseGPT: Massive Language Models Can be Accurately Pruned in One Shot. ICML 2023. [Weight pruning, not context pruning]</a:t>
            </a:r>
          </a:p>
          <a:p/>
          <a:p>
            <a:r>
              <a:rPr lang="en-US" dirty="0" sz="1200"/>
              <a:t>7. Hu, E., et al. (2021). LoRA: Low-Rank Adaptation of Large Language Models. arXiv:2106.09685. [Parameter-efficient fine-tuning; not context compression]</a:t>
            </a:r>
          </a:p>
          <a:p/>
          <a:p>
            <a:r>
              <a:rPr lang="en-US" dirty="0" sz="1200"/>
              <a:t>8. Liu, Z., et al. (2023). Scissorhands: Exploiting the Persistence of Importance Hypothesis for LLM KV Cache Compression. NeurIPS 2023. [Attention-based KV pruning; no citation preservation]</a:t>
            </a:r>
          </a:p>
          <a:p/>
          <a:p>
            <a:r>
              <a:rPr lang="en-US" dirty="0" sz="1200"/>
              <a:t>9. Zhang, Z., et al. (2023). H2O: Heavy-Hitter Oracle for Efficient Generative Inference of Large Language Models. NeurIPS 2023. [Heavy-hitter KV retention; no citation anchoring]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2)</a:t>
            </a:r>
          </a:p>
          <a:p/>
          <a:p>
            <a:r>
              <a:rPr lang="en-US" dirty="0" sz="1200"/>
              <a:t>10. Xiao, G., et al. (2023). Efficient Streaming Language Models with Attention Sinks. arXiv:2309.17453. [StreamingLLM; rolling-window context; no 10:1 compression]</a:t>
            </a:r>
          </a:p>
          <a:p/>
          <a:p>
            <a:r>
              <a:rPr lang="en-US" dirty="0" sz="1200"/>
              <a:t>11. Demers, A., et al. (1987). Epidemic Algorithms for Replicated Database Maintenance. PODC 1987. [Foundational gossip protocol; not applied to LLM]</a:t>
            </a:r>
          </a:p>
          <a:p/>
          <a:p>
            <a:r>
              <a:rPr lang="en-US" dirty="0" sz="1200"/>
              <a:t>12. Shapiro, M., et al. (2011). Conflict-free Replicated Data Types. SSS 2011. [CRDTs for distributed consistency; theoretical basis for MNCD]</a:t>
            </a:r>
          </a:p>
          <a:p/>
          <a:p>
            <a:r>
              <a:rPr lang="en-US" dirty="0" sz="1200"/>
              <a:t>13. Brewer, E. (2000). Towards Robust Distributed Systems. PODC 2000 (CAP theorem keynote). [CAP theorem; basis for MNCD availability/partition-tolerance trade-off]</a:t>
            </a:r>
          </a:p>
          <a:p/>
          <a:p>
            <a:r>
              <a:rPr lang="en-US" dirty="0" sz="1200"/>
              <a:t>14. Kirchhoff, G. (1847). Über die Auflösung der Gleichungen, auf welche man bei der Untersuchung der linearen Vertheilung galvanischer Ströme geführt wird. Annalen der Physik, 72(12), 497–508. [Kirchhoff's circuit laws; mathematical basis for FCNP flow-field formulation]</a:t>
            </a:r>
          </a:p>
          <a:p/>
          <a:p>
            <a:r>
              <a:rPr lang="en-US" dirty="0" sz="1200"/>
              <a:t>15. Pan, R., et al. (2024). AdaKV: Adaptive Budget Allocation for Efficient KV Cache Compression. arXiv:2407.11550. [Adaptive attention-based KV compression; no citation preservation]</a:t>
            </a:r>
          </a:p>
          <a:p/>
          <a:p>
            <a:r>
              <a:rPr lang="en-US" dirty="0" sz="1200"/>
              <a:t>16. Wan, Z., et al. (2024). D2O: Dynamic Discriminative Operations for Efficient KV Cache Compression. arXiv:2406.13035. [Related KV compression work compared in FCNP baselines]</a:t>
            </a:r>
          </a:p>
          <a:p/>
          <a:p>
            <a:r>
              <a:rPr lang="en-US" dirty="0" sz="1200"/>
              <a:t>17. Liu, Y., et al. (2024). Finch: Prompt-guided Key-Value Cache Compression. arXiv:2408.00167. [Prompt-guided compression; one of 7 FCNP baselines]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3)</a:t>
            </a:r>
          </a:p>
          <a:p/>
          <a:p>
            <a:r>
              <a:rPr lang="en-US" dirty="0" sz="1200"/>
              <a:t>18. Anil, R., et al. (2023). Gemini: A Family of Highly Capable Multimodal Models. arXiv:2312.11805. [Multi-agent LLM deployment context; motivates routing problem]</a:t>
            </a:r>
          </a:p>
          <a:p/>
          <a:p>
            <a:r>
              <a:rPr lang="en-US" dirty="0" sz="1200"/>
              <a:t>19. Zheng, L., et al. (2023). Judging LLM-as-a-Judge with MT-Bench and Chatbot Arena. NeurIPS 2023. [LLM evaluation methodology relevant to task success metric]</a:t>
            </a:r>
          </a:p>
          <a:p/>
          <a:p>
            <a:r>
              <a:rPr lang="en-US" dirty="0" sz="1200"/>
              <a:t>20. Liu, H., et al. (2023). AgentBench: Evaluating LLMs as Agents. arXiv:2308.03688. [AgentBench benchmark used in Obj 2 routing evaluation]</a:t>
            </a:r>
          </a:p>
          <a:p/>
          <a:p>
            <a:r>
              <a:rPr lang="en-US" dirty="0" sz="1200"/>
              <a:t>21. Mnih, V., et al. (2015). Human-level Control through Deep Reinforcement Learning. Nature 518, 529–533. [DQN; theoretical basis for APRR's RL weight update scheme]</a:t>
            </a:r>
          </a:p>
          <a:p/>
          <a:p>
            <a:r>
              <a:rPr lang="en-US" dirty="0" sz="1200"/>
              <a:t>22. Brown, T., et al. (2020). Language Models are Few-Shot Learners. NeurIPS 2020. [GPT-3; establishes multi-turn context importance in LLM inference]</a:t>
            </a:r>
          </a:p>
          <a:p/>
          <a:p>
            <a:r>
              <a:rPr lang="en-US" dirty="0" sz="1200"/>
              <a:t>23. Vaswani, A., et al. (2017). Attention Is All You Need. NeurIPS 2017. [Transformer attention mechanism; basis for FCNP's G=(V,E) attention-graph representation]</a:t>
            </a:r>
          </a:p>
          <a:p/>
          <a:p>
            <a:r>
              <a:rPr lang="en-US" dirty="0" sz="1200"/>
              <a:t>24. Hamilton, W.L., et al. (2017). Inductive Representation Learning on Large Graphs. NeurIPS 2017. [GraphSAGE; graph representation methods relevant to co-activation graph in SessionRerank+]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4)</a:t>
            </a:r>
          </a:p>
          <a:p/>
          <a:p>
            <a:r>
              <a:rPr lang="en-US" dirty="0" sz="1200"/>
              <a:t>25. Shinn, N., et al. (2023). Reflexion: Language Agents with Verbal Reinforcement Learning. NeurIPS 2023. [Agent self-improvement via verbal feedback; context for APRR's success signal mechanism]</a:t>
            </a:r>
          </a:p>
          <a:p/>
          <a:p>
            <a:r>
              <a:rPr lang="en-US" dirty="0" sz="1200"/>
              <a:t>26. Park, J.S., et al. (2023). Generative Agents: Interactive Simulacra of Human Behavior. UIST 2023. [Multi-agent context management; motivates MNCD problem statement]</a:t>
            </a:r>
          </a:p>
          <a:p/>
          <a:p>
            <a:r>
              <a:rPr lang="en-US" dirty="0" sz="1200"/>
              <a:t>27. Wu, Q., et al. (2023). AutoGen: Enabling Next-Gen LLM Applications via Multi-Agent Conversation. arXiv:2308.08155. [AutoGen multi-agent framework; closest existing system to ACRS architecture scope; does not address adaptive routing or Kirchhoff compression]</a:t>
            </a:r>
          </a:p>
          <a:p/>
          <a:p>
            <a:r>
              <a:rPr lang="en-US" dirty="0" sz="1200"/>
              <a:t>28. Guo, T., et al. (2024). Large Language Model based Multi-Agents: A Survey of Progress and Challenges. arXiv:2402.01680. [Survey paper; comprehensive overview of multi-agent LLM literature confirming identified gaps]</a:t>
            </a:r>
          </a:p>
          <a:p/>
          <a:p>
            <a:r>
              <a:rPr lang="en-US" dirty="0" sz="1200"/>
              <a:t>29. Tang, X., et al. (2024). ToolAlpaca: Generalized Tool Learning for Language Models with 3000 Simulated Cases. arXiv:2306.05301. [Tool learning baseline; stateless retrieval]</a:t>
            </a:r>
          </a:p>
          <a:p/>
          <a:p>
            <a:r>
              <a:rPr lang="en-US" dirty="0" sz="1200"/>
              <a:t>30. Spielman, D.A., &amp; Teng, S.-H. (2004). Nearly-Linear Time Algorithms for Graph Partitioning, Graph Sparsification, and Solving Linear Systems. STOC 2004. [Algorithmic basis for near-linear Laplacian solvers used in FCNP Kirchhoff computation]</a:t>
            </a:r>
          </a:p>
          <a:p/>
          <a:p/>
          <a:p>
            <a:r>
              <a:rPr lang="en-US" dirty="0" sz="1200"/>
              <a:t>End of Speaker Script — Slide 38 of 38</a:t>
            </a:r>
          </a:p>
          <a:p/>
          <a:p/>
          <a:p>
            <a:r>
              <a:rPr lang="en-US" dirty="0" sz="1200"/>
              <a:t>Document metadata:</a:t>
            </a:r>
          </a:p>
          <a:p>
            <a:r>
              <a:rPr lang="en-US" dirty="0" sz="1200"/>
              <a:t>Student: Jenisha T | Reg: 24ETRP720001</a:t>
            </a:r>
          </a:p>
          <a:p>
            <a:r>
              <a:rPr lang="en-US" dirty="0" sz="1200"/>
              <a:t>Supervisor: Dr. Jyothi A P, Associate Professor &amp; Programme Head (M&amp;C), FET</a:t>
            </a:r>
          </a:p>
          <a:p>
            <a:r>
              <a:rPr lang="en-US" dirty="0" sz="1200"/>
              <a:t>Department: CSE, FET, M.S. Ramaiah University of Applied Sciences</a:t>
            </a:r>
          </a:p>
          <a:p>
            <a:r>
              <a:rPr lang="en-US" dirty="0" sz="1200"/>
              <a:t>Research Title: Design and Evaluation of ACRS (Adaptive Context Reasoning System) for Efficient Multi-Agent LLM Inference</a:t>
            </a:r>
          </a:p>
          <a:p>
            <a:r>
              <a:rPr lang="en-US" dirty="0" sz="1200"/>
              <a:t>Prepared: June 2026 | PRP-1</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pdf/2407.14057" TargetMode="External"/><Relationship Id="rId2" Type="http://schemas.openxmlformats.org/officeDocument/2006/relationships/hyperlink" Target="https://arxiv.org/pdf/2306.14048" TargetMode="External"/><Relationship Id="rId3" Type="http://schemas.openxmlformats.org/officeDocument/2006/relationships/hyperlink" Target="https://arxiv.org/pdf/2305.17118" TargetMode="External"/><Relationship Id="rId4" Type="http://schemas.openxmlformats.org/officeDocument/2006/relationships/hyperlink" Target="https://arxiv.org/pdf/2309.17453" TargetMode="External"/><Relationship Id="rId5" Type="http://schemas.openxmlformats.org/officeDocument/2006/relationships/hyperlink" Target="https://arxiv.org/pdf/2403.05527" TargetMode="External"/><Relationship Id="rId6" Type="http://schemas.openxmlformats.org/officeDocument/2006/relationships/hyperlink" Target="https://doi.org/10.1145/3651890.3672274" TargetMode="External"/><Relationship Id="rId7" Type="http://schemas.openxmlformats.org/officeDocument/2006/relationships/hyperlink" Target="https://arxiv.org/pdf/2405.14366" TargetMode="External"/><Relationship Id="rId8" Type="http://schemas.openxmlformats.org/officeDocument/2006/relationships/hyperlink" Target="https://arxiv.org/pdf/2307.16789" TargetMode="External"/><Relationship Id="rId9" Type="http://schemas.openxmlformats.org/officeDocument/2006/relationships/hyperlink" Target="https://drive.google.com/drive/u/0/folders/1sAOY-c2Bg0Io7102_klRrvtyOj06Kc0Z" TargetMode="External"/><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pdf/2406.18665" TargetMode="External"/><Relationship Id="rId2" Type="http://schemas.openxmlformats.org/officeDocument/2006/relationships/hyperlink" Target="https://arxiv.org/pdf/2305.05176" TargetMode="External"/><Relationship Id="rId3" Type="http://schemas.openxmlformats.org/officeDocument/2006/relationships/hyperlink" Target="https://arxiv.org/pdf/2406.04692" TargetMode="External"/><Relationship Id="rId4" Type="http://schemas.openxmlformats.org/officeDocument/2006/relationships/hyperlink" Target="https://arxiv.org/pdf/2407.17320" TargetMode="External"/><Relationship Id="rId5" Type="http://schemas.openxmlformats.org/officeDocument/2006/relationships/hyperlink" Target="https://arxiv.org/abs/2408.01642" TargetMode="External"/><Relationship Id="rId6" Type="http://schemas.openxmlformats.org/officeDocument/2006/relationships/hyperlink" Target="https://arxiv.org/abs/2412.03109" TargetMode="External"/><Relationship Id="rId7" Type="http://schemas.openxmlformats.org/officeDocument/2006/relationships/hyperlink" Target="https://arxiv.org/pdf/2407.12322" TargetMode="External"/><Relationship Id="rId8" Type="http://schemas.openxmlformats.org/officeDocument/2006/relationships/hyperlink" Target="https://arxiv.org/abs/2409.15133" TargetMode="External"/><Relationship Id="rId9" Type="http://schemas.openxmlformats.org/officeDocument/2006/relationships/hyperlink" Target="https://drive.google.com/drive/u/0/folders/1sAOY-c2Bg0Io7102_klRrvtyOj06Kc0Z" TargetMode="External"/><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1.12145" TargetMode="External"/><Relationship Id="rId2" Type="http://schemas.openxmlformats.org/officeDocument/2006/relationships/hyperlink" Target="https://arxiv.org/abs/2503.03628" TargetMode="External"/><Relationship Id="rId3" Type="http://schemas.openxmlformats.org/officeDocument/2006/relationships/hyperlink" Target="https://arxiv.org/abs/2502.09510" TargetMode="External"/><Relationship Id="rId4" Type="http://schemas.openxmlformats.org/officeDocument/2006/relationships/hyperlink" Target="https://arxiv.org/abs/2410.06801" TargetMode="External"/><Relationship Id="rId5" Type="http://schemas.openxmlformats.org/officeDocument/2006/relationships/hyperlink" Target="https://arxiv.org/pdf/2402.01680" TargetMode="External"/><Relationship Id="rId6" Type="http://schemas.openxmlformats.org/officeDocument/2006/relationships/hyperlink" Target="https://arxiv.org/abs/2409.01327" TargetMode="External"/><Relationship Id="rId7" Type="http://schemas.openxmlformats.org/officeDocument/2006/relationships/hyperlink" Target="https://arxiv.org/abs/2312.09572" TargetMode="External"/><Relationship Id="rId8" Type="http://schemas.openxmlformats.org/officeDocument/2006/relationships/hyperlink" Target="https://arxiv.org/abs/2404.10195" TargetMode="External"/><Relationship Id="rId9" Type="http://schemas.openxmlformats.org/officeDocument/2006/relationships/hyperlink" Target="https://drive.google.com/drive/u/0/folders/1sAOY-c2Bg0Io7102_klRrvtyOj06Kc0Z" TargetMode="External"/><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oi.org/10.1126/science.1177894" TargetMode="External"/><Relationship Id="rId2" Type="http://schemas.openxmlformats.org/officeDocument/2006/relationships/hyperlink" Target="https://doi.org/10.1016/j.jtbi.2006.09.034" TargetMode="External"/><Relationship Id="rId3" Type="http://schemas.openxmlformats.org/officeDocument/2006/relationships/hyperlink" Target="https://doi.org/10.1016/j.jtbi.2012.01.024" TargetMode="External"/><Relationship Id="rId4" Type="http://schemas.openxmlformats.org/officeDocument/2006/relationships/hyperlink" Target="https://arxiv.org/pdf/2106.09685" TargetMode="External"/><Relationship Id="rId5" Type="http://schemas.openxmlformats.org/officeDocument/2006/relationships/hyperlink" Target="https://arxiv.org/pdf/2301.00774" TargetMode="External"/><Relationship Id="rId6" Type="http://schemas.openxmlformats.org/officeDocument/2006/relationships/hyperlink" Target="https://arxiv.org/pdf/2305.17118" TargetMode="External"/><Relationship Id="rId7" Type="http://schemas.openxmlformats.org/officeDocument/2006/relationships/hyperlink" Target="https://arxiv.org/pdf/2407.11550" TargetMode="External"/><Relationship Id="rId8" Type="http://schemas.openxmlformats.org/officeDocument/2006/relationships/hyperlink" Target="https://arxiv.org/pdf/2408.00167" TargetMode="External"/><Relationship Id="rId9" Type="http://schemas.openxmlformats.org/officeDocument/2006/relationships/hyperlink" Target="https://drive.google.com/drive/u/0/folders/1sAOY-c2Bg0Io7102_klRrvtyOj06Kc0Z" TargetMode="External"/><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doi.org/10.48550/arXiv.2407.14057" TargetMode="External"/><Relationship Id="rId2" Type="http://schemas.openxmlformats.org/officeDocument/2006/relationships/hyperlink" Target="https://doi.org/10.48550/arXiv.2306.14048" TargetMode="External"/><Relationship Id="rId3" Type="http://schemas.openxmlformats.org/officeDocument/2006/relationships/hyperlink" Target="https://doi.org/10.48550/arXiv.2305.17118" TargetMode="External"/><Relationship Id="rId4" Type="http://schemas.openxmlformats.org/officeDocument/2006/relationships/hyperlink" Target="https://doi.org/10.48550/arXiv.2309.17453" TargetMode="External"/><Relationship Id="rId5" Type="http://schemas.openxmlformats.org/officeDocument/2006/relationships/hyperlink" Target="https://doi.org/10.48550/arXiv.2403.05527" TargetMode="External"/><Relationship Id="rId6" Type="http://schemas.openxmlformats.org/officeDocument/2006/relationships/hyperlink" Target="https://doi.org/10.48550/arXiv.2307.16789" TargetMode="External"/><Relationship Id="rId7" Type="http://schemas.openxmlformats.org/officeDocument/2006/relationships/hyperlink" Target="https://doi.org/10.1145/3651890.3672274" TargetMode="External"/><Relationship Id="rId8" Type="http://schemas.openxmlformats.org/officeDocument/2006/relationships/hyperlink" Target="https://drive.google.com/drive/u/0/folders/1sAOY-c2Bg0Io7102_klRrvtyOj06Kc0Z" TargetMode="External"/><Relationship Id="rId9" Type="http://schemas.openxmlformats.org/officeDocument/2006/relationships/slideLayout" Target="../slideLayouts/slideLayout1.xml"/><Relationship Id="rId10"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s://doi.org/10.48550/arXiv.2405.14366" TargetMode="External"/><Relationship Id="rId2" Type="http://schemas.openxmlformats.org/officeDocument/2006/relationships/hyperlink" Target="https://doi.org/10.48550/arXiv.2406.18665" TargetMode="External"/><Relationship Id="rId3" Type="http://schemas.openxmlformats.org/officeDocument/2006/relationships/hyperlink" Target="https://doi.org/10.48550/arXiv.2305.05176" TargetMode="External"/><Relationship Id="rId4" Type="http://schemas.openxmlformats.org/officeDocument/2006/relationships/hyperlink" Target="https://arxiv.org/abs/2406.04692" TargetMode="External"/><Relationship Id="rId5" Type="http://schemas.openxmlformats.org/officeDocument/2006/relationships/hyperlink" Target="https://arxiv.org/abs/2407.17320" TargetMode="External"/><Relationship Id="rId6" Type="http://schemas.openxmlformats.org/officeDocument/2006/relationships/hyperlink" Target="https://arxiv.org/abs/2407.12322" TargetMode="External"/><Relationship Id="rId7" Type="http://schemas.openxmlformats.org/officeDocument/2006/relationships/hyperlink" Target="https://doi.org/10.48550/arXiv.2308.08155" TargetMode="External"/><Relationship Id="rId8" Type="http://schemas.openxmlformats.org/officeDocument/2006/relationships/hyperlink" Target="https://drive.google.com/drive/u/0/folders/1sAOY-c2Bg0Io7102_klRrvtyOj06Kc0Z" TargetMode="External"/><Relationship Id="rId9" Type="http://schemas.openxmlformats.org/officeDocument/2006/relationships/slideLayout" Target="../slideLayouts/slideLayout1.xml"/><Relationship Id="rId1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doi.org/10.48550/arXiv.2210.03629" TargetMode="External"/><Relationship Id="rId2" Type="http://schemas.openxmlformats.org/officeDocument/2006/relationships/hyperlink" Target="https://doi.org/10.48550/arXiv.2308.03688" TargetMode="External"/><Relationship Id="rId3" Type="http://schemas.openxmlformats.org/officeDocument/2006/relationships/hyperlink" Target="https://arxiv.org/abs/2309.07864" TargetMode="External"/><Relationship Id="rId4" Type="http://schemas.openxmlformats.org/officeDocument/2006/relationships/hyperlink" Target="https://doi.org/10.48550/arXiv.2106.09685" TargetMode="External"/><Relationship Id="rId5" Type="http://schemas.openxmlformats.org/officeDocument/2006/relationships/hyperlink" Target="https://doi.org/10.48550/arXiv.2407.11550" TargetMode="External"/><Relationship Id="rId6" Type="http://schemas.openxmlformats.org/officeDocument/2006/relationships/hyperlink" Target="https://doi.org/10.48550/arXiv.2406.13035" TargetMode="External"/><Relationship Id="rId7" Type="http://schemas.openxmlformats.org/officeDocument/2006/relationships/hyperlink" Target="https://doi.org/10.48550/arXiv.2312.11805" TargetMode="External"/><Relationship Id="rId8" Type="http://schemas.openxmlformats.org/officeDocument/2006/relationships/hyperlink" Target="https://drive.google.com/drive/u/0/folders/1sAOY-c2Bg0Io7102_klRrvtyOj06Kc0Z" TargetMode="External"/><Relationship Id="rId9" Type="http://schemas.openxmlformats.org/officeDocument/2006/relationships/slideLayout" Target="../slideLayouts/slideLayout1.xml"/><Relationship Id="rId1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doi.org/10.48550/arXiv.2402.01680" TargetMode="External"/><Relationship Id="rId2" Type="http://schemas.openxmlformats.org/officeDocument/2006/relationships/hyperlink" Target="https://doi.org/10.48550/arXiv.2408.00167" TargetMode="External"/><Relationship Id="rId3" Type="http://schemas.openxmlformats.org/officeDocument/2006/relationships/hyperlink" Target="https://doi.org/10.48550/arXiv.2307.16789" TargetMode="External"/><Relationship Id="rId4" Type="http://schemas.openxmlformats.org/officeDocument/2006/relationships/hyperlink" Target="https://arxiv.org/abs/2304.08354" TargetMode="External"/><Relationship Id="rId5" Type="http://schemas.openxmlformats.org/officeDocument/2006/relationships/hyperlink" Target="https://arxiv.org/abs/2305.15334" TargetMode="External"/><Relationship Id="rId6" Type="http://schemas.openxmlformats.org/officeDocument/2006/relationships/hyperlink" Target="https://arxiv.org/abs/2306.13304" TargetMode="External"/><Relationship Id="rId7" Type="http://schemas.openxmlformats.org/officeDocument/2006/relationships/hyperlink" Target="https://doi.org/10.48550/arXiv.2302.04761" TargetMode="External"/><Relationship Id="rId8" Type="http://schemas.openxmlformats.org/officeDocument/2006/relationships/hyperlink" Target="https://drive.google.com/drive/u/0/folders/1sAOY-c2Bg0Io7102_klRrvtyOj06Kc0Z" TargetMode="External"/><Relationship Id="rId9" Type="http://schemas.openxmlformats.org/officeDocument/2006/relationships/slideLayout" Target="../slideLayouts/slideLayout1.xml"/><Relationship Id="rId10"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C2864"/>
          </a:solidFill>
          <a:ln w="12700">
            <a:solidFill>
              <a:srgbClr val="3C2864"/>
            </a:solidFill>
            <a:prstDash val="solid"/>
          </a:ln>
        </p:spPr>
      </p:sp>
      <p:sp>
        <p:nvSpPr>
          <p:cNvPr id="3" name="Shape 1"/>
          <p:cNvSpPr/>
          <p:nvPr/>
        </p:nvSpPr>
        <p:spPr>
          <a:xfrm>
            <a:off x="0" y="0"/>
            <a:ext cx="12188952" cy="502920"/>
          </a:xfrm>
          <a:prstGeom prst="rect">
            <a:avLst/>
          </a:prstGeom>
          <a:solidFill>
            <a:srgbClr val="C8402A"/>
          </a:solidFill>
          <a:ln w="12700">
            <a:solidFill>
              <a:srgbClr val="C8402A"/>
            </a:solidFill>
            <a:prstDash val="solid"/>
          </a:ln>
        </p:spPr>
      </p:sp>
      <p:pic>
        <p:nvPicPr>
          <p:cNvPr id="4" name="Image 0" descr="preencoded.png">    </p:cNvPr>
          <p:cNvPicPr>
            <a:picLocks noChangeAspect="1"/>
          </p:cNvPicPr>
          <p:nvPr/>
        </p:nvPicPr>
        <p:blipFill>
          <a:blip r:embed="rId1"/>
          <a:stretch>
            <a:fillRect/>
          </a:stretch>
        </p:blipFill>
        <p:spPr>
          <a:xfrm>
            <a:off x="228600" y="73152"/>
            <a:ext cx="1124712" cy="347472"/>
          </a:xfrm>
          <a:prstGeom prst="rect">
            <a:avLst/>
          </a:prstGeom>
        </p:spPr>
      </p:pic>
      <p:sp>
        <p:nvSpPr>
          <p:cNvPr id="5" name="Text 2"/>
          <p:cNvSpPr/>
          <p:nvPr/>
        </p:nvSpPr>
        <p:spPr>
          <a:xfrm>
            <a:off x="4114800" y="91440"/>
            <a:ext cx="7863840" cy="320040"/>
          </a:xfrm>
          <a:prstGeom prst="rect">
            <a:avLst/>
          </a:prstGeom>
          <a:noFill/>
          <a:ln/>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M. S. Ramaiah University of Applied Sciences | Faculty of Engineering &amp; Technology</a:t>
            </a:r>
            <a:endParaRPr lang="en-US" sz="1400" dirty="0"/>
          </a:p>
        </p:txBody>
      </p:sp>
      <p:sp>
        <p:nvSpPr>
          <p:cNvPr id="6" name="Shape 3"/>
          <p:cNvSpPr/>
          <p:nvPr/>
        </p:nvSpPr>
        <p:spPr>
          <a:xfrm>
            <a:off x="457200" y="1097280"/>
            <a:ext cx="11274552" cy="0"/>
          </a:xfrm>
          <a:prstGeom prst="line">
            <a:avLst/>
          </a:prstGeom>
          <a:noFill/>
          <a:ln w="12700">
            <a:solidFill>
              <a:srgbClr val="FFFFFF"/>
            </a:solidFill>
            <a:prstDash val="solid"/>
          </a:ln>
        </p:spPr>
      </p:sp>
      <p:sp>
        <p:nvSpPr>
          <p:cNvPr id="7" name="Text 4"/>
          <p:cNvSpPr/>
          <p:nvPr/>
        </p:nvSpPr>
        <p:spPr>
          <a:xfrm>
            <a:off x="457200" y="1234440"/>
            <a:ext cx="11274552" cy="2194560"/>
          </a:xfrm>
          <a:prstGeom prst="rect">
            <a:avLst/>
          </a:prstGeom>
          <a:noFill/>
          <a:ln/>
        </p:spPr>
        <p:txBody>
          <a:bodyPr wrap="square" rtlCol="0" anchor="ctr"/>
          <a:lstStyle/>
          <a:p>
            <a:pPr algn="ctr" indent="0" marL="0">
              <a:buNone/>
            </a:pPr>
            <a:r>
              <a:rPr lang="en-US" sz="3200" b="1" spc="30" kern="0" dirty="0">
                <a:solidFill>
                  <a:srgbClr val="FFFFFF"/>
                </a:solidFill>
                <a:latin typeface="Calibri" pitchFamily="34" charset="0"/>
                <a:ea typeface="Calibri" pitchFamily="34" charset="-122"/>
                <a:cs typeface="Calibri" pitchFamily="34" charset="-120"/>
              </a:rPr>
              <a:t>Design and Evaluation of</a:t>
            </a:r>
            <a:endParaRPr lang="en-US" sz="3200" dirty="0"/>
          </a:p>
          <a:p>
            <a:pPr algn="ctr" indent="0" marL="0">
              <a:buNone/>
            </a:pPr>
            <a:r>
              <a:rPr lang="en-US" sz="3200" b="1" spc="30" kern="0" dirty="0">
                <a:solidFill>
                  <a:srgbClr val="FFFFFF"/>
                </a:solidFill>
                <a:latin typeface="Calibri" pitchFamily="34" charset="0"/>
                <a:ea typeface="Calibri" pitchFamily="34" charset="-122"/>
                <a:cs typeface="Calibri" pitchFamily="34" charset="-120"/>
              </a:rPr>
              <a:t>Adaptive Context Reasoning System (ACRS)</a:t>
            </a:r>
            <a:endParaRPr lang="en-US" sz="3200" dirty="0"/>
          </a:p>
          <a:p>
            <a:pPr algn="ctr" indent="0" marL="0">
              <a:buNone/>
            </a:pPr>
            <a:r>
              <a:rPr lang="en-US" sz="3200" b="1" spc="30" kern="0" dirty="0">
                <a:solidFill>
                  <a:srgbClr val="FFFFFF"/>
                </a:solidFill>
                <a:latin typeface="Calibri" pitchFamily="34" charset="0"/>
                <a:ea typeface="Calibri" pitchFamily="34" charset="-122"/>
                <a:cs typeface="Calibri" pitchFamily="34" charset="-120"/>
              </a:rPr>
              <a:t>for Efficient Multi-Agent Large Language Model (LLM) Inference</a:t>
            </a:r>
            <a:endParaRPr lang="en-US" sz="3200" dirty="0"/>
          </a:p>
        </p:txBody>
      </p:sp>
      <p:sp>
        <p:nvSpPr>
          <p:cNvPr id="8" name="Text 5"/>
          <p:cNvSpPr/>
          <p:nvPr/>
        </p:nvSpPr>
        <p:spPr>
          <a:xfrm>
            <a:off x="457200" y="3520440"/>
            <a:ext cx="11274552" cy="411480"/>
          </a:xfrm>
          <a:prstGeom prst="rect">
            <a:avLst/>
          </a:prstGeom>
          <a:noFill/>
          <a:ln/>
        </p:spPr>
        <p:txBody>
          <a:bodyPr wrap="square" rtlCol="0" anchor="ctr"/>
          <a:lstStyle/>
          <a:p>
            <a:pPr algn="ctr" indent="0" marL="0">
              <a:buNone/>
            </a:pPr>
            <a:r>
              <a:rPr lang="en-US" sz="1600" b="1" dirty="0">
                <a:solidFill>
                  <a:srgbClr val="C8402A"/>
                </a:solidFill>
                <a:latin typeface="Calibri" pitchFamily="34" charset="0"/>
                <a:ea typeface="Calibri" pitchFamily="34" charset="-122"/>
                <a:cs typeface="Calibri" pitchFamily="34" charset="-120"/>
              </a:rPr>
              <a:t>PhD Research Proposal — PRP-1</a:t>
            </a:r>
            <a:endParaRPr lang="en-US" sz="1600" dirty="0"/>
          </a:p>
        </p:txBody>
      </p:sp>
      <p:sp>
        <p:nvSpPr>
          <p:cNvPr id="9" name="Shape 6"/>
          <p:cNvSpPr/>
          <p:nvPr/>
        </p:nvSpPr>
        <p:spPr>
          <a:xfrm>
            <a:off x="457200" y="4005072"/>
            <a:ext cx="11274552" cy="0"/>
          </a:xfrm>
          <a:prstGeom prst="line">
            <a:avLst/>
          </a:prstGeom>
          <a:noFill/>
          <a:ln w="12700">
            <a:solidFill>
              <a:srgbClr val="FFFFFF"/>
            </a:solidFill>
            <a:prstDash val="solid"/>
          </a:ln>
        </p:spPr>
      </p:sp>
      <p:sp>
        <p:nvSpPr>
          <p:cNvPr id="10" name="Shape 7"/>
          <p:cNvSpPr/>
          <p:nvPr/>
        </p:nvSpPr>
        <p:spPr>
          <a:xfrm>
            <a:off x="6089904" y="4133088"/>
            <a:ext cx="0" cy="1810512"/>
          </a:xfrm>
          <a:prstGeom prst="line">
            <a:avLst/>
          </a:prstGeom>
          <a:noFill/>
          <a:ln w="12700">
            <a:solidFill>
              <a:srgbClr val="C8402A"/>
            </a:solidFill>
            <a:prstDash val="solid"/>
          </a:ln>
        </p:spPr>
      </p:sp>
      <p:sp>
        <p:nvSpPr>
          <p:cNvPr id="11" name="Text 8"/>
          <p:cNvSpPr/>
          <p:nvPr/>
        </p:nvSpPr>
        <p:spPr>
          <a:xfrm>
            <a:off x="457200" y="4133088"/>
            <a:ext cx="5394960"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Research Student</a:t>
            </a:r>
            <a:endParaRPr lang="en-US" sz="1200" dirty="0"/>
          </a:p>
        </p:txBody>
      </p:sp>
      <p:sp>
        <p:nvSpPr>
          <p:cNvPr id="12" name="Text 9"/>
          <p:cNvSpPr/>
          <p:nvPr/>
        </p:nvSpPr>
        <p:spPr>
          <a:xfrm>
            <a:off x="457200" y="4443984"/>
            <a:ext cx="5394960"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Jenisha T</a:t>
            </a:r>
            <a:endParaRPr lang="en-US" sz="1800" dirty="0"/>
          </a:p>
        </p:txBody>
      </p:sp>
      <p:sp>
        <p:nvSpPr>
          <p:cNvPr id="13" name="Text 10"/>
          <p:cNvSpPr/>
          <p:nvPr/>
        </p:nvSpPr>
        <p:spPr>
          <a:xfrm>
            <a:off x="457200" y="479145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Reg. No.: 24ETRP720001</a:t>
            </a:r>
            <a:endParaRPr lang="en-US" sz="1300" dirty="0"/>
          </a:p>
        </p:txBody>
      </p:sp>
      <p:sp>
        <p:nvSpPr>
          <p:cNvPr id="14" name="Text 11"/>
          <p:cNvSpPr/>
          <p:nvPr/>
        </p:nvSpPr>
        <p:spPr>
          <a:xfrm>
            <a:off x="457200" y="506577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15" name="Text 12"/>
          <p:cNvSpPr/>
          <p:nvPr/>
        </p:nvSpPr>
        <p:spPr>
          <a:xfrm>
            <a:off x="457200" y="534009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Faculty of Engineering &amp; Technology</a:t>
            </a:r>
            <a:endParaRPr lang="en-US" sz="1300" dirty="0"/>
          </a:p>
        </p:txBody>
      </p:sp>
      <p:sp>
        <p:nvSpPr>
          <p:cNvPr id="16" name="Text 13"/>
          <p:cNvSpPr/>
          <p:nvPr/>
        </p:nvSpPr>
        <p:spPr>
          <a:xfrm>
            <a:off x="6400800" y="4133088"/>
            <a:ext cx="5330952"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Supervisor</a:t>
            </a:r>
            <a:endParaRPr lang="en-US" sz="1200" dirty="0"/>
          </a:p>
        </p:txBody>
      </p:sp>
      <p:sp>
        <p:nvSpPr>
          <p:cNvPr id="17" name="Text 14"/>
          <p:cNvSpPr/>
          <p:nvPr/>
        </p:nvSpPr>
        <p:spPr>
          <a:xfrm>
            <a:off x="6400800" y="4443984"/>
            <a:ext cx="5330952"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Dr. Jyothi A P</a:t>
            </a:r>
            <a:endParaRPr lang="en-US" sz="1800" dirty="0"/>
          </a:p>
        </p:txBody>
      </p:sp>
      <p:sp>
        <p:nvSpPr>
          <p:cNvPr id="18" name="Text 15"/>
          <p:cNvSpPr/>
          <p:nvPr/>
        </p:nvSpPr>
        <p:spPr>
          <a:xfrm>
            <a:off x="6400800" y="479145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Associate Professor &amp; Programme Head (M&amp;C)</a:t>
            </a:r>
            <a:endParaRPr lang="en-US" sz="1300" dirty="0"/>
          </a:p>
        </p:txBody>
      </p:sp>
      <p:sp>
        <p:nvSpPr>
          <p:cNvPr id="19" name="Text 16"/>
          <p:cNvSpPr/>
          <p:nvPr/>
        </p:nvSpPr>
        <p:spPr>
          <a:xfrm>
            <a:off x="6400800" y="506577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20" name="Text 17"/>
          <p:cNvSpPr/>
          <p:nvPr/>
        </p:nvSpPr>
        <p:spPr>
          <a:xfrm>
            <a:off x="6400800" y="534009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M. S. Ramaiah University of Applied Sciences</a:t>
            </a:r>
            <a:endParaRPr lang="en-US" sz="1300" dirty="0"/>
          </a:p>
        </p:txBody>
      </p:sp>
      <p:sp>
        <p:nvSpPr>
          <p:cNvPr id="21" name="Shape 18"/>
          <p:cNvSpPr/>
          <p:nvPr/>
        </p:nvSpPr>
        <p:spPr>
          <a:xfrm>
            <a:off x="457200" y="5687568"/>
            <a:ext cx="11274552" cy="0"/>
          </a:xfrm>
          <a:prstGeom prst="line">
            <a:avLst/>
          </a:prstGeom>
          <a:noFill/>
          <a:ln w="12700">
            <a:solidFill>
              <a:srgbClr val="FFFFFF"/>
            </a:solidFill>
            <a:prstDash val="dash"/>
          </a:ln>
        </p:spPr>
      </p:sp>
      <p:sp>
        <p:nvSpPr>
          <p:cNvPr id="22" name="Text 19"/>
          <p:cNvSpPr/>
          <p:nvPr/>
        </p:nvSpPr>
        <p:spPr>
          <a:xfrm>
            <a:off x="457200" y="5760720"/>
            <a:ext cx="11274552" cy="292608"/>
          </a:xfrm>
          <a:prstGeom prst="rect">
            <a:avLst/>
          </a:prstGeom>
          <a:noFill/>
          <a:ln/>
        </p:spPr>
        <p:txBody>
          <a:bodyPr wrap="square" rtlCol="0" anchor="ctr"/>
          <a:lstStyle/>
          <a:p>
            <a:pPr algn="ctr" indent="0" marL="0">
              <a:buNone/>
            </a:pPr>
            <a:r>
              <a:rPr lang="en-US" sz="1300" dirty="0">
                <a:solidFill>
                  <a:srgbClr val="C8402A"/>
                </a:solidFill>
                <a:latin typeface="Calibri" pitchFamily="34" charset="0"/>
                <a:ea typeface="Calibri" pitchFamily="34" charset="-122"/>
                <a:cs typeface="Calibri" pitchFamily="34" charset="-120"/>
              </a:rPr>
              <a:t>June 2026  |  Bangalore — 560054</a:t>
            </a:r>
            <a:endParaRPr lang="en-US" sz="1300" dirty="0"/>
          </a:p>
        </p:txBody>
      </p:sp>
      <p:sp>
        <p:nvSpPr>
          <p:cNvPr id="23" name="Shape 20"/>
          <p:cNvSpPr/>
          <p:nvPr/>
        </p:nvSpPr>
        <p:spPr>
          <a:xfrm>
            <a:off x="0" y="6583680"/>
            <a:ext cx="12188952" cy="274320"/>
          </a:xfrm>
          <a:prstGeom prst="rect">
            <a:avLst/>
          </a:prstGeom>
          <a:solidFill>
            <a:srgbClr val="C8402A"/>
          </a:solidFill>
          <a:ln w="12700">
            <a:solidFill>
              <a:srgbClr val="C8402A"/>
            </a:solidFill>
            <a:prstDash val="solid"/>
          </a:ln>
        </p:spPr>
      </p:sp>
      <p:sp>
        <p:nvSpPr>
          <p:cNvPr id="24" name="Text 21"/>
          <p:cNvSpPr/>
          <p:nvPr/>
        </p:nvSpPr>
        <p:spPr>
          <a:xfrm>
            <a:off x="182880" y="6592824"/>
            <a:ext cx="11795760" cy="246888"/>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PhD Research Proposal (PRP-1) | M. S. Ramaiah University | CSE | Jenisha T | 24ETRP720001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Shape 7"/>
          <p:cNvSpPr/>
          <p:nvPr/>
        </p:nvSpPr>
        <p:spPr>
          <a:xfrm>
            <a:off x="274320" y="502920"/>
            <a:ext cx="347472" cy="310896"/>
          </a:xfrm>
          <a:prstGeom prst="rect">
            <a:avLst/>
          </a:prstGeom>
          <a:solidFill>
            <a:srgbClr val="3C2864"/>
          </a:solidFill>
          <a:ln w="12700">
            <a:solidFill>
              <a:srgbClr val="3C2864"/>
            </a:solidFill>
            <a:prstDash val="solid"/>
          </a:ln>
        </p:spPr>
      </p:sp>
      <p:sp>
        <p:nvSpPr>
          <p:cNvPr id="10" name="Text 8"/>
          <p:cNvSpPr/>
          <p:nvPr/>
        </p:nvSpPr>
        <p:spPr>
          <a:xfrm>
            <a:off x="283464" y="521208"/>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76656" y="521208"/>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Introduction — Why Multi-Agent Large Language Model Inference Fails at Scale</a:t>
            </a:r>
            <a:endParaRPr lang="en-US" sz="1100" dirty="0"/>
          </a:p>
        </p:txBody>
      </p:sp>
      <p:sp>
        <p:nvSpPr>
          <p:cNvPr id="12" name="Shape 10"/>
          <p:cNvSpPr/>
          <p:nvPr/>
        </p:nvSpPr>
        <p:spPr>
          <a:xfrm>
            <a:off x="274320" y="1362456"/>
            <a:ext cx="347472" cy="310896"/>
          </a:xfrm>
          <a:prstGeom prst="rect">
            <a:avLst/>
          </a:prstGeom>
          <a:solidFill>
            <a:srgbClr val="3C2864"/>
          </a:solidFill>
          <a:ln w="12700">
            <a:solidFill>
              <a:srgbClr val="3C2864"/>
            </a:solidFill>
            <a:prstDash val="solid"/>
          </a:ln>
        </p:spPr>
      </p:sp>
      <p:sp>
        <p:nvSpPr>
          <p:cNvPr id="13" name="Text 11"/>
          <p:cNvSpPr/>
          <p:nvPr/>
        </p:nvSpPr>
        <p:spPr>
          <a:xfrm>
            <a:off x="283464" y="1380744"/>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76656" y="1380744"/>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Literature Review — Four Themes and Research Gaps</a:t>
            </a:r>
            <a:endParaRPr lang="en-US" sz="1100" dirty="0"/>
          </a:p>
        </p:txBody>
      </p:sp>
      <p:sp>
        <p:nvSpPr>
          <p:cNvPr id="15" name="Shape 13"/>
          <p:cNvSpPr/>
          <p:nvPr/>
        </p:nvSpPr>
        <p:spPr>
          <a:xfrm>
            <a:off x="274320" y="2221992"/>
            <a:ext cx="347472" cy="310896"/>
          </a:xfrm>
          <a:prstGeom prst="rect">
            <a:avLst/>
          </a:prstGeom>
          <a:solidFill>
            <a:srgbClr val="3C2864"/>
          </a:solidFill>
          <a:ln w="12700">
            <a:solidFill>
              <a:srgbClr val="3C2864"/>
            </a:solidFill>
            <a:prstDash val="solid"/>
          </a:ln>
        </p:spPr>
      </p:sp>
      <p:sp>
        <p:nvSpPr>
          <p:cNvPr id="16" name="Text 14"/>
          <p:cNvSpPr/>
          <p:nvPr/>
        </p:nvSpPr>
        <p:spPr>
          <a:xfrm>
            <a:off x="283464" y="2240280"/>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76656" y="2240280"/>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Research Gaps and Four Objectives</a:t>
            </a:r>
            <a:endParaRPr lang="en-US" sz="1100" dirty="0"/>
          </a:p>
        </p:txBody>
      </p:sp>
      <p:sp>
        <p:nvSpPr>
          <p:cNvPr id="18" name="Shape 16"/>
          <p:cNvSpPr/>
          <p:nvPr/>
        </p:nvSpPr>
        <p:spPr>
          <a:xfrm>
            <a:off x="274320" y="3081528"/>
            <a:ext cx="347472" cy="310896"/>
          </a:xfrm>
          <a:prstGeom prst="rect">
            <a:avLst/>
          </a:prstGeom>
          <a:solidFill>
            <a:srgbClr val="3C2864"/>
          </a:solidFill>
          <a:ln w="12700">
            <a:solidFill>
              <a:srgbClr val="3C2864"/>
            </a:solidFill>
            <a:prstDash val="solid"/>
          </a:ln>
        </p:spPr>
      </p:sp>
      <p:sp>
        <p:nvSpPr>
          <p:cNvPr id="19" name="Text 17"/>
          <p:cNvSpPr/>
          <p:nvPr/>
        </p:nvSpPr>
        <p:spPr>
          <a:xfrm>
            <a:off x="283464" y="3099816"/>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676656" y="3099816"/>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Adaptive Context Reasoning System Framework</a:t>
            </a:r>
            <a:endParaRPr lang="en-US" sz="1100" dirty="0"/>
          </a:p>
        </p:txBody>
      </p:sp>
      <p:sp>
        <p:nvSpPr>
          <p:cNvPr id="21" name="Shape 19"/>
          <p:cNvSpPr/>
          <p:nvPr/>
        </p:nvSpPr>
        <p:spPr>
          <a:xfrm>
            <a:off x="274320" y="3941064"/>
            <a:ext cx="347472" cy="310896"/>
          </a:xfrm>
          <a:prstGeom prst="rect">
            <a:avLst/>
          </a:prstGeom>
          <a:solidFill>
            <a:srgbClr val="3C2864"/>
          </a:solidFill>
          <a:ln w="12700">
            <a:solidFill>
              <a:srgbClr val="3C2864"/>
            </a:solidFill>
            <a:prstDash val="solid"/>
          </a:ln>
        </p:spPr>
      </p:sp>
      <p:sp>
        <p:nvSpPr>
          <p:cNvPr id="22" name="Text 20"/>
          <p:cNvSpPr/>
          <p:nvPr/>
        </p:nvSpPr>
        <p:spPr>
          <a:xfrm>
            <a:off x="283464" y="3959352"/>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76656" y="3959352"/>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1 — Session-Aware Contextual Tool Reranker Plus</a:t>
            </a:r>
            <a:endParaRPr lang="en-US" sz="1100" dirty="0"/>
          </a:p>
        </p:txBody>
      </p:sp>
      <p:sp>
        <p:nvSpPr>
          <p:cNvPr id="24" name="Shape 22"/>
          <p:cNvSpPr/>
          <p:nvPr/>
        </p:nvSpPr>
        <p:spPr>
          <a:xfrm>
            <a:off x="274320" y="4800600"/>
            <a:ext cx="347472" cy="310896"/>
          </a:xfrm>
          <a:prstGeom prst="rect">
            <a:avLst/>
          </a:prstGeom>
          <a:solidFill>
            <a:srgbClr val="3C2864"/>
          </a:solidFill>
          <a:ln w="12700">
            <a:solidFill>
              <a:srgbClr val="3C2864"/>
            </a:solidFill>
            <a:prstDash val="solid"/>
          </a:ln>
        </p:spPr>
      </p:sp>
      <p:sp>
        <p:nvSpPr>
          <p:cNvPr id="25" name="Text 23"/>
          <p:cNvSpPr/>
          <p:nvPr/>
        </p:nvSpPr>
        <p:spPr>
          <a:xfrm>
            <a:off x="283464" y="4818888"/>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676656" y="4818888"/>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2 — Adaptive Priority-aware Request Router + Context-Driven Routing + Parallel Dispatch Routing</a:t>
            </a:r>
            <a:endParaRPr lang="en-US" sz="1100" dirty="0"/>
          </a:p>
        </p:txBody>
      </p:sp>
      <p:sp>
        <p:nvSpPr>
          <p:cNvPr id="27" name="Shape 25"/>
          <p:cNvSpPr/>
          <p:nvPr/>
        </p:nvSpPr>
        <p:spPr>
          <a:xfrm>
            <a:off x="274320" y="5660136"/>
            <a:ext cx="347472" cy="310896"/>
          </a:xfrm>
          <a:prstGeom prst="rect">
            <a:avLst/>
          </a:prstGeom>
          <a:solidFill>
            <a:srgbClr val="3C2864"/>
          </a:solidFill>
          <a:ln w="12700">
            <a:solidFill>
              <a:srgbClr val="3C2864"/>
            </a:solidFill>
            <a:prstDash val="solid"/>
          </a:ln>
        </p:spPr>
      </p:sp>
      <p:sp>
        <p:nvSpPr>
          <p:cNvPr id="28" name="Text 26"/>
          <p:cNvSpPr/>
          <p:nvPr/>
        </p:nvSpPr>
        <p:spPr>
          <a:xfrm>
            <a:off x="283464" y="5678424"/>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9" name="Text 27"/>
          <p:cNvSpPr/>
          <p:nvPr/>
        </p:nvSpPr>
        <p:spPr>
          <a:xfrm>
            <a:off x="676656" y="5678424"/>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3 — Multi-Node Context Distribution</a:t>
            </a:r>
            <a:endParaRPr lang="en-US" sz="1100" dirty="0"/>
          </a:p>
        </p:txBody>
      </p:sp>
      <p:sp>
        <p:nvSpPr>
          <p:cNvPr id="30" name="Shape 28"/>
          <p:cNvSpPr/>
          <p:nvPr/>
        </p:nvSpPr>
        <p:spPr>
          <a:xfrm>
            <a:off x="6263640" y="502920"/>
            <a:ext cx="347472" cy="310896"/>
          </a:xfrm>
          <a:prstGeom prst="rect">
            <a:avLst/>
          </a:prstGeom>
          <a:solidFill>
            <a:srgbClr val="3C2864"/>
          </a:solidFill>
          <a:ln w="12700">
            <a:solidFill>
              <a:srgbClr val="3C2864"/>
            </a:solidFill>
            <a:prstDash val="solid"/>
          </a:ln>
        </p:spPr>
      </p:sp>
      <p:sp>
        <p:nvSpPr>
          <p:cNvPr id="31" name="Text 29"/>
          <p:cNvSpPr/>
          <p:nvPr/>
        </p:nvSpPr>
        <p:spPr>
          <a:xfrm>
            <a:off x="6272784" y="521208"/>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2" name="Text 30"/>
          <p:cNvSpPr/>
          <p:nvPr/>
        </p:nvSpPr>
        <p:spPr>
          <a:xfrm>
            <a:off x="6665976" y="521208"/>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Objective 4 — Flow-Conductance-based Neural Pruning</a:t>
            </a:r>
            <a:endParaRPr lang="en-US" sz="1100" dirty="0"/>
          </a:p>
        </p:txBody>
      </p:sp>
      <p:sp>
        <p:nvSpPr>
          <p:cNvPr id="33" name="Shape 31"/>
          <p:cNvSpPr/>
          <p:nvPr/>
        </p:nvSpPr>
        <p:spPr>
          <a:xfrm>
            <a:off x="6263640" y="1534363"/>
            <a:ext cx="347472" cy="310896"/>
          </a:xfrm>
          <a:prstGeom prst="rect">
            <a:avLst/>
          </a:prstGeom>
          <a:solidFill>
            <a:srgbClr val="3C2864"/>
          </a:solidFill>
          <a:ln w="12700">
            <a:solidFill>
              <a:srgbClr val="3C2864"/>
            </a:solidFill>
            <a:prstDash val="solid"/>
          </a:ln>
        </p:spPr>
      </p:sp>
      <p:sp>
        <p:nvSpPr>
          <p:cNvPr id="34" name="Text 32"/>
          <p:cNvSpPr/>
          <p:nvPr/>
        </p:nvSpPr>
        <p:spPr>
          <a:xfrm>
            <a:off x="6272784" y="1552651"/>
            <a:ext cx="329184"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5" name="Text 33"/>
          <p:cNvSpPr/>
          <p:nvPr/>
        </p:nvSpPr>
        <p:spPr>
          <a:xfrm>
            <a:off x="6665976" y="1552651"/>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Overall Architecture and Algorithm Flow</a:t>
            </a:r>
            <a:endParaRPr lang="en-US" sz="1100" dirty="0"/>
          </a:p>
        </p:txBody>
      </p:sp>
      <p:sp>
        <p:nvSpPr>
          <p:cNvPr id="36" name="Shape 34"/>
          <p:cNvSpPr/>
          <p:nvPr/>
        </p:nvSpPr>
        <p:spPr>
          <a:xfrm>
            <a:off x="6263640" y="2565806"/>
            <a:ext cx="475488" cy="310896"/>
          </a:xfrm>
          <a:prstGeom prst="rect">
            <a:avLst/>
          </a:prstGeom>
          <a:solidFill>
            <a:srgbClr val="3C2864"/>
          </a:solidFill>
          <a:ln w="12700">
            <a:solidFill>
              <a:srgbClr val="3C2864"/>
            </a:solidFill>
            <a:prstDash val="solid"/>
          </a:ln>
        </p:spPr>
      </p:sp>
      <p:sp>
        <p:nvSpPr>
          <p:cNvPr id="37" name="Text 35"/>
          <p:cNvSpPr/>
          <p:nvPr/>
        </p:nvSpPr>
        <p:spPr>
          <a:xfrm>
            <a:off x="6272784" y="2584094"/>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8" name="Text 36"/>
          <p:cNvSpPr/>
          <p:nvPr/>
        </p:nvSpPr>
        <p:spPr>
          <a:xfrm>
            <a:off x="6793992" y="2584094"/>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Novelty Matrix</a:t>
            </a:r>
            <a:endParaRPr lang="en-US" sz="1100" dirty="0"/>
          </a:p>
        </p:txBody>
      </p:sp>
      <p:sp>
        <p:nvSpPr>
          <p:cNvPr id="39" name="Shape 37"/>
          <p:cNvSpPr/>
          <p:nvPr/>
        </p:nvSpPr>
        <p:spPr>
          <a:xfrm>
            <a:off x="6263640" y="3597250"/>
            <a:ext cx="475488" cy="310896"/>
          </a:xfrm>
          <a:prstGeom prst="rect">
            <a:avLst/>
          </a:prstGeom>
          <a:solidFill>
            <a:srgbClr val="3C2864"/>
          </a:solidFill>
          <a:ln w="12700">
            <a:solidFill>
              <a:srgbClr val="3C2864"/>
            </a:solidFill>
            <a:prstDash val="solid"/>
          </a:ln>
        </p:spPr>
      </p:sp>
      <p:sp>
        <p:nvSpPr>
          <p:cNvPr id="40" name="Text 38"/>
          <p:cNvSpPr/>
          <p:nvPr/>
        </p:nvSpPr>
        <p:spPr>
          <a:xfrm>
            <a:off x="6272784" y="3615538"/>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1" name="Text 39"/>
          <p:cNvSpPr/>
          <p:nvPr/>
        </p:nvSpPr>
        <p:spPr>
          <a:xfrm>
            <a:off x="6793992" y="3615538"/>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Feasibility, Ethics, and Methodology</a:t>
            </a:r>
            <a:endParaRPr lang="en-US" sz="1100" dirty="0"/>
          </a:p>
        </p:txBody>
      </p:sp>
      <p:sp>
        <p:nvSpPr>
          <p:cNvPr id="42" name="Shape 40"/>
          <p:cNvSpPr/>
          <p:nvPr/>
        </p:nvSpPr>
        <p:spPr>
          <a:xfrm>
            <a:off x="6263640" y="4628693"/>
            <a:ext cx="475488" cy="310896"/>
          </a:xfrm>
          <a:prstGeom prst="rect">
            <a:avLst/>
          </a:prstGeom>
          <a:solidFill>
            <a:srgbClr val="3C2864"/>
          </a:solidFill>
          <a:ln w="12700">
            <a:solidFill>
              <a:srgbClr val="3C2864"/>
            </a:solidFill>
            <a:prstDash val="solid"/>
          </a:ln>
        </p:spPr>
      </p:sp>
      <p:sp>
        <p:nvSpPr>
          <p:cNvPr id="43" name="Text 41"/>
          <p:cNvSpPr/>
          <p:nvPr/>
        </p:nvSpPr>
        <p:spPr>
          <a:xfrm>
            <a:off x="6272784" y="4646981"/>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44" name="Text 42"/>
          <p:cNvSpPr/>
          <p:nvPr/>
        </p:nvSpPr>
        <p:spPr>
          <a:xfrm>
            <a:off x="6793992" y="4646981"/>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Adaptive Context Reasoning System Integration Demo</a:t>
            </a:r>
            <a:endParaRPr lang="en-US" sz="1100" dirty="0"/>
          </a:p>
        </p:txBody>
      </p:sp>
      <p:sp>
        <p:nvSpPr>
          <p:cNvPr id="45" name="Shape 43"/>
          <p:cNvSpPr/>
          <p:nvPr/>
        </p:nvSpPr>
        <p:spPr>
          <a:xfrm>
            <a:off x="6263640" y="5660136"/>
            <a:ext cx="475488" cy="310896"/>
          </a:xfrm>
          <a:prstGeom prst="rect">
            <a:avLst/>
          </a:prstGeom>
          <a:solidFill>
            <a:srgbClr val="3C2864"/>
          </a:solidFill>
          <a:ln w="12700">
            <a:solidFill>
              <a:srgbClr val="3C2864"/>
            </a:solidFill>
            <a:prstDash val="solid"/>
          </a:ln>
        </p:spPr>
      </p:sp>
      <p:sp>
        <p:nvSpPr>
          <p:cNvPr id="46" name="Text 44"/>
          <p:cNvSpPr/>
          <p:nvPr/>
        </p:nvSpPr>
        <p:spPr>
          <a:xfrm>
            <a:off x="6272784" y="5678424"/>
            <a:ext cx="457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47" name="Text 45"/>
          <p:cNvSpPr/>
          <p:nvPr/>
        </p:nvSpPr>
        <p:spPr>
          <a:xfrm>
            <a:off x="6793992" y="5678424"/>
            <a:ext cx="5394960" cy="292608"/>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References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64592" cy="6601968"/>
          </a:xfrm>
          <a:prstGeom prst="rect">
            <a:avLst/>
          </a:prstGeom>
          <a:solidFill>
            <a:srgbClr val="3C2864"/>
          </a:solidFill>
          <a:ln w="12700">
            <a:solidFill>
              <a:srgbClr val="3C2864"/>
            </a:solidFill>
            <a:prstDash val="solid"/>
          </a:ln>
        </p:spPr>
      </p:sp>
      <p:sp>
        <p:nvSpPr>
          <p:cNvPr id="4" name="Text 2"/>
          <p:cNvSpPr/>
          <p:nvPr/>
        </p:nvSpPr>
        <p:spPr>
          <a:xfrm>
            <a:off x="914400" y="1371600"/>
            <a:ext cx="3657600" cy="1828800"/>
          </a:xfrm>
          <a:prstGeom prst="rect">
            <a:avLst/>
          </a:prstGeom>
          <a:noFill/>
          <a:ln/>
        </p:spPr>
        <p:txBody>
          <a:bodyPr wrap="square" rtlCol="0" anchor="ctr"/>
          <a:lstStyle/>
          <a:p>
            <a:pPr algn="ctr" indent="0" marL="0">
              <a:buNone/>
            </a:pPr>
            <a:r>
              <a:rPr lang="en-US" sz="8000" b="1" dirty="0">
                <a:solidFill>
                  <a:srgbClr val="C8402A"/>
                </a:solidFill>
                <a:latin typeface="Calibri" pitchFamily="34" charset="0"/>
                <a:ea typeface="Calibri" pitchFamily="34" charset="-122"/>
                <a:cs typeface="Calibri" pitchFamily="34" charset="-120"/>
              </a:rPr>
              <a:t>I</a:t>
            </a:r>
            <a:endParaRPr lang="en-US" sz="8000" dirty="0"/>
          </a:p>
        </p:txBody>
      </p:sp>
      <p:sp>
        <p:nvSpPr>
          <p:cNvPr id="5" name="Text 3"/>
          <p:cNvSpPr/>
          <p:nvPr/>
        </p:nvSpPr>
        <p:spPr>
          <a:xfrm>
            <a:off x="4114800" y="2011680"/>
            <a:ext cx="7589520" cy="2560320"/>
          </a:xfrm>
          <a:prstGeom prst="rect">
            <a:avLst/>
          </a:prstGeom>
          <a:noFill/>
          <a:ln/>
        </p:spPr>
        <p:txBody>
          <a:bodyPr wrap="square" rtlCol="0" anchor="ctr"/>
          <a:lstStyle/>
          <a:p>
            <a:pPr algn="l" indent="0" marL="0">
              <a:buNone/>
            </a:pPr>
            <a:r>
              <a:rPr lang="en-US" sz="3400" b="1" dirty="0">
                <a:solidFill>
                  <a:srgbClr val="3C2864"/>
                </a:solidFill>
                <a:latin typeface="Calibri" pitchFamily="34" charset="0"/>
                <a:ea typeface="Calibri" pitchFamily="34" charset="-122"/>
                <a:cs typeface="Calibri" pitchFamily="34" charset="-120"/>
              </a:rPr>
              <a:t>Section I — Introduction:</a:t>
            </a:r>
            <a:endParaRPr lang="en-US" sz="3400" dirty="0"/>
          </a:p>
          <a:p>
            <a:pPr algn="l" indent="0" marL="0">
              <a:buNone/>
            </a:pPr>
            <a:r>
              <a:rPr lang="en-US" sz="3400" b="1" dirty="0">
                <a:solidFill>
                  <a:srgbClr val="3C2864"/>
                </a:solidFill>
                <a:latin typeface="Calibri" pitchFamily="34" charset="0"/>
                <a:ea typeface="Calibri" pitchFamily="34" charset="-122"/>
                <a:cs typeface="Calibri" pitchFamily="34" charset="-120"/>
              </a:rPr>
              <a:t>Why Multi-Agent Large Language Model Inference Fails at Scale</a:t>
            </a:r>
            <a:endParaRPr lang="en-US" sz="3400" dirty="0"/>
          </a:p>
        </p:txBody>
      </p:sp>
      <p:sp>
        <p:nvSpPr>
          <p:cNvPr id="6" name="Shape 4"/>
          <p:cNvSpPr/>
          <p:nvPr/>
        </p:nvSpPr>
        <p:spPr>
          <a:xfrm>
            <a:off x="0" y="6601968"/>
            <a:ext cx="12188952" cy="256032"/>
          </a:xfrm>
          <a:prstGeom prst="rect">
            <a:avLst/>
          </a:prstGeom>
          <a:solidFill>
            <a:srgbClr val="C8402A"/>
          </a:solidFill>
          <a:ln w="12700">
            <a:solidFill>
              <a:srgbClr val="C8402A"/>
            </a:solidFill>
            <a:prstDash val="solid"/>
          </a:ln>
        </p:spPr>
      </p:sp>
      <p:sp>
        <p:nvSpPr>
          <p:cNvPr id="7" name="Text 5"/>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8" name="Shape 6"/>
          <p:cNvSpPr/>
          <p:nvPr/>
        </p:nvSpPr>
        <p:spPr>
          <a:xfrm>
            <a:off x="11274552" y="6601968"/>
            <a:ext cx="914400" cy="256032"/>
          </a:xfrm>
          <a:prstGeom prst="rect">
            <a:avLst/>
          </a:prstGeom>
          <a:solidFill>
            <a:srgbClr val="3C2864"/>
          </a:solidFill>
          <a:ln w="12700">
            <a:solidFill>
              <a:srgbClr val="3C2864"/>
            </a:solidFill>
            <a:prstDash val="solid"/>
          </a:ln>
        </p:spPr>
      </p:sp>
      <p:sp>
        <p:nvSpPr>
          <p:cNvPr id="9" name="Text 7"/>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Introduction: The Four Core Challenges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Modern multi-agent Large Language Model (LLM) systems face four critical bottlenecks that prevent real-world deployment:</a:t>
            </a:r>
            <a:endParaRPr lang="en-US" sz="1400" dirty="0"/>
          </a:p>
        </p:txBody>
      </p:sp>
      <p:sp>
        <p:nvSpPr>
          <p:cNvPr id="10" name="Shape 8"/>
          <p:cNvSpPr/>
          <p:nvPr/>
        </p:nvSpPr>
        <p:spPr>
          <a:xfrm>
            <a:off x="320040" y="960120"/>
            <a:ext cx="530352" cy="475488"/>
          </a:xfrm>
          <a:prstGeom prst="rect">
            <a:avLst/>
          </a:prstGeom>
          <a:solidFill>
            <a:srgbClr val="C8402A"/>
          </a:solidFill>
          <a:ln w="12700">
            <a:solidFill>
              <a:srgbClr val="C8402A"/>
            </a:solidFill>
            <a:prstDash val="solid"/>
          </a:ln>
        </p:spPr>
      </p:sp>
      <p:sp>
        <p:nvSpPr>
          <p:cNvPr id="11" name="Text 9"/>
          <p:cNvSpPr/>
          <p:nvPr/>
        </p:nvSpPr>
        <p:spPr>
          <a:xfrm>
            <a:off x="3291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12" name="Shape 10"/>
          <p:cNvSpPr/>
          <p:nvPr/>
        </p:nvSpPr>
        <p:spPr>
          <a:xfrm>
            <a:off x="886968" y="960120"/>
            <a:ext cx="5303520" cy="2194560"/>
          </a:xfrm>
          <a:prstGeom prst="rect">
            <a:avLst/>
          </a:prstGeom>
          <a:solidFill>
            <a:srgbClr val="FFFFFF"/>
          </a:solidFill>
          <a:ln w="12700">
            <a:solidFill>
              <a:srgbClr val="3C2864"/>
            </a:solidFill>
            <a:prstDash val="solid"/>
          </a:ln>
        </p:spPr>
      </p:sp>
      <p:sp>
        <p:nvSpPr>
          <p:cNvPr id="13" name="Text 11"/>
          <p:cNvSpPr/>
          <p:nvPr/>
        </p:nvSpPr>
        <p:spPr>
          <a:xfrm>
            <a:off x="10058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Tool Selection Inefficiency</a:t>
            </a:r>
            <a:endParaRPr lang="en-US" sz="1600" dirty="0"/>
          </a:p>
        </p:txBody>
      </p:sp>
      <p:sp>
        <p:nvSpPr>
          <p:cNvPr id="14" name="Text 12"/>
          <p:cNvSpPr/>
          <p:nvPr/>
        </p:nvSpPr>
        <p:spPr>
          <a:xfrm>
            <a:off x="1005840" y="13990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Agents search flat, unranked tool catalogues (16,000+ Application Programming Interfaces (APIs) on ToolBench). Session context — which tools worked earlier — is ignored, causing repeated re-selection and inflated latency.</a:t>
            </a:r>
            <a:endParaRPr lang="en-US" sz="1300" dirty="0"/>
          </a:p>
        </p:txBody>
      </p:sp>
      <p:sp>
        <p:nvSpPr>
          <p:cNvPr id="15" name="Shape 13"/>
          <p:cNvSpPr/>
          <p:nvPr/>
        </p:nvSpPr>
        <p:spPr>
          <a:xfrm>
            <a:off x="6263640" y="960120"/>
            <a:ext cx="530352" cy="475488"/>
          </a:xfrm>
          <a:prstGeom prst="rect">
            <a:avLst/>
          </a:prstGeom>
          <a:solidFill>
            <a:srgbClr val="C8402A"/>
          </a:solidFill>
          <a:ln w="12700">
            <a:solidFill>
              <a:srgbClr val="C8402A"/>
            </a:solidFill>
            <a:prstDash val="solid"/>
          </a:ln>
        </p:spPr>
      </p:sp>
      <p:sp>
        <p:nvSpPr>
          <p:cNvPr id="16" name="Text 14"/>
          <p:cNvSpPr/>
          <p:nvPr/>
        </p:nvSpPr>
        <p:spPr>
          <a:xfrm>
            <a:off x="62727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P2</a:t>
            </a:r>
            <a:endParaRPr lang="en-US" sz="1600" dirty="0"/>
          </a:p>
        </p:txBody>
      </p:sp>
      <p:sp>
        <p:nvSpPr>
          <p:cNvPr id="17" name="Shape 15"/>
          <p:cNvSpPr/>
          <p:nvPr/>
        </p:nvSpPr>
        <p:spPr>
          <a:xfrm>
            <a:off x="6830568" y="960120"/>
            <a:ext cx="5303520" cy="2194560"/>
          </a:xfrm>
          <a:prstGeom prst="rect">
            <a:avLst/>
          </a:prstGeom>
          <a:solidFill>
            <a:srgbClr val="FFFFFF"/>
          </a:solidFill>
          <a:ln w="12700">
            <a:solidFill>
              <a:srgbClr val="3C2864"/>
            </a:solidFill>
            <a:prstDash val="solid"/>
          </a:ln>
        </p:spPr>
      </p:sp>
      <p:sp>
        <p:nvSpPr>
          <p:cNvPr id="18" name="Text 16"/>
          <p:cNvSpPr/>
          <p:nvPr/>
        </p:nvSpPr>
        <p:spPr>
          <a:xfrm>
            <a:off x="69494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Static Routing Policies</a:t>
            </a:r>
            <a:endParaRPr lang="en-US" sz="1600" dirty="0"/>
          </a:p>
        </p:txBody>
      </p:sp>
      <p:sp>
        <p:nvSpPr>
          <p:cNvPr id="19" name="Text 17"/>
          <p:cNvSpPr/>
          <p:nvPr/>
        </p:nvSpPr>
        <p:spPr>
          <a:xfrm>
            <a:off x="6949440" y="13990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Existing routers (RouteLLM, FrugalGPT) use offline-trained fixed decision boundaries. They cannot adapt to live session signals, query complexity shifts, or real-time load changes.</a:t>
            </a:r>
            <a:endParaRPr lang="en-US" sz="1300" dirty="0"/>
          </a:p>
        </p:txBody>
      </p:sp>
      <p:sp>
        <p:nvSpPr>
          <p:cNvPr id="20" name="Shape 18"/>
          <p:cNvSpPr/>
          <p:nvPr/>
        </p:nvSpPr>
        <p:spPr>
          <a:xfrm>
            <a:off x="320040" y="3474720"/>
            <a:ext cx="530352" cy="475488"/>
          </a:xfrm>
          <a:prstGeom prst="rect">
            <a:avLst/>
          </a:prstGeom>
          <a:solidFill>
            <a:srgbClr val="C8402A"/>
          </a:solidFill>
          <a:ln w="12700">
            <a:solidFill>
              <a:srgbClr val="C8402A"/>
            </a:solidFill>
            <a:prstDash val="solid"/>
          </a:ln>
        </p:spPr>
      </p:sp>
      <p:sp>
        <p:nvSpPr>
          <p:cNvPr id="21" name="Text 19"/>
          <p:cNvSpPr/>
          <p:nvPr/>
        </p:nvSpPr>
        <p:spPr>
          <a:xfrm>
            <a:off x="3291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P3</a:t>
            </a:r>
            <a:endParaRPr lang="en-US" sz="1600" dirty="0"/>
          </a:p>
        </p:txBody>
      </p:sp>
      <p:sp>
        <p:nvSpPr>
          <p:cNvPr id="22" name="Shape 20"/>
          <p:cNvSpPr/>
          <p:nvPr/>
        </p:nvSpPr>
        <p:spPr>
          <a:xfrm>
            <a:off x="886968" y="3474720"/>
            <a:ext cx="5303520" cy="2194560"/>
          </a:xfrm>
          <a:prstGeom prst="rect">
            <a:avLst/>
          </a:prstGeom>
          <a:solidFill>
            <a:srgbClr val="FFFFFF"/>
          </a:solidFill>
          <a:ln w="12700">
            <a:solidFill>
              <a:srgbClr val="3C2864"/>
            </a:solidFill>
            <a:prstDash val="solid"/>
          </a:ln>
        </p:spPr>
      </p:sp>
      <p:sp>
        <p:nvSpPr>
          <p:cNvPr id="23" name="Text 21"/>
          <p:cNvSpPr/>
          <p:nvPr/>
        </p:nvSpPr>
        <p:spPr>
          <a:xfrm>
            <a:off x="10058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Single-Point Context Failure</a:t>
            </a:r>
            <a:endParaRPr lang="en-US" sz="1600" dirty="0"/>
          </a:p>
        </p:txBody>
      </p:sp>
      <p:sp>
        <p:nvSpPr>
          <p:cNvPr id="24" name="Text 22"/>
          <p:cNvSpPr/>
          <p:nvPr/>
        </p:nvSpPr>
        <p:spPr>
          <a:xfrm>
            <a:off x="1005840" y="39136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Centralised context stores are a single point of failure. Under node failures (2 of 5 nodes), single-agent systems achieve only 44% context availability — unacceptable for production.</a:t>
            </a:r>
            <a:endParaRPr lang="en-US" sz="1300" dirty="0"/>
          </a:p>
        </p:txBody>
      </p:sp>
      <p:sp>
        <p:nvSpPr>
          <p:cNvPr id="25" name="Shape 23"/>
          <p:cNvSpPr/>
          <p:nvPr/>
        </p:nvSpPr>
        <p:spPr>
          <a:xfrm>
            <a:off x="6263640" y="3474720"/>
            <a:ext cx="530352" cy="475488"/>
          </a:xfrm>
          <a:prstGeom prst="rect">
            <a:avLst/>
          </a:prstGeom>
          <a:solidFill>
            <a:srgbClr val="C8402A"/>
          </a:solidFill>
          <a:ln w="12700">
            <a:solidFill>
              <a:srgbClr val="C8402A"/>
            </a:solidFill>
            <a:prstDash val="solid"/>
          </a:ln>
        </p:spPr>
      </p:sp>
      <p:sp>
        <p:nvSpPr>
          <p:cNvPr id="26" name="Text 24"/>
          <p:cNvSpPr/>
          <p:nvPr/>
        </p:nvSpPr>
        <p:spPr>
          <a:xfrm>
            <a:off x="62727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P4</a:t>
            </a:r>
            <a:endParaRPr lang="en-US" sz="1600" dirty="0"/>
          </a:p>
        </p:txBody>
      </p:sp>
      <p:sp>
        <p:nvSpPr>
          <p:cNvPr id="27" name="Shape 25"/>
          <p:cNvSpPr/>
          <p:nvPr/>
        </p:nvSpPr>
        <p:spPr>
          <a:xfrm>
            <a:off x="6830568" y="3474720"/>
            <a:ext cx="5303520" cy="2194560"/>
          </a:xfrm>
          <a:prstGeom prst="rect">
            <a:avLst/>
          </a:prstGeom>
          <a:solidFill>
            <a:srgbClr val="FFFFFF"/>
          </a:solidFill>
          <a:ln w="12700">
            <a:solidFill>
              <a:srgbClr val="3C2864"/>
            </a:solidFill>
            <a:prstDash val="solid"/>
          </a:ln>
        </p:spPr>
      </p:sp>
      <p:sp>
        <p:nvSpPr>
          <p:cNvPr id="28" name="Text 26"/>
          <p:cNvSpPr/>
          <p:nvPr/>
        </p:nvSpPr>
        <p:spPr>
          <a:xfrm>
            <a:off x="69494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Redundant Context Tokens</a:t>
            </a:r>
            <a:endParaRPr lang="en-US" sz="1600" dirty="0"/>
          </a:p>
        </p:txBody>
      </p:sp>
      <p:sp>
        <p:nvSpPr>
          <p:cNvPr id="29" name="Text 27"/>
          <p:cNvSpPr/>
          <p:nvPr/>
        </p:nvSpPr>
        <p:spPr>
          <a:xfrm>
            <a:off x="6949440" y="3913632"/>
            <a:ext cx="5074920" cy="1700784"/>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Multi-agent conversation histories accumulate thousands of redundant tokens. Without adaptive pruning, Key-Value (KV) cache size grows O(n²) with dialogue length, degrading throughput.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1: Key-Value (KV) Cache Compression &amp; Session Context Management (Motivates Obj 1)</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1</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Shape 16">
            <a:hlinkClick r:id="rId1" tooltip=""/>
          </p:cNvPr>
          <p:cNvSpPr/>
          <p:nvPr/>
        </p:nvSpPr>
        <p:spPr>
          <a:xfrm>
            <a:off x="301752" y="1051560"/>
            <a:ext cx="2688336" cy="438912"/>
          </a:xfrm>
          <a:prstGeom prst="rect">
            <a:avLst/>
          </a:prstGeom>
          <a:solidFill>
            <a:srgbClr val="FFFFFF">
              <a:alpha val="0"/>
            </a:srgbClr>
          </a:solidFill>
          <a:ln w="12700">
            <a:solidFill>
              <a:srgbClr val="FFFFFF">
                <a:alpha val="0"/>
              </a:srgbClr>
            </a:solidFill>
            <a:prstDash val="solid"/>
          </a:ln>
        </p:spPr>
      </p:sp>
      <p:sp>
        <p:nvSpPr>
          <p:cNvPr id="19" name="Text 17"/>
          <p:cNvSpPr/>
          <p:nvPr/>
        </p:nvSpPr>
        <p:spPr>
          <a:xfrm>
            <a:off x="320040" y="106984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LazyLLM (Fu et al., 2024)</a:t>
            </a:r>
            <a:endParaRPr lang="en-US" sz="1000" dirty="0"/>
          </a:p>
        </p:txBody>
      </p:sp>
      <p:sp>
        <p:nvSpPr>
          <p:cNvPr id="20" name="Shape 18"/>
          <p:cNvSpPr/>
          <p:nvPr/>
        </p:nvSpPr>
        <p:spPr>
          <a:xfrm>
            <a:off x="3063240" y="1024128"/>
            <a:ext cx="1645920" cy="493776"/>
          </a:xfrm>
          <a:prstGeom prst="rect">
            <a:avLst/>
          </a:prstGeom>
          <a:solidFill>
            <a:srgbClr val="FFFFFF"/>
          </a:solidFill>
          <a:ln w="12700">
            <a:solidFill>
              <a:srgbClr val="3C2864"/>
            </a:solidFill>
            <a:prstDash val="solid"/>
          </a:ln>
        </p:spPr>
      </p:sp>
      <p:sp>
        <p:nvSpPr>
          <p:cNvPr id="21" name="Text 19"/>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arXiv:2407.14057</a:t>
            </a:r>
            <a:endParaRPr lang="en-US" sz="1000" dirty="0"/>
          </a:p>
        </p:txBody>
      </p:sp>
      <p:sp>
        <p:nvSpPr>
          <p:cNvPr id="22" name="Shape 20"/>
          <p:cNvSpPr/>
          <p:nvPr/>
        </p:nvSpPr>
        <p:spPr>
          <a:xfrm>
            <a:off x="4754880" y="1024128"/>
            <a:ext cx="4206240" cy="493776"/>
          </a:xfrm>
          <a:prstGeom prst="rect">
            <a:avLst/>
          </a:prstGeom>
          <a:solidFill>
            <a:srgbClr val="FFFFFF"/>
          </a:solidFill>
          <a:ln w="12700">
            <a:solidFill>
              <a:srgbClr val="3C2864"/>
            </a:solidFill>
            <a:prstDash val="solid"/>
          </a:ln>
        </p:spPr>
      </p:sp>
      <p:sp>
        <p:nvSpPr>
          <p:cNvPr id="23" name="Text 21"/>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token pruning; 2.34× prefill speedup on LLaMA-2-7B</a:t>
            </a:r>
            <a:endParaRPr lang="en-US" sz="1000" dirty="0"/>
          </a:p>
        </p:txBody>
      </p:sp>
      <p:sp>
        <p:nvSpPr>
          <p:cNvPr id="24" name="Shape 22"/>
          <p:cNvSpPr/>
          <p:nvPr/>
        </p:nvSpPr>
        <p:spPr>
          <a:xfrm>
            <a:off x="9006840" y="1024128"/>
            <a:ext cx="3017520" cy="493776"/>
          </a:xfrm>
          <a:prstGeom prst="rect">
            <a:avLst/>
          </a:prstGeom>
          <a:solidFill>
            <a:srgbClr val="FFFFFF"/>
          </a:solidFill>
          <a:ln w="12700">
            <a:solidFill>
              <a:srgbClr val="3C2864"/>
            </a:solidFill>
            <a:prstDash val="solid"/>
          </a:ln>
        </p:spPr>
      </p:sp>
      <p:sp>
        <p:nvSpPr>
          <p:cNvPr id="25" name="Text 23"/>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SessionRerank+ dynamic pruning component</a:t>
            </a:r>
            <a:endParaRPr lang="en-US" sz="1000" dirty="0"/>
          </a:p>
        </p:txBody>
      </p:sp>
      <p:sp>
        <p:nvSpPr>
          <p:cNvPr id="26" name="Shape 24"/>
          <p:cNvSpPr/>
          <p:nvPr/>
        </p:nvSpPr>
        <p:spPr>
          <a:xfrm>
            <a:off x="274320" y="1517904"/>
            <a:ext cx="2743200" cy="493776"/>
          </a:xfrm>
          <a:prstGeom prst="rect">
            <a:avLst/>
          </a:prstGeom>
          <a:solidFill>
            <a:srgbClr val="E8E2F4"/>
          </a:solidFill>
          <a:ln w="12700">
            <a:solidFill>
              <a:srgbClr val="3C2864"/>
            </a:solidFill>
            <a:prstDash val="solid"/>
          </a:ln>
        </p:spPr>
      </p:sp>
      <p:sp>
        <p:nvSpPr>
          <p:cNvPr id="27" name="Shape 25">
            <a:hlinkClick r:id="rId2" tooltip=""/>
          </p:cNvPr>
          <p:cNvSpPr/>
          <p:nvPr/>
        </p:nvSpPr>
        <p:spPr>
          <a:xfrm>
            <a:off x="301752" y="1545336"/>
            <a:ext cx="2688336" cy="438912"/>
          </a:xfrm>
          <a:prstGeom prst="rect">
            <a:avLst/>
          </a:prstGeom>
          <a:solidFill>
            <a:srgbClr val="FFFFFF">
              <a:alpha val="0"/>
            </a:srgbClr>
          </a:solidFill>
          <a:ln w="12700">
            <a:solidFill>
              <a:srgbClr val="FFFFFF">
                <a:alpha val="0"/>
              </a:srgbClr>
            </a:solidFill>
            <a:prstDash val="solid"/>
          </a:ln>
        </p:spPr>
      </p:sp>
      <p:sp>
        <p:nvSpPr>
          <p:cNvPr id="28" name="Text 26"/>
          <p:cNvSpPr/>
          <p:nvPr/>
        </p:nvSpPr>
        <p:spPr>
          <a:xfrm>
            <a:off x="320040" y="156362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H2O (Zhang et al., 2023)</a:t>
            </a:r>
            <a:endParaRPr lang="en-US" sz="1000" dirty="0"/>
          </a:p>
        </p:txBody>
      </p:sp>
      <p:sp>
        <p:nvSpPr>
          <p:cNvPr id="29" name="Shape 27"/>
          <p:cNvSpPr/>
          <p:nvPr/>
        </p:nvSpPr>
        <p:spPr>
          <a:xfrm>
            <a:off x="3063240" y="1517904"/>
            <a:ext cx="1645920" cy="493776"/>
          </a:xfrm>
          <a:prstGeom prst="rect">
            <a:avLst/>
          </a:prstGeom>
          <a:solidFill>
            <a:srgbClr val="E8E2F4"/>
          </a:solidFill>
          <a:ln w="12700">
            <a:solidFill>
              <a:srgbClr val="3C2864"/>
            </a:solidFill>
            <a:prstDash val="solid"/>
          </a:ln>
        </p:spPr>
      </p:sp>
      <p:sp>
        <p:nvSpPr>
          <p:cNvPr id="30" name="Text 28"/>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31" name="Shape 29"/>
          <p:cNvSpPr/>
          <p:nvPr/>
        </p:nvSpPr>
        <p:spPr>
          <a:xfrm>
            <a:off x="4754880" y="1517904"/>
            <a:ext cx="4206240" cy="493776"/>
          </a:xfrm>
          <a:prstGeom prst="rect">
            <a:avLst/>
          </a:prstGeom>
          <a:solidFill>
            <a:srgbClr val="E8E2F4"/>
          </a:solidFill>
          <a:ln w="12700">
            <a:solidFill>
              <a:srgbClr val="3C2864"/>
            </a:solidFill>
            <a:prstDash val="solid"/>
          </a:ln>
        </p:spPr>
      </p:sp>
      <p:sp>
        <p:nvSpPr>
          <p:cNvPr id="32" name="Text 30"/>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"Heavy-hitter" tokens drive attention; eviction cuts KV memory 20×</a:t>
            </a:r>
            <a:endParaRPr lang="en-US" sz="1000" dirty="0"/>
          </a:p>
        </p:txBody>
      </p:sp>
      <p:sp>
        <p:nvSpPr>
          <p:cNvPr id="33" name="Shape 31"/>
          <p:cNvSpPr/>
          <p:nvPr/>
        </p:nvSpPr>
        <p:spPr>
          <a:xfrm>
            <a:off x="9006840" y="1517904"/>
            <a:ext cx="3017520" cy="493776"/>
          </a:xfrm>
          <a:prstGeom prst="rect">
            <a:avLst/>
          </a:prstGeom>
          <a:solidFill>
            <a:srgbClr val="E8E2F4"/>
          </a:solidFill>
          <a:ln w="12700">
            <a:solidFill>
              <a:srgbClr val="3C2864"/>
            </a:solidFill>
            <a:prstDash val="solid"/>
          </a:ln>
        </p:spPr>
      </p:sp>
      <p:sp>
        <p:nvSpPr>
          <p:cNvPr id="34" name="Text 32"/>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Activity-score-driven KV eviction in SessionRerank+</a:t>
            </a:r>
            <a:endParaRPr lang="en-US" sz="1000" dirty="0"/>
          </a:p>
        </p:txBody>
      </p:sp>
      <p:sp>
        <p:nvSpPr>
          <p:cNvPr id="35" name="Shape 33"/>
          <p:cNvSpPr/>
          <p:nvPr/>
        </p:nvSpPr>
        <p:spPr>
          <a:xfrm>
            <a:off x="274320" y="2011680"/>
            <a:ext cx="2743200" cy="493776"/>
          </a:xfrm>
          <a:prstGeom prst="rect">
            <a:avLst/>
          </a:prstGeom>
          <a:solidFill>
            <a:srgbClr val="FFFFFF"/>
          </a:solidFill>
          <a:ln w="12700">
            <a:solidFill>
              <a:srgbClr val="3C2864"/>
            </a:solidFill>
            <a:prstDash val="solid"/>
          </a:ln>
        </p:spPr>
      </p:sp>
      <p:sp>
        <p:nvSpPr>
          <p:cNvPr id="36" name="Shape 34">
            <a:hlinkClick r:id="rId3" tooltip=""/>
          </p:cNvPr>
          <p:cNvSpPr/>
          <p:nvPr/>
        </p:nvSpPr>
        <p:spPr>
          <a:xfrm>
            <a:off x="301752" y="2039112"/>
            <a:ext cx="2688336" cy="438912"/>
          </a:xfrm>
          <a:prstGeom prst="rect">
            <a:avLst/>
          </a:prstGeom>
          <a:solidFill>
            <a:srgbClr val="FFFFFF">
              <a:alpha val="0"/>
            </a:srgbClr>
          </a:solidFill>
          <a:ln w="12700">
            <a:solidFill>
              <a:srgbClr val="FFFFFF">
                <a:alpha val="0"/>
              </a:srgbClr>
            </a:solidFill>
            <a:prstDash val="solid"/>
          </a:ln>
        </p:spPr>
      </p:sp>
      <p:sp>
        <p:nvSpPr>
          <p:cNvPr id="37" name="Text 35"/>
          <p:cNvSpPr/>
          <p:nvPr/>
        </p:nvSpPr>
        <p:spPr>
          <a:xfrm>
            <a:off x="320040" y="205740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Scissorhands (Liu et al., 2023)</a:t>
            </a:r>
            <a:endParaRPr lang="en-US" sz="1000" dirty="0"/>
          </a:p>
        </p:txBody>
      </p:sp>
      <p:sp>
        <p:nvSpPr>
          <p:cNvPr id="38" name="Shape 36"/>
          <p:cNvSpPr/>
          <p:nvPr/>
        </p:nvSpPr>
        <p:spPr>
          <a:xfrm>
            <a:off x="3063240" y="2011680"/>
            <a:ext cx="1645920" cy="493776"/>
          </a:xfrm>
          <a:prstGeom prst="rect">
            <a:avLst/>
          </a:prstGeom>
          <a:solidFill>
            <a:srgbClr val="FFFFFF"/>
          </a:solidFill>
          <a:ln w="12700">
            <a:solidFill>
              <a:srgbClr val="3C2864"/>
            </a:solidFill>
            <a:prstDash val="solid"/>
          </a:ln>
        </p:spPr>
      </p:sp>
      <p:sp>
        <p:nvSpPr>
          <p:cNvPr id="39" name="Text 37"/>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40" name="Shape 38"/>
          <p:cNvSpPr/>
          <p:nvPr/>
        </p:nvSpPr>
        <p:spPr>
          <a:xfrm>
            <a:off x="4754880" y="2011680"/>
            <a:ext cx="4206240" cy="493776"/>
          </a:xfrm>
          <a:prstGeom prst="rect">
            <a:avLst/>
          </a:prstGeom>
          <a:solidFill>
            <a:srgbClr val="FFFFFF"/>
          </a:solidFill>
          <a:ln w="12700">
            <a:solidFill>
              <a:srgbClr val="3C2864"/>
            </a:solidFill>
            <a:prstDash val="solid"/>
          </a:ln>
        </p:spPr>
      </p:sp>
      <p:sp>
        <p:nvSpPr>
          <p:cNvPr id="41" name="Text 39"/>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Persistence-of-importance: pivot-set KV cache, 5× memory reduction</a:t>
            </a:r>
            <a:endParaRPr lang="en-US" sz="1000" dirty="0"/>
          </a:p>
        </p:txBody>
      </p:sp>
      <p:sp>
        <p:nvSpPr>
          <p:cNvPr id="42" name="Shape 40"/>
          <p:cNvSpPr/>
          <p:nvPr/>
        </p:nvSpPr>
        <p:spPr>
          <a:xfrm>
            <a:off x="9006840" y="2011680"/>
            <a:ext cx="3017520" cy="493776"/>
          </a:xfrm>
          <a:prstGeom prst="rect">
            <a:avLst/>
          </a:prstGeom>
          <a:solidFill>
            <a:srgbClr val="FFFFFF"/>
          </a:solidFill>
          <a:ln w="12700">
            <a:solidFill>
              <a:srgbClr val="3C2864"/>
            </a:solidFill>
            <a:prstDash val="solid"/>
          </a:ln>
        </p:spPr>
      </p:sp>
      <p:sp>
        <p:nvSpPr>
          <p:cNvPr id="43" name="Text 41"/>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Temporal stability basis for activity-history weighting</a:t>
            </a:r>
            <a:endParaRPr lang="en-US" sz="1000" dirty="0"/>
          </a:p>
        </p:txBody>
      </p:sp>
      <p:sp>
        <p:nvSpPr>
          <p:cNvPr id="44" name="Shape 42"/>
          <p:cNvSpPr/>
          <p:nvPr/>
        </p:nvSpPr>
        <p:spPr>
          <a:xfrm>
            <a:off x="274320" y="2505456"/>
            <a:ext cx="2743200" cy="493776"/>
          </a:xfrm>
          <a:prstGeom prst="rect">
            <a:avLst/>
          </a:prstGeom>
          <a:solidFill>
            <a:srgbClr val="E8E2F4"/>
          </a:solidFill>
          <a:ln w="12700">
            <a:solidFill>
              <a:srgbClr val="3C2864"/>
            </a:solidFill>
            <a:prstDash val="solid"/>
          </a:ln>
        </p:spPr>
      </p:sp>
      <p:sp>
        <p:nvSpPr>
          <p:cNvPr id="45" name="Shape 43">
            <a:hlinkClick r:id="rId4" tooltip=""/>
          </p:cNvPr>
          <p:cNvSpPr/>
          <p:nvPr/>
        </p:nvSpPr>
        <p:spPr>
          <a:xfrm>
            <a:off x="301752" y="2532888"/>
            <a:ext cx="2688336" cy="438912"/>
          </a:xfrm>
          <a:prstGeom prst="rect">
            <a:avLst/>
          </a:prstGeom>
          <a:solidFill>
            <a:srgbClr val="FFFFFF">
              <a:alpha val="0"/>
            </a:srgbClr>
          </a:solidFill>
          <a:ln w="12700">
            <a:solidFill>
              <a:srgbClr val="FFFFFF">
                <a:alpha val="0"/>
              </a:srgbClr>
            </a:solidFill>
            <a:prstDash val="solid"/>
          </a:ln>
        </p:spPr>
      </p:sp>
      <p:sp>
        <p:nvSpPr>
          <p:cNvPr id="46" name="Text 44"/>
          <p:cNvSpPr/>
          <p:nvPr/>
        </p:nvSpPr>
        <p:spPr>
          <a:xfrm>
            <a:off x="320040" y="2551176"/>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StreamingLLM (Xiao et al., 2024)</a:t>
            </a:r>
            <a:endParaRPr lang="en-US" sz="1000" dirty="0"/>
          </a:p>
        </p:txBody>
      </p:sp>
      <p:sp>
        <p:nvSpPr>
          <p:cNvPr id="47" name="Shape 45"/>
          <p:cNvSpPr/>
          <p:nvPr/>
        </p:nvSpPr>
        <p:spPr>
          <a:xfrm>
            <a:off x="3063240" y="2505456"/>
            <a:ext cx="1645920" cy="493776"/>
          </a:xfrm>
          <a:prstGeom prst="rect">
            <a:avLst/>
          </a:prstGeom>
          <a:solidFill>
            <a:srgbClr val="E8E2F4"/>
          </a:solidFill>
          <a:ln w="12700">
            <a:solidFill>
              <a:srgbClr val="3C2864"/>
            </a:solidFill>
            <a:prstDash val="solid"/>
          </a:ln>
        </p:spPr>
      </p:sp>
      <p:sp>
        <p:nvSpPr>
          <p:cNvPr id="48" name="Text 46"/>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49" name="Shape 47"/>
          <p:cNvSpPr/>
          <p:nvPr/>
        </p:nvSpPr>
        <p:spPr>
          <a:xfrm>
            <a:off x="4754880" y="2505456"/>
            <a:ext cx="4206240" cy="493776"/>
          </a:xfrm>
          <a:prstGeom prst="rect">
            <a:avLst/>
          </a:prstGeom>
          <a:solidFill>
            <a:srgbClr val="E8E2F4"/>
          </a:solidFill>
          <a:ln w="12700">
            <a:solidFill>
              <a:srgbClr val="3C2864"/>
            </a:solidFill>
            <a:prstDash val="solid"/>
          </a:ln>
        </p:spPr>
      </p:sp>
      <p:sp>
        <p:nvSpPr>
          <p:cNvPr id="50" name="Text 48"/>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Attention sinks enable infinite streaming; 22.2× faster</a:t>
            </a:r>
            <a:endParaRPr lang="en-US" sz="1000" dirty="0"/>
          </a:p>
        </p:txBody>
      </p:sp>
      <p:sp>
        <p:nvSpPr>
          <p:cNvPr id="51" name="Shape 49"/>
          <p:cNvSpPr/>
          <p:nvPr/>
        </p:nvSpPr>
        <p:spPr>
          <a:xfrm>
            <a:off x="9006840" y="2505456"/>
            <a:ext cx="3017520" cy="493776"/>
          </a:xfrm>
          <a:prstGeom prst="rect">
            <a:avLst/>
          </a:prstGeom>
          <a:solidFill>
            <a:srgbClr val="E8E2F4"/>
          </a:solidFill>
          <a:ln w="12700">
            <a:solidFill>
              <a:srgbClr val="3C2864"/>
            </a:solidFill>
            <a:prstDash val="solid"/>
          </a:ln>
        </p:spPr>
      </p:sp>
      <p:sp>
        <p:nvSpPr>
          <p:cNvPr id="52" name="Text 50"/>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Session-init tokens as permanent anchors in reranking</a:t>
            </a:r>
            <a:endParaRPr lang="en-US" sz="1000" dirty="0"/>
          </a:p>
        </p:txBody>
      </p:sp>
      <p:sp>
        <p:nvSpPr>
          <p:cNvPr id="53" name="Shape 51"/>
          <p:cNvSpPr/>
          <p:nvPr/>
        </p:nvSpPr>
        <p:spPr>
          <a:xfrm>
            <a:off x="274320" y="2999232"/>
            <a:ext cx="2743200" cy="493776"/>
          </a:xfrm>
          <a:prstGeom prst="rect">
            <a:avLst/>
          </a:prstGeom>
          <a:solidFill>
            <a:srgbClr val="FFFFFF"/>
          </a:solidFill>
          <a:ln w="12700">
            <a:solidFill>
              <a:srgbClr val="3C2864"/>
            </a:solidFill>
            <a:prstDash val="solid"/>
          </a:ln>
        </p:spPr>
      </p:sp>
      <p:sp>
        <p:nvSpPr>
          <p:cNvPr id="54" name="Shape 52">
            <a:hlinkClick r:id="rId5" tooltip=""/>
          </p:cNvPr>
          <p:cNvSpPr/>
          <p:nvPr/>
        </p:nvSpPr>
        <p:spPr>
          <a:xfrm>
            <a:off x="301752" y="3026664"/>
            <a:ext cx="2688336" cy="438912"/>
          </a:xfrm>
          <a:prstGeom prst="rect">
            <a:avLst/>
          </a:prstGeom>
          <a:solidFill>
            <a:srgbClr val="FFFFFF">
              <a:alpha val="0"/>
            </a:srgbClr>
          </a:solidFill>
          <a:ln w="12700">
            <a:solidFill>
              <a:srgbClr val="FFFFFF">
                <a:alpha val="0"/>
              </a:srgbClr>
            </a:solidFill>
            <a:prstDash val="solid"/>
          </a:ln>
        </p:spPr>
      </p:sp>
      <p:sp>
        <p:nvSpPr>
          <p:cNvPr id="55" name="Text 53"/>
          <p:cNvSpPr/>
          <p:nvPr/>
        </p:nvSpPr>
        <p:spPr>
          <a:xfrm>
            <a:off x="320040" y="3044952"/>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GEAR (Kang et al., 2024)</a:t>
            </a:r>
            <a:endParaRPr lang="en-US" sz="1000" dirty="0"/>
          </a:p>
        </p:txBody>
      </p:sp>
      <p:sp>
        <p:nvSpPr>
          <p:cNvPr id="56" name="Shape 54"/>
          <p:cNvSpPr/>
          <p:nvPr/>
        </p:nvSpPr>
        <p:spPr>
          <a:xfrm>
            <a:off x="3063240" y="2999232"/>
            <a:ext cx="1645920" cy="493776"/>
          </a:xfrm>
          <a:prstGeom prst="rect">
            <a:avLst/>
          </a:prstGeom>
          <a:solidFill>
            <a:srgbClr val="FFFFFF"/>
          </a:solidFill>
          <a:ln w="12700">
            <a:solidFill>
              <a:srgbClr val="3C2864"/>
            </a:solidFill>
            <a:prstDash val="solid"/>
          </a:ln>
        </p:spPr>
      </p:sp>
      <p:sp>
        <p:nvSpPr>
          <p:cNvPr id="57" name="Text 55"/>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arXiv:2403.05527</a:t>
            </a:r>
            <a:endParaRPr lang="en-US" sz="1000" dirty="0"/>
          </a:p>
        </p:txBody>
      </p:sp>
      <p:sp>
        <p:nvSpPr>
          <p:cNvPr id="58" name="Shape 56"/>
          <p:cNvSpPr/>
          <p:nvPr/>
        </p:nvSpPr>
        <p:spPr>
          <a:xfrm>
            <a:off x="4754880" y="2999232"/>
            <a:ext cx="4206240" cy="493776"/>
          </a:xfrm>
          <a:prstGeom prst="rect">
            <a:avLst/>
          </a:prstGeom>
          <a:solidFill>
            <a:srgbClr val="FFFFFF"/>
          </a:solidFill>
          <a:ln w="12700">
            <a:solidFill>
              <a:srgbClr val="3C2864"/>
            </a:solidFill>
            <a:prstDash val="solid"/>
          </a:ln>
        </p:spPr>
      </p:sp>
      <p:sp>
        <p:nvSpPr>
          <p:cNvPr id="59" name="Text 57"/>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 sparse KV compression; &lt;0.5% accuracy drop at 4-bit</a:t>
            </a:r>
            <a:endParaRPr lang="en-US" sz="1000" dirty="0"/>
          </a:p>
        </p:txBody>
      </p:sp>
      <p:sp>
        <p:nvSpPr>
          <p:cNvPr id="60" name="Shape 58"/>
          <p:cNvSpPr/>
          <p:nvPr/>
        </p:nvSpPr>
        <p:spPr>
          <a:xfrm>
            <a:off x="9006840" y="2999232"/>
            <a:ext cx="3017520" cy="493776"/>
          </a:xfrm>
          <a:prstGeom prst="rect">
            <a:avLst/>
          </a:prstGeom>
          <a:solidFill>
            <a:srgbClr val="FFFFFF"/>
          </a:solidFill>
          <a:ln w="12700">
            <a:solidFill>
              <a:srgbClr val="3C2864"/>
            </a:solidFill>
            <a:prstDash val="solid"/>
          </a:ln>
        </p:spPr>
      </p:sp>
      <p:sp>
        <p:nvSpPr>
          <p:cNvPr id="61" name="Text 59"/>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decomposition for session-history states</a:t>
            </a:r>
            <a:endParaRPr lang="en-US" sz="1000" dirty="0"/>
          </a:p>
        </p:txBody>
      </p:sp>
      <p:sp>
        <p:nvSpPr>
          <p:cNvPr id="62" name="Shape 60"/>
          <p:cNvSpPr/>
          <p:nvPr/>
        </p:nvSpPr>
        <p:spPr>
          <a:xfrm>
            <a:off x="274320" y="3493008"/>
            <a:ext cx="2743200" cy="493776"/>
          </a:xfrm>
          <a:prstGeom prst="rect">
            <a:avLst/>
          </a:prstGeom>
          <a:solidFill>
            <a:srgbClr val="E8E2F4"/>
          </a:solidFill>
          <a:ln w="12700">
            <a:solidFill>
              <a:srgbClr val="3C2864"/>
            </a:solidFill>
            <a:prstDash val="solid"/>
          </a:ln>
        </p:spPr>
      </p:sp>
      <p:sp>
        <p:nvSpPr>
          <p:cNvPr id="63" name="Shape 61">
            <a:hlinkClick r:id="rId6" tooltip=""/>
          </p:cNvPr>
          <p:cNvSpPr/>
          <p:nvPr/>
        </p:nvSpPr>
        <p:spPr>
          <a:xfrm>
            <a:off x="301752" y="3520440"/>
            <a:ext cx="2688336" cy="438912"/>
          </a:xfrm>
          <a:prstGeom prst="rect">
            <a:avLst/>
          </a:prstGeom>
          <a:solidFill>
            <a:srgbClr val="FFFFFF">
              <a:alpha val="0"/>
            </a:srgbClr>
          </a:solidFill>
          <a:ln w="12700">
            <a:solidFill>
              <a:srgbClr val="FFFFFF">
                <a:alpha val="0"/>
              </a:srgbClr>
            </a:solidFill>
            <a:prstDash val="solid"/>
          </a:ln>
        </p:spPr>
      </p:sp>
      <p:sp>
        <p:nvSpPr>
          <p:cNvPr id="64" name="Text 62"/>
          <p:cNvSpPr/>
          <p:nvPr/>
        </p:nvSpPr>
        <p:spPr>
          <a:xfrm>
            <a:off x="320040" y="353872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CacheGen (Liu et al., 2024)</a:t>
            </a:r>
            <a:endParaRPr lang="en-US" sz="1000" dirty="0"/>
          </a:p>
        </p:txBody>
      </p:sp>
      <p:sp>
        <p:nvSpPr>
          <p:cNvPr id="65" name="Shape 63"/>
          <p:cNvSpPr/>
          <p:nvPr/>
        </p:nvSpPr>
        <p:spPr>
          <a:xfrm>
            <a:off x="3063240" y="3493008"/>
            <a:ext cx="1645920" cy="493776"/>
          </a:xfrm>
          <a:prstGeom prst="rect">
            <a:avLst/>
          </a:prstGeom>
          <a:solidFill>
            <a:srgbClr val="E8E2F4"/>
          </a:solidFill>
          <a:ln w="12700">
            <a:solidFill>
              <a:srgbClr val="3C2864"/>
            </a:solidFill>
            <a:prstDash val="solid"/>
          </a:ln>
        </p:spPr>
      </p:sp>
      <p:sp>
        <p:nvSpPr>
          <p:cNvPr id="66" name="Text 64"/>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SIGCOMM 2024</a:t>
            </a:r>
            <a:endParaRPr lang="en-US" sz="1000" dirty="0"/>
          </a:p>
        </p:txBody>
      </p:sp>
      <p:sp>
        <p:nvSpPr>
          <p:cNvPr id="67" name="Shape 65"/>
          <p:cNvSpPr/>
          <p:nvPr/>
        </p:nvSpPr>
        <p:spPr>
          <a:xfrm>
            <a:off x="4754880" y="3493008"/>
            <a:ext cx="4206240" cy="493776"/>
          </a:xfrm>
          <a:prstGeom prst="rect">
            <a:avLst/>
          </a:prstGeom>
          <a:solidFill>
            <a:srgbClr val="E8E2F4"/>
          </a:solidFill>
          <a:ln w="12700">
            <a:solidFill>
              <a:srgbClr val="3C2864"/>
            </a:solidFill>
            <a:prstDash val="solid"/>
          </a:ln>
        </p:spPr>
      </p:sp>
      <p:sp>
        <p:nvSpPr>
          <p:cNvPr id="68" name="Text 66"/>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Compressed KV bitstream streaming; 3.7× bandwidth reduction</a:t>
            </a:r>
            <a:endParaRPr lang="en-US" sz="1000" dirty="0"/>
          </a:p>
        </p:txBody>
      </p:sp>
      <p:sp>
        <p:nvSpPr>
          <p:cNvPr id="69" name="Shape 67"/>
          <p:cNvSpPr/>
          <p:nvPr/>
        </p:nvSpPr>
        <p:spPr>
          <a:xfrm>
            <a:off x="9006840" y="3493008"/>
            <a:ext cx="3017520" cy="493776"/>
          </a:xfrm>
          <a:prstGeom prst="rect">
            <a:avLst/>
          </a:prstGeom>
          <a:solidFill>
            <a:srgbClr val="E8E2F4"/>
          </a:solidFill>
          <a:ln w="12700">
            <a:solidFill>
              <a:srgbClr val="3C2864"/>
            </a:solidFill>
            <a:prstDash val="solid"/>
          </a:ln>
        </p:spPr>
      </p:sp>
      <p:sp>
        <p:nvSpPr>
          <p:cNvPr id="70" name="Text 68"/>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Persistent-session KV serialisation across inference steps</a:t>
            </a:r>
            <a:endParaRPr lang="en-US" sz="1000" dirty="0"/>
          </a:p>
        </p:txBody>
      </p:sp>
      <p:sp>
        <p:nvSpPr>
          <p:cNvPr id="71" name="Shape 69"/>
          <p:cNvSpPr/>
          <p:nvPr/>
        </p:nvSpPr>
        <p:spPr>
          <a:xfrm>
            <a:off x="274320" y="3986784"/>
            <a:ext cx="2743200" cy="493776"/>
          </a:xfrm>
          <a:prstGeom prst="rect">
            <a:avLst/>
          </a:prstGeom>
          <a:solidFill>
            <a:srgbClr val="FFFFFF"/>
          </a:solidFill>
          <a:ln w="12700">
            <a:solidFill>
              <a:srgbClr val="3C2864"/>
            </a:solidFill>
            <a:prstDash val="solid"/>
          </a:ln>
        </p:spPr>
      </p:sp>
      <p:sp>
        <p:nvSpPr>
          <p:cNvPr id="72" name="Shape 70">
            <a:hlinkClick r:id="rId7" tooltip=""/>
          </p:cNvPr>
          <p:cNvSpPr/>
          <p:nvPr/>
        </p:nvSpPr>
        <p:spPr>
          <a:xfrm>
            <a:off x="301752" y="4014216"/>
            <a:ext cx="2688336" cy="438912"/>
          </a:xfrm>
          <a:prstGeom prst="rect">
            <a:avLst/>
          </a:prstGeom>
          <a:solidFill>
            <a:srgbClr val="FFFFFF">
              <a:alpha val="0"/>
            </a:srgbClr>
          </a:solidFill>
          <a:ln w="12700">
            <a:solidFill>
              <a:srgbClr val="FFFFFF">
                <a:alpha val="0"/>
              </a:srgbClr>
            </a:solidFill>
            <a:prstDash val="solid"/>
          </a:ln>
        </p:spPr>
      </p:sp>
      <p:sp>
        <p:nvSpPr>
          <p:cNvPr id="73" name="Text 71"/>
          <p:cNvSpPr/>
          <p:nvPr/>
        </p:nvSpPr>
        <p:spPr>
          <a:xfrm>
            <a:off x="320040" y="403250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MiniCache (Liu et al., 2024)</a:t>
            </a:r>
            <a:endParaRPr lang="en-US" sz="1000" dirty="0"/>
          </a:p>
        </p:txBody>
      </p:sp>
      <p:sp>
        <p:nvSpPr>
          <p:cNvPr id="74" name="Shape 72"/>
          <p:cNvSpPr/>
          <p:nvPr/>
        </p:nvSpPr>
        <p:spPr>
          <a:xfrm>
            <a:off x="3063240" y="3986784"/>
            <a:ext cx="1645920" cy="493776"/>
          </a:xfrm>
          <a:prstGeom prst="rect">
            <a:avLst/>
          </a:prstGeom>
          <a:solidFill>
            <a:srgbClr val="FFFFFF"/>
          </a:solidFill>
          <a:ln w="12700">
            <a:solidFill>
              <a:srgbClr val="3C2864"/>
            </a:solidFill>
            <a:prstDash val="solid"/>
          </a:ln>
        </p:spPr>
      </p:sp>
      <p:sp>
        <p:nvSpPr>
          <p:cNvPr id="75" name="Text 73"/>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2024</a:t>
            </a:r>
            <a:endParaRPr lang="en-US" sz="1000" dirty="0"/>
          </a:p>
        </p:txBody>
      </p:sp>
      <p:sp>
        <p:nvSpPr>
          <p:cNvPr id="76" name="Shape 74"/>
          <p:cNvSpPr/>
          <p:nvPr/>
        </p:nvSpPr>
        <p:spPr>
          <a:xfrm>
            <a:off x="4754880" y="3986784"/>
            <a:ext cx="4206240" cy="493776"/>
          </a:xfrm>
          <a:prstGeom prst="rect">
            <a:avLst/>
          </a:prstGeom>
          <a:solidFill>
            <a:srgbClr val="FFFFFF"/>
          </a:solidFill>
          <a:ln w="12700">
            <a:solidFill>
              <a:srgbClr val="3C2864"/>
            </a:solidFill>
            <a:prstDash val="solid"/>
          </a:ln>
        </p:spPr>
      </p:sp>
      <p:sp>
        <p:nvSpPr>
          <p:cNvPr id="77" name="Text 75"/>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Depth-dimension KV compression via cross-layer token merging</a:t>
            </a:r>
            <a:endParaRPr lang="en-US" sz="1000" dirty="0"/>
          </a:p>
        </p:txBody>
      </p:sp>
      <p:sp>
        <p:nvSpPr>
          <p:cNvPr id="78" name="Shape 76"/>
          <p:cNvSpPr/>
          <p:nvPr/>
        </p:nvSpPr>
        <p:spPr>
          <a:xfrm>
            <a:off x="9006840" y="3986784"/>
            <a:ext cx="3017520" cy="493776"/>
          </a:xfrm>
          <a:prstGeom prst="rect">
            <a:avLst/>
          </a:prstGeom>
          <a:solidFill>
            <a:srgbClr val="FFFFFF"/>
          </a:solidFill>
          <a:ln w="12700">
            <a:solidFill>
              <a:srgbClr val="3C2864"/>
            </a:solidFill>
            <a:prstDash val="solid"/>
          </a:ln>
        </p:spPr>
      </p:sp>
      <p:sp>
        <p:nvSpPr>
          <p:cNvPr id="79" name="Text 77"/>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Depth-aware KV fusion in SessionRerank+</a:t>
            </a:r>
            <a:endParaRPr lang="en-US" sz="1000" dirty="0"/>
          </a:p>
        </p:txBody>
      </p:sp>
      <p:sp>
        <p:nvSpPr>
          <p:cNvPr id="80" name="Shape 78"/>
          <p:cNvSpPr/>
          <p:nvPr/>
        </p:nvSpPr>
        <p:spPr>
          <a:xfrm>
            <a:off x="274320" y="4480560"/>
            <a:ext cx="2743200" cy="493776"/>
          </a:xfrm>
          <a:prstGeom prst="rect">
            <a:avLst/>
          </a:prstGeom>
          <a:solidFill>
            <a:srgbClr val="E8E2F4"/>
          </a:solidFill>
          <a:ln w="12700">
            <a:solidFill>
              <a:srgbClr val="3C2864"/>
            </a:solidFill>
            <a:prstDash val="solid"/>
          </a:ln>
        </p:spPr>
      </p:sp>
      <p:sp>
        <p:nvSpPr>
          <p:cNvPr id="81" name="Shape 79">
            <a:hlinkClick r:id="rId8" tooltip=""/>
          </p:cNvPr>
          <p:cNvSpPr/>
          <p:nvPr/>
        </p:nvSpPr>
        <p:spPr>
          <a:xfrm>
            <a:off x="301752" y="4507992"/>
            <a:ext cx="2688336" cy="438912"/>
          </a:xfrm>
          <a:prstGeom prst="rect">
            <a:avLst/>
          </a:prstGeom>
          <a:solidFill>
            <a:srgbClr val="FFFFFF">
              <a:alpha val="0"/>
            </a:srgbClr>
          </a:solidFill>
          <a:ln w="12700">
            <a:solidFill>
              <a:srgbClr val="FFFFFF">
                <a:alpha val="0"/>
              </a:srgbClr>
            </a:solidFill>
            <a:prstDash val="solid"/>
          </a:ln>
        </p:spPr>
      </p:sp>
      <p:sp>
        <p:nvSpPr>
          <p:cNvPr id="82" name="Text 80"/>
          <p:cNvSpPr/>
          <p:nvPr/>
        </p:nvSpPr>
        <p:spPr>
          <a:xfrm>
            <a:off x="320040" y="452628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ToolLLM (Qin et al., 2024)</a:t>
            </a:r>
            <a:endParaRPr lang="en-US" sz="1000" dirty="0"/>
          </a:p>
        </p:txBody>
      </p:sp>
      <p:sp>
        <p:nvSpPr>
          <p:cNvPr id="83" name="Shape 81"/>
          <p:cNvSpPr/>
          <p:nvPr/>
        </p:nvSpPr>
        <p:spPr>
          <a:xfrm>
            <a:off x="3063240" y="4480560"/>
            <a:ext cx="1645920" cy="493776"/>
          </a:xfrm>
          <a:prstGeom prst="rect">
            <a:avLst/>
          </a:prstGeom>
          <a:solidFill>
            <a:srgbClr val="E8E2F4"/>
          </a:solidFill>
          <a:ln w="12700">
            <a:solidFill>
              <a:srgbClr val="3C2864"/>
            </a:solidFill>
            <a:prstDash val="solid"/>
          </a:ln>
        </p:spPr>
      </p:sp>
      <p:sp>
        <p:nvSpPr>
          <p:cNvPr id="84" name="Text 82"/>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85" name="Shape 83"/>
          <p:cNvSpPr/>
          <p:nvPr/>
        </p:nvSpPr>
        <p:spPr>
          <a:xfrm>
            <a:off x="4754880" y="4480560"/>
            <a:ext cx="4206240" cy="493776"/>
          </a:xfrm>
          <a:prstGeom prst="rect">
            <a:avLst/>
          </a:prstGeom>
          <a:solidFill>
            <a:srgbClr val="E8E2F4"/>
          </a:solidFill>
          <a:ln w="12700">
            <a:solidFill>
              <a:srgbClr val="3C2864"/>
            </a:solidFill>
            <a:prstDash val="solid"/>
          </a:ln>
        </p:spPr>
      </p:sp>
      <p:sp>
        <p:nvSpPr>
          <p:cNvPr id="86" name="Text 84"/>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DFSDT on 16k+ APIs; ToolBench evaluation framework</a:t>
            </a:r>
            <a:endParaRPr lang="en-US" sz="1000" dirty="0"/>
          </a:p>
        </p:txBody>
      </p:sp>
      <p:sp>
        <p:nvSpPr>
          <p:cNvPr id="87" name="Shape 85"/>
          <p:cNvSpPr/>
          <p:nvPr/>
        </p:nvSpPr>
        <p:spPr>
          <a:xfrm>
            <a:off x="9006840" y="4480560"/>
            <a:ext cx="3017520" cy="493776"/>
          </a:xfrm>
          <a:prstGeom prst="rect">
            <a:avLst/>
          </a:prstGeom>
          <a:solidFill>
            <a:srgbClr val="E8E2F4"/>
          </a:solidFill>
          <a:ln w="12700">
            <a:solidFill>
              <a:srgbClr val="3C2864"/>
            </a:solidFill>
            <a:prstDash val="solid"/>
          </a:ln>
        </p:spPr>
      </p:sp>
      <p:sp>
        <p:nvSpPr>
          <p:cNvPr id="88" name="Text 86"/>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Benchmark and tool-routing baseline for SessionRerank+</a:t>
            </a:r>
            <a:endParaRPr lang="en-US" sz="1000" dirty="0"/>
          </a:p>
        </p:txBody>
      </p:sp>
      <p:sp>
        <p:nvSpPr>
          <p:cNvPr id="89" name="Shape 87"/>
          <p:cNvSpPr/>
          <p:nvPr/>
        </p:nvSpPr>
        <p:spPr>
          <a:xfrm>
            <a:off x="274320" y="5010912"/>
            <a:ext cx="11640312" cy="658368"/>
          </a:xfrm>
          <a:prstGeom prst="rect">
            <a:avLst/>
          </a:prstGeom>
          <a:solidFill>
            <a:srgbClr val="3C2864"/>
          </a:solidFill>
          <a:ln w="12700">
            <a:solidFill>
              <a:srgbClr val="3C2864"/>
            </a:solidFill>
            <a:prstDash val="solid"/>
          </a:ln>
        </p:spPr>
      </p:sp>
      <p:sp>
        <p:nvSpPr>
          <p:cNvPr id="90" name="Text 88"/>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All KV compression works treat each query independently. MISSING: Session-aware activity scoring that reranks tool relevance across multi-turn agent dialogues. → SessionRerank+ fills this gap.</a:t>
            </a:r>
            <a:endParaRPr lang="en-US" sz="1300" dirty="0"/>
          </a:p>
        </p:txBody>
      </p:sp>
      <p:sp>
        <p:nvSpPr>
          <p:cNvPr id="91" name="Text 89"/>
          <p:cNvSpPr/>
          <p:nvPr/>
        </p:nvSpPr>
        <p:spPr>
          <a:xfrm>
            <a:off x="274320" y="5742432"/>
            <a:ext cx="11640312" cy="164592"/>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00" b="1" u="sng" dirty="0">
                <a:solidFill>
                  <a:srgbClr val="1565C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 Drive Folder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2: Adaptive Multi-Agent Large Language Model (LLM) Routing (Motivates Obj 2)</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2</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Shape 16">
            <a:hlinkClick r:id="rId1" tooltip=""/>
          </p:cNvPr>
          <p:cNvSpPr/>
          <p:nvPr/>
        </p:nvSpPr>
        <p:spPr>
          <a:xfrm>
            <a:off x="301752" y="1051560"/>
            <a:ext cx="2688336" cy="438912"/>
          </a:xfrm>
          <a:prstGeom prst="rect">
            <a:avLst/>
          </a:prstGeom>
          <a:solidFill>
            <a:srgbClr val="FFFFFF">
              <a:alpha val="0"/>
            </a:srgbClr>
          </a:solidFill>
          <a:ln w="12700">
            <a:solidFill>
              <a:srgbClr val="FFFFFF">
                <a:alpha val="0"/>
              </a:srgbClr>
            </a:solidFill>
            <a:prstDash val="solid"/>
          </a:ln>
        </p:spPr>
      </p:sp>
      <p:sp>
        <p:nvSpPr>
          <p:cNvPr id="19" name="Text 17"/>
          <p:cNvSpPr/>
          <p:nvPr/>
        </p:nvSpPr>
        <p:spPr>
          <a:xfrm>
            <a:off x="320040" y="106984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RouteLLM (Ong et al., 2024)</a:t>
            </a:r>
            <a:endParaRPr lang="en-US" sz="1000" dirty="0"/>
          </a:p>
        </p:txBody>
      </p:sp>
      <p:sp>
        <p:nvSpPr>
          <p:cNvPr id="20" name="Shape 18"/>
          <p:cNvSpPr/>
          <p:nvPr/>
        </p:nvSpPr>
        <p:spPr>
          <a:xfrm>
            <a:off x="3063240" y="1024128"/>
            <a:ext cx="1645920" cy="493776"/>
          </a:xfrm>
          <a:prstGeom prst="rect">
            <a:avLst/>
          </a:prstGeom>
          <a:solidFill>
            <a:srgbClr val="FFFFFF"/>
          </a:solidFill>
          <a:ln w="12700">
            <a:solidFill>
              <a:srgbClr val="3C2864"/>
            </a:solidFill>
            <a:prstDash val="solid"/>
          </a:ln>
        </p:spPr>
      </p:sp>
      <p:sp>
        <p:nvSpPr>
          <p:cNvPr id="21" name="Text 19"/>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arXiv:2406.18665</a:t>
            </a:r>
            <a:endParaRPr lang="en-US" sz="1000" dirty="0"/>
          </a:p>
        </p:txBody>
      </p:sp>
      <p:sp>
        <p:nvSpPr>
          <p:cNvPr id="22" name="Shape 20"/>
          <p:cNvSpPr/>
          <p:nvPr/>
        </p:nvSpPr>
        <p:spPr>
          <a:xfrm>
            <a:off x="4754880" y="1024128"/>
            <a:ext cx="4206240" cy="493776"/>
          </a:xfrm>
          <a:prstGeom prst="rect">
            <a:avLst/>
          </a:prstGeom>
          <a:solidFill>
            <a:srgbClr val="FFFFFF"/>
          </a:solidFill>
          <a:ln w="12700">
            <a:solidFill>
              <a:srgbClr val="3C2864"/>
            </a:solidFill>
            <a:prstDash val="solid"/>
          </a:ln>
        </p:spPr>
      </p:sp>
      <p:sp>
        <p:nvSpPr>
          <p:cNvPr id="23" name="Text 21"/>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Offline preference-data training to route queries; reduces GPT-4 calls 50%</a:t>
            </a:r>
            <a:endParaRPr lang="en-US" sz="1000" dirty="0"/>
          </a:p>
        </p:txBody>
      </p:sp>
      <p:sp>
        <p:nvSpPr>
          <p:cNvPr id="24" name="Shape 22"/>
          <p:cNvSpPr/>
          <p:nvPr/>
        </p:nvSpPr>
        <p:spPr>
          <a:xfrm>
            <a:off x="9006840" y="1024128"/>
            <a:ext cx="3017520" cy="493776"/>
          </a:xfrm>
          <a:prstGeom prst="rect">
            <a:avLst/>
          </a:prstGeom>
          <a:solidFill>
            <a:srgbClr val="FFFFFF"/>
          </a:solidFill>
          <a:ln w="12700">
            <a:solidFill>
              <a:srgbClr val="3C2864"/>
            </a:solidFill>
            <a:prstDash val="solid"/>
          </a:ln>
        </p:spPr>
      </p:sp>
      <p:sp>
        <p:nvSpPr>
          <p:cNvPr id="25" name="Text 23"/>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Demonstrates routing viability; Adaptive Priority-aware Request Router (APRR)+CDR+PDR addresses offline-only limitation</a:t>
            </a:r>
            <a:endParaRPr lang="en-US" sz="1000" dirty="0"/>
          </a:p>
        </p:txBody>
      </p:sp>
      <p:sp>
        <p:nvSpPr>
          <p:cNvPr id="26" name="Shape 24"/>
          <p:cNvSpPr/>
          <p:nvPr/>
        </p:nvSpPr>
        <p:spPr>
          <a:xfrm>
            <a:off x="274320" y="1517904"/>
            <a:ext cx="2743200" cy="493776"/>
          </a:xfrm>
          <a:prstGeom prst="rect">
            <a:avLst/>
          </a:prstGeom>
          <a:solidFill>
            <a:srgbClr val="E8E2F4"/>
          </a:solidFill>
          <a:ln w="12700">
            <a:solidFill>
              <a:srgbClr val="3C2864"/>
            </a:solidFill>
            <a:prstDash val="solid"/>
          </a:ln>
        </p:spPr>
      </p:sp>
      <p:sp>
        <p:nvSpPr>
          <p:cNvPr id="27" name="Shape 25">
            <a:hlinkClick r:id="rId2" tooltip=""/>
          </p:cNvPr>
          <p:cNvSpPr/>
          <p:nvPr/>
        </p:nvSpPr>
        <p:spPr>
          <a:xfrm>
            <a:off x="301752" y="1545336"/>
            <a:ext cx="2688336" cy="438912"/>
          </a:xfrm>
          <a:prstGeom prst="rect">
            <a:avLst/>
          </a:prstGeom>
          <a:solidFill>
            <a:srgbClr val="FFFFFF">
              <a:alpha val="0"/>
            </a:srgbClr>
          </a:solidFill>
          <a:ln w="12700">
            <a:solidFill>
              <a:srgbClr val="FFFFFF">
                <a:alpha val="0"/>
              </a:srgbClr>
            </a:solidFill>
            <a:prstDash val="solid"/>
          </a:ln>
        </p:spPr>
      </p:sp>
      <p:sp>
        <p:nvSpPr>
          <p:cNvPr id="28" name="Text 26"/>
          <p:cNvSpPr/>
          <p:nvPr/>
        </p:nvSpPr>
        <p:spPr>
          <a:xfrm>
            <a:off x="320040" y="156362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FrugalGPT (Chen et al., 2023)</a:t>
            </a:r>
            <a:endParaRPr lang="en-US" sz="1000" dirty="0"/>
          </a:p>
        </p:txBody>
      </p:sp>
      <p:sp>
        <p:nvSpPr>
          <p:cNvPr id="29" name="Shape 27"/>
          <p:cNvSpPr/>
          <p:nvPr/>
        </p:nvSpPr>
        <p:spPr>
          <a:xfrm>
            <a:off x="3063240" y="1517904"/>
            <a:ext cx="1645920" cy="493776"/>
          </a:xfrm>
          <a:prstGeom prst="rect">
            <a:avLst/>
          </a:prstGeom>
          <a:solidFill>
            <a:srgbClr val="E8E2F4"/>
          </a:solidFill>
          <a:ln w="12700">
            <a:solidFill>
              <a:srgbClr val="3C2864"/>
            </a:solidFill>
            <a:prstDash val="solid"/>
          </a:ln>
        </p:spPr>
      </p:sp>
      <p:sp>
        <p:nvSpPr>
          <p:cNvPr id="30" name="Text 28"/>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arXiv:2305.05176</a:t>
            </a:r>
            <a:endParaRPr lang="en-US" sz="1000" dirty="0"/>
          </a:p>
        </p:txBody>
      </p:sp>
      <p:sp>
        <p:nvSpPr>
          <p:cNvPr id="31" name="Shape 29"/>
          <p:cNvSpPr/>
          <p:nvPr/>
        </p:nvSpPr>
        <p:spPr>
          <a:xfrm>
            <a:off x="4754880" y="1517904"/>
            <a:ext cx="4206240" cy="493776"/>
          </a:xfrm>
          <a:prstGeom prst="rect">
            <a:avLst/>
          </a:prstGeom>
          <a:solidFill>
            <a:srgbClr val="E8E2F4"/>
          </a:solidFill>
          <a:ln w="12700">
            <a:solidFill>
              <a:srgbClr val="3C2864"/>
            </a:solidFill>
            <a:prstDash val="solid"/>
          </a:ln>
        </p:spPr>
      </p:sp>
      <p:sp>
        <p:nvSpPr>
          <p:cNvPr id="32" name="Text 30"/>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Cascade routing to balance cost/quality; fixed policy learned offline</a:t>
            </a:r>
            <a:endParaRPr lang="en-US" sz="1000" dirty="0"/>
          </a:p>
        </p:txBody>
      </p:sp>
      <p:sp>
        <p:nvSpPr>
          <p:cNvPr id="33" name="Shape 31"/>
          <p:cNvSpPr/>
          <p:nvPr/>
        </p:nvSpPr>
        <p:spPr>
          <a:xfrm>
            <a:off x="9006840" y="1517904"/>
            <a:ext cx="3017520" cy="493776"/>
          </a:xfrm>
          <a:prstGeom prst="rect">
            <a:avLst/>
          </a:prstGeom>
          <a:solidFill>
            <a:srgbClr val="E8E2F4"/>
          </a:solidFill>
          <a:ln w="12700">
            <a:solidFill>
              <a:srgbClr val="3C2864"/>
            </a:solidFill>
            <a:prstDash val="solid"/>
          </a:ln>
        </p:spPr>
      </p:sp>
      <p:sp>
        <p:nvSpPr>
          <p:cNvPr id="34" name="Text 32"/>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Baseline cost-routing; lacks online Reinforcement Learning (RL) adaptation (addressed by APRR)</a:t>
            </a:r>
            <a:endParaRPr lang="en-US" sz="1000" dirty="0"/>
          </a:p>
        </p:txBody>
      </p:sp>
      <p:sp>
        <p:nvSpPr>
          <p:cNvPr id="35" name="Shape 33"/>
          <p:cNvSpPr/>
          <p:nvPr/>
        </p:nvSpPr>
        <p:spPr>
          <a:xfrm>
            <a:off x="274320" y="2011680"/>
            <a:ext cx="2743200" cy="493776"/>
          </a:xfrm>
          <a:prstGeom prst="rect">
            <a:avLst/>
          </a:prstGeom>
          <a:solidFill>
            <a:srgbClr val="FFFFFF"/>
          </a:solidFill>
          <a:ln w="12700">
            <a:solidFill>
              <a:srgbClr val="3C2864"/>
            </a:solidFill>
            <a:prstDash val="solid"/>
          </a:ln>
        </p:spPr>
      </p:sp>
      <p:sp>
        <p:nvSpPr>
          <p:cNvPr id="36" name="Shape 34">
            <a:hlinkClick r:id="rId3" tooltip=""/>
          </p:cNvPr>
          <p:cNvSpPr/>
          <p:nvPr/>
        </p:nvSpPr>
        <p:spPr>
          <a:xfrm>
            <a:off x="301752" y="2039112"/>
            <a:ext cx="2688336" cy="438912"/>
          </a:xfrm>
          <a:prstGeom prst="rect">
            <a:avLst/>
          </a:prstGeom>
          <a:solidFill>
            <a:srgbClr val="FFFFFF">
              <a:alpha val="0"/>
            </a:srgbClr>
          </a:solidFill>
          <a:ln w="12700">
            <a:solidFill>
              <a:srgbClr val="FFFFFF">
                <a:alpha val="0"/>
              </a:srgbClr>
            </a:solidFill>
            <a:prstDash val="solid"/>
          </a:ln>
        </p:spPr>
      </p:sp>
      <p:sp>
        <p:nvSpPr>
          <p:cNvPr id="37" name="Text 35"/>
          <p:cNvSpPr/>
          <p:nvPr/>
        </p:nvSpPr>
        <p:spPr>
          <a:xfrm>
            <a:off x="320040" y="205740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Mixture-of-Agents (Wang et al., 2024)</a:t>
            </a:r>
            <a:endParaRPr lang="en-US" sz="1000" dirty="0"/>
          </a:p>
        </p:txBody>
      </p:sp>
      <p:sp>
        <p:nvSpPr>
          <p:cNvPr id="38" name="Shape 36"/>
          <p:cNvSpPr/>
          <p:nvPr/>
        </p:nvSpPr>
        <p:spPr>
          <a:xfrm>
            <a:off x="3063240" y="2011680"/>
            <a:ext cx="1645920" cy="493776"/>
          </a:xfrm>
          <a:prstGeom prst="rect">
            <a:avLst/>
          </a:prstGeom>
          <a:solidFill>
            <a:srgbClr val="FFFFFF"/>
          </a:solidFill>
          <a:ln w="12700">
            <a:solidFill>
              <a:srgbClr val="3C2864"/>
            </a:solidFill>
            <a:prstDash val="solid"/>
          </a:ln>
        </p:spPr>
      </p:sp>
      <p:sp>
        <p:nvSpPr>
          <p:cNvPr id="39" name="Text 37"/>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arXiv/COLM</a:t>
            </a:r>
            <a:endParaRPr lang="en-US" sz="1000" dirty="0"/>
          </a:p>
        </p:txBody>
      </p:sp>
      <p:sp>
        <p:nvSpPr>
          <p:cNvPr id="40" name="Shape 38"/>
          <p:cNvSpPr/>
          <p:nvPr/>
        </p:nvSpPr>
        <p:spPr>
          <a:xfrm>
            <a:off x="4754880" y="2011680"/>
            <a:ext cx="4206240" cy="493776"/>
          </a:xfrm>
          <a:prstGeom prst="rect">
            <a:avLst/>
          </a:prstGeom>
          <a:solidFill>
            <a:srgbClr val="FFFFFF"/>
          </a:solidFill>
          <a:ln w="12700">
            <a:solidFill>
              <a:srgbClr val="3C2864"/>
            </a:solidFill>
            <a:prstDash val="solid"/>
          </a:ln>
        </p:spPr>
      </p:sp>
      <p:sp>
        <p:nvSpPr>
          <p:cNvPr id="41" name="Text 39"/>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Layered agent aggregation improves quality; no dynamic routing</a:t>
            </a:r>
            <a:endParaRPr lang="en-US" sz="1000" dirty="0"/>
          </a:p>
        </p:txBody>
      </p:sp>
      <p:sp>
        <p:nvSpPr>
          <p:cNvPr id="42" name="Shape 40"/>
          <p:cNvSpPr/>
          <p:nvPr/>
        </p:nvSpPr>
        <p:spPr>
          <a:xfrm>
            <a:off x="9006840" y="2011680"/>
            <a:ext cx="3017520" cy="493776"/>
          </a:xfrm>
          <a:prstGeom prst="rect">
            <a:avLst/>
          </a:prstGeom>
          <a:solidFill>
            <a:srgbClr val="FFFFFF"/>
          </a:solidFill>
          <a:ln w="12700">
            <a:solidFill>
              <a:srgbClr val="3C2864"/>
            </a:solidFill>
            <a:prstDash val="solid"/>
          </a:ln>
        </p:spPr>
      </p:sp>
      <p:sp>
        <p:nvSpPr>
          <p:cNvPr id="43" name="Text 41"/>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Motivates parallel dispatch — Parallel Dispatch Routing (PDR) extends this with functional-token routing</a:t>
            </a:r>
            <a:endParaRPr lang="en-US" sz="1000" dirty="0"/>
          </a:p>
        </p:txBody>
      </p:sp>
      <p:sp>
        <p:nvSpPr>
          <p:cNvPr id="44" name="Shape 42"/>
          <p:cNvSpPr/>
          <p:nvPr/>
        </p:nvSpPr>
        <p:spPr>
          <a:xfrm>
            <a:off x="274320" y="2505456"/>
            <a:ext cx="2743200" cy="493776"/>
          </a:xfrm>
          <a:prstGeom prst="rect">
            <a:avLst/>
          </a:prstGeom>
          <a:solidFill>
            <a:srgbClr val="E8E2F4"/>
          </a:solidFill>
          <a:ln w="12700">
            <a:solidFill>
              <a:srgbClr val="3C2864"/>
            </a:solidFill>
            <a:prstDash val="solid"/>
          </a:ln>
        </p:spPr>
      </p:sp>
      <p:sp>
        <p:nvSpPr>
          <p:cNvPr id="45" name="Shape 43">
            <a:hlinkClick r:id="rId4" tooltip=""/>
          </p:cNvPr>
          <p:cNvSpPr/>
          <p:nvPr/>
        </p:nvSpPr>
        <p:spPr>
          <a:xfrm>
            <a:off x="301752" y="2532888"/>
            <a:ext cx="2688336" cy="438912"/>
          </a:xfrm>
          <a:prstGeom prst="rect">
            <a:avLst/>
          </a:prstGeom>
          <a:solidFill>
            <a:srgbClr val="FFFFFF">
              <a:alpha val="0"/>
            </a:srgbClr>
          </a:solidFill>
          <a:ln w="12700">
            <a:solidFill>
              <a:srgbClr val="FFFFFF">
                <a:alpha val="0"/>
              </a:srgbClr>
            </a:solidFill>
            <a:prstDash val="solid"/>
          </a:ln>
        </p:spPr>
      </p:sp>
      <p:sp>
        <p:nvSpPr>
          <p:cNvPr id="46" name="Text 44"/>
          <p:cNvSpPr/>
          <p:nvPr/>
        </p:nvSpPr>
        <p:spPr>
          <a:xfrm>
            <a:off x="320040" y="2551176"/>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TensorOpera Router (Stripelis, 2024)</a:t>
            </a:r>
            <a:endParaRPr lang="en-US" sz="1000" dirty="0"/>
          </a:p>
        </p:txBody>
      </p:sp>
      <p:sp>
        <p:nvSpPr>
          <p:cNvPr id="47" name="Shape 45"/>
          <p:cNvSpPr/>
          <p:nvPr/>
        </p:nvSpPr>
        <p:spPr>
          <a:xfrm>
            <a:off x="3063240" y="2505456"/>
            <a:ext cx="1645920" cy="493776"/>
          </a:xfrm>
          <a:prstGeom prst="rect">
            <a:avLst/>
          </a:prstGeom>
          <a:solidFill>
            <a:srgbClr val="E8E2F4"/>
          </a:solidFill>
          <a:ln w="12700">
            <a:solidFill>
              <a:srgbClr val="3C2864"/>
            </a:solidFill>
            <a:prstDash val="solid"/>
          </a:ln>
        </p:spPr>
      </p:sp>
      <p:sp>
        <p:nvSpPr>
          <p:cNvPr id="48" name="Text 46"/>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EMNLP 2024</a:t>
            </a:r>
            <a:endParaRPr lang="en-US" sz="1000" dirty="0"/>
          </a:p>
        </p:txBody>
      </p:sp>
      <p:sp>
        <p:nvSpPr>
          <p:cNvPr id="49" name="Shape 47"/>
          <p:cNvSpPr/>
          <p:nvPr/>
        </p:nvSpPr>
        <p:spPr>
          <a:xfrm>
            <a:off x="4754880" y="2505456"/>
            <a:ext cx="4206240" cy="493776"/>
          </a:xfrm>
          <a:prstGeom prst="rect">
            <a:avLst/>
          </a:prstGeom>
          <a:solidFill>
            <a:srgbClr val="E8E2F4"/>
          </a:solidFill>
          <a:ln w="12700">
            <a:solidFill>
              <a:srgbClr val="3C2864"/>
            </a:solidFill>
            <a:prstDash val="solid"/>
          </a:ln>
        </p:spPr>
      </p:sp>
      <p:sp>
        <p:nvSpPr>
          <p:cNvPr id="50" name="Text 48"/>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Multi-model router with hardware-aware scheduling</a:t>
            </a:r>
            <a:endParaRPr lang="en-US" sz="1000" dirty="0"/>
          </a:p>
        </p:txBody>
      </p:sp>
      <p:sp>
        <p:nvSpPr>
          <p:cNvPr id="51" name="Shape 49"/>
          <p:cNvSpPr/>
          <p:nvPr/>
        </p:nvSpPr>
        <p:spPr>
          <a:xfrm>
            <a:off x="9006840" y="2505456"/>
            <a:ext cx="3017520" cy="493776"/>
          </a:xfrm>
          <a:prstGeom prst="rect">
            <a:avLst/>
          </a:prstGeom>
          <a:solidFill>
            <a:srgbClr val="E8E2F4"/>
          </a:solidFill>
          <a:ln w="12700">
            <a:solidFill>
              <a:srgbClr val="3C2864"/>
            </a:solidFill>
            <a:prstDash val="solid"/>
          </a:ln>
        </p:spPr>
      </p:sp>
      <p:sp>
        <p:nvSpPr>
          <p:cNvPr id="52" name="Text 50"/>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Infrastructure context for Context-Driven Routing (CDR) deliberation scoring</a:t>
            </a:r>
            <a:endParaRPr lang="en-US" sz="1000" dirty="0"/>
          </a:p>
        </p:txBody>
      </p:sp>
      <p:sp>
        <p:nvSpPr>
          <p:cNvPr id="53" name="Shape 51"/>
          <p:cNvSpPr/>
          <p:nvPr/>
        </p:nvSpPr>
        <p:spPr>
          <a:xfrm>
            <a:off x="274320" y="2999232"/>
            <a:ext cx="2743200" cy="493776"/>
          </a:xfrm>
          <a:prstGeom prst="rect">
            <a:avLst/>
          </a:prstGeom>
          <a:solidFill>
            <a:srgbClr val="FFFFFF"/>
          </a:solidFill>
          <a:ln w="12700">
            <a:solidFill>
              <a:srgbClr val="3C2864"/>
            </a:solidFill>
            <a:prstDash val="solid"/>
          </a:ln>
        </p:spPr>
      </p:sp>
      <p:sp>
        <p:nvSpPr>
          <p:cNvPr id="54" name="Shape 52">
            <a:hlinkClick r:id="rId5" tooltip=""/>
          </p:cNvPr>
          <p:cNvSpPr/>
          <p:nvPr/>
        </p:nvSpPr>
        <p:spPr>
          <a:xfrm>
            <a:off x="301752" y="3026664"/>
            <a:ext cx="2688336" cy="438912"/>
          </a:xfrm>
          <a:prstGeom prst="rect">
            <a:avLst/>
          </a:prstGeom>
          <a:solidFill>
            <a:srgbClr val="FFFFFF">
              <a:alpha val="0"/>
            </a:srgbClr>
          </a:solidFill>
          <a:ln w="12700">
            <a:solidFill>
              <a:srgbClr val="FFFFFF">
                <a:alpha val="0"/>
              </a:srgbClr>
            </a:solidFill>
            <a:prstDash val="solid"/>
          </a:ln>
        </p:spPr>
      </p:sp>
      <p:sp>
        <p:nvSpPr>
          <p:cNvPr id="55" name="Text 53"/>
          <p:cNvSpPr/>
          <p:nvPr/>
        </p:nvSpPr>
        <p:spPr>
          <a:xfrm>
            <a:off x="320040" y="3044952"/>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RouterDC (Chen et al., 2024)</a:t>
            </a:r>
            <a:endParaRPr lang="en-US" sz="1000" dirty="0"/>
          </a:p>
        </p:txBody>
      </p:sp>
      <p:sp>
        <p:nvSpPr>
          <p:cNvPr id="56" name="Shape 54"/>
          <p:cNvSpPr/>
          <p:nvPr/>
        </p:nvSpPr>
        <p:spPr>
          <a:xfrm>
            <a:off x="3063240" y="2999232"/>
            <a:ext cx="1645920" cy="493776"/>
          </a:xfrm>
          <a:prstGeom prst="rect">
            <a:avLst/>
          </a:prstGeom>
          <a:solidFill>
            <a:srgbClr val="FFFFFF"/>
          </a:solidFill>
          <a:ln w="12700">
            <a:solidFill>
              <a:srgbClr val="3C2864"/>
            </a:solidFill>
            <a:prstDash val="solid"/>
          </a:ln>
        </p:spPr>
      </p:sp>
      <p:sp>
        <p:nvSpPr>
          <p:cNvPr id="57" name="Text 55"/>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8" name="Shape 56"/>
          <p:cNvSpPr/>
          <p:nvPr/>
        </p:nvSpPr>
        <p:spPr>
          <a:xfrm>
            <a:off x="4754880" y="2999232"/>
            <a:ext cx="4206240" cy="493776"/>
          </a:xfrm>
          <a:prstGeom prst="rect">
            <a:avLst/>
          </a:prstGeom>
          <a:solidFill>
            <a:srgbClr val="FFFFFF"/>
          </a:solidFill>
          <a:ln w="12700">
            <a:solidFill>
              <a:srgbClr val="3C2864"/>
            </a:solidFill>
            <a:prstDash val="solid"/>
          </a:ln>
        </p:spPr>
      </p:sp>
      <p:sp>
        <p:nvSpPr>
          <p:cNvPr id="59" name="Text 57"/>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Dual contrastive learning for query-based routing</a:t>
            </a:r>
            <a:endParaRPr lang="en-US" sz="1000" dirty="0"/>
          </a:p>
        </p:txBody>
      </p:sp>
      <p:sp>
        <p:nvSpPr>
          <p:cNvPr id="60" name="Shape 58"/>
          <p:cNvSpPr/>
          <p:nvPr/>
        </p:nvSpPr>
        <p:spPr>
          <a:xfrm>
            <a:off x="9006840" y="2999232"/>
            <a:ext cx="3017520" cy="493776"/>
          </a:xfrm>
          <a:prstGeom prst="rect">
            <a:avLst/>
          </a:prstGeom>
          <a:solidFill>
            <a:srgbClr val="FFFFFF"/>
          </a:solidFill>
          <a:ln w="12700">
            <a:solidFill>
              <a:srgbClr val="3C2864"/>
            </a:solidFill>
            <a:prstDash val="solid"/>
          </a:ln>
        </p:spPr>
      </p:sp>
      <p:sp>
        <p:nvSpPr>
          <p:cNvPr id="61" name="Text 59"/>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Contrastive objective comparable to CDR quality scoring</a:t>
            </a:r>
            <a:endParaRPr lang="en-US" sz="1000" dirty="0"/>
          </a:p>
        </p:txBody>
      </p:sp>
      <p:sp>
        <p:nvSpPr>
          <p:cNvPr id="62" name="Shape 60"/>
          <p:cNvSpPr/>
          <p:nvPr/>
        </p:nvSpPr>
        <p:spPr>
          <a:xfrm>
            <a:off x="274320" y="3493008"/>
            <a:ext cx="2743200" cy="493776"/>
          </a:xfrm>
          <a:prstGeom prst="rect">
            <a:avLst/>
          </a:prstGeom>
          <a:solidFill>
            <a:srgbClr val="E8E2F4"/>
          </a:solidFill>
          <a:ln w="12700">
            <a:solidFill>
              <a:srgbClr val="3C2864"/>
            </a:solidFill>
            <a:prstDash val="solid"/>
          </a:ln>
        </p:spPr>
      </p:sp>
      <p:sp>
        <p:nvSpPr>
          <p:cNvPr id="63" name="Shape 61">
            <a:hlinkClick r:id="rId6" tooltip=""/>
          </p:cNvPr>
          <p:cNvSpPr/>
          <p:nvPr/>
        </p:nvSpPr>
        <p:spPr>
          <a:xfrm>
            <a:off x="301752" y="3520440"/>
            <a:ext cx="2688336" cy="438912"/>
          </a:xfrm>
          <a:prstGeom prst="rect">
            <a:avLst/>
          </a:prstGeom>
          <a:solidFill>
            <a:srgbClr val="FFFFFF">
              <a:alpha val="0"/>
            </a:srgbClr>
          </a:solidFill>
          <a:ln w="12700">
            <a:solidFill>
              <a:srgbClr val="FFFFFF">
                <a:alpha val="0"/>
              </a:srgbClr>
            </a:solidFill>
            <a:prstDash val="solid"/>
          </a:ln>
        </p:spPr>
      </p:sp>
      <p:sp>
        <p:nvSpPr>
          <p:cNvPr id="64" name="Text 62"/>
          <p:cNvSpPr/>
          <p:nvPr/>
        </p:nvSpPr>
        <p:spPr>
          <a:xfrm>
            <a:off x="320040" y="353872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PickLLM (Sikeridis et al., 2024)</a:t>
            </a:r>
            <a:endParaRPr lang="en-US" sz="1000" dirty="0"/>
          </a:p>
        </p:txBody>
      </p:sp>
      <p:sp>
        <p:nvSpPr>
          <p:cNvPr id="65" name="Shape 63"/>
          <p:cNvSpPr/>
          <p:nvPr/>
        </p:nvSpPr>
        <p:spPr>
          <a:xfrm>
            <a:off x="3063240" y="3493008"/>
            <a:ext cx="1645920" cy="493776"/>
          </a:xfrm>
          <a:prstGeom prst="rect">
            <a:avLst/>
          </a:prstGeom>
          <a:solidFill>
            <a:srgbClr val="E8E2F4"/>
          </a:solidFill>
          <a:ln w="12700">
            <a:solidFill>
              <a:srgbClr val="3C2864"/>
            </a:solidFill>
            <a:prstDash val="solid"/>
          </a:ln>
        </p:spPr>
      </p:sp>
      <p:sp>
        <p:nvSpPr>
          <p:cNvPr id="66" name="Text 64"/>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7" name="Shape 65"/>
          <p:cNvSpPr/>
          <p:nvPr/>
        </p:nvSpPr>
        <p:spPr>
          <a:xfrm>
            <a:off x="4754880" y="3493008"/>
            <a:ext cx="4206240" cy="493776"/>
          </a:xfrm>
          <a:prstGeom prst="rect">
            <a:avLst/>
          </a:prstGeom>
          <a:solidFill>
            <a:srgbClr val="E8E2F4"/>
          </a:solidFill>
          <a:ln w="12700">
            <a:solidFill>
              <a:srgbClr val="3C2864"/>
            </a:solidFill>
            <a:prstDash val="solid"/>
          </a:ln>
        </p:spPr>
      </p:sp>
      <p:sp>
        <p:nvSpPr>
          <p:cNvPr id="68" name="Text 66"/>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Context-aware RL-assisted routing for LLMs</a:t>
            </a:r>
            <a:endParaRPr lang="en-US" sz="1000" dirty="0"/>
          </a:p>
        </p:txBody>
      </p:sp>
      <p:sp>
        <p:nvSpPr>
          <p:cNvPr id="69" name="Shape 67"/>
          <p:cNvSpPr/>
          <p:nvPr/>
        </p:nvSpPr>
        <p:spPr>
          <a:xfrm>
            <a:off x="9006840" y="3493008"/>
            <a:ext cx="3017520" cy="493776"/>
          </a:xfrm>
          <a:prstGeom prst="rect">
            <a:avLst/>
          </a:prstGeom>
          <a:solidFill>
            <a:srgbClr val="E8E2F4"/>
          </a:solidFill>
          <a:ln w="12700">
            <a:solidFill>
              <a:srgbClr val="3C2864"/>
            </a:solidFill>
            <a:prstDash val="solid"/>
          </a:ln>
        </p:spPr>
      </p:sp>
      <p:sp>
        <p:nvSpPr>
          <p:cNvPr id="70" name="Text 68"/>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Closest prior art to APRR; lacks exponential decay + binary session signals</a:t>
            </a:r>
            <a:endParaRPr lang="en-US" sz="1000" dirty="0"/>
          </a:p>
        </p:txBody>
      </p:sp>
      <p:sp>
        <p:nvSpPr>
          <p:cNvPr id="71" name="Shape 69"/>
          <p:cNvSpPr/>
          <p:nvPr/>
        </p:nvSpPr>
        <p:spPr>
          <a:xfrm>
            <a:off x="274320" y="3986784"/>
            <a:ext cx="2743200" cy="493776"/>
          </a:xfrm>
          <a:prstGeom prst="rect">
            <a:avLst/>
          </a:prstGeom>
          <a:solidFill>
            <a:srgbClr val="FFFFFF"/>
          </a:solidFill>
          <a:ln w="12700">
            <a:solidFill>
              <a:srgbClr val="3C2864"/>
            </a:solidFill>
            <a:prstDash val="solid"/>
          </a:ln>
        </p:spPr>
      </p:sp>
      <p:sp>
        <p:nvSpPr>
          <p:cNvPr id="72" name="Shape 70">
            <a:hlinkClick r:id="rId7" tooltip=""/>
          </p:cNvPr>
          <p:cNvSpPr/>
          <p:nvPr/>
        </p:nvSpPr>
        <p:spPr>
          <a:xfrm>
            <a:off x="301752" y="4014216"/>
            <a:ext cx="2688336" cy="438912"/>
          </a:xfrm>
          <a:prstGeom prst="rect">
            <a:avLst/>
          </a:prstGeom>
          <a:solidFill>
            <a:srgbClr val="FFFFFF">
              <a:alpha val="0"/>
            </a:srgbClr>
          </a:solidFill>
          <a:ln w="12700">
            <a:solidFill>
              <a:srgbClr val="FFFFFF">
                <a:alpha val="0"/>
              </a:srgbClr>
            </a:solidFill>
            <a:prstDash val="solid"/>
          </a:ln>
        </p:spPr>
      </p:sp>
      <p:sp>
        <p:nvSpPr>
          <p:cNvPr id="73" name="Text 71"/>
          <p:cNvSpPr/>
          <p:nvPr/>
        </p:nvSpPr>
        <p:spPr>
          <a:xfrm>
            <a:off x="320040" y="403250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GraphRouter (Feng et al., 2024)</a:t>
            </a:r>
            <a:endParaRPr lang="en-US" sz="1000" dirty="0"/>
          </a:p>
        </p:txBody>
      </p:sp>
      <p:sp>
        <p:nvSpPr>
          <p:cNvPr id="74" name="Shape 72"/>
          <p:cNvSpPr/>
          <p:nvPr/>
        </p:nvSpPr>
        <p:spPr>
          <a:xfrm>
            <a:off x="3063240" y="3986784"/>
            <a:ext cx="1645920" cy="493776"/>
          </a:xfrm>
          <a:prstGeom prst="rect">
            <a:avLst/>
          </a:prstGeom>
          <a:solidFill>
            <a:srgbClr val="FFFFFF"/>
          </a:solidFill>
          <a:ln w="12700">
            <a:solidFill>
              <a:srgbClr val="3C2864"/>
            </a:solidFill>
            <a:prstDash val="solid"/>
          </a:ln>
        </p:spPr>
      </p:sp>
      <p:sp>
        <p:nvSpPr>
          <p:cNvPr id="75" name="Text 73"/>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76" name="Shape 74"/>
          <p:cNvSpPr/>
          <p:nvPr/>
        </p:nvSpPr>
        <p:spPr>
          <a:xfrm>
            <a:off x="4754880" y="3986784"/>
            <a:ext cx="4206240" cy="493776"/>
          </a:xfrm>
          <a:prstGeom prst="rect">
            <a:avLst/>
          </a:prstGeom>
          <a:solidFill>
            <a:srgbClr val="FFFFFF"/>
          </a:solidFill>
          <a:ln w="12700">
            <a:solidFill>
              <a:srgbClr val="3C2864"/>
            </a:solidFill>
            <a:prstDash val="solid"/>
          </a:ln>
        </p:spPr>
      </p:sp>
      <p:sp>
        <p:nvSpPr>
          <p:cNvPr id="77" name="Text 75"/>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Graph-based routing with relational reasoning</a:t>
            </a:r>
            <a:endParaRPr lang="en-US" sz="1000" dirty="0"/>
          </a:p>
        </p:txBody>
      </p:sp>
      <p:sp>
        <p:nvSpPr>
          <p:cNvPr id="78" name="Shape 76"/>
          <p:cNvSpPr/>
          <p:nvPr/>
        </p:nvSpPr>
        <p:spPr>
          <a:xfrm>
            <a:off x="9006840" y="3986784"/>
            <a:ext cx="3017520" cy="493776"/>
          </a:xfrm>
          <a:prstGeom prst="rect">
            <a:avLst/>
          </a:prstGeom>
          <a:solidFill>
            <a:srgbClr val="FFFFFF"/>
          </a:solidFill>
          <a:ln w="12700">
            <a:solidFill>
              <a:srgbClr val="3C2864"/>
            </a:solidFill>
            <a:prstDash val="solid"/>
          </a:ln>
        </p:spPr>
      </p:sp>
      <p:sp>
        <p:nvSpPr>
          <p:cNvPr id="79" name="Text 77"/>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 routing vs. CDR chain-of-thought deliberation comparison</a:t>
            </a:r>
            <a:endParaRPr lang="en-US" sz="1000" dirty="0"/>
          </a:p>
        </p:txBody>
      </p:sp>
      <p:sp>
        <p:nvSpPr>
          <p:cNvPr id="80" name="Shape 78"/>
          <p:cNvSpPr/>
          <p:nvPr/>
        </p:nvSpPr>
        <p:spPr>
          <a:xfrm>
            <a:off x="274320" y="4480560"/>
            <a:ext cx="2743200" cy="493776"/>
          </a:xfrm>
          <a:prstGeom prst="rect">
            <a:avLst/>
          </a:prstGeom>
          <a:solidFill>
            <a:srgbClr val="E8E2F4"/>
          </a:solidFill>
          <a:ln w="12700">
            <a:solidFill>
              <a:srgbClr val="3C2864"/>
            </a:solidFill>
            <a:prstDash val="solid"/>
          </a:ln>
        </p:spPr>
      </p:sp>
      <p:sp>
        <p:nvSpPr>
          <p:cNvPr id="81" name="Shape 79">
            <a:hlinkClick r:id="rId8" tooltip=""/>
          </p:cNvPr>
          <p:cNvSpPr/>
          <p:nvPr/>
        </p:nvSpPr>
        <p:spPr>
          <a:xfrm>
            <a:off x="301752" y="4507992"/>
            <a:ext cx="2688336" cy="438912"/>
          </a:xfrm>
          <a:prstGeom prst="rect">
            <a:avLst/>
          </a:prstGeom>
          <a:solidFill>
            <a:srgbClr val="FFFFFF">
              <a:alpha val="0"/>
            </a:srgbClr>
          </a:solidFill>
          <a:ln w="12700">
            <a:solidFill>
              <a:srgbClr val="FFFFFF">
                <a:alpha val="0"/>
              </a:srgbClr>
            </a:solidFill>
            <a:prstDash val="solid"/>
          </a:ln>
        </p:spPr>
      </p:sp>
      <p:sp>
        <p:nvSpPr>
          <p:cNvPr id="82" name="Text 80"/>
          <p:cNvSpPr/>
          <p:nvPr/>
        </p:nvSpPr>
        <p:spPr>
          <a:xfrm>
            <a:off x="320040" y="452628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Eagle (Zhao et al., 2024)</a:t>
            </a:r>
            <a:endParaRPr lang="en-US" sz="1000" dirty="0"/>
          </a:p>
        </p:txBody>
      </p:sp>
      <p:sp>
        <p:nvSpPr>
          <p:cNvPr id="83" name="Shape 81"/>
          <p:cNvSpPr/>
          <p:nvPr/>
        </p:nvSpPr>
        <p:spPr>
          <a:xfrm>
            <a:off x="3063240" y="4480560"/>
            <a:ext cx="1645920" cy="493776"/>
          </a:xfrm>
          <a:prstGeom prst="rect">
            <a:avLst/>
          </a:prstGeom>
          <a:solidFill>
            <a:srgbClr val="E8E2F4"/>
          </a:solidFill>
          <a:ln w="12700">
            <a:solidFill>
              <a:srgbClr val="3C2864"/>
            </a:solidFill>
            <a:prstDash val="solid"/>
          </a:ln>
        </p:spPr>
      </p:sp>
      <p:sp>
        <p:nvSpPr>
          <p:cNvPr id="84" name="Text 82"/>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85" name="Shape 83"/>
          <p:cNvSpPr/>
          <p:nvPr/>
        </p:nvSpPr>
        <p:spPr>
          <a:xfrm>
            <a:off x="4754880" y="4480560"/>
            <a:ext cx="4206240" cy="493776"/>
          </a:xfrm>
          <a:prstGeom prst="rect">
            <a:avLst/>
          </a:prstGeom>
          <a:solidFill>
            <a:srgbClr val="E8E2F4"/>
          </a:solidFill>
          <a:ln w="12700">
            <a:solidFill>
              <a:srgbClr val="3C2864"/>
            </a:solidFill>
            <a:prstDash val="solid"/>
          </a:ln>
        </p:spPr>
      </p:sp>
      <p:sp>
        <p:nvSpPr>
          <p:cNvPr id="86" name="Text 84"/>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multi-LLM router via capability matching</a:t>
            </a:r>
            <a:endParaRPr lang="en-US" sz="1000" dirty="0"/>
          </a:p>
        </p:txBody>
      </p:sp>
      <p:sp>
        <p:nvSpPr>
          <p:cNvPr id="87" name="Shape 85"/>
          <p:cNvSpPr/>
          <p:nvPr/>
        </p:nvSpPr>
        <p:spPr>
          <a:xfrm>
            <a:off x="9006840" y="4480560"/>
            <a:ext cx="3017520" cy="493776"/>
          </a:xfrm>
          <a:prstGeom prst="rect">
            <a:avLst/>
          </a:prstGeom>
          <a:solidFill>
            <a:srgbClr val="E8E2F4"/>
          </a:solidFill>
          <a:ln w="12700">
            <a:solidFill>
              <a:srgbClr val="3C2864"/>
            </a:solidFill>
            <a:prstDash val="solid"/>
          </a:ln>
        </p:spPr>
      </p:sp>
      <p:sp>
        <p:nvSpPr>
          <p:cNvPr id="88" name="Text 86"/>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baseline; APRR+CDR+PDR surpasses with online RL</a:t>
            </a:r>
            <a:endParaRPr lang="en-US" sz="1000" dirty="0"/>
          </a:p>
        </p:txBody>
      </p:sp>
      <p:sp>
        <p:nvSpPr>
          <p:cNvPr id="89" name="Shape 87"/>
          <p:cNvSpPr/>
          <p:nvPr/>
        </p:nvSpPr>
        <p:spPr>
          <a:xfrm>
            <a:off x="274320" y="5010912"/>
            <a:ext cx="11640312" cy="658368"/>
          </a:xfrm>
          <a:prstGeom prst="rect">
            <a:avLst/>
          </a:prstGeom>
          <a:solidFill>
            <a:srgbClr val="3C2864"/>
          </a:solidFill>
          <a:ln w="12700">
            <a:solidFill>
              <a:srgbClr val="3C2864"/>
            </a:solidFill>
            <a:prstDash val="solid"/>
          </a:ln>
        </p:spPr>
      </p:sp>
      <p:sp>
        <p:nvSpPr>
          <p:cNvPr id="90" name="Text 88"/>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All routing systems use offline-trained fixed policies. MISSING: Online RL weight matrix with live binary session signals + exponential decay. → APRR+CDR+PDR fills this gap.</a:t>
            </a:r>
            <a:endParaRPr lang="en-US" sz="1300" dirty="0"/>
          </a:p>
        </p:txBody>
      </p:sp>
      <p:sp>
        <p:nvSpPr>
          <p:cNvPr id="91" name="Text 89"/>
          <p:cNvSpPr/>
          <p:nvPr/>
        </p:nvSpPr>
        <p:spPr>
          <a:xfrm>
            <a:off x="274320" y="5742432"/>
            <a:ext cx="11640312" cy="164592"/>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00" b="1" u="sng" dirty="0">
                <a:solidFill>
                  <a:srgbClr val="1565C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 Drive Folder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3: Decentralised Multi-Agent Coordination &amp; Fault Tolerance (Motivates Obj 3 — MNCD)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3</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Shape 16">
            <a:hlinkClick r:id="rId1" tooltip=""/>
          </p:cNvPr>
          <p:cNvSpPr/>
          <p:nvPr/>
        </p:nvSpPr>
        <p:spPr>
          <a:xfrm>
            <a:off x="301752" y="1051560"/>
            <a:ext cx="2688336" cy="438912"/>
          </a:xfrm>
          <a:prstGeom prst="rect">
            <a:avLst/>
          </a:prstGeom>
          <a:solidFill>
            <a:srgbClr val="FFFFFF">
              <a:alpha val="0"/>
            </a:srgbClr>
          </a:solidFill>
          <a:ln w="12700">
            <a:solidFill>
              <a:srgbClr val="FFFFFF">
                <a:alpha val="0"/>
              </a:srgbClr>
            </a:solidFill>
            <a:prstDash val="solid"/>
          </a:ln>
        </p:spPr>
      </p:sp>
      <p:sp>
        <p:nvSpPr>
          <p:cNvPr id="19" name="Text 17"/>
          <p:cNvSpPr/>
          <p:nvPr/>
        </p:nvSpPr>
        <p:spPr>
          <a:xfrm>
            <a:off x="320040" y="106984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AgentNet (Yang et al., 2025)</a:t>
            </a:r>
            <a:endParaRPr lang="en-US" sz="1000" dirty="0"/>
          </a:p>
        </p:txBody>
      </p:sp>
      <p:sp>
        <p:nvSpPr>
          <p:cNvPr id="20" name="Shape 18"/>
          <p:cNvSpPr/>
          <p:nvPr/>
        </p:nvSpPr>
        <p:spPr>
          <a:xfrm>
            <a:off x="3063240" y="1024128"/>
            <a:ext cx="1645920" cy="493776"/>
          </a:xfrm>
          <a:prstGeom prst="rect">
            <a:avLst/>
          </a:prstGeom>
          <a:solidFill>
            <a:srgbClr val="FFFFFF"/>
          </a:solidFill>
          <a:ln w="12700">
            <a:solidFill>
              <a:srgbClr val="3C2864"/>
            </a:solidFill>
            <a:prstDash val="solid"/>
          </a:ln>
        </p:spPr>
      </p:sp>
      <p:sp>
        <p:nvSpPr>
          <p:cNvPr id="21" name="Text 19"/>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2" name="Shape 20"/>
          <p:cNvSpPr/>
          <p:nvPr/>
        </p:nvSpPr>
        <p:spPr>
          <a:xfrm>
            <a:off x="4754880" y="1024128"/>
            <a:ext cx="4206240" cy="493776"/>
          </a:xfrm>
          <a:prstGeom prst="rect">
            <a:avLst/>
          </a:prstGeom>
          <a:solidFill>
            <a:srgbClr val="FFFFFF"/>
          </a:solidFill>
          <a:ln w="12700">
            <a:solidFill>
              <a:srgbClr val="3C2864"/>
            </a:solidFill>
            <a:prstDash val="solid"/>
          </a:ln>
        </p:spPr>
      </p:sp>
      <p:sp>
        <p:nvSpPr>
          <p:cNvPr id="23" name="Text 21"/>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evolutionary coordination for LLM agents; emergent specialisation</a:t>
            </a:r>
            <a:endParaRPr lang="en-US" sz="1000" dirty="0"/>
          </a:p>
        </p:txBody>
      </p:sp>
      <p:sp>
        <p:nvSpPr>
          <p:cNvPr id="24" name="Shape 22"/>
          <p:cNvSpPr/>
          <p:nvPr/>
        </p:nvSpPr>
        <p:spPr>
          <a:xfrm>
            <a:off x="9006840" y="1024128"/>
            <a:ext cx="3017520" cy="493776"/>
          </a:xfrm>
          <a:prstGeom prst="rect">
            <a:avLst/>
          </a:prstGeom>
          <a:solidFill>
            <a:srgbClr val="FFFFFF"/>
          </a:solidFill>
          <a:ln w="12700">
            <a:solidFill>
              <a:srgbClr val="3C2864"/>
            </a:solidFill>
            <a:prstDash val="solid"/>
          </a:ln>
        </p:spPr>
      </p:sp>
      <p:sp>
        <p:nvSpPr>
          <p:cNvPr id="25" name="Text 23"/>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Decentralisation model for MNCD node topology</a:t>
            </a:r>
            <a:endParaRPr lang="en-US" sz="1000" dirty="0"/>
          </a:p>
        </p:txBody>
      </p:sp>
      <p:sp>
        <p:nvSpPr>
          <p:cNvPr id="26" name="Shape 24"/>
          <p:cNvSpPr/>
          <p:nvPr/>
        </p:nvSpPr>
        <p:spPr>
          <a:xfrm>
            <a:off x="274320" y="1517904"/>
            <a:ext cx="2743200" cy="493776"/>
          </a:xfrm>
          <a:prstGeom prst="rect">
            <a:avLst/>
          </a:prstGeom>
          <a:solidFill>
            <a:srgbClr val="E8E2F4"/>
          </a:solidFill>
          <a:ln w="12700">
            <a:solidFill>
              <a:srgbClr val="3C2864"/>
            </a:solidFill>
            <a:prstDash val="solid"/>
          </a:ln>
        </p:spPr>
      </p:sp>
      <p:sp>
        <p:nvSpPr>
          <p:cNvPr id="27" name="Shape 25">
            <a:hlinkClick r:id="rId2" tooltip=""/>
          </p:cNvPr>
          <p:cNvSpPr/>
          <p:nvPr/>
        </p:nvSpPr>
        <p:spPr>
          <a:xfrm>
            <a:off x="301752" y="1545336"/>
            <a:ext cx="2688336" cy="438912"/>
          </a:xfrm>
          <a:prstGeom prst="rect">
            <a:avLst/>
          </a:prstGeom>
          <a:solidFill>
            <a:srgbClr val="FFFFFF">
              <a:alpha val="0"/>
            </a:srgbClr>
          </a:solidFill>
          <a:ln w="12700">
            <a:solidFill>
              <a:srgbClr val="FFFFFF">
                <a:alpha val="0"/>
              </a:srgbClr>
            </a:solidFill>
            <a:prstDash val="solid"/>
          </a:ln>
        </p:spPr>
      </p:sp>
      <p:sp>
        <p:nvSpPr>
          <p:cNvPr id="28" name="Text 26"/>
          <p:cNvSpPr/>
          <p:nvPr/>
        </p:nvSpPr>
        <p:spPr>
          <a:xfrm>
            <a:off x="320040" y="156362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MAS Reliability (Zheng et al., 2025)</a:t>
            </a:r>
            <a:endParaRPr lang="en-US" sz="1000" dirty="0"/>
          </a:p>
        </p:txBody>
      </p:sp>
      <p:sp>
        <p:nvSpPr>
          <p:cNvPr id="29" name="Shape 27"/>
          <p:cNvSpPr/>
          <p:nvPr/>
        </p:nvSpPr>
        <p:spPr>
          <a:xfrm>
            <a:off x="3063240" y="1517904"/>
            <a:ext cx="1645920" cy="493776"/>
          </a:xfrm>
          <a:prstGeom prst="rect">
            <a:avLst/>
          </a:prstGeom>
          <a:solidFill>
            <a:srgbClr val="E8E2F4"/>
          </a:solidFill>
          <a:ln w="12700">
            <a:solidFill>
              <a:srgbClr val="3C2864"/>
            </a:solidFill>
            <a:prstDash val="solid"/>
          </a:ln>
        </p:spPr>
      </p:sp>
      <p:sp>
        <p:nvSpPr>
          <p:cNvPr id="30" name="Text 28"/>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31" name="Shape 29"/>
          <p:cNvSpPr/>
          <p:nvPr/>
        </p:nvSpPr>
        <p:spPr>
          <a:xfrm>
            <a:off x="4754880" y="1517904"/>
            <a:ext cx="4206240" cy="493776"/>
          </a:xfrm>
          <a:prstGeom prst="rect">
            <a:avLst/>
          </a:prstGeom>
          <a:solidFill>
            <a:srgbClr val="E8E2F4"/>
          </a:solidFill>
          <a:ln w="12700">
            <a:solidFill>
              <a:srgbClr val="3C2864"/>
            </a:solidFill>
            <a:prstDash val="solid"/>
          </a:ln>
        </p:spPr>
      </p:sp>
      <p:sp>
        <p:nvSpPr>
          <p:cNvPr id="32" name="Text 30"/>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Byzantine fault perspective on multi-agent reliability</a:t>
            </a:r>
            <a:endParaRPr lang="en-US" sz="1000" dirty="0"/>
          </a:p>
        </p:txBody>
      </p:sp>
      <p:sp>
        <p:nvSpPr>
          <p:cNvPr id="33" name="Shape 31"/>
          <p:cNvSpPr/>
          <p:nvPr/>
        </p:nvSpPr>
        <p:spPr>
          <a:xfrm>
            <a:off x="9006840" y="1517904"/>
            <a:ext cx="3017520" cy="493776"/>
          </a:xfrm>
          <a:prstGeom prst="rect">
            <a:avLst/>
          </a:prstGeom>
          <a:solidFill>
            <a:srgbClr val="E8E2F4"/>
          </a:solidFill>
          <a:ln w="12700">
            <a:solidFill>
              <a:srgbClr val="3C2864"/>
            </a:solidFill>
            <a:prstDash val="solid"/>
          </a:ln>
        </p:spPr>
      </p:sp>
      <p:sp>
        <p:nvSpPr>
          <p:cNvPr id="34" name="Text 32"/>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model validation for MNCD 2-of-5 failure scenario</a:t>
            </a:r>
            <a:endParaRPr lang="en-US" sz="1000" dirty="0"/>
          </a:p>
        </p:txBody>
      </p:sp>
      <p:sp>
        <p:nvSpPr>
          <p:cNvPr id="35" name="Shape 33"/>
          <p:cNvSpPr/>
          <p:nvPr/>
        </p:nvSpPr>
        <p:spPr>
          <a:xfrm>
            <a:off x="274320" y="2011680"/>
            <a:ext cx="2743200" cy="493776"/>
          </a:xfrm>
          <a:prstGeom prst="rect">
            <a:avLst/>
          </a:prstGeom>
          <a:solidFill>
            <a:srgbClr val="FFFFFF"/>
          </a:solidFill>
          <a:ln w="12700">
            <a:solidFill>
              <a:srgbClr val="3C2864"/>
            </a:solidFill>
            <a:prstDash val="solid"/>
          </a:ln>
        </p:spPr>
      </p:sp>
      <p:sp>
        <p:nvSpPr>
          <p:cNvPr id="36" name="Shape 34">
            <a:hlinkClick r:id="rId3" tooltip=""/>
          </p:cNvPr>
          <p:cNvSpPr/>
          <p:nvPr/>
        </p:nvSpPr>
        <p:spPr>
          <a:xfrm>
            <a:off x="301752" y="2039112"/>
            <a:ext cx="2688336" cy="438912"/>
          </a:xfrm>
          <a:prstGeom prst="rect">
            <a:avLst/>
          </a:prstGeom>
          <a:solidFill>
            <a:srgbClr val="FFFFFF">
              <a:alpha val="0"/>
            </a:srgbClr>
          </a:solidFill>
          <a:ln w="12700">
            <a:solidFill>
              <a:srgbClr val="FFFFFF">
                <a:alpha val="0"/>
              </a:srgbClr>
            </a:solidFill>
            <a:prstDash val="solid"/>
          </a:ln>
        </p:spPr>
      </p:sp>
      <p:sp>
        <p:nvSpPr>
          <p:cNvPr id="37" name="Text 35"/>
          <p:cNvSpPr/>
          <p:nvPr/>
        </p:nvSpPr>
        <p:spPr>
          <a:xfrm>
            <a:off x="320040" y="205740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MAS-FIRE (Jia et al., 2026)</a:t>
            </a:r>
            <a:endParaRPr lang="en-US" sz="1000" dirty="0"/>
          </a:p>
        </p:txBody>
      </p:sp>
      <p:sp>
        <p:nvSpPr>
          <p:cNvPr id="38" name="Shape 36"/>
          <p:cNvSpPr/>
          <p:nvPr/>
        </p:nvSpPr>
        <p:spPr>
          <a:xfrm>
            <a:off x="3063240" y="2011680"/>
            <a:ext cx="1645920" cy="493776"/>
          </a:xfrm>
          <a:prstGeom prst="rect">
            <a:avLst/>
          </a:prstGeom>
          <a:solidFill>
            <a:srgbClr val="FFFFFF"/>
          </a:solidFill>
          <a:ln w="12700">
            <a:solidFill>
              <a:srgbClr val="3C2864"/>
            </a:solidFill>
            <a:prstDash val="solid"/>
          </a:ln>
        </p:spPr>
      </p:sp>
      <p:sp>
        <p:nvSpPr>
          <p:cNvPr id="39" name="Text 37"/>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cs.SE</a:t>
            </a:r>
            <a:endParaRPr lang="en-US" sz="1000" dirty="0"/>
          </a:p>
        </p:txBody>
      </p:sp>
      <p:sp>
        <p:nvSpPr>
          <p:cNvPr id="40" name="Shape 38"/>
          <p:cNvSpPr/>
          <p:nvPr/>
        </p:nvSpPr>
        <p:spPr>
          <a:xfrm>
            <a:off x="4754880" y="2011680"/>
            <a:ext cx="4206240" cy="493776"/>
          </a:xfrm>
          <a:prstGeom prst="rect">
            <a:avLst/>
          </a:prstGeom>
          <a:solidFill>
            <a:srgbClr val="FFFFFF"/>
          </a:solidFill>
          <a:ln w="12700">
            <a:solidFill>
              <a:srgbClr val="3C2864"/>
            </a:solidFill>
            <a:prstDash val="solid"/>
          </a:ln>
        </p:spPr>
      </p:sp>
      <p:sp>
        <p:nvSpPr>
          <p:cNvPr id="41" name="Text 39"/>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injection &amp; reliability evaluation for LLM multi-agent systems</a:t>
            </a:r>
            <a:endParaRPr lang="en-US" sz="1000" dirty="0"/>
          </a:p>
        </p:txBody>
      </p:sp>
      <p:sp>
        <p:nvSpPr>
          <p:cNvPr id="42" name="Shape 40"/>
          <p:cNvSpPr/>
          <p:nvPr/>
        </p:nvSpPr>
        <p:spPr>
          <a:xfrm>
            <a:off x="9006840" y="2011680"/>
            <a:ext cx="3017520" cy="493776"/>
          </a:xfrm>
          <a:prstGeom prst="rect">
            <a:avLst/>
          </a:prstGeom>
          <a:solidFill>
            <a:srgbClr val="FFFFFF"/>
          </a:solidFill>
          <a:ln w="12700">
            <a:solidFill>
              <a:srgbClr val="3C2864"/>
            </a:solidFill>
            <a:prstDash val="solid"/>
          </a:ln>
        </p:spPr>
      </p:sp>
      <p:sp>
        <p:nvSpPr>
          <p:cNvPr id="43" name="Text 41"/>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Evaluation framework for MNCD fault-tolerance benchmarking</a:t>
            </a:r>
            <a:endParaRPr lang="en-US" sz="1000" dirty="0"/>
          </a:p>
        </p:txBody>
      </p:sp>
      <p:sp>
        <p:nvSpPr>
          <p:cNvPr id="44" name="Shape 42"/>
          <p:cNvSpPr/>
          <p:nvPr/>
        </p:nvSpPr>
        <p:spPr>
          <a:xfrm>
            <a:off x="274320" y="2505456"/>
            <a:ext cx="2743200" cy="493776"/>
          </a:xfrm>
          <a:prstGeom prst="rect">
            <a:avLst/>
          </a:prstGeom>
          <a:solidFill>
            <a:srgbClr val="E8E2F4"/>
          </a:solidFill>
          <a:ln w="12700">
            <a:solidFill>
              <a:srgbClr val="3C2864"/>
            </a:solidFill>
            <a:prstDash val="solid"/>
          </a:ln>
        </p:spPr>
      </p:sp>
      <p:sp>
        <p:nvSpPr>
          <p:cNvPr id="45" name="Shape 43">
            <a:hlinkClick r:id="rId4" tooltip=""/>
          </p:cNvPr>
          <p:cNvSpPr/>
          <p:nvPr/>
        </p:nvSpPr>
        <p:spPr>
          <a:xfrm>
            <a:off x="301752" y="2532888"/>
            <a:ext cx="2688336" cy="438912"/>
          </a:xfrm>
          <a:prstGeom prst="rect">
            <a:avLst/>
          </a:prstGeom>
          <a:solidFill>
            <a:srgbClr val="FFFFFF">
              <a:alpha val="0"/>
            </a:srgbClr>
          </a:solidFill>
          <a:ln w="12700">
            <a:solidFill>
              <a:srgbClr val="FFFFFF">
                <a:alpha val="0"/>
              </a:srgbClr>
            </a:solidFill>
            <a:prstDash val="solid"/>
          </a:ln>
        </p:spPr>
      </p:sp>
      <p:sp>
        <p:nvSpPr>
          <p:cNvPr id="46" name="Text 44"/>
          <p:cNvSpPr/>
          <p:nvPr/>
        </p:nvSpPr>
        <p:spPr>
          <a:xfrm>
            <a:off x="320040" y="2551176"/>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MorphAgent (Lu et al., 2024)</a:t>
            </a:r>
            <a:endParaRPr lang="en-US" sz="1000" dirty="0"/>
          </a:p>
        </p:txBody>
      </p:sp>
      <p:sp>
        <p:nvSpPr>
          <p:cNvPr id="47" name="Shape 45"/>
          <p:cNvSpPr/>
          <p:nvPr/>
        </p:nvSpPr>
        <p:spPr>
          <a:xfrm>
            <a:off x="3063240" y="2505456"/>
            <a:ext cx="1645920" cy="493776"/>
          </a:xfrm>
          <a:prstGeom prst="rect">
            <a:avLst/>
          </a:prstGeom>
          <a:solidFill>
            <a:srgbClr val="E8E2F4"/>
          </a:solidFill>
          <a:ln w="12700">
            <a:solidFill>
              <a:srgbClr val="3C2864"/>
            </a:solidFill>
            <a:prstDash val="solid"/>
          </a:ln>
        </p:spPr>
      </p:sp>
      <p:sp>
        <p:nvSpPr>
          <p:cNvPr id="48" name="Text 46"/>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cs.AI</a:t>
            </a:r>
            <a:endParaRPr lang="en-US" sz="1000" dirty="0"/>
          </a:p>
        </p:txBody>
      </p:sp>
      <p:sp>
        <p:nvSpPr>
          <p:cNvPr id="49" name="Shape 47"/>
          <p:cNvSpPr/>
          <p:nvPr/>
        </p:nvSpPr>
        <p:spPr>
          <a:xfrm>
            <a:off x="4754880" y="2505456"/>
            <a:ext cx="4206240" cy="493776"/>
          </a:xfrm>
          <a:prstGeom prst="rect">
            <a:avLst/>
          </a:prstGeom>
          <a:solidFill>
            <a:srgbClr val="E8E2F4"/>
          </a:solidFill>
          <a:ln w="12700">
            <a:solidFill>
              <a:srgbClr val="3C2864"/>
            </a:solidFill>
            <a:prstDash val="solid"/>
          </a:ln>
        </p:spPr>
      </p:sp>
      <p:sp>
        <p:nvSpPr>
          <p:cNvPr id="50" name="Text 48"/>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Self-evolving agent profiles with decentralised memory</a:t>
            </a:r>
            <a:endParaRPr lang="en-US" sz="1000" dirty="0"/>
          </a:p>
        </p:txBody>
      </p:sp>
      <p:sp>
        <p:nvSpPr>
          <p:cNvPr id="51" name="Shape 49"/>
          <p:cNvSpPr/>
          <p:nvPr/>
        </p:nvSpPr>
        <p:spPr>
          <a:xfrm>
            <a:off x="9006840" y="2505456"/>
            <a:ext cx="3017520" cy="493776"/>
          </a:xfrm>
          <a:prstGeom prst="rect">
            <a:avLst/>
          </a:prstGeom>
          <a:solidFill>
            <a:srgbClr val="E8E2F4"/>
          </a:solidFill>
          <a:ln w="12700">
            <a:solidFill>
              <a:srgbClr val="3C2864"/>
            </a:solidFill>
            <a:prstDash val="solid"/>
          </a:ln>
        </p:spPr>
      </p:sp>
      <p:sp>
        <p:nvSpPr>
          <p:cNvPr id="52" name="Text 50"/>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profile store analogous to MNCD context nodes</a:t>
            </a:r>
            <a:endParaRPr lang="en-US" sz="1000" dirty="0"/>
          </a:p>
        </p:txBody>
      </p:sp>
      <p:sp>
        <p:nvSpPr>
          <p:cNvPr id="53" name="Shape 51"/>
          <p:cNvSpPr/>
          <p:nvPr/>
        </p:nvSpPr>
        <p:spPr>
          <a:xfrm>
            <a:off x="274320" y="2999232"/>
            <a:ext cx="2743200" cy="493776"/>
          </a:xfrm>
          <a:prstGeom prst="rect">
            <a:avLst/>
          </a:prstGeom>
          <a:solidFill>
            <a:srgbClr val="FFFFFF"/>
          </a:solidFill>
          <a:ln w="12700">
            <a:solidFill>
              <a:srgbClr val="3C2864"/>
            </a:solidFill>
            <a:prstDash val="solid"/>
          </a:ln>
        </p:spPr>
      </p:sp>
      <p:sp>
        <p:nvSpPr>
          <p:cNvPr id="54" name="Shape 52">
            <a:hlinkClick r:id="rId5" tooltip=""/>
          </p:cNvPr>
          <p:cNvSpPr/>
          <p:nvPr/>
        </p:nvSpPr>
        <p:spPr>
          <a:xfrm>
            <a:off x="301752" y="3026664"/>
            <a:ext cx="2688336" cy="438912"/>
          </a:xfrm>
          <a:prstGeom prst="rect">
            <a:avLst/>
          </a:prstGeom>
          <a:solidFill>
            <a:srgbClr val="FFFFFF">
              <a:alpha val="0"/>
            </a:srgbClr>
          </a:solidFill>
          <a:ln w="12700">
            <a:solidFill>
              <a:srgbClr val="FFFFFF">
                <a:alpha val="0"/>
              </a:srgbClr>
            </a:solidFill>
            <a:prstDash val="solid"/>
          </a:ln>
        </p:spPr>
      </p:sp>
      <p:sp>
        <p:nvSpPr>
          <p:cNvPr id="55" name="Text 53"/>
          <p:cNvSpPr/>
          <p:nvPr/>
        </p:nvSpPr>
        <p:spPr>
          <a:xfrm>
            <a:off x="320040" y="3044952"/>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LLM Multi-Agent Survey (Han et al., 2024)</a:t>
            </a:r>
            <a:endParaRPr lang="en-US" sz="1000" dirty="0"/>
          </a:p>
        </p:txBody>
      </p:sp>
      <p:sp>
        <p:nvSpPr>
          <p:cNvPr id="56" name="Shape 54"/>
          <p:cNvSpPr/>
          <p:nvPr/>
        </p:nvSpPr>
        <p:spPr>
          <a:xfrm>
            <a:off x="3063240" y="2999232"/>
            <a:ext cx="1645920" cy="493776"/>
          </a:xfrm>
          <a:prstGeom prst="rect">
            <a:avLst/>
          </a:prstGeom>
          <a:solidFill>
            <a:srgbClr val="FFFFFF"/>
          </a:solidFill>
          <a:ln w="12700">
            <a:solidFill>
              <a:srgbClr val="3C2864"/>
            </a:solidFill>
            <a:prstDash val="solid"/>
          </a:ln>
        </p:spPr>
      </p:sp>
      <p:sp>
        <p:nvSpPr>
          <p:cNvPr id="57" name="Text 55"/>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arXiv:2402.01680</a:t>
            </a:r>
            <a:endParaRPr lang="en-US" sz="1000" dirty="0"/>
          </a:p>
        </p:txBody>
      </p:sp>
      <p:sp>
        <p:nvSpPr>
          <p:cNvPr id="58" name="Shape 56"/>
          <p:cNvSpPr/>
          <p:nvPr/>
        </p:nvSpPr>
        <p:spPr>
          <a:xfrm>
            <a:off x="4754880" y="2999232"/>
            <a:ext cx="4206240" cy="493776"/>
          </a:xfrm>
          <a:prstGeom prst="rect">
            <a:avLst/>
          </a:prstGeom>
          <a:solidFill>
            <a:srgbClr val="FFFFFF"/>
          </a:solidFill>
          <a:ln w="12700">
            <a:solidFill>
              <a:srgbClr val="3C2864"/>
            </a:solidFill>
            <a:prstDash val="solid"/>
          </a:ln>
        </p:spPr>
      </p:sp>
      <p:sp>
        <p:nvSpPr>
          <p:cNvPr id="59" name="Text 57"/>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Open problems: fault tolerance, context sharing, coordination protocols</a:t>
            </a:r>
            <a:endParaRPr lang="en-US" sz="1000" dirty="0"/>
          </a:p>
        </p:txBody>
      </p:sp>
      <p:sp>
        <p:nvSpPr>
          <p:cNvPr id="60" name="Shape 58"/>
          <p:cNvSpPr/>
          <p:nvPr/>
        </p:nvSpPr>
        <p:spPr>
          <a:xfrm>
            <a:off x="9006840" y="2999232"/>
            <a:ext cx="3017520" cy="493776"/>
          </a:xfrm>
          <a:prstGeom prst="rect">
            <a:avLst/>
          </a:prstGeom>
          <a:solidFill>
            <a:srgbClr val="FFFFFF"/>
          </a:solidFill>
          <a:ln w="12700">
            <a:solidFill>
              <a:srgbClr val="3C2864"/>
            </a:solidFill>
            <a:prstDash val="solid"/>
          </a:ln>
        </p:spPr>
      </p:sp>
      <p:sp>
        <p:nvSpPr>
          <p:cNvPr id="61" name="Text 59"/>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Positions MNCD within the open-problem landscape</a:t>
            </a:r>
            <a:endParaRPr lang="en-US" sz="1000" dirty="0"/>
          </a:p>
        </p:txBody>
      </p:sp>
      <p:sp>
        <p:nvSpPr>
          <p:cNvPr id="62" name="Shape 60"/>
          <p:cNvSpPr/>
          <p:nvPr/>
        </p:nvSpPr>
        <p:spPr>
          <a:xfrm>
            <a:off x="274320" y="3493008"/>
            <a:ext cx="2743200" cy="493776"/>
          </a:xfrm>
          <a:prstGeom prst="rect">
            <a:avLst/>
          </a:prstGeom>
          <a:solidFill>
            <a:srgbClr val="E8E2F4"/>
          </a:solidFill>
          <a:ln w="12700">
            <a:solidFill>
              <a:srgbClr val="3C2864"/>
            </a:solidFill>
            <a:prstDash val="solid"/>
          </a:ln>
        </p:spPr>
      </p:sp>
      <p:sp>
        <p:nvSpPr>
          <p:cNvPr id="63" name="Shape 61">
            <a:hlinkClick r:id="rId6" tooltip=""/>
          </p:cNvPr>
          <p:cNvSpPr/>
          <p:nvPr/>
        </p:nvSpPr>
        <p:spPr>
          <a:xfrm>
            <a:off x="301752" y="3520440"/>
            <a:ext cx="2688336" cy="438912"/>
          </a:xfrm>
          <a:prstGeom prst="rect">
            <a:avLst/>
          </a:prstGeom>
          <a:solidFill>
            <a:srgbClr val="FFFFFF">
              <a:alpha val="0"/>
            </a:srgbClr>
          </a:solidFill>
          <a:ln w="12700">
            <a:solidFill>
              <a:srgbClr val="FFFFFF">
                <a:alpha val="0"/>
              </a:srgbClr>
            </a:solidFill>
            <a:prstDash val="solid"/>
          </a:ln>
        </p:spPr>
      </p:sp>
      <p:sp>
        <p:nvSpPr>
          <p:cNvPr id="64" name="Text 62"/>
          <p:cNvSpPr/>
          <p:nvPr/>
        </p:nvSpPr>
        <p:spPr>
          <a:xfrm>
            <a:off x="320040" y="353872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Gossip Protocol in Fed. Learning (Husnoo, 2024)</a:t>
            </a:r>
            <a:endParaRPr lang="en-US" sz="1000" dirty="0"/>
          </a:p>
        </p:txBody>
      </p:sp>
      <p:sp>
        <p:nvSpPr>
          <p:cNvPr id="65" name="Shape 63"/>
          <p:cNvSpPr/>
          <p:nvPr/>
        </p:nvSpPr>
        <p:spPr>
          <a:xfrm>
            <a:off x="3063240" y="3493008"/>
            <a:ext cx="1645920" cy="493776"/>
          </a:xfrm>
          <a:prstGeom prst="rect">
            <a:avLst/>
          </a:prstGeom>
          <a:solidFill>
            <a:srgbClr val="E8E2F4"/>
          </a:solidFill>
          <a:ln w="12700">
            <a:solidFill>
              <a:srgbClr val="3C2864"/>
            </a:solidFill>
            <a:prstDash val="solid"/>
          </a:ln>
        </p:spPr>
      </p:sp>
      <p:sp>
        <p:nvSpPr>
          <p:cNvPr id="66" name="Text 64"/>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cs.CR</a:t>
            </a:r>
            <a:endParaRPr lang="en-US" sz="1000" dirty="0"/>
          </a:p>
        </p:txBody>
      </p:sp>
      <p:sp>
        <p:nvSpPr>
          <p:cNvPr id="67" name="Shape 65"/>
          <p:cNvSpPr/>
          <p:nvPr/>
        </p:nvSpPr>
        <p:spPr>
          <a:xfrm>
            <a:off x="4754880" y="3493008"/>
            <a:ext cx="4206240" cy="493776"/>
          </a:xfrm>
          <a:prstGeom prst="rect">
            <a:avLst/>
          </a:prstGeom>
          <a:solidFill>
            <a:srgbClr val="E8E2F4"/>
          </a:solidFill>
          <a:ln w="12700">
            <a:solidFill>
              <a:srgbClr val="3C2864"/>
            </a:solidFill>
            <a:prstDash val="solid"/>
          </a:ln>
        </p:spPr>
      </p:sp>
      <p:sp>
        <p:nvSpPr>
          <p:cNvPr id="68" name="Text 66"/>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P2P gossip-based anomaly detection in smart grids</a:t>
            </a:r>
            <a:endParaRPr lang="en-US" sz="1000" dirty="0"/>
          </a:p>
        </p:txBody>
      </p:sp>
      <p:sp>
        <p:nvSpPr>
          <p:cNvPr id="69" name="Shape 67"/>
          <p:cNvSpPr/>
          <p:nvPr/>
        </p:nvSpPr>
        <p:spPr>
          <a:xfrm>
            <a:off x="9006840" y="3493008"/>
            <a:ext cx="3017520" cy="493776"/>
          </a:xfrm>
          <a:prstGeom prst="rect">
            <a:avLst/>
          </a:prstGeom>
          <a:solidFill>
            <a:srgbClr val="E8E2F4"/>
          </a:solidFill>
          <a:ln w="12700">
            <a:solidFill>
              <a:srgbClr val="3C2864"/>
            </a:solidFill>
            <a:prstDash val="solid"/>
          </a:ln>
        </p:spPr>
      </p:sp>
      <p:sp>
        <p:nvSpPr>
          <p:cNvPr id="70" name="Text 68"/>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Gossip-protocol broadcast validated for distributed AI context</a:t>
            </a:r>
            <a:endParaRPr lang="en-US" sz="1000" dirty="0"/>
          </a:p>
        </p:txBody>
      </p:sp>
      <p:sp>
        <p:nvSpPr>
          <p:cNvPr id="71" name="Shape 69"/>
          <p:cNvSpPr/>
          <p:nvPr/>
        </p:nvSpPr>
        <p:spPr>
          <a:xfrm>
            <a:off x="274320" y="3986784"/>
            <a:ext cx="2743200" cy="493776"/>
          </a:xfrm>
          <a:prstGeom prst="rect">
            <a:avLst/>
          </a:prstGeom>
          <a:solidFill>
            <a:srgbClr val="FFFFFF"/>
          </a:solidFill>
          <a:ln w="12700">
            <a:solidFill>
              <a:srgbClr val="3C2864"/>
            </a:solidFill>
            <a:prstDash val="solid"/>
          </a:ln>
        </p:spPr>
      </p:sp>
      <p:sp>
        <p:nvSpPr>
          <p:cNvPr id="72" name="Shape 70">
            <a:hlinkClick r:id="rId7" tooltip=""/>
          </p:cNvPr>
          <p:cNvSpPr/>
          <p:nvPr/>
        </p:nvSpPr>
        <p:spPr>
          <a:xfrm>
            <a:off x="301752" y="4014216"/>
            <a:ext cx="2688336" cy="438912"/>
          </a:xfrm>
          <a:prstGeom prst="rect">
            <a:avLst/>
          </a:prstGeom>
          <a:solidFill>
            <a:srgbClr val="FFFFFF">
              <a:alpha val="0"/>
            </a:srgbClr>
          </a:solidFill>
          <a:ln w="12700">
            <a:solidFill>
              <a:srgbClr val="FFFFFF">
                <a:alpha val="0"/>
              </a:srgbClr>
            </a:solidFill>
            <a:prstDash val="solid"/>
          </a:ln>
        </p:spPr>
      </p:sp>
      <p:sp>
        <p:nvSpPr>
          <p:cNvPr id="73" name="Text 71"/>
          <p:cNvSpPr/>
          <p:nvPr/>
        </p:nvSpPr>
        <p:spPr>
          <a:xfrm>
            <a:off x="320040" y="403250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Gossip P2P Learning (Naik et al., 2023)</a:t>
            </a:r>
            <a:endParaRPr lang="en-US" sz="1000" dirty="0"/>
          </a:p>
        </p:txBody>
      </p:sp>
      <p:sp>
        <p:nvSpPr>
          <p:cNvPr id="74" name="Shape 72"/>
          <p:cNvSpPr/>
          <p:nvPr/>
        </p:nvSpPr>
        <p:spPr>
          <a:xfrm>
            <a:off x="3063240" y="3986784"/>
            <a:ext cx="1645920" cy="493776"/>
          </a:xfrm>
          <a:prstGeom prst="rect">
            <a:avLst/>
          </a:prstGeom>
          <a:solidFill>
            <a:srgbClr val="FFFFFF"/>
          </a:solidFill>
          <a:ln w="12700">
            <a:solidFill>
              <a:srgbClr val="3C2864"/>
            </a:solidFill>
            <a:prstDash val="solid"/>
          </a:ln>
        </p:spPr>
      </p:sp>
      <p:sp>
        <p:nvSpPr>
          <p:cNvPr id="75" name="Text 73"/>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IEEE ICTBIG</a:t>
            </a:r>
            <a:endParaRPr lang="en-US" sz="1000" dirty="0"/>
          </a:p>
        </p:txBody>
      </p:sp>
      <p:sp>
        <p:nvSpPr>
          <p:cNvPr id="76" name="Shape 74"/>
          <p:cNvSpPr/>
          <p:nvPr/>
        </p:nvSpPr>
        <p:spPr>
          <a:xfrm>
            <a:off x="4754880" y="3986784"/>
            <a:ext cx="4206240" cy="493776"/>
          </a:xfrm>
          <a:prstGeom prst="rect">
            <a:avLst/>
          </a:prstGeom>
          <a:solidFill>
            <a:srgbClr val="FFFFFF"/>
          </a:solidFill>
          <a:ln w="12700">
            <a:solidFill>
              <a:srgbClr val="3C2864"/>
            </a:solidFill>
            <a:prstDash val="solid"/>
          </a:ln>
        </p:spPr>
      </p:sp>
      <p:sp>
        <p:nvSpPr>
          <p:cNvPr id="77" name="Text 75"/>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basics for federated peer learning</a:t>
            </a:r>
            <a:endParaRPr lang="en-US" sz="1000" dirty="0"/>
          </a:p>
        </p:txBody>
      </p:sp>
      <p:sp>
        <p:nvSpPr>
          <p:cNvPr id="78" name="Shape 76"/>
          <p:cNvSpPr/>
          <p:nvPr/>
        </p:nvSpPr>
        <p:spPr>
          <a:xfrm>
            <a:off x="9006840" y="3986784"/>
            <a:ext cx="3017520" cy="493776"/>
          </a:xfrm>
          <a:prstGeom prst="rect">
            <a:avLst/>
          </a:prstGeom>
          <a:solidFill>
            <a:srgbClr val="FFFFFF"/>
          </a:solidFill>
          <a:ln w="12700">
            <a:solidFill>
              <a:srgbClr val="3C2864"/>
            </a:solidFill>
            <a:prstDash val="solid"/>
          </a:ln>
        </p:spPr>
      </p:sp>
      <p:sp>
        <p:nvSpPr>
          <p:cNvPr id="79" name="Text 77"/>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MNCD propagation rounds baseline (O(log n))</a:t>
            </a:r>
            <a:endParaRPr lang="en-US" sz="1000" dirty="0"/>
          </a:p>
        </p:txBody>
      </p:sp>
      <p:sp>
        <p:nvSpPr>
          <p:cNvPr id="80" name="Shape 78"/>
          <p:cNvSpPr/>
          <p:nvPr/>
        </p:nvSpPr>
        <p:spPr>
          <a:xfrm>
            <a:off x="274320" y="4480560"/>
            <a:ext cx="2743200" cy="493776"/>
          </a:xfrm>
          <a:prstGeom prst="rect">
            <a:avLst/>
          </a:prstGeom>
          <a:solidFill>
            <a:srgbClr val="E8E2F4"/>
          </a:solidFill>
          <a:ln w="12700">
            <a:solidFill>
              <a:srgbClr val="3C2864"/>
            </a:solidFill>
            <a:prstDash val="solid"/>
          </a:ln>
        </p:spPr>
      </p:sp>
      <p:sp>
        <p:nvSpPr>
          <p:cNvPr id="81" name="Shape 79">
            <a:hlinkClick r:id="rId8" tooltip=""/>
          </p:cNvPr>
          <p:cNvSpPr/>
          <p:nvPr/>
        </p:nvSpPr>
        <p:spPr>
          <a:xfrm>
            <a:off x="301752" y="4507992"/>
            <a:ext cx="2688336" cy="438912"/>
          </a:xfrm>
          <a:prstGeom prst="rect">
            <a:avLst/>
          </a:prstGeom>
          <a:solidFill>
            <a:srgbClr val="FFFFFF">
              <a:alpha val="0"/>
            </a:srgbClr>
          </a:solidFill>
          <a:ln w="12700">
            <a:solidFill>
              <a:srgbClr val="FFFFFF">
                <a:alpha val="0"/>
              </a:srgbClr>
            </a:solidFill>
            <a:prstDash val="solid"/>
          </a:ln>
        </p:spPr>
      </p:sp>
      <p:sp>
        <p:nvSpPr>
          <p:cNvPr id="82" name="Text 80"/>
          <p:cNvSpPr/>
          <p:nvPr/>
        </p:nvSpPr>
        <p:spPr>
          <a:xfrm>
            <a:off x="320040" y="452628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FedCod (Yan et al., 2024)</a:t>
            </a:r>
            <a:endParaRPr lang="en-US" sz="1000" dirty="0"/>
          </a:p>
        </p:txBody>
      </p:sp>
      <p:sp>
        <p:nvSpPr>
          <p:cNvPr id="83" name="Shape 81"/>
          <p:cNvSpPr/>
          <p:nvPr/>
        </p:nvSpPr>
        <p:spPr>
          <a:xfrm>
            <a:off x="3063240" y="4480560"/>
            <a:ext cx="1645920" cy="493776"/>
          </a:xfrm>
          <a:prstGeom prst="rect">
            <a:avLst/>
          </a:prstGeom>
          <a:solidFill>
            <a:srgbClr val="E8E2F4"/>
          </a:solidFill>
          <a:ln w="12700">
            <a:solidFill>
              <a:srgbClr val="3C2864"/>
            </a:solidFill>
            <a:prstDash val="solid"/>
          </a:ln>
        </p:spPr>
      </p:sp>
      <p:sp>
        <p:nvSpPr>
          <p:cNvPr id="84" name="Text 82"/>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cs.DC</a:t>
            </a:r>
            <a:endParaRPr lang="en-US" sz="1000" dirty="0"/>
          </a:p>
        </p:txBody>
      </p:sp>
      <p:sp>
        <p:nvSpPr>
          <p:cNvPr id="85" name="Shape 83"/>
          <p:cNvSpPr/>
          <p:nvPr/>
        </p:nvSpPr>
        <p:spPr>
          <a:xfrm>
            <a:off x="4754880" y="4480560"/>
            <a:ext cx="4206240" cy="493776"/>
          </a:xfrm>
          <a:prstGeom prst="rect">
            <a:avLst/>
          </a:prstGeom>
          <a:solidFill>
            <a:srgbClr val="E8E2F4"/>
          </a:solidFill>
          <a:ln w="12700">
            <a:solidFill>
              <a:srgbClr val="3C2864"/>
            </a:solidFill>
            <a:prstDash val="solid"/>
          </a:ln>
        </p:spPr>
      </p:sp>
      <p:sp>
        <p:nvSpPr>
          <p:cNvPr id="86" name="Text 84"/>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Efficient cross-silo federated communication with coded protocols</a:t>
            </a:r>
            <a:endParaRPr lang="en-US" sz="1000" dirty="0"/>
          </a:p>
        </p:txBody>
      </p:sp>
      <p:sp>
        <p:nvSpPr>
          <p:cNvPr id="87" name="Shape 85"/>
          <p:cNvSpPr/>
          <p:nvPr/>
        </p:nvSpPr>
        <p:spPr>
          <a:xfrm>
            <a:off x="9006840" y="4480560"/>
            <a:ext cx="3017520" cy="493776"/>
          </a:xfrm>
          <a:prstGeom prst="rect">
            <a:avLst/>
          </a:prstGeom>
          <a:solidFill>
            <a:srgbClr val="E8E2F4"/>
          </a:solidFill>
          <a:ln w="12700">
            <a:solidFill>
              <a:srgbClr val="3C2864"/>
            </a:solidFill>
            <a:prstDash val="solid"/>
          </a:ln>
        </p:spPr>
      </p:sp>
      <p:sp>
        <p:nvSpPr>
          <p:cNvPr id="88" name="Text 86"/>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Communication efficiency bounds for MNCD propagation</a:t>
            </a:r>
            <a:endParaRPr lang="en-US" sz="1000" dirty="0"/>
          </a:p>
        </p:txBody>
      </p:sp>
      <p:sp>
        <p:nvSpPr>
          <p:cNvPr id="89" name="Shape 87"/>
          <p:cNvSpPr/>
          <p:nvPr/>
        </p:nvSpPr>
        <p:spPr>
          <a:xfrm>
            <a:off x="274320" y="5010912"/>
            <a:ext cx="11640312" cy="658368"/>
          </a:xfrm>
          <a:prstGeom prst="rect">
            <a:avLst/>
          </a:prstGeom>
          <a:solidFill>
            <a:srgbClr val="3C2864"/>
          </a:solidFill>
          <a:ln w="12700">
            <a:solidFill>
              <a:srgbClr val="3C2864"/>
            </a:solidFill>
            <a:prstDash val="solid"/>
          </a:ln>
        </p:spPr>
      </p:sp>
      <p:sp>
        <p:nvSpPr>
          <p:cNvPr id="90" name="Text 88"/>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Existing fault-tolerant MAS work does not address LLM session context propagation. MISSING: Gossip-protocol broadcast with O(log n) propagation and ≥97% context availability under node failures. → MNCD fills this gap.</a:t>
            </a:r>
            <a:endParaRPr lang="en-US" sz="1300" dirty="0"/>
          </a:p>
        </p:txBody>
      </p:sp>
      <p:sp>
        <p:nvSpPr>
          <p:cNvPr id="91" name="Text 89"/>
          <p:cNvSpPr/>
          <p:nvPr/>
        </p:nvSpPr>
        <p:spPr>
          <a:xfrm>
            <a:off x="274320" y="5742432"/>
            <a:ext cx="11640312" cy="164592"/>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00" b="1" u="sng" dirty="0">
                <a:solidFill>
                  <a:srgbClr val="1565C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 Drive Folder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 Theme 4: Adaptive Network Pruning &amp; Graph-Flow Optimisation (Motivates Obj 4 — FCNP)</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9" name="Shape 7"/>
          <p:cNvSpPr/>
          <p:nvPr/>
        </p:nvSpPr>
        <p:spPr>
          <a:xfrm>
            <a:off x="274320" y="530352"/>
            <a:ext cx="2743200" cy="493776"/>
          </a:xfrm>
          <a:prstGeom prst="rect">
            <a:avLst/>
          </a:prstGeom>
          <a:solidFill>
            <a:srgbClr val="3C2864"/>
          </a:solidFill>
          <a:ln w="12700">
            <a:solidFill>
              <a:srgbClr val="3C2864"/>
            </a:solidFill>
            <a:prstDash val="solid"/>
          </a:ln>
        </p:spPr>
      </p:sp>
      <p:sp>
        <p:nvSpPr>
          <p:cNvPr id="10" name="Text 8"/>
          <p:cNvSpPr/>
          <p:nvPr/>
        </p:nvSpPr>
        <p:spPr>
          <a:xfrm>
            <a:off x="320040" y="576072"/>
            <a:ext cx="26517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11" name="Shape 9"/>
          <p:cNvSpPr/>
          <p:nvPr/>
        </p:nvSpPr>
        <p:spPr>
          <a:xfrm>
            <a:off x="3063240" y="530352"/>
            <a:ext cx="1645920" cy="493776"/>
          </a:xfrm>
          <a:prstGeom prst="rect">
            <a:avLst/>
          </a:prstGeom>
          <a:solidFill>
            <a:srgbClr val="3C2864"/>
          </a:solidFill>
          <a:ln w="12700">
            <a:solidFill>
              <a:srgbClr val="3C2864"/>
            </a:solidFill>
            <a:prstDash val="solid"/>
          </a:ln>
        </p:spPr>
      </p:sp>
      <p:sp>
        <p:nvSpPr>
          <p:cNvPr id="12" name="Text 10"/>
          <p:cNvSpPr/>
          <p:nvPr/>
        </p:nvSpPr>
        <p:spPr>
          <a:xfrm>
            <a:off x="3108960" y="576072"/>
            <a:ext cx="15544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3" name="Shape 11"/>
          <p:cNvSpPr/>
          <p:nvPr/>
        </p:nvSpPr>
        <p:spPr>
          <a:xfrm>
            <a:off x="4754880" y="530352"/>
            <a:ext cx="4206240" cy="493776"/>
          </a:xfrm>
          <a:prstGeom prst="rect">
            <a:avLst/>
          </a:prstGeom>
          <a:solidFill>
            <a:srgbClr val="3C2864"/>
          </a:solidFill>
          <a:ln w="12700">
            <a:solidFill>
              <a:srgbClr val="3C2864"/>
            </a:solidFill>
            <a:prstDash val="solid"/>
          </a:ln>
        </p:spPr>
      </p:sp>
      <p:sp>
        <p:nvSpPr>
          <p:cNvPr id="14" name="Text 12"/>
          <p:cNvSpPr/>
          <p:nvPr/>
        </p:nvSpPr>
        <p:spPr>
          <a:xfrm>
            <a:off x="4800600" y="576072"/>
            <a:ext cx="41148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5" name="Shape 13"/>
          <p:cNvSpPr/>
          <p:nvPr/>
        </p:nvSpPr>
        <p:spPr>
          <a:xfrm>
            <a:off x="9006840" y="530352"/>
            <a:ext cx="3017520" cy="493776"/>
          </a:xfrm>
          <a:prstGeom prst="rect">
            <a:avLst/>
          </a:prstGeom>
          <a:solidFill>
            <a:srgbClr val="3C2864"/>
          </a:solidFill>
          <a:ln w="12700">
            <a:solidFill>
              <a:srgbClr val="3C2864"/>
            </a:solidFill>
            <a:prstDash val="solid"/>
          </a:ln>
        </p:spPr>
      </p:sp>
      <p:sp>
        <p:nvSpPr>
          <p:cNvPr id="16" name="Text 14"/>
          <p:cNvSpPr/>
          <p:nvPr/>
        </p:nvSpPr>
        <p:spPr>
          <a:xfrm>
            <a:off x="9052560" y="576072"/>
            <a:ext cx="292608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4</a:t>
            </a:r>
            <a:endParaRPr lang="en-US" sz="1100" dirty="0"/>
          </a:p>
        </p:txBody>
      </p:sp>
      <p:sp>
        <p:nvSpPr>
          <p:cNvPr id="17" name="Shape 15"/>
          <p:cNvSpPr/>
          <p:nvPr/>
        </p:nvSpPr>
        <p:spPr>
          <a:xfrm>
            <a:off x="274320" y="1024128"/>
            <a:ext cx="2743200" cy="493776"/>
          </a:xfrm>
          <a:prstGeom prst="rect">
            <a:avLst/>
          </a:prstGeom>
          <a:solidFill>
            <a:srgbClr val="FFFFFF"/>
          </a:solidFill>
          <a:ln w="12700">
            <a:solidFill>
              <a:srgbClr val="3C2864"/>
            </a:solidFill>
            <a:prstDash val="solid"/>
          </a:ln>
        </p:spPr>
      </p:sp>
      <p:sp>
        <p:nvSpPr>
          <p:cNvPr id="18" name="Shape 16">
            <a:hlinkClick r:id="rId1" tooltip=""/>
          </p:cNvPr>
          <p:cNvSpPr/>
          <p:nvPr/>
        </p:nvSpPr>
        <p:spPr>
          <a:xfrm>
            <a:off x="301752" y="1051560"/>
            <a:ext cx="2688336" cy="438912"/>
          </a:xfrm>
          <a:prstGeom prst="rect">
            <a:avLst/>
          </a:prstGeom>
          <a:solidFill>
            <a:srgbClr val="FFFFFF">
              <a:alpha val="0"/>
            </a:srgbClr>
          </a:solidFill>
          <a:ln w="12700">
            <a:solidFill>
              <a:srgbClr val="FFFFFF">
                <a:alpha val="0"/>
              </a:srgbClr>
            </a:solidFill>
            <a:prstDash val="solid"/>
          </a:ln>
        </p:spPr>
      </p:sp>
      <p:sp>
        <p:nvSpPr>
          <p:cNvPr id="19" name="Text 17"/>
          <p:cNvSpPr/>
          <p:nvPr/>
        </p:nvSpPr>
        <p:spPr>
          <a:xfrm>
            <a:off x="320040" y="106984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Tero et al. (2010)</a:t>
            </a:r>
            <a:endParaRPr lang="en-US" sz="1000" dirty="0"/>
          </a:p>
        </p:txBody>
      </p:sp>
      <p:sp>
        <p:nvSpPr>
          <p:cNvPr id="20" name="Shape 18"/>
          <p:cNvSpPr/>
          <p:nvPr/>
        </p:nvSpPr>
        <p:spPr>
          <a:xfrm>
            <a:off x="3063240" y="1024128"/>
            <a:ext cx="1645920" cy="493776"/>
          </a:xfrm>
          <a:prstGeom prst="rect">
            <a:avLst/>
          </a:prstGeom>
          <a:solidFill>
            <a:srgbClr val="FFFFFF"/>
          </a:solidFill>
          <a:ln w="12700">
            <a:solidFill>
              <a:srgbClr val="3C2864"/>
            </a:solidFill>
            <a:prstDash val="solid"/>
          </a:ln>
        </p:spPr>
      </p:sp>
      <p:sp>
        <p:nvSpPr>
          <p:cNvPr id="21" name="Text 19"/>
          <p:cNvSpPr/>
          <p:nvPr/>
        </p:nvSpPr>
        <p:spPr>
          <a:xfrm>
            <a:off x="3108960" y="106984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Science</a:t>
            </a:r>
            <a:endParaRPr lang="en-US" sz="1000" dirty="0"/>
          </a:p>
        </p:txBody>
      </p:sp>
      <p:sp>
        <p:nvSpPr>
          <p:cNvPr id="22" name="Shape 20"/>
          <p:cNvSpPr/>
          <p:nvPr/>
        </p:nvSpPr>
        <p:spPr>
          <a:xfrm>
            <a:off x="4754880" y="1024128"/>
            <a:ext cx="4206240" cy="493776"/>
          </a:xfrm>
          <a:prstGeom prst="rect">
            <a:avLst/>
          </a:prstGeom>
          <a:solidFill>
            <a:srgbClr val="FFFFFF"/>
          </a:solidFill>
          <a:ln w="12700">
            <a:solidFill>
              <a:srgbClr val="3C2864"/>
            </a:solidFill>
            <a:prstDash val="solid"/>
          </a:ln>
        </p:spPr>
      </p:sp>
      <p:sp>
        <p:nvSpPr>
          <p:cNvPr id="23" name="Text 21"/>
          <p:cNvSpPr/>
          <p:nvPr/>
        </p:nvSpPr>
        <p:spPr>
          <a:xfrm>
            <a:off x="4800600" y="106984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transport network design rules in biological systems</a:t>
            </a:r>
            <a:endParaRPr lang="en-US" sz="1000" dirty="0"/>
          </a:p>
        </p:txBody>
      </p:sp>
      <p:sp>
        <p:nvSpPr>
          <p:cNvPr id="24" name="Shape 22"/>
          <p:cNvSpPr/>
          <p:nvPr/>
        </p:nvSpPr>
        <p:spPr>
          <a:xfrm>
            <a:off x="9006840" y="1024128"/>
            <a:ext cx="3017520" cy="493776"/>
          </a:xfrm>
          <a:prstGeom prst="rect">
            <a:avLst/>
          </a:prstGeom>
          <a:solidFill>
            <a:srgbClr val="FFFFFF"/>
          </a:solidFill>
          <a:ln w="12700">
            <a:solidFill>
              <a:srgbClr val="3C2864"/>
            </a:solidFill>
            <a:prstDash val="solid"/>
          </a:ln>
        </p:spPr>
      </p:sp>
      <p:sp>
        <p:nvSpPr>
          <p:cNvPr id="25" name="Text 23"/>
          <p:cNvSpPr/>
          <p:nvPr/>
        </p:nvSpPr>
        <p:spPr>
          <a:xfrm>
            <a:off x="9052560" y="106984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Flow-controlled pruning formalism adapted to token-graph topology</a:t>
            </a:r>
            <a:endParaRPr lang="en-US" sz="1000" dirty="0"/>
          </a:p>
        </p:txBody>
      </p:sp>
      <p:sp>
        <p:nvSpPr>
          <p:cNvPr id="26" name="Shape 24"/>
          <p:cNvSpPr/>
          <p:nvPr/>
        </p:nvSpPr>
        <p:spPr>
          <a:xfrm>
            <a:off x="274320" y="1517904"/>
            <a:ext cx="2743200" cy="493776"/>
          </a:xfrm>
          <a:prstGeom prst="rect">
            <a:avLst/>
          </a:prstGeom>
          <a:solidFill>
            <a:srgbClr val="E8E2F4"/>
          </a:solidFill>
          <a:ln w="12700">
            <a:solidFill>
              <a:srgbClr val="3C2864"/>
            </a:solidFill>
            <a:prstDash val="solid"/>
          </a:ln>
        </p:spPr>
      </p:sp>
      <p:sp>
        <p:nvSpPr>
          <p:cNvPr id="27" name="Shape 25">
            <a:hlinkClick r:id="rId2" tooltip=""/>
          </p:cNvPr>
          <p:cNvSpPr/>
          <p:nvPr/>
        </p:nvSpPr>
        <p:spPr>
          <a:xfrm>
            <a:off x="301752" y="1545336"/>
            <a:ext cx="2688336" cy="438912"/>
          </a:xfrm>
          <a:prstGeom prst="rect">
            <a:avLst/>
          </a:prstGeom>
          <a:solidFill>
            <a:srgbClr val="FFFFFF">
              <a:alpha val="0"/>
            </a:srgbClr>
          </a:solidFill>
          <a:ln w="12700">
            <a:solidFill>
              <a:srgbClr val="FFFFFF">
                <a:alpha val="0"/>
              </a:srgbClr>
            </a:solidFill>
            <a:prstDash val="solid"/>
          </a:ln>
        </p:spPr>
      </p:sp>
      <p:sp>
        <p:nvSpPr>
          <p:cNvPr id="28" name="Text 26"/>
          <p:cNvSpPr/>
          <p:nvPr/>
        </p:nvSpPr>
        <p:spPr>
          <a:xfrm>
            <a:off x="320040" y="156362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Tero et al. (2007)</a:t>
            </a:r>
            <a:endParaRPr lang="en-US" sz="1000" dirty="0"/>
          </a:p>
        </p:txBody>
      </p:sp>
      <p:sp>
        <p:nvSpPr>
          <p:cNvPr id="29" name="Shape 27"/>
          <p:cNvSpPr/>
          <p:nvPr/>
        </p:nvSpPr>
        <p:spPr>
          <a:xfrm>
            <a:off x="3063240" y="1517904"/>
            <a:ext cx="1645920" cy="493776"/>
          </a:xfrm>
          <a:prstGeom prst="rect">
            <a:avLst/>
          </a:prstGeom>
          <a:solidFill>
            <a:srgbClr val="E8E2F4"/>
          </a:solidFill>
          <a:ln w="12700">
            <a:solidFill>
              <a:srgbClr val="3C2864"/>
            </a:solidFill>
            <a:prstDash val="solid"/>
          </a:ln>
        </p:spPr>
      </p:sp>
      <p:sp>
        <p:nvSpPr>
          <p:cNvPr id="30" name="Text 28"/>
          <p:cNvSpPr/>
          <p:nvPr/>
        </p:nvSpPr>
        <p:spPr>
          <a:xfrm>
            <a:off x="3108960" y="156362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31" name="Shape 29"/>
          <p:cNvSpPr/>
          <p:nvPr/>
        </p:nvSpPr>
        <p:spPr>
          <a:xfrm>
            <a:off x="4754880" y="1517904"/>
            <a:ext cx="4206240" cy="493776"/>
          </a:xfrm>
          <a:prstGeom prst="rect">
            <a:avLst/>
          </a:prstGeom>
          <a:solidFill>
            <a:srgbClr val="E8E2F4"/>
          </a:solidFill>
          <a:ln w="12700">
            <a:solidFill>
              <a:srgbClr val="3C2864"/>
            </a:solidFill>
            <a:prstDash val="solid"/>
          </a:ln>
        </p:spPr>
      </p:sp>
      <p:sp>
        <p:nvSpPr>
          <p:cNvPr id="32" name="Text 30"/>
          <p:cNvSpPr/>
          <p:nvPr/>
        </p:nvSpPr>
        <p:spPr>
          <a:xfrm>
            <a:off x="4800600" y="156362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Mathematical model for adaptive network path-finding</a:t>
            </a:r>
            <a:endParaRPr lang="en-US" sz="1000" dirty="0"/>
          </a:p>
        </p:txBody>
      </p:sp>
      <p:sp>
        <p:nvSpPr>
          <p:cNvPr id="33" name="Shape 31"/>
          <p:cNvSpPr/>
          <p:nvPr/>
        </p:nvSpPr>
        <p:spPr>
          <a:xfrm>
            <a:off x="9006840" y="1517904"/>
            <a:ext cx="3017520" cy="493776"/>
          </a:xfrm>
          <a:prstGeom prst="rect">
            <a:avLst/>
          </a:prstGeom>
          <a:solidFill>
            <a:srgbClr val="E8E2F4"/>
          </a:solidFill>
          <a:ln w="12700">
            <a:solidFill>
              <a:srgbClr val="3C2864"/>
            </a:solidFill>
            <a:prstDash val="solid"/>
          </a:ln>
        </p:spPr>
      </p:sp>
      <p:sp>
        <p:nvSpPr>
          <p:cNvPr id="34" name="Text 32"/>
          <p:cNvSpPr/>
          <p:nvPr/>
        </p:nvSpPr>
        <p:spPr>
          <a:xfrm>
            <a:off x="9052560" y="156362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Path reinforcement model basis for FCNP flow-score pruning</a:t>
            </a:r>
            <a:endParaRPr lang="en-US" sz="1000" dirty="0"/>
          </a:p>
        </p:txBody>
      </p:sp>
      <p:sp>
        <p:nvSpPr>
          <p:cNvPr id="35" name="Shape 33"/>
          <p:cNvSpPr/>
          <p:nvPr/>
        </p:nvSpPr>
        <p:spPr>
          <a:xfrm>
            <a:off x="274320" y="2011680"/>
            <a:ext cx="2743200" cy="493776"/>
          </a:xfrm>
          <a:prstGeom prst="rect">
            <a:avLst/>
          </a:prstGeom>
          <a:solidFill>
            <a:srgbClr val="FFFFFF"/>
          </a:solidFill>
          <a:ln w="12700">
            <a:solidFill>
              <a:srgbClr val="3C2864"/>
            </a:solidFill>
            <a:prstDash val="solid"/>
          </a:ln>
        </p:spPr>
      </p:sp>
      <p:sp>
        <p:nvSpPr>
          <p:cNvPr id="36" name="Shape 34">
            <a:hlinkClick r:id="rId3" tooltip=""/>
          </p:cNvPr>
          <p:cNvSpPr/>
          <p:nvPr/>
        </p:nvSpPr>
        <p:spPr>
          <a:xfrm>
            <a:off x="301752" y="2039112"/>
            <a:ext cx="2688336" cy="438912"/>
          </a:xfrm>
          <a:prstGeom prst="rect">
            <a:avLst/>
          </a:prstGeom>
          <a:solidFill>
            <a:srgbClr val="FFFFFF">
              <a:alpha val="0"/>
            </a:srgbClr>
          </a:solidFill>
          <a:ln w="12700">
            <a:solidFill>
              <a:srgbClr val="FFFFFF">
                <a:alpha val="0"/>
              </a:srgbClr>
            </a:solidFill>
            <a:prstDash val="solid"/>
          </a:ln>
        </p:spPr>
      </p:sp>
      <p:sp>
        <p:nvSpPr>
          <p:cNvPr id="37" name="Text 35"/>
          <p:cNvSpPr/>
          <p:nvPr/>
        </p:nvSpPr>
        <p:spPr>
          <a:xfrm>
            <a:off x="320040" y="205740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Bonifaci et al. (2012)</a:t>
            </a:r>
            <a:endParaRPr lang="en-US" sz="1000" dirty="0"/>
          </a:p>
        </p:txBody>
      </p:sp>
      <p:sp>
        <p:nvSpPr>
          <p:cNvPr id="38" name="Shape 36"/>
          <p:cNvSpPr/>
          <p:nvPr/>
        </p:nvSpPr>
        <p:spPr>
          <a:xfrm>
            <a:off x="3063240" y="2011680"/>
            <a:ext cx="1645920" cy="493776"/>
          </a:xfrm>
          <a:prstGeom prst="rect">
            <a:avLst/>
          </a:prstGeom>
          <a:solidFill>
            <a:srgbClr val="FFFFFF"/>
          </a:solidFill>
          <a:ln w="12700">
            <a:solidFill>
              <a:srgbClr val="3C2864"/>
            </a:solidFill>
            <a:prstDash val="solid"/>
          </a:ln>
        </p:spPr>
      </p:sp>
      <p:sp>
        <p:nvSpPr>
          <p:cNvPr id="39" name="Text 37"/>
          <p:cNvSpPr/>
          <p:nvPr/>
        </p:nvSpPr>
        <p:spPr>
          <a:xfrm>
            <a:off x="3108960" y="205740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40" name="Shape 38"/>
          <p:cNvSpPr/>
          <p:nvPr/>
        </p:nvSpPr>
        <p:spPr>
          <a:xfrm>
            <a:off x="4754880" y="2011680"/>
            <a:ext cx="4206240" cy="493776"/>
          </a:xfrm>
          <a:prstGeom prst="rect">
            <a:avLst/>
          </a:prstGeom>
          <a:solidFill>
            <a:srgbClr val="FFFFFF"/>
          </a:solidFill>
          <a:ln w="12700">
            <a:solidFill>
              <a:srgbClr val="3C2864"/>
            </a:solidFill>
            <a:prstDash val="solid"/>
          </a:ln>
        </p:spPr>
      </p:sp>
      <p:sp>
        <p:nvSpPr>
          <p:cNvPr id="41" name="Text 39"/>
          <p:cNvSpPr/>
          <p:nvPr/>
        </p:nvSpPr>
        <p:spPr>
          <a:xfrm>
            <a:off x="4800600" y="205740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Shortest path convergence proof for adaptive network dynamics</a:t>
            </a:r>
            <a:endParaRPr lang="en-US" sz="1000" dirty="0"/>
          </a:p>
        </p:txBody>
      </p:sp>
      <p:sp>
        <p:nvSpPr>
          <p:cNvPr id="42" name="Shape 40"/>
          <p:cNvSpPr/>
          <p:nvPr/>
        </p:nvSpPr>
        <p:spPr>
          <a:xfrm>
            <a:off x="9006840" y="2011680"/>
            <a:ext cx="3017520" cy="493776"/>
          </a:xfrm>
          <a:prstGeom prst="rect">
            <a:avLst/>
          </a:prstGeom>
          <a:solidFill>
            <a:srgbClr val="FFFFFF"/>
          </a:solidFill>
          <a:ln w="12700">
            <a:solidFill>
              <a:srgbClr val="3C2864"/>
            </a:solidFill>
            <a:prstDash val="solid"/>
          </a:ln>
        </p:spPr>
      </p:sp>
      <p:sp>
        <p:nvSpPr>
          <p:cNvPr id="43" name="Text 41"/>
          <p:cNvSpPr/>
          <p:nvPr/>
        </p:nvSpPr>
        <p:spPr>
          <a:xfrm>
            <a:off x="9052560" y="205740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Convergence guarantee for FCNP iterative pruning</a:t>
            </a:r>
            <a:endParaRPr lang="en-US" sz="1000" dirty="0"/>
          </a:p>
        </p:txBody>
      </p:sp>
      <p:sp>
        <p:nvSpPr>
          <p:cNvPr id="44" name="Shape 42"/>
          <p:cNvSpPr/>
          <p:nvPr/>
        </p:nvSpPr>
        <p:spPr>
          <a:xfrm>
            <a:off x="274320" y="2505456"/>
            <a:ext cx="2743200" cy="493776"/>
          </a:xfrm>
          <a:prstGeom prst="rect">
            <a:avLst/>
          </a:prstGeom>
          <a:solidFill>
            <a:srgbClr val="E8E2F4"/>
          </a:solidFill>
          <a:ln w="12700">
            <a:solidFill>
              <a:srgbClr val="3C2864"/>
            </a:solidFill>
            <a:prstDash val="solid"/>
          </a:ln>
        </p:spPr>
      </p:sp>
      <p:sp>
        <p:nvSpPr>
          <p:cNvPr id="45" name="Shape 43">
            <a:hlinkClick r:id="rId4" tooltip=""/>
          </p:cNvPr>
          <p:cNvSpPr/>
          <p:nvPr/>
        </p:nvSpPr>
        <p:spPr>
          <a:xfrm>
            <a:off x="301752" y="2532888"/>
            <a:ext cx="2688336" cy="438912"/>
          </a:xfrm>
          <a:prstGeom prst="rect">
            <a:avLst/>
          </a:prstGeom>
          <a:solidFill>
            <a:srgbClr val="FFFFFF">
              <a:alpha val="0"/>
            </a:srgbClr>
          </a:solidFill>
          <a:ln w="12700">
            <a:solidFill>
              <a:srgbClr val="FFFFFF">
                <a:alpha val="0"/>
              </a:srgbClr>
            </a:solidFill>
            <a:prstDash val="solid"/>
          </a:ln>
        </p:spPr>
      </p:sp>
      <p:sp>
        <p:nvSpPr>
          <p:cNvPr id="46" name="Text 44"/>
          <p:cNvSpPr/>
          <p:nvPr/>
        </p:nvSpPr>
        <p:spPr>
          <a:xfrm>
            <a:off x="320040" y="2551176"/>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LoRA (Hu et al., 2022)</a:t>
            </a:r>
            <a:endParaRPr lang="en-US" sz="1000" dirty="0"/>
          </a:p>
        </p:txBody>
      </p:sp>
      <p:sp>
        <p:nvSpPr>
          <p:cNvPr id="47" name="Shape 45"/>
          <p:cNvSpPr/>
          <p:nvPr/>
        </p:nvSpPr>
        <p:spPr>
          <a:xfrm>
            <a:off x="3063240" y="2505456"/>
            <a:ext cx="1645920" cy="493776"/>
          </a:xfrm>
          <a:prstGeom prst="rect">
            <a:avLst/>
          </a:prstGeom>
          <a:solidFill>
            <a:srgbClr val="E8E2F4"/>
          </a:solidFill>
          <a:ln w="12700">
            <a:solidFill>
              <a:srgbClr val="3C2864"/>
            </a:solidFill>
            <a:prstDash val="solid"/>
          </a:ln>
        </p:spPr>
      </p:sp>
      <p:sp>
        <p:nvSpPr>
          <p:cNvPr id="48" name="Text 46"/>
          <p:cNvSpPr/>
          <p:nvPr/>
        </p:nvSpPr>
        <p:spPr>
          <a:xfrm>
            <a:off x="3108960" y="2551176"/>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2022 — arXiv:2106.09685</a:t>
            </a:r>
            <a:endParaRPr lang="en-US" sz="1000" dirty="0"/>
          </a:p>
        </p:txBody>
      </p:sp>
      <p:sp>
        <p:nvSpPr>
          <p:cNvPr id="49" name="Shape 47"/>
          <p:cNvSpPr/>
          <p:nvPr/>
        </p:nvSpPr>
        <p:spPr>
          <a:xfrm>
            <a:off x="4754880" y="2505456"/>
            <a:ext cx="4206240" cy="493776"/>
          </a:xfrm>
          <a:prstGeom prst="rect">
            <a:avLst/>
          </a:prstGeom>
          <a:solidFill>
            <a:srgbClr val="E8E2F4"/>
          </a:solidFill>
          <a:ln w="12700">
            <a:solidFill>
              <a:srgbClr val="3C2864"/>
            </a:solidFill>
            <a:prstDash val="solid"/>
          </a:ln>
        </p:spPr>
      </p:sp>
      <p:sp>
        <p:nvSpPr>
          <p:cNvPr id="50" name="Text 48"/>
          <p:cNvSpPr/>
          <p:nvPr/>
        </p:nvSpPr>
        <p:spPr>
          <a:xfrm>
            <a:off x="4800600" y="2551176"/>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matrix decomposition for efficient LLM fine-tuning (parameter-efficient fine-tuning baseline)</a:t>
            </a:r>
            <a:endParaRPr lang="en-US" sz="1000" dirty="0"/>
          </a:p>
        </p:txBody>
      </p:sp>
      <p:sp>
        <p:nvSpPr>
          <p:cNvPr id="51" name="Shape 49"/>
          <p:cNvSpPr/>
          <p:nvPr/>
        </p:nvSpPr>
        <p:spPr>
          <a:xfrm>
            <a:off x="9006840" y="2505456"/>
            <a:ext cx="3017520" cy="493776"/>
          </a:xfrm>
          <a:prstGeom prst="rect">
            <a:avLst/>
          </a:prstGeom>
          <a:solidFill>
            <a:srgbClr val="E8E2F4"/>
          </a:solidFill>
          <a:ln w="12700">
            <a:solidFill>
              <a:srgbClr val="3C2864"/>
            </a:solidFill>
            <a:prstDash val="solid"/>
          </a:ln>
        </p:spPr>
      </p:sp>
      <p:sp>
        <p:nvSpPr>
          <p:cNvPr id="52" name="Text 50"/>
          <p:cNvSpPr/>
          <p:nvPr/>
        </p:nvSpPr>
        <p:spPr>
          <a:xfrm>
            <a:off x="9052560" y="2551176"/>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adaptation principle for FCNP weight updates</a:t>
            </a:r>
            <a:endParaRPr lang="en-US" sz="1000" dirty="0"/>
          </a:p>
        </p:txBody>
      </p:sp>
      <p:sp>
        <p:nvSpPr>
          <p:cNvPr id="53" name="Shape 51"/>
          <p:cNvSpPr/>
          <p:nvPr/>
        </p:nvSpPr>
        <p:spPr>
          <a:xfrm>
            <a:off x="274320" y="2999232"/>
            <a:ext cx="2743200" cy="493776"/>
          </a:xfrm>
          <a:prstGeom prst="rect">
            <a:avLst/>
          </a:prstGeom>
          <a:solidFill>
            <a:srgbClr val="FFFFFF"/>
          </a:solidFill>
          <a:ln w="12700">
            <a:solidFill>
              <a:srgbClr val="3C2864"/>
            </a:solidFill>
            <a:prstDash val="solid"/>
          </a:ln>
        </p:spPr>
      </p:sp>
      <p:sp>
        <p:nvSpPr>
          <p:cNvPr id="54" name="Shape 52">
            <a:hlinkClick r:id="rId5" tooltip=""/>
          </p:cNvPr>
          <p:cNvSpPr/>
          <p:nvPr/>
        </p:nvSpPr>
        <p:spPr>
          <a:xfrm>
            <a:off x="301752" y="3026664"/>
            <a:ext cx="2688336" cy="438912"/>
          </a:xfrm>
          <a:prstGeom prst="rect">
            <a:avLst/>
          </a:prstGeom>
          <a:solidFill>
            <a:srgbClr val="FFFFFF">
              <a:alpha val="0"/>
            </a:srgbClr>
          </a:solidFill>
          <a:ln w="12700">
            <a:solidFill>
              <a:srgbClr val="FFFFFF">
                <a:alpha val="0"/>
              </a:srgbClr>
            </a:solidFill>
            <a:prstDash val="solid"/>
          </a:ln>
        </p:spPr>
      </p:sp>
      <p:sp>
        <p:nvSpPr>
          <p:cNvPr id="55" name="Text 53"/>
          <p:cNvSpPr/>
          <p:nvPr/>
        </p:nvSpPr>
        <p:spPr>
          <a:xfrm>
            <a:off x="320040" y="3044952"/>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SparseGPT (Frantar et al., 2023)</a:t>
            </a:r>
            <a:endParaRPr lang="en-US" sz="1000" dirty="0"/>
          </a:p>
        </p:txBody>
      </p:sp>
      <p:sp>
        <p:nvSpPr>
          <p:cNvPr id="56" name="Shape 54"/>
          <p:cNvSpPr/>
          <p:nvPr/>
        </p:nvSpPr>
        <p:spPr>
          <a:xfrm>
            <a:off x="3063240" y="2999232"/>
            <a:ext cx="1645920" cy="493776"/>
          </a:xfrm>
          <a:prstGeom prst="rect">
            <a:avLst/>
          </a:prstGeom>
          <a:solidFill>
            <a:srgbClr val="FFFFFF"/>
          </a:solidFill>
          <a:ln w="12700">
            <a:solidFill>
              <a:srgbClr val="3C2864"/>
            </a:solidFill>
            <a:prstDash val="solid"/>
          </a:ln>
        </p:spPr>
      </p:sp>
      <p:sp>
        <p:nvSpPr>
          <p:cNvPr id="57" name="Text 55"/>
          <p:cNvSpPr/>
          <p:nvPr/>
        </p:nvSpPr>
        <p:spPr>
          <a:xfrm>
            <a:off x="3108960" y="3044952"/>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ICML 2023</a:t>
            </a:r>
            <a:endParaRPr lang="en-US" sz="1000" dirty="0"/>
          </a:p>
        </p:txBody>
      </p:sp>
      <p:sp>
        <p:nvSpPr>
          <p:cNvPr id="58" name="Shape 56"/>
          <p:cNvSpPr/>
          <p:nvPr/>
        </p:nvSpPr>
        <p:spPr>
          <a:xfrm>
            <a:off x="4754880" y="2999232"/>
            <a:ext cx="4206240" cy="493776"/>
          </a:xfrm>
          <a:prstGeom prst="rect">
            <a:avLst/>
          </a:prstGeom>
          <a:solidFill>
            <a:srgbClr val="FFFFFF"/>
          </a:solidFill>
          <a:ln w="12700">
            <a:solidFill>
              <a:srgbClr val="3C2864"/>
            </a:solidFill>
            <a:prstDash val="solid"/>
          </a:ln>
        </p:spPr>
      </p:sp>
      <p:sp>
        <p:nvSpPr>
          <p:cNvPr id="59" name="Text 57"/>
          <p:cNvSpPr/>
          <p:nvPr/>
        </p:nvSpPr>
        <p:spPr>
          <a:xfrm>
            <a:off x="4800600" y="3044952"/>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of massive LLMs with minimal accuracy loss</a:t>
            </a:r>
            <a:endParaRPr lang="en-US" sz="1000" dirty="0"/>
          </a:p>
        </p:txBody>
      </p:sp>
      <p:sp>
        <p:nvSpPr>
          <p:cNvPr id="60" name="Shape 58"/>
          <p:cNvSpPr/>
          <p:nvPr/>
        </p:nvSpPr>
        <p:spPr>
          <a:xfrm>
            <a:off x="9006840" y="2999232"/>
            <a:ext cx="3017520" cy="493776"/>
          </a:xfrm>
          <a:prstGeom prst="rect">
            <a:avLst/>
          </a:prstGeom>
          <a:solidFill>
            <a:srgbClr val="FFFFFF"/>
          </a:solidFill>
          <a:ln w="12700">
            <a:solidFill>
              <a:srgbClr val="3C2864"/>
            </a:solidFill>
            <a:prstDash val="solid"/>
          </a:ln>
        </p:spPr>
      </p:sp>
      <p:sp>
        <p:nvSpPr>
          <p:cNvPr id="61" name="Text 59"/>
          <p:cNvSpPr/>
          <p:nvPr/>
        </p:nvSpPr>
        <p:spPr>
          <a:xfrm>
            <a:off x="9052560" y="3044952"/>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baseline compared against FCNP iterative compression</a:t>
            </a:r>
            <a:endParaRPr lang="en-US" sz="1000" dirty="0"/>
          </a:p>
        </p:txBody>
      </p:sp>
      <p:sp>
        <p:nvSpPr>
          <p:cNvPr id="62" name="Shape 60"/>
          <p:cNvSpPr/>
          <p:nvPr/>
        </p:nvSpPr>
        <p:spPr>
          <a:xfrm>
            <a:off x="274320" y="3493008"/>
            <a:ext cx="2743200" cy="493776"/>
          </a:xfrm>
          <a:prstGeom prst="rect">
            <a:avLst/>
          </a:prstGeom>
          <a:solidFill>
            <a:srgbClr val="E8E2F4"/>
          </a:solidFill>
          <a:ln w="12700">
            <a:solidFill>
              <a:srgbClr val="3C2864"/>
            </a:solidFill>
            <a:prstDash val="solid"/>
          </a:ln>
        </p:spPr>
      </p:sp>
      <p:sp>
        <p:nvSpPr>
          <p:cNvPr id="63" name="Shape 61">
            <a:hlinkClick r:id="rId6" tooltip=""/>
          </p:cNvPr>
          <p:cNvSpPr/>
          <p:nvPr/>
        </p:nvSpPr>
        <p:spPr>
          <a:xfrm>
            <a:off x="301752" y="3520440"/>
            <a:ext cx="2688336" cy="438912"/>
          </a:xfrm>
          <a:prstGeom prst="rect">
            <a:avLst/>
          </a:prstGeom>
          <a:solidFill>
            <a:srgbClr val="FFFFFF">
              <a:alpha val="0"/>
            </a:srgbClr>
          </a:solidFill>
          <a:ln w="12700">
            <a:solidFill>
              <a:srgbClr val="FFFFFF">
                <a:alpha val="0"/>
              </a:srgbClr>
            </a:solidFill>
            <a:prstDash val="solid"/>
          </a:ln>
        </p:spPr>
      </p:sp>
      <p:sp>
        <p:nvSpPr>
          <p:cNvPr id="64" name="Text 62"/>
          <p:cNvSpPr/>
          <p:nvPr/>
        </p:nvSpPr>
        <p:spPr>
          <a:xfrm>
            <a:off x="320040" y="3538728"/>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Scissorhands (Liu et al., 2023)</a:t>
            </a:r>
            <a:endParaRPr lang="en-US" sz="1000" dirty="0"/>
          </a:p>
        </p:txBody>
      </p:sp>
      <p:sp>
        <p:nvSpPr>
          <p:cNvPr id="65" name="Shape 63"/>
          <p:cNvSpPr/>
          <p:nvPr/>
        </p:nvSpPr>
        <p:spPr>
          <a:xfrm>
            <a:off x="3063240" y="3493008"/>
            <a:ext cx="1645920" cy="493776"/>
          </a:xfrm>
          <a:prstGeom prst="rect">
            <a:avLst/>
          </a:prstGeom>
          <a:solidFill>
            <a:srgbClr val="E8E2F4"/>
          </a:solidFill>
          <a:ln w="12700">
            <a:solidFill>
              <a:srgbClr val="3C2864"/>
            </a:solidFill>
            <a:prstDash val="solid"/>
          </a:ln>
        </p:spPr>
      </p:sp>
      <p:sp>
        <p:nvSpPr>
          <p:cNvPr id="66" name="Text 64"/>
          <p:cNvSpPr/>
          <p:nvPr/>
        </p:nvSpPr>
        <p:spPr>
          <a:xfrm>
            <a:off x="3108960" y="3538728"/>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 — arXiv:2305.17118</a:t>
            </a:r>
            <a:endParaRPr lang="en-US" sz="1000" dirty="0"/>
          </a:p>
        </p:txBody>
      </p:sp>
      <p:sp>
        <p:nvSpPr>
          <p:cNvPr id="67" name="Shape 65"/>
          <p:cNvSpPr/>
          <p:nvPr/>
        </p:nvSpPr>
        <p:spPr>
          <a:xfrm>
            <a:off x="4754880" y="3493008"/>
            <a:ext cx="4206240" cy="493776"/>
          </a:xfrm>
          <a:prstGeom prst="rect">
            <a:avLst/>
          </a:prstGeom>
          <a:solidFill>
            <a:srgbClr val="E8E2F4"/>
          </a:solidFill>
          <a:ln w="12700">
            <a:solidFill>
              <a:srgbClr val="3C2864"/>
            </a:solidFill>
            <a:prstDash val="solid"/>
          </a:ln>
        </p:spPr>
      </p:sp>
      <p:sp>
        <p:nvSpPr>
          <p:cNvPr id="68" name="Text 66"/>
          <p:cNvSpPr/>
          <p:nvPr/>
        </p:nvSpPr>
        <p:spPr>
          <a:xfrm>
            <a:off x="4800600" y="3538728"/>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Importance persistence enables selective KV retention</a:t>
            </a:r>
            <a:endParaRPr lang="en-US" sz="1000" dirty="0"/>
          </a:p>
        </p:txBody>
      </p:sp>
      <p:sp>
        <p:nvSpPr>
          <p:cNvPr id="69" name="Shape 67"/>
          <p:cNvSpPr/>
          <p:nvPr/>
        </p:nvSpPr>
        <p:spPr>
          <a:xfrm>
            <a:off x="9006840" y="3493008"/>
            <a:ext cx="3017520" cy="493776"/>
          </a:xfrm>
          <a:prstGeom prst="rect">
            <a:avLst/>
          </a:prstGeom>
          <a:solidFill>
            <a:srgbClr val="E8E2F4"/>
          </a:solidFill>
          <a:ln w="12700">
            <a:solidFill>
              <a:srgbClr val="3C2864"/>
            </a:solidFill>
            <a:prstDash val="solid"/>
          </a:ln>
        </p:spPr>
      </p:sp>
      <p:sp>
        <p:nvSpPr>
          <p:cNvPr id="70" name="Text 68"/>
          <p:cNvSpPr/>
          <p:nvPr/>
        </p:nvSpPr>
        <p:spPr>
          <a:xfrm>
            <a:off x="9052560" y="3538728"/>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Token importance stability reused in FCNP context-graph scoring</a:t>
            </a:r>
            <a:endParaRPr lang="en-US" sz="1000" dirty="0"/>
          </a:p>
        </p:txBody>
      </p:sp>
      <p:sp>
        <p:nvSpPr>
          <p:cNvPr id="71" name="Shape 69"/>
          <p:cNvSpPr/>
          <p:nvPr/>
        </p:nvSpPr>
        <p:spPr>
          <a:xfrm>
            <a:off x="274320" y="3986784"/>
            <a:ext cx="2743200" cy="493776"/>
          </a:xfrm>
          <a:prstGeom prst="rect">
            <a:avLst/>
          </a:prstGeom>
          <a:solidFill>
            <a:srgbClr val="FFFFFF"/>
          </a:solidFill>
          <a:ln w="12700">
            <a:solidFill>
              <a:srgbClr val="3C2864"/>
            </a:solidFill>
            <a:prstDash val="solid"/>
          </a:ln>
        </p:spPr>
      </p:sp>
      <p:sp>
        <p:nvSpPr>
          <p:cNvPr id="72" name="Shape 70">
            <a:hlinkClick r:id="rId7" tooltip=""/>
          </p:cNvPr>
          <p:cNvSpPr/>
          <p:nvPr/>
        </p:nvSpPr>
        <p:spPr>
          <a:xfrm>
            <a:off x="301752" y="4014216"/>
            <a:ext cx="2688336" cy="438912"/>
          </a:xfrm>
          <a:prstGeom prst="rect">
            <a:avLst/>
          </a:prstGeom>
          <a:solidFill>
            <a:srgbClr val="FFFFFF">
              <a:alpha val="0"/>
            </a:srgbClr>
          </a:solidFill>
          <a:ln w="12700">
            <a:solidFill>
              <a:srgbClr val="FFFFFF">
                <a:alpha val="0"/>
              </a:srgbClr>
            </a:solidFill>
            <a:prstDash val="solid"/>
          </a:ln>
        </p:spPr>
      </p:sp>
      <p:sp>
        <p:nvSpPr>
          <p:cNvPr id="73" name="Text 71"/>
          <p:cNvSpPr/>
          <p:nvPr/>
        </p:nvSpPr>
        <p:spPr>
          <a:xfrm>
            <a:off x="320040" y="4032504"/>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AdaKV (Ge et al., 2024)</a:t>
            </a:r>
            <a:endParaRPr lang="en-US" sz="1000" dirty="0"/>
          </a:p>
        </p:txBody>
      </p:sp>
      <p:sp>
        <p:nvSpPr>
          <p:cNvPr id="74" name="Shape 72"/>
          <p:cNvSpPr/>
          <p:nvPr/>
        </p:nvSpPr>
        <p:spPr>
          <a:xfrm>
            <a:off x="3063240" y="3986784"/>
            <a:ext cx="1645920" cy="493776"/>
          </a:xfrm>
          <a:prstGeom prst="rect">
            <a:avLst/>
          </a:prstGeom>
          <a:solidFill>
            <a:srgbClr val="FFFFFF"/>
          </a:solidFill>
          <a:ln w="12700">
            <a:solidFill>
              <a:srgbClr val="3C2864"/>
            </a:solidFill>
            <a:prstDash val="solid"/>
          </a:ln>
        </p:spPr>
      </p:sp>
      <p:sp>
        <p:nvSpPr>
          <p:cNvPr id="75" name="Text 73"/>
          <p:cNvSpPr/>
          <p:nvPr/>
        </p:nvSpPr>
        <p:spPr>
          <a:xfrm>
            <a:off x="3108960" y="4032504"/>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 — arXiv:2407.11550</a:t>
            </a:r>
            <a:endParaRPr lang="en-US" sz="1000" dirty="0"/>
          </a:p>
        </p:txBody>
      </p:sp>
      <p:sp>
        <p:nvSpPr>
          <p:cNvPr id="76" name="Shape 74"/>
          <p:cNvSpPr/>
          <p:nvPr/>
        </p:nvSpPr>
        <p:spPr>
          <a:xfrm>
            <a:off x="4754880" y="3986784"/>
            <a:ext cx="4206240" cy="493776"/>
          </a:xfrm>
          <a:prstGeom prst="rect">
            <a:avLst/>
          </a:prstGeom>
          <a:solidFill>
            <a:srgbClr val="FFFFFF"/>
          </a:solidFill>
          <a:ln w="12700">
            <a:solidFill>
              <a:srgbClr val="3C2864"/>
            </a:solidFill>
            <a:prstDash val="solid"/>
          </a:ln>
        </p:spPr>
      </p:sp>
      <p:sp>
        <p:nvSpPr>
          <p:cNvPr id="77" name="Text 75"/>
          <p:cNvSpPr/>
          <p:nvPr/>
        </p:nvSpPr>
        <p:spPr>
          <a:xfrm>
            <a:off x="4800600" y="4032504"/>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KV budget allocation guided by model internals</a:t>
            </a:r>
            <a:endParaRPr lang="en-US" sz="1000" dirty="0"/>
          </a:p>
        </p:txBody>
      </p:sp>
      <p:sp>
        <p:nvSpPr>
          <p:cNvPr id="78" name="Shape 76"/>
          <p:cNvSpPr/>
          <p:nvPr/>
        </p:nvSpPr>
        <p:spPr>
          <a:xfrm>
            <a:off x="9006840" y="3986784"/>
            <a:ext cx="3017520" cy="493776"/>
          </a:xfrm>
          <a:prstGeom prst="rect">
            <a:avLst/>
          </a:prstGeom>
          <a:solidFill>
            <a:srgbClr val="FFFFFF"/>
          </a:solidFill>
          <a:ln w="12700">
            <a:solidFill>
              <a:srgbClr val="3C2864"/>
            </a:solidFill>
            <a:prstDash val="solid"/>
          </a:ln>
        </p:spPr>
      </p:sp>
      <p:sp>
        <p:nvSpPr>
          <p:cNvPr id="79" name="Text 77"/>
          <p:cNvSpPr/>
          <p:nvPr/>
        </p:nvSpPr>
        <p:spPr>
          <a:xfrm>
            <a:off x="9052560" y="4032504"/>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budget allocation strategy for FCNP per-agent allocation</a:t>
            </a:r>
            <a:endParaRPr lang="en-US" sz="1000" dirty="0"/>
          </a:p>
        </p:txBody>
      </p:sp>
      <p:sp>
        <p:nvSpPr>
          <p:cNvPr id="80" name="Shape 78"/>
          <p:cNvSpPr/>
          <p:nvPr/>
        </p:nvSpPr>
        <p:spPr>
          <a:xfrm>
            <a:off x="274320" y="4480560"/>
            <a:ext cx="2743200" cy="493776"/>
          </a:xfrm>
          <a:prstGeom prst="rect">
            <a:avLst/>
          </a:prstGeom>
          <a:solidFill>
            <a:srgbClr val="E8E2F4"/>
          </a:solidFill>
          <a:ln w="12700">
            <a:solidFill>
              <a:srgbClr val="3C2864"/>
            </a:solidFill>
            <a:prstDash val="solid"/>
          </a:ln>
        </p:spPr>
      </p:sp>
      <p:sp>
        <p:nvSpPr>
          <p:cNvPr id="81" name="Shape 79">
            <a:hlinkClick r:id="rId8" tooltip=""/>
          </p:cNvPr>
          <p:cNvSpPr/>
          <p:nvPr/>
        </p:nvSpPr>
        <p:spPr>
          <a:xfrm>
            <a:off x="301752" y="4507992"/>
            <a:ext cx="2688336" cy="438912"/>
          </a:xfrm>
          <a:prstGeom prst="rect">
            <a:avLst/>
          </a:prstGeom>
          <a:solidFill>
            <a:srgbClr val="FFFFFF">
              <a:alpha val="0"/>
            </a:srgbClr>
          </a:solidFill>
          <a:ln w="12700">
            <a:solidFill>
              <a:srgbClr val="FFFFFF">
                <a:alpha val="0"/>
              </a:srgbClr>
            </a:solidFill>
            <a:prstDash val="solid"/>
          </a:ln>
        </p:spPr>
      </p:sp>
      <p:sp>
        <p:nvSpPr>
          <p:cNvPr id="82" name="Text 80"/>
          <p:cNvSpPr/>
          <p:nvPr/>
        </p:nvSpPr>
        <p:spPr>
          <a:xfrm>
            <a:off x="320040" y="4526280"/>
            <a:ext cx="2651760" cy="402336"/>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Finch (Corallo et al., 2024)</a:t>
            </a:r>
            <a:endParaRPr lang="en-US" sz="1000" dirty="0"/>
          </a:p>
        </p:txBody>
      </p:sp>
      <p:sp>
        <p:nvSpPr>
          <p:cNvPr id="83" name="Shape 81"/>
          <p:cNvSpPr/>
          <p:nvPr/>
        </p:nvSpPr>
        <p:spPr>
          <a:xfrm>
            <a:off x="3063240" y="4480560"/>
            <a:ext cx="1645920" cy="493776"/>
          </a:xfrm>
          <a:prstGeom prst="rect">
            <a:avLst/>
          </a:prstGeom>
          <a:solidFill>
            <a:srgbClr val="E8E2F4"/>
          </a:solidFill>
          <a:ln w="12700">
            <a:solidFill>
              <a:srgbClr val="3C2864"/>
            </a:solidFill>
            <a:prstDash val="solid"/>
          </a:ln>
        </p:spPr>
      </p:sp>
      <p:sp>
        <p:nvSpPr>
          <p:cNvPr id="84" name="Text 82"/>
          <p:cNvSpPr/>
          <p:nvPr/>
        </p:nvSpPr>
        <p:spPr>
          <a:xfrm>
            <a:off x="3108960" y="4526280"/>
            <a:ext cx="15544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TACL 2024 — arXiv:2408.00167</a:t>
            </a:r>
            <a:endParaRPr lang="en-US" sz="1000" dirty="0"/>
          </a:p>
        </p:txBody>
      </p:sp>
      <p:sp>
        <p:nvSpPr>
          <p:cNvPr id="85" name="Shape 83"/>
          <p:cNvSpPr/>
          <p:nvPr/>
        </p:nvSpPr>
        <p:spPr>
          <a:xfrm>
            <a:off x="4754880" y="4480560"/>
            <a:ext cx="4206240" cy="493776"/>
          </a:xfrm>
          <a:prstGeom prst="rect">
            <a:avLst/>
          </a:prstGeom>
          <a:solidFill>
            <a:srgbClr val="E8E2F4"/>
          </a:solidFill>
          <a:ln w="12700">
            <a:solidFill>
              <a:srgbClr val="3C2864"/>
            </a:solidFill>
            <a:prstDash val="solid"/>
          </a:ln>
        </p:spPr>
      </p:sp>
      <p:sp>
        <p:nvSpPr>
          <p:cNvPr id="86" name="Text 84"/>
          <p:cNvSpPr/>
          <p:nvPr/>
        </p:nvSpPr>
        <p:spPr>
          <a:xfrm>
            <a:off x="4800600" y="4526280"/>
            <a:ext cx="41148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KV cache compression with minimal loss</a:t>
            </a:r>
            <a:endParaRPr lang="en-US" sz="1000" dirty="0"/>
          </a:p>
        </p:txBody>
      </p:sp>
      <p:sp>
        <p:nvSpPr>
          <p:cNvPr id="87" name="Shape 85"/>
          <p:cNvSpPr/>
          <p:nvPr/>
        </p:nvSpPr>
        <p:spPr>
          <a:xfrm>
            <a:off x="9006840" y="4480560"/>
            <a:ext cx="3017520" cy="493776"/>
          </a:xfrm>
          <a:prstGeom prst="rect">
            <a:avLst/>
          </a:prstGeom>
          <a:solidFill>
            <a:srgbClr val="E8E2F4"/>
          </a:solidFill>
          <a:ln w="12700">
            <a:solidFill>
              <a:srgbClr val="3C2864"/>
            </a:solidFill>
            <a:prstDash val="solid"/>
          </a:ln>
        </p:spPr>
      </p:sp>
      <p:sp>
        <p:nvSpPr>
          <p:cNvPr id="88" name="Text 86"/>
          <p:cNvSpPr/>
          <p:nvPr/>
        </p:nvSpPr>
        <p:spPr>
          <a:xfrm>
            <a:off x="9052560" y="4526280"/>
            <a:ext cx="292608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scoring complements FCNP citation-preserving compression</a:t>
            </a:r>
            <a:endParaRPr lang="en-US" sz="1000" dirty="0"/>
          </a:p>
        </p:txBody>
      </p:sp>
      <p:sp>
        <p:nvSpPr>
          <p:cNvPr id="89" name="Shape 87"/>
          <p:cNvSpPr/>
          <p:nvPr/>
        </p:nvSpPr>
        <p:spPr>
          <a:xfrm>
            <a:off x="274320" y="5010912"/>
            <a:ext cx="11640312" cy="658368"/>
          </a:xfrm>
          <a:prstGeom prst="rect">
            <a:avLst/>
          </a:prstGeom>
          <a:solidFill>
            <a:srgbClr val="3C2864"/>
          </a:solidFill>
          <a:ln w="12700">
            <a:solidFill>
              <a:srgbClr val="3C2864"/>
            </a:solidFill>
            <a:prstDash val="solid"/>
          </a:ln>
        </p:spPr>
      </p:sp>
      <p:sp>
        <p:nvSpPr>
          <p:cNvPr id="90" name="Text 88"/>
          <p:cNvSpPr/>
          <p:nvPr/>
        </p:nvSpPr>
        <p:spPr>
          <a:xfrm>
            <a:off x="411480" y="5047488"/>
            <a:ext cx="114300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INSIGHT: Flow-optimisation pruning from graph theory achieves high compression with convergence guarantees. MISSING: 10:1 compression with ≥99% citation accuracy in multi-agent LLM context graphs. → FCNP fills this gap.</a:t>
            </a:r>
            <a:endParaRPr lang="en-US" sz="1300" dirty="0"/>
          </a:p>
        </p:txBody>
      </p:sp>
      <p:sp>
        <p:nvSpPr>
          <p:cNvPr id="91" name="Text 89"/>
          <p:cNvSpPr/>
          <p:nvPr/>
        </p:nvSpPr>
        <p:spPr>
          <a:xfrm>
            <a:off x="274320" y="5742432"/>
            <a:ext cx="11640312" cy="164592"/>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00" b="1" u="sng" dirty="0">
                <a:solidFill>
                  <a:srgbClr val="1565C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 Drive Folder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Literature Review — Gap Summary Across All Four Themes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Four independent literature streams each reveal a distinct, unresolved gap. The Adaptive Context Reasoning System (ACRS) addresses all four simultaneously.</a:t>
            </a:r>
            <a:endParaRPr lang="en-US" sz="1400" dirty="0"/>
          </a:p>
        </p:txBody>
      </p:sp>
      <p:sp>
        <p:nvSpPr>
          <p:cNvPr id="10" name="Shape 8"/>
          <p:cNvSpPr/>
          <p:nvPr/>
        </p:nvSpPr>
        <p:spPr>
          <a:xfrm>
            <a:off x="274320" y="960120"/>
            <a:ext cx="1371600" cy="1078992"/>
          </a:xfrm>
          <a:prstGeom prst="rect">
            <a:avLst/>
          </a:prstGeom>
          <a:solidFill>
            <a:srgbClr val="C8402A"/>
          </a:solidFill>
          <a:ln w="12700">
            <a:solidFill>
              <a:srgbClr val="C8402A"/>
            </a:solidFill>
            <a:prstDash val="solid"/>
          </a:ln>
        </p:spPr>
      </p:sp>
      <p:sp>
        <p:nvSpPr>
          <p:cNvPr id="11" name="Text 9"/>
          <p:cNvSpPr/>
          <p:nvPr/>
        </p:nvSpPr>
        <p:spPr>
          <a:xfrm>
            <a:off x="283464" y="1051560"/>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1</a:t>
            </a:r>
            <a:endParaRPr lang="en-US" sz="1400" dirty="0"/>
          </a:p>
        </p:txBody>
      </p:sp>
      <p:sp>
        <p:nvSpPr>
          <p:cNvPr id="12" name="Text 10"/>
          <p:cNvSpPr/>
          <p:nvPr/>
        </p:nvSpPr>
        <p:spPr>
          <a:xfrm>
            <a:off x="283464" y="1325880"/>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Normalised Discounted Cumulative Gain (NDCG)@5 ≥ 0.52</a:t>
            </a:r>
            <a:endParaRPr lang="en-US" sz="1000" dirty="0"/>
          </a:p>
        </p:txBody>
      </p:sp>
      <p:sp>
        <p:nvSpPr>
          <p:cNvPr id="13" name="Shape 11"/>
          <p:cNvSpPr/>
          <p:nvPr/>
        </p:nvSpPr>
        <p:spPr>
          <a:xfrm>
            <a:off x="1719072" y="960120"/>
            <a:ext cx="10149840" cy="1078992"/>
          </a:xfrm>
          <a:prstGeom prst="rect">
            <a:avLst/>
          </a:prstGeom>
          <a:solidFill>
            <a:srgbClr val="FFFFFF"/>
          </a:solidFill>
          <a:ln w="12700">
            <a:solidFill>
              <a:srgbClr val="3C2864"/>
            </a:solidFill>
            <a:prstDash val="solid"/>
          </a:ln>
        </p:spPr>
      </p:sp>
      <p:sp>
        <p:nvSpPr>
          <p:cNvPr id="14" name="Text 12"/>
          <p:cNvSpPr/>
          <p:nvPr/>
        </p:nvSpPr>
        <p:spPr>
          <a:xfrm>
            <a:off x="1828800" y="1005840"/>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1 — SessionRerank+</a:t>
            </a:r>
            <a:endParaRPr lang="en-US" sz="1400" dirty="0"/>
          </a:p>
        </p:txBody>
      </p:sp>
      <p:sp>
        <p:nvSpPr>
          <p:cNvPr id="15" name="Text 13"/>
          <p:cNvSpPr/>
          <p:nvPr/>
        </p:nvSpPr>
        <p:spPr>
          <a:xfrm>
            <a:off x="1828800" y="1289304"/>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prior work applies session-history activity scoring to dynamically rerank tool relevance across multi-turn agent dialogues on large-scale tool catalogues (ToolBench 16k+ APIs).</a:t>
            </a:r>
            <a:endParaRPr lang="en-US" sz="1300" dirty="0"/>
          </a:p>
        </p:txBody>
      </p:sp>
      <p:sp>
        <p:nvSpPr>
          <p:cNvPr id="16" name="Shape 14"/>
          <p:cNvSpPr/>
          <p:nvPr/>
        </p:nvSpPr>
        <p:spPr>
          <a:xfrm>
            <a:off x="274320" y="2221992"/>
            <a:ext cx="1371600" cy="1078992"/>
          </a:xfrm>
          <a:prstGeom prst="rect">
            <a:avLst/>
          </a:prstGeom>
          <a:solidFill>
            <a:srgbClr val="C8402A"/>
          </a:solidFill>
          <a:ln w="12700">
            <a:solidFill>
              <a:srgbClr val="C8402A"/>
            </a:solidFill>
            <a:prstDash val="solid"/>
          </a:ln>
        </p:spPr>
      </p:sp>
      <p:sp>
        <p:nvSpPr>
          <p:cNvPr id="17" name="Text 15"/>
          <p:cNvSpPr/>
          <p:nvPr/>
        </p:nvSpPr>
        <p:spPr>
          <a:xfrm>
            <a:off x="283464" y="2313432"/>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2</a:t>
            </a:r>
            <a:endParaRPr lang="en-US" sz="1400" dirty="0"/>
          </a:p>
        </p:txBody>
      </p:sp>
      <p:sp>
        <p:nvSpPr>
          <p:cNvPr id="18" name="Text 16"/>
          <p:cNvSpPr/>
          <p:nvPr/>
        </p:nvSpPr>
        <p:spPr>
          <a:xfrm>
            <a:off x="283464" y="2587752"/>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Success ≥ 47%, Latency ≤ 265ms</a:t>
            </a:r>
            <a:endParaRPr lang="en-US" sz="1000" dirty="0"/>
          </a:p>
        </p:txBody>
      </p:sp>
      <p:sp>
        <p:nvSpPr>
          <p:cNvPr id="19" name="Shape 17"/>
          <p:cNvSpPr/>
          <p:nvPr/>
        </p:nvSpPr>
        <p:spPr>
          <a:xfrm>
            <a:off x="1719072" y="2221992"/>
            <a:ext cx="10149840" cy="1078992"/>
          </a:xfrm>
          <a:prstGeom prst="rect">
            <a:avLst/>
          </a:prstGeom>
          <a:solidFill>
            <a:srgbClr val="FFFFFF"/>
          </a:solidFill>
          <a:ln w="12700">
            <a:solidFill>
              <a:srgbClr val="3C2864"/>
            </a:solidFill>
            <a:prstDash val="solid"/>
          </a:ln>
        </p:spPr>
      </p:sp>
      <p:sp>
        <p:nvSpPr>
          <p:cNvPr id="20" name="Text 18"/>
          <p:cNvSpPr/>
          <p:nvPr/>
        </p:nvSpPr>
        <p:spPr>
          <a:xfrm>
            <a:off x="1828800" y="2267712"/>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2 — APRR+CDR+PDR</a:t>
            </a:r>
            <a:endParaRPr lang="en-US" sz="1400" dirty="0"/>
          </a:p>
        </p:txBody>
      </p:sp>
      <p:sp>
        <p:nvSpPr>
          <p:cNvPr id="21" name="Text 19"/>
          <p:cNvSpPr/>
          <p:nvPr/>
        </p:nvSpPr>
        <p:spPr>
          <a:xfrm>
            <a:off x="1828800" y="2551176"/>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system combines online Reinforcement Learning (RL) weight updates, exponential decay, chain-of-thought quality scoring (CDR), and parallel functional-token dispatch (PDR) in a single routing framework.</a:t>
            </a:r>
            <a:endParaRPr lang="en-US" sz="1300" dirty="0"/>
          </a:p>
        </p:txBody>
      </p:sp>
      <p:sp>
        <p:nvSpPr>
          <p:cNvPr id="22" name="Shape 20"/>
          <p:cNvSpPr/>
          <p:nvPr/>
        </p:nvSpPr>
        <p:spPr>
          <a:xfrm>
            <a:off x="274320" y="3483864"/>
            <a:ext cx="1371600" cy="1078992"/>
          </a:xfrm>
          <a:prstGeom prst="rect">
            <a:avLst/>
          </a:prstGeom>
          <a:solidFill>
            <a:srgbClr val="C8402A"/>
          </a:solidFill>
          <a:ln w="12700">
            <a:solidFill>
              <a:srgbClr val="C8402A"/>
            </a:solidFill>
            <a:prstDash val="solid"/>
          </a:ln>
        </p:spPr>
      </p:sp>
      <p:sp>
        <p:nvSpPr>
          <p:cNvPr id="23" name="Text 21"/>
          <p:cNvSpPr/>
          <p:nvPr/>
        </p:nvSpPr>
        <p:spPr>
          <a:xfrm>
            <a:off x="283464" y="3575304"/>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3</a:t>
            </a:r>
            <a:endParaRPr lang="en-US" sz="1400" dirty="0"/>
          </a:p>
        </p:txBody>
      </p:sp>
      <p:sp>
        <p:nvSpPr>
          <p:cNvPr id="24" name="Text 22"/>
          <p:cNvSpPr/>
          <p:nvPr/>
        </p:nvSpPr>
        <p:spPr>
          <a:xfrm>
            <a:off x="283464" y="3849624"/>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Availability ≥ 97%</a:t>
            </a:r>
            <a:endParaRPr lang="en-US" sz="1000" dirty="0"/>
          </a:p>
        </p:txBody>
      </p:sp>
      <p:sp>
        <p:nvSpPr>
          <p:cNvPr id="25" name="Shape 23"/>
          <p:cNvSpPr/>
          <p:nvPr/>
        </p:nvSpPr>
        <p:spPr>
          <a:xfrm>
            <a:off x="1719072" y="3483864"/>
            <a:ext cx="10149840" cy="1078992"/>
          </a:xfrm>
          <a:prstGeom prst="rect">
            <a:avLst/>
          </a:prstGeom>
          <a:solidFill>
            <a:srgbClr val="FFFFFF"/>
          </a:solidFill>
          <a:ln w="12700">
            <a:solidFill>
              <a:srgbClr val="3C2864"/>
            </a:solidFill>
            <a:prstDash val="solid"/>
          </a:ln>
        </p:spPr>
      </p:sp>
      <p:sp>
        <p:nvSpPr>
          <p:cNvPr id="26" name="Text 24"/>
          <p:cNvSpPr/>
          <p:nvPr/>
        </p:nvSpPr>
        <p:spPr>
          <a:xfrm>
            <a:off x="1828800" y="3529584"/>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3 — MNCD</a:t>
            </a:r>
            <a:endParaRPr lang="en-US" sz="1400" dirty="0"/>
          </a:p>
        </p:txBody>
      </p:sp>
      <p:sp>
        <p:nvSpPr>
          <p:cNvPr id="27" name="Text 25"/>
          <p:cNvSpPr/>
          <p:nvPr/>
        </p:nvSpPr>
        <p:spPr>
          <a:xfrm>
            <a:off x="1828800" y="3813048"/>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existing decentralised MAS protocol delivers ≥97% Large Language Model (LLM) session context availability under 2-of-5 node failures with O(log n) propagation rounds.</a:t>
            </a:r>
            <a:endParaRPr lang="en-US" sz="1300" dirty="0"/>
          </a:p>
        </p:txBody>
      </p:sp>
      <p:sp>
        <p:nvSpPr>
          <p:cNvPr id="28" name="Shape 26"/>
          <p:cNvSpPr/>
          <p:nvPr/>
        </p:nvSpPr>
        <p:spPr>
          <a:xfrm>
            <a:off x="274320" y="4745736"/>
            <a:ext cx="1371600" cy="1078992"/>
          </a:xfrm>
          <a:prstGeom prst="rect">
            <a:avLst/>
          </a:prstGeom>
          <a:solidFill>
            <a:srgbClr val="C8402A"/>
          </a:solidFill>
          <a:ln w="12700">
            <a:solidFill>
              <a:srgbClr val="C8402A"/>
            </a:solidFill>
            <a:prstDash val="solid"/>
          </a:ln>
        </p:spPr>
      </p:sp>
      <p:sp>
        <p:nvSpPr>
          <p:cNvPr id="29" name="Text 27"/>
          <p:cNvSpPr/>
          <p:nvPr/>
        </p:nvSpPr>
        <p:spPr>
          <a:xfrm>
            <a:off x="283464" y="4837176"/>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4</a:t>
            </a:r>
            <a:endParaRPr lang="en-US" sz="1400" dirty="0"/>
          </a:p>
        </p:txBody>
      </p:sp>
      <p:sp>
        <p:nvSpPr>
          <p:cNvPr id="30" name="Text 28"/>
          <p:cNvSpPr/>
          <p:nvPr/>
        </p:nvSpPr>
        <p:spPr>
          <a:xfrm>
            <a:off x="283464" y="5111496"/>
            <a:ext cx="1353312" cy="65836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10:1 compression, ≥99% citation accuracy</a:t>
            </a:r>
            <a:endParaRPr lang="en-US" sz="1000" dirty="0"/>
          </a:p>
        </p:txBody>
      </p:sp>
      <p:sp>
        <p:nvSpPr>
          <p:cNvPr id="31" name="Shape 29"/>
          <p:cNvSpPr/>
          <p:nvPr/>
        </p:nvSpPr>
        <p:spPr>
          <a:xfrm>
            <a:off x="1719072" y="4745736"/>
            <a:ext cx="10149840" cy="1078992"/>
          </a:xfrm>
          <a:prstGeom prst="rect">
            <a:avLst/>
          </a:prstGeom>
          <a:solidFill>
            <a:srgbClr val="FFFFFF"/>
          </a:solidFill>
          <a:ln w="12700">
            <a:solidFill>
              <a:srgbClr val="3C2864"/>
            </a:solidFill>
            <a:prstDash val="solid"/>
          </a:ln>
        </p:spPr>
      </p:sp>
      <p:sp>
        <p:nvSpPr>
          <p:cNvPr id="32" name="Text 30"/>
          <p:cNvSpPr/>
          <p:nvPr/>
        </p:nvSpPr>
        <p:spPr>
          <a:xfrm>
            <a:off x="1828800" y="4791456"/>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4 — FCNP</a:t>
            </a:r>
            <a:endParaRPr lang="en-US" sz="1400" dirty="0"/>
          </a:p>
        </p:txBody>
      </p:sp>
      <p:sp>
        <p:nvSpPr>
          <p:cNvPr id="33" name="Text 31"/>
          <p:cNvSpPr/>
          <p:nvPr/>
        </p:nvSpPr>
        <p:spPr>
          <a:xfrm>
            <a:off x="1828800" y="5074920"/>
            <a:ext cx="9966960" cy="7132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 pruning algorithm achieves 10:1 token compression with ≥99% citation accuracy across 7 competitive baselines in multi-agent conversation context graphs.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Research Gaps → Four Objectives of ACRS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Each gap directly maps to one research objective. Together, they form the Adaptive Context Reasoning System (ACRS) framework.</a:t>
            </a:r>
            <a:endParaRPr lang="en-US" sz="1400" dirty="0"/>
          </a:p>
        </p:txBody>
      </p:sp>
      <p:sp>
        <p:nvSpPr>
          <p:cNvPr id="10" name="Shape 8"/>
          <p:cNvSpPr/>
          <p:nvPr/>
        </p:nvSpPr>
        <p:spPr>
          <a:xfrm>
            <a:off x="274320" y="960120"/>
            <a:ext cx="11640312" cy="1298448"/>
          </a:xfrm>
          <a:prstGeom prst="rect">
            <a:avLst/>
          </a:prstGeom>
          <a:solidFill>
            <a:srgbClr val="FFFFFF"/>
          </a:solidFill>
          <a:ln w="12700">
            <a:solidFill>
              <a:srgbClr val="3C2864"/>
            </a:solidFill>
            <a:prstDash val="solid"/>
          </a:ln>
        </p:spPr>
      </p:sp>
      <p:sp>
        <p:nvSpPr>
          <p:cNvPr id="11" name="Shape 9"/>
          <p:cNvSpPr/>
          <p:nvPr/>
        </p:nvSpPr>
        <p:spPr>
          <a:xfrm>
            <a:off x="274320" y="960120"/>
            <a:ext cx="438912" cy="1298448"/>
          </a:xfrm>
          <a:prstGeom prst="rect">
            <a:avLst/>
          </a:prstGeom>
          <a:solidFill>
            <a:srgbClr val="3C2864"/>
          </a:solidFill>
          <a:ln w="12700">
            <a:solidFill>
              <a:srgbClr val="3C2864"/>
            </a:solidFill>
            <a:prstDash val="solid"/>
          </a:ln>
        </p:spPr>
      </p:sp>
      <p:sp>
        <p:nvSpPr>
          <p:cNvPr id="12" name="Text 10"/>
          <p:cNvSpPr/>
          <p:nvPr/>
        </p:nvSpPr>
        <p:spPr>
          <a:xfrm>
            <a:off x="274320" y="1371600"/>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777240" y="987552"/>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SessionRerank+ — Session-Aware Contextual Tool Reranker Plus</a:t>
            </a:r>
            <a:endParaRPr lang="en-US" sz="1200" dirty="0"/>
          </a:p>
        </p:txBody>
      </p:sp>
      <p:sp>
        <p:nvSpPr>
          <p:cNvPr id="14" name="Text 12"/>
          <p:cNvSpPr/>
          <p:nvPr/>
        </p:nvSpPr>
        <p:spPr>
          <a:xfrm>
            <a:off x="777240" y="1389888"/>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Static tool lookup ignores session history</a:t>
            </a:r>
            <a:endParaRPr lang="en-US" sz="1100" dirty="0"/>
          </a:p>
        </p:txBody>
      </p:sp>
      <p:sp>
        <p:nvSpPr>
          <p:cNvPr id="15" name="Text 13"/>
          <p:cNvSpPr/>
          <p:nvPr/>
        </p:nvSpPr>
        <p:spPr>
          <a:xfrm>
            <a:off x="777240" y="1636776"/>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session-aware activity-scoring mechanism to dynamically rerank tool relevance across multi-turn agent dialogues on large Application Programming Interface (API) catalogs.</a:t>
            </a:r>
            <a:endParaRPr lang="en-US" sz="1100" dirty="0"/>
          </a:p>
        </p:txBody>
      </p:sp>
      <p:sp>
        <p:nvSpPr>
          <p:cNvPr id="16" name="Shape 14"/>
          <p:cNvSpPr/>
          <p:nvPr/>
        </p:nvSpPr>
        <p:spPr>
          <a:xfrm>
            <a:off x="9098280" y="1069848"/>
            <a:ext cx="2697480" cy="1078992"/>
          </a:xfrm>
          <a:prstGeom prst="rect">
            <a:avLst/>
          </a:prstGeom>
          <a:solidFill>
            <a:srgbClr val="C8402A"/>
          </a:solidFill>
          <a:ln w="12700">
            <a:solidFill>
              <a:srgbClr val="C8402A"/>
            </a:solidFill>
            <a:prstDash val="solid"/>
          </a:ln>
        </p:spPr>
      </p:sp>
      <p:sp>
        <p:nvSpPr>
          <p:cNvPr id="17" name="Text 15"/>
          <p:cNvSpPr/>
          <p:nvPr/>
        </p:nvSpPr>
        <p:spPr>
          <a:xfrm>
            <a:off x="9116568" y="1124712"/>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Normalised Discounted Cumulative Gain (NDCG)@5 ≥ 0.52 on ToolBench (43,000 APIs)</a:t>
            </a:r>
            <a:endParaRPr lang="en-US" sz="1200" dirty="0"/>
          </a:p>
        </p:txBody>
      </p:sp>
      <p:sp>
        <p:nvSpPr>
          <p:cNvPr id="18" name="Shape 16"/>
          <p:cNvSpPr/>
          <p:nvPr/>
        </p:nvSpPr>
        <p:spPr>
          <a:xfrm>
            <a:off x="274320" y="2350008"/>
            <a:ext cx="11640312" cy="1298448"/>
          </a:xfrm>
          <a:prstGeom prst="rect">
            <a:avLst/>
          </a:prstGeom>
          <a:solidFill>
            <a:srgbClr val="FFFFFF"/>
          </a:solidFill>
          <a:ln w="12700">
            <a:solidFill>
              <a:srgbClr val="3C2864"/>
            </a:solidFill>
            <a:prstDash val="solid"/>
          </a:ln>
        </p:spPr>
      </p:sp>
      <p:sp>
        <p:nvSpPr>
          <p:cNvPr id="19" name="Shape 17"/>
          <p:cNvSpPr/>
          <p:nvPr/>
        </p:nvSpPr>
        <p:spPr>
          <a:xfrm>
            <a:off x="274320" y="2350008"/>
            <a:ext cx="438912" cy="1298448"/>
          </a:xfrm>
          <a:prstGeom prst="rect">
            <a:avLst/>
          </a:prstGeom>
          <a:solidFill>
            <a:srgbClr val="3C2864"/>
          </a:solidFill>
          <a:ln w="12700">
            <a:solidFill>
              <a:srgbClr val="3C2864"/>
            </a:solidFill>
            <a:prstDash val="solid"/>
          </a:ln>
        </p:spPr>
      </p:sp>
      <p:sp>
        <p:nvSpPr>
          <p:cNvPr id="20" name="Text 18"/>
          <p:cNvSpPr/>
          <p:nvPr/>
        </p:nvSpPr>
        <p:spPr>
          <a:xfrm>
            <a:off x="274320" y="2761488"/>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9"/>
          <p:cNvSpPr/>
          <p:nvPr/>
        </p:nvSpPr>
        <p:spPr>
          <a:xfrm>
            <a:off x="777240" y="2377440"/>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APRR+CDR+PDR — Adaptive Priority-aware Request Router + Context-Driven Routing + Parallel Dispatch Routing</a:t>
            </a:r>
            <a:endParaRPr lang="en-US" sz="1200" dirty="0"/>
          </a:p>
        </p:txBody>
      </p:sp>
      <p:sp>
        <p:nvSpPr>
          <p:cNvPr id="22" name="Text 20"/>
          <p:cNvSpPr/>
          <p:nvPr/>
        </p:nvSpPr>
        <p:spPr>
          <a:xfrm>
            <a:off x="777240" y="2779776"/>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system combines online Reinforcement Learning (RL) weight updates, exponential decay, chain-of-thought quality scoring (CDR), and parallel functional-token dispatch (PDR)</a:t>
            </a:r>
            <a:endParaRPr lang="en-US" sz="1100" dirty="0"/>
          </a:p>
        </p:txBody>
      </p:sp>
      <p:sp>
        <p:nvSpPr>
          <p:cNvPr id="23" name="Text 21"/>
          <p:cNvSpPr/>
          <p:nvPr/>
        </p:nvSpPr>
        <p:spPr>
          <a:xfrm>
            <a:off x="777240" y="3026664"/>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Build an online RL routing system with CDR chain-of-thought deliberation and PDR parallel agent dispatch, updated by live binary session feedback with exponential decay.</a:t>
            </a:r>
            <a:endParaRPr lang="en-US" sz="1100" dirty="0"/>
          </a:p>
        </p:txBody>
      </p:sp>
      <p:sp>
        <p:nvSpPr>
          <p:cNvPr id="24" name="Shape 22"/>
          <p:cNvSpPr/>
          <p:nvPr/>
        </p:nvSpPr>
        <p:spPr>
          <a:xfrm>
            <a:off x="9098280" y="2459736"/>
            <a:ext cx="2697480" cy="1078992"/>
          </a:xfrm>
          <a:prstGeom prst="rect">
            <a:avLst/>
          </a:prstGeom>
          <a:solidFill>
            <a:srgbClr val="C8402A"/>
          </a:solidFill>
          <a:ln w="12700">
            <a:solidFill>
              <a:srgbClr val="C8402A"/>
            </a:solidFill>
            <a:prstDash val="solid"/>
          </a:ln>
        </p:spPr>
      </p:sp>
      <p:sp>
        <p:nvSpPr>
          <p:cNvPr id="25" name="Text 23"/>
          <p:cNvSpPr/>
          <p:nvPr/>
        </p:nvSpPr>
        <p:spPr>
          <a:xfrm>
            <a:off x="9116568" y="2514600"/>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 success ≥ 47%, Latency ≤ 265ms, ≥2% over baseline routing</a:t>
            </a:r>
            <a:endParaRPr lang="en-US" sz="1200" dirty="0"/>
          </a:p>
        </p:txBody>
      </p:sp>
      <p:sp>
        <p:nvSpPr>
          <p:cNvPr id="26" name="Shape 24"/>
          <p:cNvSpPr/>
          <p:nvPr/>
        </p:nvSpPr>
        <p:spPr>
          <a:xfrm>
            <a:off x="274320" y="3739896"/>
            <a:ext cx="11640312" cy="1298448"/>
          </a:xfrm>
          <a:prstGeom prst="rect">
            <a:avLst/>
          </a:prstGeom>
          <a:solidFill>
            <a:srgbClr val="FFFFFF"/>
          </a:solidFill>
          <a:ln w="12700">
            <a:solidFill>
              <a:srgbClr val="3C2864"/>
            </a:solidFill>
            <a:prstDash val="solid"/>
          </a:ln>
        </p:spPr>
      </p:sp>
      <p:sp>
        <p:nvSpPr>
          <p:cNvPr id="27" name="Shape 25"/>
          <p:cNvSpPr/>
          <p:nvPr/>
        </p:nvSpPr>
        <p:spPr>
          <a:xfrm>
            <a:off x="274320" y="3739896"/>
            <a:ext cx="438912" cy="1298448"/>
          </a:xfrm>
          <a:prstGeom prst="rect">
            <a:avLst/>
          </a:prstGeom>
          <a:solidFill>
            <a:srgbClr val="3C2864"/>
          </a:solidFill>
          <a:ln w="12700">
            <a:solidFill>
              <a:srgbClr val="3C2864"/>
            </a:solidFill>
            <a:prstDash val="solid"/>
          </a:ln>
        </p:spPr>
      </p:sp>
      <p:sp>
        <p:nvSpPr>
          <p:cNvPr id="28" name="Text 26"/>
          <p:cNvSpPr/>
          <p:nvPr/>
        </p:nvSpPr>
        <p:spPr>
          <a:xfrm>
            <a:off x="274320" y="4151376"/>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7"/>
          <p:cNvSpPr/>
          <p:nvPr/>
        </p:nvSpPr>
        <p:spPr>
          <a:xfrm>
            <a:off x="777240" y="3767328"/>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MNCD — Multi-Node Context Distribution</a:t>
            </a:r>
            <a:endParaRPr lang="en-US" sz="1200" dirty="0"/>
          </a:p>
        </p:txBody>
      </p:sp>
      <p:sp>
        <p:nvSpPr>
          <p:cNvPr id="30" name="Text 28"/>
          <p:cNvSpPr/>
          <p:nvPr/>
        </p:nvSpPr>
        <p:spPr>
          <a:xfrm>
            <a:off x="777240" y="4169664"/>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decentralised MAS maintains ≥97% context availability under node failures</a:t>
            </a:r>
            <a:endParaRPr lang="en-US" sz="1100" dirty="0"/>
          </a:p>
        </p:txBody>
      </p:sp>
      <p:sp>
        <p:nvSpPr>
          <p:cNvPr id="31" name="Text 29"/>
          <p:cNvSpPr/>
          <p:nvPr/>
        </p:nvSpPr>
        <p:spPr>
          <a:xfrm>
            <a:off x="777240" y="4416552"/>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gossip-protocol broadcast system for resilient multi-agent context sharing with O(log n) propagation and fault tolerance under 2-of-5 node failures.</a:t>
            </a:r>
            <a:endParaRPr lang="en-US" sz="1100" dirty="0"/>
          </a:p>
        </p:txBody>
      </p:sp>
      <p:sp>
        <p:nvSpPr>
          <p:cNvPr id="32" name="Shape 30"/>
          <p:cNvSpPr/>
          <p:nvPr/>
        </p:nvSpPr>
        <p:spPr>
          <a:xfrm>
            <a:off x="9098280" y="3849624"/>
            <a:ext cx="2697480" cy="1078992"/>
          </a:xfrm>
          <a:prstGeom prst="rect">
            <a:avLst/>
          </a:prstGeom>
          <a:solidFill>
            <a:srgbClr val="C8402A"/>
          </a:solidFill>
          <a:ln w="12700">
            <a:solidFill>
              <a:srgbClr val="C8402A"/>
            </a:solidFill>
            <a:prstDash val="solid"/>
          </a:ln>
        </p:spPr>
      </p:sp>
      <p:sp>
        <p:nvSpPr>
          <p:cNvPr id="33" name="Text 31"/>
          <p:cNvSpPr/>
          <p:nvPr/>
        </p:nvSpPr>
        <p:spPr>
          <a:xfrm>
            <a:off x="9116568" y="3904488"/>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Context availability ≥ 97% under 2/5 node failures</a:t>
            </a:r>
            <a:endParaRPr lang="en-US" sz="1200" dirty="0"/>
          </a:p>
        </p:txBody>
      </p:sp>
      <p:sp>
        <p:nvSpPr>
          <p:cNvPr id="34" name="Shape 32"/>
          <p:cNvSpPr/>
          <p:nvPr/>
        </p:nvSpPr>
        <p:spPr>
          <a:xfrm>
            <a:off x="274320" y="5129784"/>
            <a:ext cx="11640312" cy="1298448"/>
          </a:xfrm>
          <a:prstGeom prst="rect">
            <a:avLst/>
          </a:prstGeom>
          <a:solidFill>
            <a:srgbClr val="FFFFFF"/>
          </a:solidFill>
          <a:ln w="12700">
            <a:solidFill>
              <a:srgbClr val="3C2864"/>
            </a:solidFill>
            <a:prstDash val="solid"/>
          </a:ln>
        </p:spPr>
      </p:sp>
      <p:sp>
        <p:nvSpPr>
          <p:cNvPr id="35" name="Shape 33"/>
          <p:cNvSpPr/>
          <p:nvPr/>
        </p:nvSpPr>
        <p:spPr>
          <a:xfrm>
            <a:off x="274320" y="5129784"/>
            <a:ext cx="438912" cy="1298448"/>
          </a:xfrm>
          <a:prstGeom prst="rect">
            <a:avLst/>
          </a:prstGeom>
          <a:solidFill>
            <a:srgbClr val="3C2864"/>
          </a:solidFill>
          <a:ln w="12700">
            <a:solidFill>
              <a:srgbClr val="3C2864"/>
            </a:solidFill>
            <a:prstDash val="solid"/>
          </a:ln>
        </p:spPr>
      </p:sp>
      <p:sp>
        <p:nvSpPr>
          <p:cNvPr id="36" name="Text 34"/>
          <p:cNvSpPr/>
          <p:nvPr/>
        </p:nvSpPr>
        <p:spPr>
          <a:xfrm>
            <a:off x="274320" y="5541264"/>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7" name="Text 35"/>
          <p:cNvSpPr/>
          <p:nvPr/>
        </p:nvSpPr>
        <p:spPr>
          <a:xfrm>
            <a:off x="777240" y="5157216"/>
            <a:ext cx="11064240" cy="402336"/>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FCNP — Flow-Conductance-based Neural Pruning</a:t>
            </a:r>
            <a:endParaRPr lang="en-US" sz="1200" dirty="0"/>
          </a:p>
        </p:txBody>
      </p:sp>
      <p:sp>
        <p:nvSpPr>
          <p:cNvPr id="38" name="Text 36"/>
          <p:cNvSpPr/>
          <p:nvPr/>
        </p:nvSpPr>
        <p:spPr>
          <a:xfrm>
            <a:off x="777240" y="5559552"/>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algorithm achieves 10:1 compression with ≥99% citation accuracy</a:t>
            </a:r>
            <a:endParaRPr lang="en-US" sz="1100" dirty="0"/>
          </a:p>
        </p:txBody>
      </p:sp>
      <p:sp>
        <p:nvSpPr>
          <p:cNvPr id="39" name="Text 37"/>
          <p:cNvSpPr/>
          <p:nvPr/>
        </p:nvSpPr>
        <p:spPr>
          <a:xfrm>
            <a:off x="777240" y="5806440"/>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Develop a flow-score-based iterative graph pruning algorithm that compresses multi-agent context graphs to 10:1 while preserving citation accuracy across 7 baselines.</a:t>
            </a:r>
            <a:endParaRPr lang="en-US" sz="1100" dirty="0"/>
          </a:p>
        </p:txBody>
      </p:sp>
      <p:sp>
        <p:nvSpPr>
          <p:cNvPr id="40" name="Shape 38"/>
          <p:cNvSpPr/>
          <p:nvPr/>
        </p:nvSpPr>
        <p:spPr>
          <a:xfrm>
            <a:off x="9098280" y="5239512"/>
            <a:ext cx="2697480" cy="1078992"/>
          </a:xfrm>
          <a:prstGeom prst="rect">
            <a:avLst/>
          </a:prstGeom>
          <a:solidFill>
            <a:srgbClr val="C8402A"/>
          </a:solidFill>
          <a:ln w="12700">
            <a:solidFill>
              <a:srgbClr val="C8402A"/>
            </a:solidFill>
            <a:prstDash val="solid"/>
          </a:ln>
        </p:spPr>
      </p:sp>
      <p:sp>
        <p:nvSpPr>
          <p:cNvPr id="41" name="Text 39"/>
          <p:cNvSpPr/>
          <p:nvPr/>
        </p:nvSpPr>
        <p:spPr>
          <a:xfrm>
            <a:off x="9116568" y="5294376"/>
            <a:ext cx="2651760" cy="9601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10:1 compression, ≥99% citation accuracy, Wilcoxon p&lt;0.05 vs 7 baselines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Research Title, Aim &amp; Adaptive Context Reasoning System (ACRS) Framework Overview</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9" name="Text 7"/>
          <p:cNvSpPr/>
          <p:nvPr/>
        </p:nvSpPr>
        <p:spPr>
          <a:xfrm>
            <a:off x="320040" y="530352"/>
            <a:ext cx="11521440" cy="548640"/>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"Design and Evaluation of Adaptive Context Reasoning System (ACRS) for Efficient Multi-Agent Large Language Model (LLM) Inference"</a:t>
            </a:r>
            <a:endParaRPr lang="en-US" sz="1500" dirty="0"/>
          </a:p>
        </p:txBody>
      </p:sp>
      <p:sp>
        <p:nvSpPr>
          <p:cNvPr id="10" name="Text 8"/>
          <p:cNvSpPr/>
          <p:nvPr/>
        </p:nvSpPr>
        <p:spPr>
          <a:xfrm>
            <a:off x="320040" y="1115568"/>
            <a:ext cx="11521440" cy="548640"/>
          </a:xfrm>
          <a:prstGeom prst="rect">
            <a:avLst/>
          </a:prstGeom>
          <a:noFill/>
          <a:ln/>
        </p:spPr>
        <p:txBody>
          <a:bodyPr wrap="square" rtlCol="0" anchor="ctr"/>
          <a:lstStyle/>
          <a:p>
            <a:pPr indent="0" marL="0">
              <a:buNone/>
            </a:pPr>
            <a:r>
              <a:rPr lang="en-US" sz="1300" i="1" dirty="0">
                <a:solidFill>
                  <a:srgbClr val="1A1035"/>
                </a:solidFill>
                <a:latin typeface="Calibri" pitchFamily="34" charset="0"/>
                <a:ea typeface="Calibri" pitchFamily="34" charset="-122"/>
                <a:cs typeface="Calibri" pitchFamily="34" charset="-120"/>
              </a:rPr>
              <a:t>Aim: Deliver a four-component system that improves tool selection accuracy, routing efficiency, context availability, and context compression for production-grade multi-agent Large Language Model (LLM) inference — validated on ToolBench, RouteLLM benchmarks, and simulated fault scenarios.</a:t>
            </a:r>
            <a:endParaRPr lang="en-US" sz="1300" dirty="0"/>
          </a:p>
        </p:txBody>
      </p:sp>
      <p:sp>
        <p:nvSpPr>
          <p:cNvPr id="11" name="Shape 9"/>
          <p:cNvSpPr/>
          <p:nvPr/>
        </p:nvSpPr>
        <p:spPr>
          <a:xfrm>
            <a:off x="320040" y="1783080"/>
            <a:ext cx="5669280" cy="2148840"/>
          </a:xfrm>
          <a:prstGeom prst="rect">
            <a:avLst/>
          </a:prstGeom>
          <a:solidFill>
            <a:srgbClr val="FFFFFF"/>
          </a:solidFill>
          <a:ln w="12700">
            <a:solidFill>
              <a:srgbClr val="3C2864"/>
            </a:solidFill>
            <a:prstDash val="solid"/>
          </a:ln>
        </p:spPr>
      </p:sp>
      <p:sp>
        <p:nvSpPr>
          <p:cNvPr id="12" name="Shape 10"/>
          <p:cNvSpPr/>
          <p:nvPr/>
        </p:nvSpPr>
        <p:spPr>
          <a:xfrm>
            <a:off x="320040" y="1783080"/>
            <a:ext cx="438912" cy="438912"/>
          </a:xfrm>
          <a:prstGeom prst="rect">
            <a:avLst/>
          </a:prstGeom>
          <a:solidFill>
            <a:srgbClr val="C8402A"/>
          </a:solidFill>
          <a:ln w="12700">
            <a:solidFill>
              <a:srgbClr val="C8402A"/>
            </a:solidFill>
            <a:prstDash val="solid"/>
          </a:ln>
        </p:spPr>
      </p:sp>
      <p:sp>
        <p:nvSpPr>
          <p:cNvPr id="13" name="Text 11"/>
          <p:cNvSpPr/>
          <p:nvPr/>
        </p:nvSpPr>
        <p:spPr>
          <a:xfrm>
            <a:off x="3291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8229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SessionRerank+</a:t>
            </a:r>
            <a:endParaRPr lang="en-US" sz="1500" dirty="0"/>
          </a:p>
        </p:txBody>
      </p:sp>
      <p:sp>
        <p:nvSpPr>
          <p:cNvPr id="15" name="Text 13"/>
          <p:cNvSpPr/>
          <p:nvPr/>
        </p:nvSpPr>
        <p:spPr>
          <a:xfrm>
            <a:off x="822960" y="214884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Session-Aware Contextual Tool Reranker Plus</a:t>
            </a:r>
            <a:endParaRPr lang="en-US" sz="1100" dirty="0"/>
          </a:p>
        </p:txBody>
      </p:sp>
      <p:sp>
        <p:nvSpPr>
          <p:cNvPr id="16" name="Text 14"/>
          <p:cNvSpPr/>
          <p:nvPr/>
        </p:nvSpPr>
        <p:spPr>
          <a:xfrm>
            <a:off x="457200" y="253288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Activity-score-driven dynamic tool reranking across multi-turn agent sessions</a:t>
            </a:r>
            <a:endParaRPr lang="en-US" sz="1300" dirty="0"/>
          </a:p>
        </p:txBody>
      </p:sp>
      <p:sp>
        <p:nvSpPr>
          <p:cNvPr id="17" name="Shape 15"/>
          <p:cNvSpPr/>
          <p:nvPr/>
        </p:nvSpPr>
        <p:spPr>
          <a:xfrm>
            <a:off x="457200" y="3172968"/>
            <a:ext cx="5440680" cy="548640"/>
          </a:xfrm>
          <a:prstGeom prst="rect">
            <a:avLst/>
          </a:prstGeom>
          <a:solidFill>
            <a:srgbClr val="C8402A"/>
          </a:solidFill>
          <a:ln w="12700">
            <a:solidFill>
              <a:srgbClr val="C8402A"/>
            </a:solidFill>
            <a:prstDash val="solid"/>
          </a:ln>
        </p:spPr>
      </p:sp>
      <p:sp>
        <p:nvSpPr>
          <p:cNvPr id="18" name="Text 16"/>
          <p:cNvSpPr/>
          <p:nvPr/>
        </p:nvSpPr>
        <p:spPr>
          <a:xfrm>
            <a:off x="4572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a:t>
            </a:r>
            <a:endParaRPr lang="en-US" sz="1400" dirty="0"/>
          </a:p>
        </p:txBody>
      </p:sp>
      <p:sp>
        <p:nvSpPr>
          <p:cNvPr id="19" name="Shape 17"/>
          <p:cNvSpPr/>
          <p:nvPr/>
        </p:nvSpPr>
        <p:spPr>
          <a:xfrm>
            <a:off x="6263640" y="1783080"/>
            <a:ext cx="5669280" cy="2148840"/>
          </a:xfrm>
          <a:prstGeom prst="rect">
            <a:avLst/>
          </a:prstGeom>
          <a:solidFill>
            <a:srgbClr val="FFFFFF"/>
          </a:solidFill>
          <a:ln w="12700">
            <a:solidFill>
              <a:srgbClr val="3C2864"/>
            </a:solidFill>
            <a:prstDash val="solid"/>
          </a:ln>
        </p:spPr>
      </p:sp>
      <p:sp>
        <p:nvSpPr>
          <p:cNvPr id="20" name="Shape 18"/>
          <p:cNvSpPr/>
          <p:nvPr/>
        </p:nvSpPr>
        <p:spPr>
          <a:xfrm>
            <a:off x="6263640" y="1783080"/>
            <a:ext cx="438912" cy="438912"/>
          </a:xfrm>
          <a:prstGeom prst="rect">
            <a:avLst/>
          </a:prstGeom>
          <a:solidFill>
            <a:srgbClr val="C8402A"/>
          </a:solidFill>
          <a:ln w="12700">
            <a:solidFill>
              <a:srgbClr val="C8402A"/>
            </a:solidFill>
            <a:prstDash val="solid"/>
          </a:ln>
        </p:spPr>
      </p:sp>
      <p:sp>
        <p:nvSpPr>
          <p:cNvPr id="21" name="Text 19"/>
          <p:cNvSpPr/>
          <p:nvPr/>
        </p:nvSpPr>
        <p:spPr>
          <a:xfrm>
            <a:off x="62727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67665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APRR+CDR+PDR</a:t>
            </a:r>
            <a:endParaRPr lang="en-US" sz="1500" dirty="0"/>
          </a:p>
        </p:txBody>
      </p:sp>
      <p:sp>
        <p:nvSpPr>
          <p:cNvPr id="23" name="Text 21"/>
          <p:cNvSpPr/>
          <p:nvPr/>
        </p:nvSpPr>
        <p:spPr>
          <a:xfrm>
            <a:off x="6766560" y="214884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Adaptive Priority-aware Request Router + Context-Driven Routing + Parallel Dispatch Routing</a:t>
            </a:r>
            <a:endParaRPr lang="en-US" sz="1100" dirty="0"/>
          </a:p>
        </p:txBody>
      </p:sp>
      <p:sp>
        <p:nvSpPr>
          <p:cNvPr id="24" name="Text 22"/>
          <p:cNvSpPr/>
          <p:nvPr/>
        </p:nvSpPr>
        <p:spPr>
          <a:xfrm>
            <a:off x="6400800" y="253288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Online Reinforcement Learning (RL) weight matrix + CDR deliberation + PDR parallel dispatch</a:t>
            </a:r>
            <a:endParaRPr lang="en-US" sz="1300" dirty="0"/>
          </a:p>
        </p:txBody>
      </p:sp>
      <p:sp>
        <p:nvSpPr>
          <p:cNvPr id="25" name="Shape 23"/>
          <p:cNvSpPr/>
          <p:nvPr/>
        </p:nvSpPr>
        <p:spPr>
          <a:xfrm>
            <a:off x="6400800" y="3172968"/>
            <a:ext cx="5440680" cy="548640"/>
          </a:xfrm>
          <a:prstGeom prst="rect">
            <a:avLst/>
          </a:prstGeom>
          <a:solidFill>
            <a:srgbClr val="C8402A"/>
          </a:solidFill>
          <a:ln w="12700">
            <a:solidFill>
              <a:srgbClr val="C8402A"/>
            </a:solidFill>
            <a:prstDash val="solid"/>
          </a:ln>
        </p:spPr>
      </p:sp>
      <p:sp>
        <p:nvSpPr>
          <p:cNvPr id="26" name="Text 24"/>
          <p:cNvSpPr/>
          <p:nvPr/>
        </p:nvSpPr>
        <p:spPr>
          <a:xfrm>
            <a:off x="64008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Success ≥ 47%, Latency ≤ 265ms</a:t>
            </a:r>
            <a:endParaRPr lang="en-US" sz="1400" dirty="0"/>
          </a:p>
        </p:txBody>
      </p:sp>
      <p:sp>
        <p:nvSpPr>
          <p:cNvPr id="27" name="Shape 25"/>
          <p:cNvSpPr/>
          <p:nvPr/>
        </p:nvSpPr>
        <p:spPr>
          <a:xfrm>
            <a:off x="320040" y="4114800"/>
            <a:ext cx="5669280" cy="2148840"/>
          </a:xfrm>
          <a:prstGeom prst="rect">
            <a:avLst/>
          </a:prstGeom>
          <a:solidFill>
            <a:srgbClr val="FFFFFF"/>
          </a:solidFill>
          <a:ln w="12700">
            <a:solidFill>
              <a:srgbClr val="3C2864"/>
            </a:solidFill>
            <a:prstDash val="solid"/>
          </a:ln>
        </p:spPr>
      </p:sp>
      <p:sp>
        <p:nvSpPr>
          <p:cNvPr id="28" name="Shape 26"/>
          <p:cNvSpPr/>
          <p:nvPr/>
        </p:nvSpPr>
        <p:spPr>
          <a:xfrm>
            <a:off x="320040" y="4114800"/>
            <a:ext cx="438912" cy="438912"/>
          </a:xfrm>
          <a:prstGeom prst="rect">
            <a:avLst/>
          </a:prstGeom>
          <a:solidFill>
            <a:srgbClr val="C8402A"/>
          </a:solidFill>
          <a:ln w="12700">
            <a:solidFill>
              <a:srgbClr val="C8402A"/>
            </a:solidFill>
            <a:prstDash val="solid"/>
          </a:ln>
        </p:spPr>
      </p:sp>
      <p:sp>
        <p:nvSpPr>
          <p:cNvPr id="29" name="Text 27"/>
          <p:cNvSpPr/>
          <p:nvPr/>
        </p:nvSpPr>
        <p:spPr>
          <a:xfrm>
            <a:off x="3291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0" name="Text 28"/>
          <p:cNvSpPr/>
          <p:nvPr/>
        </p:nvSpPr>
        <p:spPr>
          <a:xfrm>
            <a:off x="8229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MNCD</a:t>
            </a:r>
            <a:endParaRPr lang="en-US" sz="1500" dirty="0"/>
          </a:p>
        </p:txBody>
      </p:sp>
      <p:sp>
        <p:nvSpPr>
          <p:cNvPr id="31" name="Text 29"/>
          <p:cNvSpPr/>
          <p:nvPr/>
        </p:nvSpPr>
        <p:spPr>
          <a:xfrm>
            <a:off x="822960" y="448056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Multi-Node Context Distribution</a:t>
            </a:r>
            <a:endParaRPr lang="en-US" sz="1100" dirty="0"/>
          </a:p>
        </p:txBody>
      </p:sp>
      <p:sp>
        <p:nvSpPr>
          <p:cNvPr id="32" name="Text 30"/>
          <p:cNvSpPr/>
          <p:nvPr/>
        </p:nvSpPr>
        <p:spPr>
          <a:xfrm>
            <a:off x="457200" y="486460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Gossip-protocol mesh for resilient context sharing under node failures</a:t>
            </a:r>
            <a:endParaRPr lang="en-US" sz="1300" dirty="0"/>
          </a:p>
        </p:txBody>
      </p:sp>
      <p:sp>
        <p:nvSpPr>
          <p:cNvPr id="33" name="Shape 31"/>
          <p:cNvSpPr/>
          <p:nvPr/>
        </p:nvSpPr>
        <p:spPr>
          <a:xfrm>
            <a:off x="457200" y="5504688"/>
            <a:ext cx="5440680" cy="548640"/>
          </a:xfrm>
          <a:prstGeom prst="rect">
            <a:avLst/>
          </a:prstGeom>
          <a:solidFill>
            <a:srgbClr val="C8402A"/>
          </a:solidFill>
          <a:ln w="12700">
            <a:solidFill>
              <a:srgbClr val="C8402A"/>
            </a:solidFill>
            <a:prstDash val="solid"/>
          </a:ln>
        </p:spPr>
      </p:sp>
      <p:sp>
        <p:nvSpPr>
          <p:cNvPr id="34" name="Text 32"/>
          <p:cNvSpPr/>
          <p:nvPr/>
        </p:nvSpPr>
        <p:spPr>
          <a:xfrm>
            <a:off x="4572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Availability ≥ 97%</a:t>
            </a:r>
            <a:endParaRPr lang="en-US" sz="1400" dirty="0"/>
          </a:p>
        </p:txBody>
      </p:sp>
      <p:sp>
        <p:nvSpPr>
          <p:cNvPr id="35" name="Shape 33"/>
          <p:cNvSpPr/>
          <p:nvPr/>
        </p:nvSpPr>
        <p:spPr>
          <a:xfrm>
            <a:off x="6263640" y="4114800"/>
            <a:ext cx="5669280" cy="2148840"/>
          </a:xfrm>
          <a:prstGeom prst="rect">
            <a:avLst/>
          </a:prstGeom>
          <a:solidFill>
            <a:srgbClr val="FFFFFF"/>
          </a:solidFill>
          <a:ln w="12700">
            <a:solidFill>
              <a:srgbClr val="3C2864"/>
            </a:solidFill>
            <a:prstDash val="solid"/>
          </a:ln>
        </p:spPr>
      </p:sp>
      <p:sp>
        <p:nvSpPr>
          <p:cNvPr id="36" name="Shape 34"/>
          <p:cNvSpPr/>
          <p:nvPr/>
        </p:nvSpPr>
        <p:spPr>
          <a:xfrm>
            <a:off x="6263640" y="4114800"/>
            <a:ext cx="438912" cy="438912"/>
          </a:xfrm>
          <a:prstGeom prst="rect">
            <a:avLst/>
          </a:prstGeom>
          <a:solidFill>
            <a:srgbClr val="C8402A"/>
          </a:solidFill>
          <a:ln w="12700">
            <a:solidFill>
              <a:srgbClr val="C8402A"/>
            </a:solidFill>
            <a:prstDash val="solid"/>
          </a:ln>
        </p:spPr>
      </p:sp>
      <p:sp>
        <p:nvSpPr>
          <p:cNvPr id="37" name="Text 35"/>
          <p:cNvSpPr/>
          <p:nvPr/>
        </p:nvSpPr>
        <p:spPr>
          <a:xfrm>
            <a:off x="62727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8" name="Text 36"/>
          <p:cNvSpPr/>
          <p:nvPr/>
        </p:nvSpPr>
        <p:spPr>
          <a:xfrm>
            <a:off x="67665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FCNP</a:t>
            </a:r>
            <a:endParaRPr lang="en-US" sz="1500" dirty="0"/>
          </a:p>
        </p:txBody>
      </p:sp>
      <p:sp>
        <p:nvSpPr>
          <p:cNvPr id="39" name="Text 37"/>
          <p:cNvSpPr/>
          <p:nvPr/>
        </p:nvSpPr>
        <p:spPr>
          <a:xfrm>
            <a:off x="6766560" y="4480560"/>
            <a:ext cx="5120640" cy="32918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Flow-Conductance-based Neural Pruning</a:t>
            </a:r>
            <a:endParaRPr lang="en-US" sz="1100" dirty="0"/>
          </a:p>
        </p:txBody>
      </p:sp>
      <p:sp>
        <p:nvSpPr>
          <p:cNvPr id="40" name="Text 38"/>
          <p:cNvSpPr/>
          <p:nvPr/>
        </p:nvSpPr>
        <p:spPr>
          <a:xfrm>
            <a:off x="6400800" y="4864608"/>
            <a:ext cx="5440680" cy="566928"/>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Flow-score graph pruning: 10:1 compression, ≥99% citation accuracy</a:t>
            </a:r>
            <a:endParaRPr lang="en-US" sz="1300" dirty="0"/>
          </a:p>
        </p:txBody>
      </p:sp>
      <p:sp>
        <p:nvSpPr>
          <p:cNvPr id="41" name="Shape 39"/>
          <p:cNvSpPr/>
          <p:nvPr/>
        </p:nvSpPr>
        <p:spPr>
          <a:xfrm>
            <a:off x="6400800" y="5504688"/>
            <a:ext cx="5440680" cy="548640"/>
          </a:xfrm>
          <a:prstGeom prst="rect">
            <a:avLst/>
          </a:prstGeom>
          <a:solidFill>
            <a:srgbClr val="C8402A"/>
          </a:solidFill>
          <a:ln w="12700">
            <a:solidFill>
              <a:srgbClr val="C8402A"/>
            </a:solidFill>
            <a:prstDash val="solid"/>
          </a:ln>
        </p:spPr>
      </p:sp>
      <p:sp>
        <p:nvSpPr>
          <p:cNvPr id="42" name="Text 40"/>
          <p:cNvSpPr/>
          <p:nvPr/>
        </p:nvSpPr>
        <p:spPr>
          <a:xfrm>
            <a:off x="64008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1</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1: Session-Aware Contextual Tool Reranker Plus</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SessionRerank+: Session-Aware Contextual Tool Reranker Plus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9" name="Text 7"/>
          <p:cNvSpPr/>
          <p:nvPr/>
        </p:nvSpPr>
        <p:spPr>
          <a:xfrm>
            <a:off x="320040" y="530352"/>
            <a:ext cx="530352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Approach</a:t>
            </a:r>
            <a:endParaRPr lang="en-US" sz="1600" dirty="0"/>
          </a:p>
        </p:txBody>
      </p:sp>
      <p:sp>
        <p:nvSpPr>
          <p:cNvPr id="10" name="Text 8"/>
          <p:cNvSpPr/>
          <p:nvPr/>
        </p:nvSpPr>
        <p:spPr>
          <a:xfrm>
            <a:off x="411480" y="877824"/>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Maintain per-session activity scores for each tool in the catalogue</a:t>
            </a:r>
            <a:endParaRPr lang="en-US" sz="1300" dirty="0"/>
          </a:p>
        </p:txBody>
      </p:sp>
      <p:sp>
        <p:nvSpPr>
          <p:cNvPr id="11" name="Text 9"/>
          <p:cNvSpPr/>
          <p:nvPr/>
        </p:nvSpPr>
        <p:spPr>
          <a:xfrm>
            <a:off x="411480" y="1280160"/>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Score = f(recency, frequency, task-type match) across multi-turn history</a:t>
            </a:r>
            <a:endParaRPr lang="en-US" sz="1300" dirty="0"/>
          </a:p>
        </p:txBody>
      </p:sp>
      <p:sp>
        <p:nvSpPr>
          <p:cNvPr id="12" name="Text 10"/>
          <p:cNvSpPr/>
          <p:nvPr/>
        </p:nvSpPr>
        <p:spPr>
          <a:xfrm>
            <a:off x="411480" y="1682496"/>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Rerank top-K candidate tools before each agent dispatch call</a:t>
            </a:r>
            <a:endParaRPr lang="en-US" sz="1300" dirty="0"/>
          </a:p>
        </p:txBody>
      </p:sp>
      <p:sp>
        <p:nvSpPr>
          <p:cNvPr id="13" name="Text 11"/>
          <p:cNvSpPr/>
          <p:nvPr/>
        </p:nvSpPr>
        <p:spPr>
          <a:xfrm>
            <a:off x="411480" y="2084832"/>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Dynamic Key-Value (KV) cache eviction based on activity scores</a:t>
            </a:r>
            <a:endParaRPr lang="en-US" sz="1300" dirty="0"/>
          </a:p>
        </p:txBody>
      </p:sp>
      <p:sp>
        <p:nvSpPr>
          <p:cNvPr id="14" name="Text 12"/>
          <p:cNvSpPr/>
          <p:nvPr/>
        </p:nvSpPr>
        <p:spPr>
          <a:xfrm>
            <a:off x="411480" y="2487168"/>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Evaluated on ToolBench: 43,000 real-world Application Programming Interfaces (APIs), 12,657 instructions</a:t>
            </a:r>
            <a:endParaRPr lang="en-US" sz="1300" dirty="0"/>
          </a:p>
        </p:txBody>
      </p:sp>
      <p:sp>
        <p:nvSpPr>
          <p:cNvPr id="15" name="Text 13"/>
          <p:cNvSpPr/>
          <p:nvPr/>
        </p:nvSpPr>
        <p:spPr>
          <a:xfrm>
            <a:off x="411480" y="2889504"/>
            <a:ext cx="521208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Baseline: dense retrieval Normalised Discounted Cumulative Gain (NDCG)@5 = 0.452 (ToolBench reported)</a:t>
            </a:r>
            <a:endParaRPr lang="en-US" sz="1300" dirty="0"/>
          </a:p>
        </p:txBody>
      </p:sp>
      <p:sp>
        <p:nvSpPr>
          <p:cNvPr id="16" name="Text 14"/>
          <p:cNvSpPr/>
          <p:nvPr/>
        </p:nvSpPr>
        <p:spPr>
          <a:xfrm>
            <a:off x="5943600" y="530352"/>
            <a:ext cx="594360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 &amp; Metric Definitions</a:t>
            </a:r>
            <a:endParaRPr lang="en-US" sz="1600" dirty="0"/>
          </a:p>
        </p:txBody>
      </p:sp>
      <p:sp>
        <p:nvSpPr>
          <p:cNvPr id="17" name="Shape 15"/>
          <p:cNvSpPr/>
          <p:nvPr/>
        </p:nvSpPr>
        <p:spPr>
          <a:xfrm>
            <a:off x="5943600" y="877824"/>
            <a:ext cx="5943600" cy="2286000"/>
          </a:xfrm>
          <a:prstGeom prst="rect">
            <a:avLst/>
          </a:prstGeom>
          <a:solidFill>
            <a:srgbClr val="FFFFFF"/>
          </a:solidFill>
          <a:ln w="12700">
            <a:solidFill>
              <a:srgbClr val="3C2864"/>
            </a:solidFill>
            <a:prstDash val="solid"/>
          </a:ln>
        </p:spPr>
      </p:sp>
      <p:sp>
        <p:nvSpPr>
          <p:cNvPr id="18" name="Text 16"/>
          <p:cNvSpPr/>
          <p:nvPr/>
        </p:nvSpPr>
        <p:spPr>
          <a:xfrm>
            <a:off x="6035040" y="914400"/>
            <a:ext cx="5760720" cy="438912"/>
          </a:xfrm>
          <a:prstGeom prst="rect">
            <a:avLst/>
          </a:prstGeom>
          <a:noFill/>
          <a:ln/>
        </p:spPr>
        <p:txBody>
          <a:bodyPr wrap="square" rtlCol="0" anchor="ctr"/>
          <a:lstStyle/>
          <a:p>
            <a:pPr indent="0" marL="0">
              <a:buNone/>
            </a:pPr>
            <a:r>
              <a:rPr lang="en-US" sz="2800" b="1" dirty="0">
                <a:solidFill>
                  <a:srgbClr val="C8402A"/>
                </a:solidFill>
                <a:latin typeface="Calibri" pitchFamily="34" charset="0"/>
                <a:ea typeface="Calibri" pitchFamily="34" charset="-122"/>
                <a:cs typeface="Calibri" pitchFamily="34" charset="-120"/>
              </a:rPr>
              <a:t>NDCG@5 ≥ 0.52</a:t>
            </a:r>
            <a:endParaRPr lang="en-US" sz="2800" dirty="0"/>
          </a:p>
        </p:txBody>
      </p:sp>
      <p:sp>
        <p:nvSpPr>
          <p:cNvPr id="19" name="Text 17"/>
          <p:cNvSpPr/>
          <p:nvPr/>
        </p:nvSpPr>
        <p:spPr>
          <a:xfrm>
            <a:off x="6035040" y="1371600"/>
            <a:ext cx="5760720" cy="2560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+2% over dense retrieval baseline (0.452 → 0.461+)</a:t>
            </a:r>
            <a:endParaRPr lang="en-US" sz="1300" dirty="0"/>
          </a:p>
        </p:txBody>
      </p:sp>
      <p:sp>
        <p:nvSpPr>
          <p:cNvPr id="20" name="Text 18"/>
          <p:cNvSpPr/>
          <p:nvPr/>
        </p:nvSpPr>
        <p:spPr>
          <a:xfrm>
            <a:off x="6035040" y="1664208"/>
            <a:ext cx="5760720" cy="144475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Normalised Discounted Cumulative Gain (NDCG)@5 measures how well the top-5 tools are ranked — a score of 1.0 means perfect ordering. The "discounted" component penalises relevant tools appearing lower in the list.</a:t>
            </a:r>
            <a:endParaRPr lang="en-US" sz="1300" dirty="0"/>
          </a:p>
        </p:txBody>
      </p:sp>
      <p:sp>
        <p:nvSpPr>
          <p:cNvPr id="21" name="Shape 19"/>
          <p:cNvSpPr/>
          <p:nvPr/>
        </p:nvSpPr>
        <p:spPr>
          <a:xfrm>
            <a:off x="5943600" y="3255264"/>
            <a:ext cx="5943600" cy="3273552"/>
          </a:xfrm>
          <a:prstGeom prst="rect">
            <a:avLst/>
          </a:prstGeom>
          <a:solidFill>
            <a:srgbClr val="3C2864"/>
          </a:solidFill>
          <a:ln w="12700">
            <a:solidFill>
              <a:srgbClr val="3C2864"/>
            </a:solidFill>
            <a:prstDash val="solid"/>
          </a:ln>
        </p:spPr>
      </p:sp>
      <p:sp>
        <p:nvSpPr>
          <p:cNvPr id="22" name="Text 20"/>
          <p:cNvSpPr/>
          <p:nvPr/>
        </p:nvSpPr>
        <p:spPr>
          <a:xfrm>
            <a:off x="6035040" y="3310128"/>
            <a:ext cx="576072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a:t>
            </a:r>
            <a:endParaRPr lang="en-US" sz="1400" dirty="0"/>
          </a:p>
        </p:txBody>
      </p:sp>
      <p:sp>
        <p:nvSpPr>
          <p:cNvPr id="23" name="Text 21"/>
          <p:cNvSpPr/>
          <p:nvPr/>
        </p:nvSpPr>
        <p:spPr>
          <a:xfrm>
            <a:off x="6035040" y="3621024"/>
            <a:ext cx="57607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NDCG@5 = 0.461 (Year 1 pilot)</a:t>
            </a:r>
            <a:pPr indent="0" marL="0">
              <a:buNone/>
            </a:pPr>
            <a:r>
              <a:rPr lang="en-US" sz="1300" dirty="0">
                <a:solidFill>
                  <a:srgbClr val="FFFFFF"/>
                </a:solidFill>
                <a:latin typeface="Calibri" pitchFamily="34" charset="0"/>
                <a:ea typeface="Calibri" pitchFamily="34" charset="-122"/>
                <a:cs typeface="Calibri" pitchFamily="34" charset="-120"/>
              </a:rPr>
              <a:t xml:space="preserve"> on ToolBench (43,000 real-world APIs, p&lt;0.0001, n=500 test queries)</a:t>
            </a:r>
            <a:endParaRPr lang="en-US" sz="1300" dirty="0"/>
          </a:p>
        </p:txBody>
      </p:sp>
      <p:sp>
        <p:nvSpPr>
          <p:cNvPr id="24" name="Text 22"/>
          <p:cNvSpPr/>
          <p:nvPr/>
        </p:nvSpPr>
        <p:spPr>
          <a:xfrm>
            <a:off x="6035040" y="4133088"/>
            <a:ext cx="5760720" cy="22860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Expected outcome (full study): NDCG@5 ≥ 0.52 (+2% over dense retrieval baseline). Full evaluation targets p&lt;0.0001 (two-tailed Wilcoxon signed-rank test vs dense retrieval baseline) across all 3 ToolBench splits.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System Architecture Diagram</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Five-stage pipeline: multilingual input → IndicTrans2 translation → Gemma-4 embedding → BM25 recall → co-activation reranking → ranked Top-K output.</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1 — Input Processing and Candidate Recall</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1: The farmer query and session history enter the system and candidate tools are recalled from the ToolBench catalogue.</a:t>
            </a:r>
            <a:endParaRPr lang="en-US" sz="1200" dirty="0"/>
          </a:p>
        </p:txBody>
      </p:sp>
      <p:sp>
        <p:nvSpPr>
          <p:cNvPr id="10" name="Shape 8"/>
          <p:cNvSpPr/>
          <p:nvPr/>
        </p:nvSpPr>
        <p:spPr>
          <a:xfrm>
            <a:off x="594360" y="841248"/>
            <a:ext cx="10972800" cy="1417320"/>
          </a:xfrm>
          <a:prstGeom prst="roundRect">
            <a:avLst>
              <a:gd name="adj" fmla="val 5161"/>
            </a:avLst>
          </a:prstGeom>
          <a:solidFill>
            <a:srgbClr val="EFF6FF"/>
          </a:solidFill>
          <a:ln w="12700">
            <a:solidFill>
              <a:srgbClr val="1565C0"/>
            </a:solidFill>
            <a:prstDash val="solid"/>
          </a:ln>
        </p:spPr>
      </p:sp>
      <p:sp>
        <p:nvSpPr>
          <p:cNvPr id="11" name="Shape 9"/>
          <p:cNvSpPr/>
          <p:nvPr/>
        </p:nvSpPr>
        <p:spPr>
          <a:xfrm>
            <a:off x="685800" y="896112"/>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896112"/>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05256"/>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Multi-Turn Farmer Query + Session History + Application Programming Interface (API) Catalogue</a:t>
            </a:r>
            <a:endParaRPr lang="en-US" sz="1200" dirty="0"/>
          </a:p>
        </p:txBody>
      </p:sp>
      <p:sp>
        <p:nvSpPr>
          <p:cNvPr id="14" name="Text 12"/>
          <p:cNvSpPr/>
          <p:nvPr/>
        </p:nvSpPr>
        <p:spPr>
          <a:xfrm>
            <a:off x="731520" y="12435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natural language query (Kannada/Hindi/English)</a:t>
            </a:r>
            <a:endParaRPr lang="en-US" sz="1050" dirty="0"/>
          </a:p>
        </p:txBody>
      </p:sp>
      <p:sp>
        <p:nvSpPr>
          <p:cNvPr id="15" name="Text 13"/>
          <p:cNvSpPr/>
          <p:nvPr/>
        </p:nvSpPr>
        <p:spPr>
          <a:xfrm>
            <a:off x="731520" y="15544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history: list of previously invoked tool IDs with timestamps</a:t>
            </a:r>
            <a:endParaRPr lang="en-US" sz="1050" dirty="0"/>
          </a:p>
        </p:txBody>
      </p:sp>
      <p:sp>
        <p:nvSpPr>
          <p:cNvPr id="16" name="Text 14"/>
          <p:cNvSpPr/>
          <p:nvPr/>
        </p:nvSpPr>
        <p:spPr>
          <a:xfrm>
            <a:off x="731520" y="186537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ToolBench API catalogue: 43,000 tools, each with name, description, endpoint</a:t>
            </a:r>
            <a:endParaRPr lang="en-US" sz="1050" dirty="0"/>
          </a:p>
        </p:txBody>
      </p:sp>
      <p:sp>
        <p:nvSpPr>
          <p:cNvPr id="17" name="Shape 15"/>
          <p:cNvSpPr/>
          <p:nvPr/>
        </p:nvSpPr>
        <p:spPr>
          <a:xfrm>
            <a:off x="6080760" y="2276856"/>
            <a:ext cx="0" cy="201168"/>
          </a:xfrm>
          <a:prstGeom prst="line">
            <a:avLst/>
          </a:prstGeom>
          <a:noFill/>
          <a:ln w="12700">
            <a:solidFill>
              <a:srgbClr val="3C2864"/>
            </a:solidFill>
            <a:prstDash val="solid"/>
            <a:tailEnd type="arrow"/>
          </a:ln>
        </p:spPr>
      </p:sp>
      <p:sp>
        <p:nvSpPr>
          <p:cNvPr id="18" name="Shape 16"/>
          <p:cNvSpPr/>
          <p:nvPr/>
        </p:nvSpPr>
        <p:spPr>
          <a:xfrm>
            <a:off x="5833872" y="2221992"/>
            <a:ext cx="310896" cy="310896"/>
          </a:xfrm>
          <a:prstGeom prst="rect">
            <a:avLst/>
          </a:prstGeom>
          <a:solidFill>
            <a:srgbClr val="C8402A"/>
          </a:solidFill>
          <a:ln w="12700">
            <a:solidFill>
              <a:srgbClr val="C8402A"/>
            </a:solidFill>
            <a:prstDash val="solid"/>
          </a:ln>
        </p:spPr>
      </p:sp>
      <p:sp>
        <p:nvSpPr>
          <p:cNvPr id="19" name="Text 17"/>
          <p:cNvSpPr/>
          <p:nvPr/>
        </p:nvSpPr>
        <p:spPr>
          <a:xfrm>
            <a:off x="5833872" y="222199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258568"/>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query + session</a:t>
            </a:r>
            <a:endParaRPr lang="en-US" sz="900" dirty="0"/>
          </a:p>
        </p:txBody>
      </p:sp>
      <p:sp>
        <p:nvSpPr>
          <p:cNvPr id="21" name="Shape 19"/>
          <p:cNvSpPr/>
          <p:nvPr/>
        </p:nvSpPr>
        <p:spPr>
          <a:xfrm>
            <a:off x="594360" y="2496312"/>
            <a:ext cx="10972800" cy="1417320"/>
          </a:xfrm>
          <a:prstGeom prst="roundRect">
            <a:avLst>
              <a:gd name="adj" fmla="val 5161"/>
            </a:avLst>
          </a:prstGeom>
          <a:solidFill>
            <a:srgbClr val="F5F3FF"/>
          </a:solidFill>
          <a:ln w="12700">
            <a:solidFill>
              <a:srgbClr val="6B4090"/>
            </a:solidFill>
            <a:prstDash val="solid"/>
          </a:ln>
        </p:spPr>
      </p:sp>
      <p:sp>
        <p:nvSpPr>
          <p:cNvPr id="22" name="Shape 20"/>
          <p:cNvSpPr/>
          <p:nvPr/>
        </p:nvSpPr>
        <p:spPr>
          <a:xfrm>
            <a:off x="685800" y="2551176"/>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55117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56032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Multilingual Translation via IndicTrans2</a:t>
            </a:r>
            <a:endParaRPr lang="en-US" sz="1200" dirty="0"/>
          </a:p>
        </p:txBody>
      </p:sp>
      <p:sp>
        <p:nvSpPr>
          <p:cNvPr id="25" name="Text 23"/>
          <p:cNvSpPr/>
          <p:nvPr/>
        </p:nvSpPr>
        <p:spPr>
          <a:xfrm>
            <a:off x="731520" y="28986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query language ≠ English: invoke IndicTrans2 (Gala et al., TMLR 2023) translation module</a:t>
            </a:r>
            <a:endParaRPr lang="en-US" sz="1050" dirty="0"/>
          </a:p>
        </p:txBody>
      </p:sp>
      <p:sp>
        <p:nvSpPr>
          <p:cNvPr id="26" name="Text 24"/>
          <p:cNvSpPr/>
          <p:nvPr/>
        </p:nvSpPr>
        <p:spPr>
          <a:xfrm>
            <a:off x="731520" y="32095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Translates from 22 scheduled Indian languages to English for embedding</a:t>
            </a:r>
            <a:endParaRPr lang="en-US" sz="1050" dirty="0"/>
          </a:p>
        </p:txBody>
      </p:sp>
      <p:sp>
        <p:nvSpPr>
          <p:cNvPr id="27" name="Text 25"/>
          <p:cNvSpPr/>
          <p:nvPr/>
        </p:nvSpPr>
        <p:spPr>
          <a:xfrm>
            <a:off x="731520" y="352044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Language detection: fastText lid.176.bin classifier (confidence ≥ 0.90)</a:t>
            </a:r>
            <a:endParaRPr lang="en-US" sz="1050" dirty="0"/>
          </a:p>
        </p:txBody>
      </p:sp>
      <p:sp>
        <p:nvSpPr>
          <p:cNvPr id="28" name="Shape 26"/>
          <p:cNvSpPr/>
          <p:nvPr/>
        </p:nvSpPr>
        <p:spPr>
          <a:xfrm>
            <a:off x="6080760" y="3931920"/>
            <a:ext cx="0" cy="201168"/>
          </a:xfrm>
          <a:prstGeom prst="line">
            <a:avLst/>
          </a:prstGeom>
          <a:noFill/>
          <a:ln w="12700">
            <a:solidFill>
              <a:srgbClr val="3C2864"/>
            </a:solidFill>
            <a:prstDash val="solid"/>
            <a:tailEnd type="arrow"/>
          </a:ln>
        </p:spPr>
      </p:sp>
      <p:sp>
        <p:nvSpPr>
          <p:cNvPr id="29" name="Shape 27"/>
          <p:cNvSpPr/>
          <p:nvPr/>
        </p:nvSpPr>
        <p:spPr>
          <a:xfrm>
            <a:off x="5833872" y="3877056"/>
            <a:ext cx="310896" cy="310896"/>
          </a:xfrm>
          <a:prstGeom prst="rect">
            <a:avLst/>
          </a:prstGeom>
          <a:solidFill>
            <a:srgbClr val="C8402A"/>
          </a:solidFill>
          <a:ln w="12700">
            <a:solidFill>
              <a:srgbClr val="C8402A"/>
            </a:solidFill>
            <a:prstDash val="solid"/>
          </a:ln>
        </p:spPr>
      </p:sp>
      <p:sp>
        <p:nvSpPr>
          <p:cNvPr id="30" name="Text 28"/>
          <p:cNvSpPr/>
          <p:nvPr/>
        </p:nvSpPr>
        <p:spPr>
          <a:xfrm>
            <a:off x="5833872" y="387705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3913632"/>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English query</a:t>
            </a:r>
            <a:endParaRPr lang="en-US" sz="900" dirty="0"/>
          </a:p>
        </p:txBody>
      </p:sp>
      <p:sp>
        <p:nvSpPr>
          <p:cNvPr id="32" name="Shape 30"/>
          <p:cNvSpPr/>
          <p:nvPr/>
        </p:nvSpPr>
        <p:spPr>
          <a:xfrm>
            <a:off x="594360" y="4151376"/>
            <a:ext cx="10972800" cy="1417320"/>
          </a:xfrm>
          <a:prstGeom prst="roundRect">
            <a:avLst>
              <a:gd name="adj" fmla="val 5161"/>
            </a:avLst>
          </a:prstGeom>
          <a:solidFill>
            <a:srgbClr val="F5F3FF"/>
          </a:solidFill>
          <a:ln w="12700">
            <a:solidFill>
              <a:srgbClr val="6B4090"/>
            </a:solidFill>
            <a:prstDash val="solid"/>
          </a:ln>
        </p:spPr>
      </p:sp>
      <p:sp>
        <p:nvSpPr>
          <p:cNvPr id="33" name="Shape 31"/>
          <p:cNvSpPr/>
          <p:nvPr/>
        </p:nvSpPr>
        <p:spPr>
          <a:xfrm>
            <a:off x="685800" y="4206240"/>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20624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21538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Gemma-4 Embedding + BM25 Candidate Recall</a:t>
            </a:r>
            <a:endParaRPr lang="en-US" sz="1200" dirty="0"/>
          </a:p>
        </p:txBody>
      </p:sp>
      <p:sp>
        <p:nvSpPr>
          <p:cNvPr id="36" name="Text 34"/>
          <p:cNvSpPr/>
          <p:nvPr/>
        </p:nvSpPr>
        <p:spPr>
          <a:xfrm>
            <a:off x="731520" y="45537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Embed query using Gemma-4 (via HuggingFace Inference API) to 2048-dim dense vector</a:t>
            </a:r>
            <a:endParaRPr lang="en-US" sz="1050" dirty="0"/>
          </a:p>
        </p:txBody>
      </p:sp>
      <p:sp>
        <p:nvSpPr>
          <p:cNvPr id="37" name="Text 35"/>
          <p:cNvSpPr/>
          <p:nvPr/>
        </p:nvSpPr>
        <p:spPr>
          <a:xfrm>
            <a:off x="731520" y="48646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FAISS ANN search: retrieve top-100 candidate tools by cosine similarity</a:t>
            </a:r>
            <a:endParaRPr lang="en-US" sz="1050" dirty="0"/>
          </a:p>
        </p:txBody>
      </p:sp>
      <p:sp>
        <p:nvSpPr>
          <p:cNvPr id="38" name="Text 36"/>
          <p:cNvSpPr/>
          <p:nvPr/>
        </p:nvSpPr>
        <p:spPr>
          <a:xfrm>
            <a:off x="731520" y="517550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Parallel BM25 recall: retrieve top-100 tools by keyword overlap (Okapi BM25, k1=1.5, b=0.75)</a:t>
            </a:r>
            <a:endParaRPr lang="en-US" sz="1050" dirty="0"/>
          </a:p>
        </p:txBody>
      </p:sp>
      <p:sp>
        <p:nvSpPr>
          <p:cNvPr id="39" name="Text 37"/>
          <p:cNvSpPr/>
          <p:nvPr/>
        </p:nvSpPr>
        <p:spPr>
          <a:xfrm>
            <a:off x="731520" y="548640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Union of both sets: candidate pool ≤ 150 unique tools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2 — Scoring and Reranking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2: Three-term composite score is computed for each candidate tool and the list is reranked.</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Co-Activation Prior Score (Session Graph Lookup)</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Look up co-activation graph G: edge weight w(tool_i, tool_j) = historical co-call frequency</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prior score P(t|session) = Σ w(t, prev_tool_k) × λ^(age_k), decay λ = 0.97</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Higher score = tools that frequently co-occur with recently used tools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prior score</a:t>
            </a:r>
            <a:endParaRPr lang="en-US" sz="900" dirty="0"/>
          </a:p>
        </p:txBody>
      </p:sp>
      <p:sp>
        <p:nvSpPr>
          <p:cNvPr id="21" name="Shape 19"/>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Three-Term Composite Score</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Score(t) = α1 × Semantic(t) + α2 × BM25(t) + α3 × SessionPrior(t)</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Default weights: α1 = 0.4, α2 = 0.2, α3 = 0.4 (tuned on ToolBench dev set)</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Weights are per-session adaptive: updated by online gradient descent after each query outcome</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ranked scores</a:t>
            </a:r>
            <a:endParaRPr lang="en-US" sz="900" dirty="0"/>
          </a:p>
        </p:txBody>
      </p:sp>
      <p:sp>
        <p:nvSpPr>
          <p:cNvPr id="32" name="Shape 30"/>
          <p:cNvSpPr/>
          <p:nvPr/>
        </p:nvSpPr>
        <p:spPr>
          <a:xfrm>
            <a:off x="594360" y="4416552"/>
            <a:ext cx="10972800" cy="1481328"/>
          </a:xfrm>
          <a:prstGeom prst="roundRect">
            <a:avLst>
              <a:gd name="adj" fmla="val 4938"/>
            </a:avLst>
          </a:prstGeom>
          <a:solidFill>
            <a:srgbClr val="F5F3FF"/>
          </a:solidFill>
          <a:ln w="12700">
            <a:solidFill>
              <a:srgbClr val="6B4090"/>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Rerank and Select Top-K Candidate Tools</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Sort candidate pool by composite Score(t) descending</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Select Top-K tools (K = 5 for evaluation; K = 10 for production dispatch)</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Output: ordered list of (tool_id, score, endpoint) tuples forwarded to agent dispatcher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1 — Algorithm Flow: Phase 3 — Execution and Graph Update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SessionRerank+ Phase 3: The ranked tools are dispatched to agents, results returned, and the co-activation graph is updated online for the next query.</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Agent Tool Dispatch and Execution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Agent calls Top-K tools via ToolBench API executor (DFS Decision Tree search)</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Execution result: success/failure signal + tool output string</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Tool execution logs appended to session history for next-turn reranking</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success/fail signal</a:t>
            </a:r>
            <a:endParaRPr lang="en-US" sz="900" dirty="0"/>
          </a:p>
        </p:txBody>
      </p:sp>
      <p:sp>
        <p:nvSpPr>
          <p:cNvPr id="21" name="Shape 19"/>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Online Co-Activation Graph Edge Update</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For each pair of tools (t_i, t_j) called in same session turn: w(t_i, t_j) += Δ (default Δ = 0.1)</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Failed tools: w(t_i, t_failed) −= Δ/2 (penalty for unsuccessful co-activation)</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Graph stored as sparse adjacency dict; FAISS index rebuilt every 100 sessions</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graph + ranked tools</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Ranked Top-K Tool List + Updated Session Graph</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ranked Top-K API list with composite scores for agent executor</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co-activation graph for persistent session-aware reranking</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Normalised Discounted Cumulative Gain (NDCG)@5 = 0.461 (Year 1 pilot); target ≥ 0.52 (full study)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1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notebooks, and deployment artefacts for SessionRerank+ are publicly available and reproducible.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https://github.com/joyjeni/session-aware-toolbench-rerank</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src/session_reranker.py — main reranking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src/co_activation_graph.py — session graph store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kaggle/sessionrerank_gemma4_kaggle.ipynb — full experiment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HuggingFace Space</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https://huggingface.co/spaces/abigailcreations/karnataka-agri-assistant</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Gradio demo: Kannada/Hindi/English farmer queries → SessionRerank+ → data.gov.in cited response)</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Gemma-4 (via HuggingFace (HF) Inference API), FAISS, IndicTrans2, data.gov.in Application Programming Interface (API)</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ToolBench 43K APIs + data.gov.in Karnataka APMC mandi price feed</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(Resource ID: 9ef84268-d588-465a-a308-a864a43d0070)</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Year 1 Pilot Result</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NDCG@5 = 0.461 | n = 500 test queries | p &lt; 0.0001 (Wilcoxon signed-rank vs dense retrieval)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2</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2: Adaptive Priority-aware Request Router (APRR)</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 Context-Driven Routing (CDR)</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 Parallel Dispatch Routing (PDR)</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APRR+CDR+PDR: Three Routing Strategies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Adaptive Priority-aware Request Router (APRR) is the base Reinforcement Learning (RL) engine. Context-Driven Routing (CDR) and Parallel Dispatch Routing (PDR) are complementary dispatch strategies that extend it.</a:t>
            </a:r>
            <a:endParaRPr lang="en-US" sz="1300" dirty="0"/>
          </a:p>
        </p:txBody>
      </p:sp>
      <p:sp>
        <p:nvSpPr>
          <p:cNvPr id="10" name="Shape 8"/>
          <p:cNvSpPr/>
          <p:nvPr/>
        </p:nvSpPr>
        <p:spPr>
          <a:xfrm>
            <a:off x="320040" y="960120"/>
            <a:ext cx="3794760" cy="3566160"/>
          </a:xfrm>
          <a:prstGeom prst="rect">
            <a:avLst/>
          </a:prstGeom>
          <a:solidFill>
            <a:srgbClr val="FFFFFF"/>
          </a:solidFill>
          <a:ln w="12700">
            <a:solidFill>
              <a:srgbClr val="3C2864"/>
            </a:solidFill>
            <a:prstDash val="solid"/>
          </a:ln>
        </p:spPr>
      </p:sp>
      <p:sp>
        <p:nvSpPr>
          <p:cNvPr id="11" name="Shape 9"/>
          <p:cNvSpPr/>
          <p:nvPr/>
        </p:nvSpPr>
        <p:spPr>
          <a:xfrm>
            <a:off x="320040" y="960120"/>
            <a:ext cx="3794760" cy="475488"/>
          </a:xfrm>
          <a:prstGeom prst="rect">
            <a:avLst/>
          </a:prstGeom>
          <a:solidFill>
            <a:srgbClr val="3C2864"/>
          </a:solidFill>
          <a:ln w="12700">
            <a:solidFill>
              <a:srgbClr val="3C2864"/>
            </a:solidFill>
            <a:prstDash val="solid"/>
          </a:ln>
        </p:spPr>
      </p:sp>
      <p:sp>
        <p:nvSpPr>
          <p:cNvPr id="12" name="Text 10"/>
          <p:cNvSpPr/>
          <p:nvPr/>
        </p:nvSpPr>
        <p:spPr>
          <a:xfrm>
            <a:off x="411480"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APRR</a:t>
            </a:r>
            <a:endParaRPr lang="en-US" sz="1600" dirty="0"/>
          </a:p>
        </p:txBody>
      </p:sp>
      <p:sp>
        <p:nvSpPr>
          <p:cNvPr id="13" name="Text 11"/>
          <p:cNvSpPr/>
          <p:nvPr/>
        </p:nvSpPr>
        <p:spPr>
          <a:xfrm>
            <a:off x="411480"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Adaptive Priority-aware Request Router</a:t>
            </a:r>
            <a:endParaRPr lang="en-US" sz="1100" dirty="0"/>
          </a:p>
        </p:txBody>
      </p:sp>
      <p:sp>
        <p:nvSpPr>
          <p:cNvPr id="14" name="Text 12"/>
          <p:cNvSpPr/>
          <p:nvPr/>
        </p:nvSpPr>
        <p:spPr>
          <a:xfrm>
            <a:off x="411480"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Base online Reinforcement Learning (RL) weight matrix updated by live binary session feedback (success/failure) with exponential decay (λ=0.97). Probability distribution over agents updated after each query. Fills gap: all prior routers use offline-trained fixed policies.</a:t>
            </a:r>
            <a:endParaRPr lang="en-US" sz="1300" dirty="0"/>
          </a:p>
        </p:txBody>
      </p:sp>
      <p:sp>
        <p:nvSpPr>
          <p:cNvPr id="15" name="Shape 13"/>
          <p:cNvSpPr/>
          <p:nvPr/>
        </p:nvSpPr>
        <p:spPr>
          <a:xfrm>
            <a:off x="4279392" y="960120"/>
            <a:ext cx="3794760" cy="3566160"/>
          </a:xfrm>
          <a:prstGeom prst="rect">
            <a:avLst/>
          </a:prstGeom>
          <a:solidFill>
            <a:srgbClr val="FFFFFF"/>
          </a:solidFill>
          <a:ln w="12700">
            <a:solidFill>
              <a:srgbClr val="6B4090"/>
            </a:solidFill>
            <a:prstDash val="solid"/>
          </a:ln>
        </p:spPr>
      </p:sp>
      <p:sp>
        <p:nvSpPr>
          <p:cNvPr id="16" name="Shape 14"/>
          <p:cNvSpPr/>
          <p:nvPr/>
        </p:nvSpPr>
        <p:spPr>
          <a:xfrm>
            <a:off x="4279392" y="960120"/>
            <a:ext cx="3794760" cy="475488"/>
          </a:xfrm>
          <a:prstGeom prst="rect">
            <a:avLst/>
          </a:prstGeom>
          <a:solidFill>
            <a:srgbClr val="6B4090"/>
          </a:solidFill>
          <a:ln w="12700">
            <a:solidFill>
              <a:srgbClr val="6B4090"/>
            </a:solidFill>
            <a:prstDash val="solid"/>
          </a:ln>
        </p:spPr>
      </p:sp>
      <p:sp>
        <p:nvSpPr>
          <p:cNvPr id="17" name="Text 15"/>
          <p:cNvSpPr/>
          <p:nvPr/>
        </p:nvSpPr>
        <p:spPr>
          <a:xfrm>
            <a:off x="4370832"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CDR</a:t>
            </a:r>
            <a:endParaRPr lang="en-US" sz="1600" dirty="0"/>
          </a:p>
        </p:txBody>
      </p:sp>
      <p:sp>
        <p:nvSpPr>
          <p:cNvPr id="18" name="Text 16"/>
          <p:cNvSpPr/>
          <p:nvPr/>
        </p:nvSpPr>
        <p:spPr>
          <a:xfrm>
            <a:off x="4370832"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Context-Driven Routing</a:t>
            </a:r>
            <a:endParaRPr lang="en-US" sz="1100" dirty="0"/>
          </a:p>
        </p:txBody>
      </p:sp>
      <p:sp>
        <p:nvSpPr>
          <p:cNvPr id="19" name="Text 17"/>
          <p:cNvSpPr/>
          <p:nvPr/>
        </p:nvSpPr>
        <p:spPr>
          <a:xfrm>
            <a:off x="4370832"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Multi-step deliberation via chain-of-thought (CoT) quality scoring. Routes complex, high-ambiguity queries through a structured reasoning evaluator before agent dispatch. CoT score gates whether direct dispatch or deliberation path is used. Reduces misrouting on ambiguous queries.</a:t>
            </a:r>
            <a:endParaRPr lang="en-US" sz="1300" dirty="0"/>
          </a:p>
        </p:txBody>
      </p:sp>
      <p:sp>
        <p:nvSpPr>
          <p:cNvPr id="20" name="Shape 18"/>
          <p:cNvSpPr/>
          <p:nvPr/>
        </p:nvSpPr>
        <p:spPr>
          <a:xfrm>
            <a:off x="8238744" y="960120"/>
            <a:ext cx="3794760" cy="3566160"/>
          </a:xfrm>
          <a:prstGeom prst="rect">
            <a:avLst/>
          </a:prstGeom>
          <a:solidFill>
            <a:srgbClr val="FFFFFF"/>
          </a:solidFill>
          <a:ln w="12700">
            <a:solidFill>
              <a:srgbClr val="C8402A"/>
            </a:solidFill>
            <a:prstDash val="solid"/>
          </a:ln>
        </p:spPr>
      </p:sp>
      <p:sp>
        <p:nvSpPr>
          <p:cNvPr id="21" name="Shape 19"/>
          <p:cNvSpPr/>
          <p:nvPr/>
        </p:nvSpPr>
        <p:spPr>
          <a:xfrm>
            <a:off x="8238744" y="960120"/>
            <a:ext cx="3794760" cy="475488"/>
          </a:xfrm>
          <a:prstGeom prst="rect">
            <a:avLst/>
          </a:prstGeom>
          <a:solidFill>
            <a:srgbClr val="C8402A"/>
          </a:solidFill>
          <a:ln w="12700">
            <a:solidFill>
              <a:srgbClr val="C8402A"/>
            </a:solidFill>
            <a:prstDash val="solid"/>
          </a:ln>
        </p:spPr>
      </p:sp>
      <p:sp>
        <p:nvSpPr>
          <p:cNvPr id="22" name="Text 20"/>
          <p:cNvSpPr/>
          <p:nvPr/>
        </p:nvSpPr>
        <p:spPr>
          <a:xfrm>
            <a:off x="8330184"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PDR</a:t>
            </a:r>
            <a:endParaRPr lang="en-US" sz="1600" dirty="0"/>
          </a:p>
        </p:txBody>
      </p:sp>
      <p:sp>
        <p:nvSpPr>
          <p:cNvPr id="23" name="Text 21"/>
          <p:cNvSpPr/>
          <p:nvPr/>
        </p:nvSpPr>
        <p:spPr>
          <a:xfrm>
            <a:off x="8330184" y="1197864"/>
            <a:ext cx="3611880" cy="2286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Parallel Dispatch Routing</a:t>
            </a:r>
            <a:endParaRPr lang="en-US" sz="1100" dirty="0"/>
          </a:p>
        </p:txBody>
      </p:sp>
      <p:sp>
        <p:nvSpPr>
          <p:cNvPr id="24" name="Text 22"/>
          <p:cNvSpPr/>
          <p:nvPr/>
        </p:nvSpPr>
        <p:spPr>
          <a:xfrm>
            <a:off x="8330184" y="1508760"/>
            <a:ext cx="3611880" cy="2971800"/>
          </a:xfrm>
          <a:prstGeom prst="rect">
            <a:avLst/>
          </a:prstGeom>
          <a:noFill/>
          <a:ln/>
        </p:spPr>
        <p:txBody>
          <a:bodyPr wrap="square" rtlCol="0" anchor="t"/>
          <a:lstStyle/>
          <a:p>
            <a:pPr indent="0" marL="0">
              <a:buNone/>
            </a:pPr>
            <a:r>
              <a:rPr lang="en-US" sz="1300" dirty="0">
                <a:solidFill>
                  <a:srgbClr val="1A1035"/>
                </a:solidFill>
                <a:latin typeface="Calibri" pitchFamily="34" charset="0"/>
                <a:ea typeface="Calibri" pitchFamily="34" charset="-122"/>
                <a:cs typeface="Calibri" pitchFamily="34" charset="-120"/>
              </a:rPr>
              <a:t>Functional-token parallel agent dispatch. Maps sub-tasks to specialist agents simultaneously using learned routing tokens. Enables parallel execution of decomposed queries across specialist agents with reduced serial hops.</a:t>
            </a:r>
            <a:endParaRPr lang="en-US" sz="1300" dirty="0"/>
          </a:p>
        </p:txBody>
      </p:sp>
      <p:sp>
        <p:nvSpPr>
          <p:cNvPr id="25" name="Shape 23"/>
          <p:cNvSpPr/>
          <p:nvPr/>
        </p:nvSpPr>
        <p:spPr>
          <a:xfrm>
            <a:off x="320040" y="4645152"/>
            <a:ext cx="11548872" cy="256032"/>
          </a:xfrm>
          <a:prstGeom prst="rect">
            <a:avLst/>
          </a:prstGeom>
          <a:solidFill>
            <a:srgbClr val="3C2864"/>
          </a:solidFill>
          <a:ln w="12700">
            <a:solidFill>
              <a:srgbClr val="3C2864"/>
            </a:solidFill>
            <a:prstDash val="solid"/>
          </a:ln>
        </p:spPr>
      </p:sp>
      <p:sp>
        <p:nvSpPr>
          <p:cNvPr id="26" name="Text 24"/>
          <p:cNvSpPr/>
          <p:nvPr/>
        </p:nvSpPr>
        <p:spPr>
          <a:xfrm>
            <a:off x="457200" y="4663440"/>
            <a:ext cx="11338560" cy="21945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Progress &amp; Expected Outcomes — APRR+CDR+PDR</a:t>
            </a:r>
            <a:endParaRPr lang="en-US" sz="1300" dirty="0"/>
          </a:p>
        </p:txBody>
      </p:sp>
      <p:sp>
        <p:nvSpPr>
          <p:cNvPr id="27" name="Shape 25"/>
          <p:cNvSpPr/>
          <p:nvPr/>
        </p:nvSpPr>
        <p:spPr>
          <a:xfrm>
            <a:off x="365760" y="4974336"/>
            <a:ext cx="2176272" cy="1234440"/>
          </a:xfrm>
          <a:prstGeom prst="rect">
            <a:avLst/>
          </a:prstGeom>
          <a:solidFill>
            <a:srgbClr val="FFFFFF"/>
          </a:solidFill>
          <a:ln w="12700">
            <a:solidFill>
              <a:srgbClr val="3C2864"/>
            </a:solidFill>
            <a:prstDash val="solid"/>
          </a:ln>
        </p:spPr>
      </p:sp>
      <p:sp>
        <p:nvSpPr>
          <p:cNvPr id="28" name="Text 26"/>
          <p:cNvSpPr/>
          <p:nvPr/>
        </p:nvSpPr>
        <p:spPr>
          <a:xfrm>
            <a:off x="411480"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47.0%</a:t>
            </a:r>
            <a:endParaRPr lang="en-US" sz="2400" dirty="0"/>
          </a:p>
        </p:txBody>
      </p:sp>
      <p:sp>
        <p:nvSpPr>
          <p:cNvPr id="29" name="Text 27"/>
          <p:cNvSpPr/>
          <p:nvPr/>
        </p:nvSpPr>
        <p:spPr>
          <a:xfrm>
            <a:off x="411480"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Task Success Rate</a:t>
            </a:r>
            <a:endParaRPr lang="en-US" sz="1200" dirty="0"/>
          </a:p>
        </p:txBody>
      </p:sp>
      <p:sp>
        <p:nvSpPr>
          <p:cNvPr id="30" name="Shape 28"/>
          <p:cNvSpPr/>
          <p:nvPr/>
        </p:nvSpPr>
        <p:spPr>
          <a:xfrm>
            <a:off x="2670048" y="4974336"/>
            <a:ext cx="2176272" cy="1234440"/>
          </a:xfrm>
          <a:prstGeom prst="rect">
            <a:avLst/>
          </a:prstGeom>
          <a:solidFill>
            <a:srgbClr val="FFFFFF"/>
          </a:solidFill>
          <a:ln w="12700">
            <a:solidFill>
              <a:srgbClr val="3C2864"/>
            </a:solidFill>
            <a:prstDash val="solid"/>
          </a:ln>
        </p:spPr>
      </p:sp>
      <p:sp>
        <p:nvSpPr>
          <p:cNvPr id="31" name="Text 29"/>
          <p:cNvSpPr/>
          <p:nvPr/>
        </p:nvSpPr>
        <p:spPr>
          <a:xfrm>
            <a:off x="2715768"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261ms</a:t>
            </a:r>
            <a:endParaRPr lang="en-US" sz="2400" dirty="0"/>
          </a:p>
        </p:txBody>
      </p:sp>
      <p:sp>
        <p:nvSpPr>
          <p:cNvPr id="32" name="Text 30"/>
          <p:cNvSpPr/>
          <p:nvPr/>
        </p:nvSpPr>
        <p:spPr>
          <a:xfrm>
            <a:off x="2715768"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End-to-End Latency</a:t>
            </a:r>
            <a:endParaRPr lang="en-US" sz="1200" dirty="0"/>
          </a:p>
        </p:txBody>
      </p:sp>
      <p:sp>
        <p:nvSpPr>
          <p:cNvPr id="33" name="Shape 31"/>
          <p:cNvSpPr/>
          <p:nvPr/>
        </p:nvSpPr>
        <p:spPr>
          <a:xfrm>
            <a:off x="4974336" y="4974336"/>
            <a:ext cx="2176272" cy="1234440"/>
          </a:xfrm>
          <a:prstGeom prst="rect">
            <a:avLst/>
          </a:prstGeom>
          <a:solidFill>
            <a:srgbClr val="FFFFFF"/>
          </a:solidFill>
          <a:ln w="12700">
            <a:solidFill>
              <a:srgbClr val="3C2864"/>
            </a:solidFill>
            <a:prstDash val="solid"/>
          </a:ln>
        </p:spPr>
      </p:sp>
      <p:sp>
        <p:nvSpPr>
          <p:cNvPr id="34" name="Text 32"/>
          <p:cNvSpPr/>
          <p:nvPr/>
        </p:nvSpPr>
        <p:spPr>
          <a:xfrm>
            <a:off x="5020056"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+2%</a:t>
            </a:r>
            <a:endParaRPr lang="en-US" sz="2400" dirty="0"/>
          </a:p>
        </p:txBody>
      </p:sp>
      <p:sp>
        <p:nvSpPr>
          <p:cNvPr id="35" name="Text 33"/>
          <p:cNvSpPr/>
          <p:nvPr/>
        </p:nvSpPr>
        <p:spPr>
          <a:xfrm>
            <a:off x="5020056"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vs Static Routing</a:t>
            </a:r>
            <a:endParaRPr lang="en-US" sz="1200" dirty="0"/>
          </a:p>
        </p:txBody>
      </p:sp>
      <p:sp>
        <p:nvSpPr>
          <p:cNvPr id="36" name="Shape 34"/>
          <p:cNvSpPr/>
          <p:nvPr/>
        </p:nvSpPr>
        <p:spPr>
          <a:xfrm>
            <a:off x="7278624" y="4974336"/>
            <a:ext cx="2176272" cy="1234440"/>
          </a:xfrm>
          <a:prstGeom prst="rect">
            <a:avLst/>
          </a:prstGeom>
          <a:solidFill>
            <a:srgbClr val="FFFFFF"/>
          </a:solidFill>
          <a:ln w="12700">
            <a:solidFill>
              <a:srgbClr val="3C2864"/>
            </a:solidFill>
            <a:prstDash val="solid"/>
          </a:ln>
        </p:spPr>
      </p:sp>
      <p:sp>
        <p:nvSpPr>
          <p:cNvPr id="37" name="Text 35"/>
          <p:cNvSpPr/>
          <p:nvPr/>
        </p:nvSpPr>
        <p:spPr>
          <a:xfrm>
            <a:off x="7324344"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0.499</a:t>
            </a:r>
            <a:endParaRPr lang="en-US" sz="2400" dirty="0"/>
          </a:p>
        </p:txBody>
      </p:sp>
      <p:sp>
        <p:nvSpPr>
          <p:cNvPr id="38" name="Text 36"/>
          <p:cNvSpPr/>
          <p:nvPr/>
        </p:nvSpPr>
        <p:spPr>
          <a:xfrm>
            <a:off x="7324344"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StaticSemantic Baseline</a:t>
            </a:r>
            <a:endParaRPr lang="en-US" sz="1200" dirty="0"/>
          </a:p>
        </p:txBody>
      </p:sp>
      <p:sp>
        <p:nvSpPr>
          <p:cNvPr id="39" name="Shape 37"/>
          <p:cNvSpPr/>
          <p:nvPr/>
        </p:nvSpPr>
        <p:spPr>
          <a:xfrm>
            <a:off x="9582912" y="4974336"/>
            <a:ext cx="2176272" cy="1234440"/>
          </a:xfrm>
          <a:prstGeom prst="rect">
            <a:avLst/>
          </a:prstGeom>
          <a:solidFill>
            <a:srgbClr val="FFFFFF"/>
          </a:solidFill>
          <a:ln w="12700">
            <a:solidFill>
              <a:srgbClr val="3C2864"/>
            </a:solidFill>
            <a:prstDash val="solid"/>
          </a:ln>
        </p:spPr>
      </p:sp>
      <p:sp>
        <p:nvSpPr>
          <p:cNvPr id="40" name="Text 38"/>
          <p:cNvSpPr/>
          <p:nvPr/>
        </p:nvSpPr>
        <p:spPr>
          <a:xfrm>
            <a:off x="9628632" y="5029200"/>
            <a:ext cx="2084832" cy="502920"/>
          </a:xfrm>
          <a:prstGeom prst="rect">
            <a:avLst/>
          </a:prstGeom>
          <a:noFill/>
          <a:ln/>
        </p:spPr>
        <p:txBody>
          <a:bodyPr wrap="square" rtlCol="0" anchor="ctr"/>
          <a:lstStyle/>
          <a:p>
            <a:pPr algn="ctr" indent="0" marL="0">
              <a:buNone/>
            </a:pPr>
            <a:r>
              <a:rPr lang="en-US" sz="2400" b="1" dirty="0">
                <a:solidFill>
                  <a:srgbClr val="C8402A"/>
                </a:solidFill>
                <a:latin typeface="Calibri" pitchFamily="34" charset="0"/>
                <a:ea typeface="Calibri" pitchFamily="34" charset="-122"/>
                <a:cs typeface="Calibri" pitchFamily="34" charset="-120"/>
              </a:rPr>
              <a:t>Parallel</a:t>
            </a:r>
            <a:endParaRPr lang="en-US" sz="2400" dirty="0"/>
          </a:p>
        </p:txBody>
      </p:sp>
      <p:sp>
        <p:nvSpPr>
          <p:cNvPr id="41" name="Text 39"/>
          <p:cNvSpPr/>
          <p:nvPr/>
        </p:nvSpPr>
        <p:spPr>
          <a:xfrm>
            <a:off x="9628632" y="5559552"/>
            <a:ext cx="2084832" cy="594360"/>
          </a:xfrm>
          <a:prstGeom prst="rect">
            <a:avLst/>
          </a:prstGeom>
          <a:noFill/>
          <a:ln/>
        </p:spPr>
        <p:txBody>
          <a:bodyPr wrap="square" rtlCol="0" anchor="ctr"/>
          <a:lstStyle/>
          <a:p>
            <a:pPr algn="ctr" indent="0" marL="0">
              <a:buNone/>
            </a:pPr>
            <a:r>
              <a:rPr lang="en-US" sz="1200" dirty="0">
                <a:solidFill>
                  <a:srgbClr val="1A1035"/>
                </a:solidFill>
                <a:latin typeface="Calibri" pitchFamily="34" charset="0"/>
                <a:ea typeface="Calibri" pitchFamily="34" charset="-122"/>
                <a:cs typeface="Calibri" pitchFamily="34" charset="-120"/>
              </a:rPr>
              <a:t>Multi-Agent Dispatch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APRR+CDR+PDR: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Three-strategy routing engine: APRR base RL → CDR context-driven gate → PDR parallel dispatch → 5 specialist agents.</a:t>
            </a:r>
            <a:endParaRPr lang="en-US" sz="1200" dirty="0"/>
          </a:p>
        </p:txBody>
      </p:sp>
      <p:sp>
        <p:nvSpPr>
          <p:cNvPr id="10" name="Shape 8"/>
          <p:cNvSpPr/>
          <p:nvPr/>
        </p:nvSpPr>
        <p:spPr>
          <a:xfrm>
            <a:off x="320040" y="868680"/>
            <a:ext cx="11548872" cy="347472"/>
          </a:xfrm>
          <a:prstGeom prst="rect">
            <a:avLst/>
          </a:prstGeom>
          <a:solidFill>
            <a:srgbClr val="E3F0FF"/>
          </a:solidFill>
          <a:ln w="12700">
            <a:solidFill>
              <a:srgbClr val="1565C0"/>
            </a:solidFill>
            <a:prstDash val="solid"/>
          </a:ln>
        </p:spPr>
      </p:sp>
      <p:sp>
        <p:nvSpPr>
          <p:cNvPr id="11" name="Shape 9"/>
          <p:cNvSpPr/>
          <p:nvPr/>
        </p:nvSpPr>
        <p:spPr>
          <a:xfrm>
            <a:off x="320040" y="868680"/>
            <a:ext cx="731520" cy="347472"/>
          </a:xfrm>
          <a:prstGeom prst="rect">
            <a:avLst/>
          </a:prstGeom>
          <a:solidFill>
            <a:srgbClr val="1565C0"/>
          </a:solidFill>
          <a:ln w="12700">
            <a:solidFill>
              <a:srgbClr val="1565C0"/>
            </a:solidFill>
            <a:prstDash val="solid"/>
          </a:ln>
        </p:spPr>
      </p:sp>
      <p:sp>
        <p:nvSpPr>
          <p:cNvPr id="12" name="Text 10"/>
          <p:cNvSpPr/>
          <p:nvPr/>
        </p:nvSpPr>
        <p:spPr>
          <a:xfrm>
            <a:off x="320040" y="905256"/>
            <a:ext cx="7315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NOVEL</a:t>
            </a:r>
            <a:endParaRPr lang="en-US" sz="800" dirty="0"/>
          </a:p>
        </p:txBody>
      </p:sp>
      <p:sp>
        <p:nvSpPr>
          <p:cNvPr id="13" name="Text 11"/>
          <p:cNvSpPr/>
          <p:nvPr/>
        </p:nvSpPr>
        <p:spPr>
          <a:xfrm>
            <a:off x="1097280" y="905256"/>
            <a:ext cx="10725912" cy="274320"/>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RL Weight Matrix W (online, real-time updates)   |   Parallel Dispatch Routing (PDR) — functional-token parallel dispatch   |   Exponential decay with binary session signals</a:t>
            </a:r>
            <a:endParaRPr lang="en-US" sz="1000" dirty="0"/>
          </a:p>
        </p:txBody>
      </p:sp>
      <p:pic>
        <p:nvPicPr>
          <p:cNvPr id="14" name="Image 0" descr="preencoded.png">    </p:cNvPr>
          <p:cNvPicPr>
            <a:picLocks noChangeAspect="1"/>
          </p:cNvPicPr>
          <p:nvPr/>
        </p:nvPicPr>
        <p:blipFill>
          <a:blip r:embed="rId1"/>
          <a:srcRect l="0" r="0" t="0" b="0"/>
          <a:stretch/>
        </p:blipFill>
        <p:spPr>
          <a:xfrm>
            <a:off x="320040" y="1252728"/>
            <a:ext cx="11548872" cy="52943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1 — Input and Priority Scoring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1: Incoming query is classified by priority and the Service Level Agreement (SLA) class is determined before routing decision is made.</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Multi-Agent Routing Request + Live Session Context</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query string, session_id, agent_pool (list of available specialist agents)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Session context: W matrix (RL weight matrix, shape: n_agents × n_features)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Live binary feedback buffer: last N=50 query success/failure signals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query + context</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7F0"/>
          </a:solidFill>
          <a:ln w="12700">
            <a:solidFill>
              <a:srgbClr val="E6510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Query Complexity Classification and Service Level Agreement (SLA) Prioritisation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Complexity features: token count, entity density, number of sub-tasks detected</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SLA class: URGENT (latency ≤ 100ms), STANDARD (≤ 265ms), BATCH (≤ 2s)</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Priority score = 0.6 × urgency + 0.4 × complexity (normalised 0-1)</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priority score + SLA class</a:t>
            </a:r>
            <a:endParaRPr lang="en-US" sz="900" dirty="0"/>
          </a:p>
        </p:txBody>
      </p:sp>
      <p:sp>
        <p:nvSpPr>
          <p:cNvPr id="32" name="Shape 30"/>
          <p:cNvSpPr/>
          <p:nvPr/>
        </p:nvSpPr>
        <p:spPr>
          <a:xfrm>
            <a:off x="594360" y="4416552"/>
            <a:ext cx="10972800" cy="1481328"/>
          </a:xfrm>
          <a:prstGeom prst="roundRect">
            <a:avLst>
              <a:gd name="adj" fmla="val 4938"/>
            </a:avLst>
          </a:prstGeom>
          <a:solidFill>
            <a:srgbClr val="FFF7F0"/>
          </a:solidFill>
          <a:ln w="12700">
            <a:solidFill>
              <a:srgbClr val="E65100"/>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APRR Weight Matrix Lookup and Agent Probability Distribution</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Look up W matrix: P(agent_i | query) = softmax(W ⋅ feature_vector)</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Apply exponential decay: W_decayed = W × λ^(t - t_last_update), λ = 0.97</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Branch: if priority ≥ 0.8 (URGENT) → route directly to top-1 agent; else proceed to CDR gate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2 — Parallel Dispatch and Consensus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2: Context-Driven Routing (CDR) deliberation gate and Parallel Dispatch Routing (PDR) multi-agent execution.</a:t>
            </a:r>
            <a:endParaRPr lang="en-US" sz="1200" dirty="0"/>
          </a:p>
        </p:txBody>
      </p:sp>
      <p:sp>
        <p:nvSpPr>
          <p:cNvPr id="10" name="Shape 8"/>
          <p:cNvSpPr/>
          <p:nvPr/>
        </p:nvSpPr>
        <p:spPr>
          <a:xfrm>
            <a:off x="594360" y="868680"/>
            <a:ext cx="10972800" cy="1481328"/>
          </a:xfrm>
          <a:prstGeom prst="roundRect">
            <a:avLst>
              <a:gd name="adj" fmla="val 4938"/>
            </a:avLst>
          </a:prstGeom>
          <a:solidFill>
            <a:srgbClr val="F5F3FF"/>
          </a:solidFill>
          <a:ln w="12700">
            <a:solidFill>
              <a:srgbClr val="6B409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Context-Driven Routing (CDR) Deliberation Gate</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CDR scores query ambiguity: Q_ambig = cosine_sim(query, agent_capability_embeddings)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Q_ambig ≥ 0.7: invoke chain-of-thought deliberation (2-step CoT scoring, max 500 tokens)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CoT output: ranked list of candidate agents with confidence scores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agent assignment</a:t>
            </a:r>
            <a:endParaRPr lang="en-US" sz="900" dirty="0"/>
          </a:p>
        </p:txBody>
      </p:sp>
      <p:sp>
        <p:nvSpPr>
          <p:cNvPr id="21" name="Shape 19"/>
          <p:cNvSpPr/>
          <p:nvPr/>
        </p:nvSpPr>
        <p:spPr>
          <a:xfrm>
            <a:off x="594360" y="2642616"/>
            <a:ext cx="10972800" cy="1481328"/>
          </a:xfrm>
          <a:prstGeom prst="roundRect">
            <a:avLst>
              <a:gd name="adj" fmla="val 4938"/>
            </a:avLst>
          </a:prstGeom>
          <a:solidFill>
            <a:srgbClr val="F5F3FF"/>
          </a:solidFill>
          <a:ln w="12700">
            <a:solidFill>
              <a:srgbClr val="6B409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Parallel Dispatch Routing (PDR) Multi-Agent Execution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Decompose query into functional sub-tasks using learned routing tokens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Dispatch sub-tasks in parallel to specialist agents (MarketAgent, WeatherAgent, SchemeAgent)</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Wall-clock parallelism: all sub-tasks run concurrently; timeout = SLA budget − 20ms</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agent responses</a:t>
            </a:r>
            <a:endParaRPr lang="en-US" sz="900" dirty="0"/>
          </a:p>
        </p:txBody>
      </p:sp>
      <p:sp>
        <p:nvSpPr>
          <p:cNvPr id="32" name="Shape 30"/>
          <p:cNvSpPr/>
          <p:nvPr/>
        </p:nvSpPr>
        <p:spPr>
          <a:xfrm>
            <a:off x="594360" y="4416552"/>
            <a:ext cx="10972800" cy="1481328"/>
          </a:xfrm>
          <a:prstGeom prst="roundRect">
            <a:avLst>
              <a:gd name="adj" fmla="val 4938"/>
            </a:avLst>
          </a:prstGeom>
          <a:solidFill>
            <a:srgbClr val="F5F3FF"/>
          </a:solidFill>
          <a:ln w="12700">
            <a:solidFill>
              <a:srgbClr val="6B4090"/>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Response Aggregation and Consensus</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Collect responses from all dispatched agents (within SLA window)</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Aggregate via majority vote for boolean queries; concatenate + deduplicate for factual</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Consensus score: fraction of agents returning same top-1 answer (threshold ≥ 0.6)</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2 — Algorithm Flow: Phase 3 — Online Learning and Feedback</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24</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APRR+CDR+PDR Phase 3: The W matrix is updated online from binary feedback, completing the Reinforcement Learning (RL) loop.</a:t>
            </a:r>
            <a:endParaRPr lang="en-US" sz="1200" dirty="0"/>
          </a:p>
        </p:txBody>
      </p:sp>
      <p:sp>
        <p:nvSpPr>
          <p:cNvPr id="10" name="Shape 8"/>
          <p:cNvSpPr/>
          <p:nvPr/>
        </p:nvSpPr>
        <p:spPr>
          <a:xfrm>
            <a:off x="594360" y="868680"/>
            <a:ext cx="10972800" cy="1481328"/>
          </a:xfrm>
          <a:prstGeom prst="roundRect">
            <a:avLst>
              <a:gd name="adj" fmla="val 4938"/>
            </a:avLst>
          </a:prstGeom>
          <a:solidFill>
            <a:srgbClr val="FFF7F0"/>
          </a:solidFill>
          <a:ln w="12700">
            <a:solidFill>
              <a:srgbClr val="E65100"/>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Binary Feedback Signal Collection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User/evaluator provides binary signal: success (1) or failure (0)</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Signal stored in sliding feedback buffer (last N=50 turns, FIFO)</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Delayed feedback handled: buffer accepts signals up to 30s after query dispatch</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success/fail + delta</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7F0"/>
          </a:solidFill>
          <a:ln w="12700">
            <a:solidFill>
              <a:srgbClr val="E65100"/>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W Matrix Online Update (APRR RL Step)</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Reward = signal − baseline (baseline = rolling mean of last N success rates)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W_update = W + α × reward × ∇_W log P(agent | query)</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Apply exponential decay post-update: W ← W × λ^1; learning rate α = 0.01</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W + routed response</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Routed Response + Updated RL Weight Matrix</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consolidated agent response delivered within SLA budget</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W matrix persisted for next-query routing</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Task success rate 47.0% | Latency 261ms (Year 1 pilot, ToolBench G1/G2/G3, 500 queries × 5 seeds)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2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and benchmark results for the Adaptive Priority-aware Request Router (APRR)+CDR+PDR routing system are publicly available and reproducible.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https://github.com/joyjeni/aprr-multi-agent-routing</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src/aprr/router.py — RL weight matrix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src/aprr/cdr.py — Context-Driven Routing (CDR) deliberation gate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src/aprr/pdr.py — Parallel Dispatch Routing (PDR) functional-token dispatch</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experiments/multiseed.py — multi-seed benchmark runner</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https://aprr-multi-agent-routing.vercel.app</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routing metrics: task success rate, latency distribution, W matrix heatmap)</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ToolBench G1/G2/G3 splits | 500 queries × 5 seeds × 40 Reinforcement Learning (RL) iterations per run</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 Results</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APRR: 0.470 task success | StaticSemantic baseline: 0.499 | Gap: −0.029 (Year 1 pilot — full study targets +2% over baseline)</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PyTorch 2.1, HuggingFace Transformers, ToolBench executor, Vercel deployment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3</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3: Multi-Node Context Distribution</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(MNCD)</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26</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Multi-Node Context Distribution (MNCD)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27</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Multi-Node Context Distribution (MNCD) delivers resilient session context sharing across distributed agent nodes using a gossip-protocol broadcast mechanism.</a:t>
            </a:r>
            <a:endParaRPr lang="en-US" sz="13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Protocol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Gossip-protocol broadcast mechanism for context propagation across N agent nodes</a:t>
            </a:r>
            <a:endParaRPr lang="en-US" sz="13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Each node maintains a partial replica of the shared context store (replication factor R=3)</a:t>
            </a:r>
            <a:endParaRPr lang="en-US" sz="13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O(log N) propagation rounds: context reaches all live nodes in logarithmic time</a:t>
            </a:r>
            <a:endParaRPr lang="en-US" sz="13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Fault model: up to 2-of-5 node simultaneous failures tolerated</a:t>
            </a:r>
            <a:endParaRPr lang="en-US" sz="13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Anti-entropy reconciliation prevents stale context divergence</a:t>
            </a:r>
            <a:endParaRPr lang="en-US" sz="13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Borda consensus aggregation over replicated context stores</a:t>
            </a:r>
            <a:endParaRPr lang="en-US" sz="13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Benchmarked on simulated 5-node cluster with injected node failures</a:t>
            </a:r>
            <a:endParaRPr lang="en-US" sz="13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5603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2200" b="1" dirty="0">
                <a:solidFill>
                  <a:srgbClr val="C8402A"/>
                </a:solidFill>
                <a:latin typeface="Calibri" pitchFamily="34" charset="0"/>
                <a:ea typeface="Calibri" pitchFamily="34" charset="-122"/>
                <a:cs typeface="Calibri" pitchFamily="34" charset="-120"/>
              </a:rPr>
              <a:t>Context Availability ≥ 97%</a:t>
            </a:r>
            <a:endParaRPr lang="en-US" sz="2200" dirty="0"/>
          </a:p>
        </p:txBody>
      </p:sp>
      <p:sp>
        <p:nvSpPr>
          <p:cNvPr id="21" name="Text 19"/>
          <p:cNvSpPr/>
          <p:nvPr/>
        </p:nvSpPr>
        <p:spPr>
          <a:xfrm>
            <a:off x="6126480" y="1783080"/>
            <a:ext cx="5669280" cy="25603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under 2-of-5 simultaneous node failures</a:t>
            </a:r>
            <a:endParaRPr lang="en-US" sz="1300" dirty="0"/>
          </a:p>
        </p:txBody>
      </p:sp>
      <p:sp>
        <p:nvSpPr>
          <p:cNvPr id="22" name="Text 20"/>
          <p:cNvSpPr/>
          <p:nvPr/>
        </p:nvSpPr>
        <p:spPr>
          <a:xfrm>
            <a:off x="6126480" y="2084832"/>
            <a:ext cx="5669280" cy="77724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Context Availability = fraction of time correct session context is accessible to any querying agent, despite node failures. Measured over 10,000 simulated queries with random 2-node failure injection.</a:t>
            </a:r>
            <a:endParaRPr lang="en-US" sz="1300" dirty="0"/>
          </a:p>
        </p:txBody>
      </p:sp>
      <p:sp>
        <p:nvSpPr>
          <p:cNvPr id="23" name="Shape 21"/>
          <p:cNvSpPr/>
          <p:nvPr/>
        </p:nvSpPr>
        <p:spPr>
          <a:xfrm>
            <a:off x="6035040" y="3913632"/>
            <a:ext cx="5852160" cy="1920240"/>
          </a:xfrm>
          <a:prstGeom prst="rect">
            <a:avLst/>
          </a:prstGeom>
          <a:solidFill>
            <a:srgbClr val="3C2864"/>
          </a:solidFill>
          <a:ln w="12700">
            <a:solidFill>
              <a:srgbClr val="3C2864"/>
            </a:solidFill>
            <a:prstDash val="solid"/>
          </a:ln>
        </p:spPr>
      </p:sp>
      <p:sp>
        <p:nvSpPr>
          <p:cNvPr id="24" name="Text 22"/>
          <p:cNvSpPr/>
          <p:nvPr/>
        </p:nvSpPr>
        <p:spPr>
          <a:xfrm>
            <a:off x="6126480" y="3959352"/>
            <a:ext cx="5669280" cy="27432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Research Progress to Date (Year 1 Pilot — 5-node simulation):</a:t>
            </a:r>
            <a:endParaRPr lang="en-US" sz="1300" dirty="0"/>
          </a:p>
        </p:txBody>
      </p:sp>
      <p:sp>
        <p:nvSpPr>
          <p:cNvPr id="25" name="Text 23"/>
          <p:cNvSpPr/>
          <p:nvPr/>
        </p:nvSpPr>
        <p:spPr>
          <a:xfrm>
            <a:off x="6126480" y="4279392"/>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Scenario</a:t>
            </a:r>
            <a:endParaRPr lang="en-US" sz="1300" dirty="0"/>
          </a:p>
        </p:txBody>
      </p:sp>
      <p:sp>
        <p:nvSpPr>
          <p:cNvPr id="26" name="Text 24"/>
          <p:cNvSpPr/>
          <p:nvPr/>
        </p:nvSpPr>
        <p:spPr>
          <a:xfrm>
            <a:off x="10058400" y="4279392"/>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Availability</a:t>
            </a:r>
            <a:endParaRPr lang="en-US" sz="1300" dirty="0"/>
          </a:p>
        </p:txBody>
      </p:sp>
      <p:sp>
        <p:nvSpPr>
          <p:cNvPr id="27" name="Text 25"/>
          <p:cNvSpPr/>
          <p:nvPr/>
        </p:nvSpPr>
        <p:spPr>
          <a:xfrm>
            <a:off x="6126480" y="4572000"/>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failures (5/5 nodes live)</a:t>
            </a:r>
            <a:endParaRPr lang="en-US" sz="1300" dirty="0"/>
          </a:p>
        </p:txBody>
      </p:sp>
      <p:sp>
        <p:nvSpPr>
          <p:cNvPr id="28" name="Text 26"/>
          <p:cNvSpPr/>
          <p:nvPr/>
        </p:nvSpPr>
        <p:spPr>
          <a:xfrm>
            <a:off x="10058400" y="4572000"/>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97.5%</a:t>
            </a:r>
            <a:endParaRPr lang="en-US" sz="1300" dirty="0"/>
          </a:p>
        </p:txBody>
      </p:sp>
      <p:sp>
        <p:nvSpPr>
          <p:cNvPr id="29" name="Text 27"/>
          <p:cNvSpPr/>
          <p:nvPr/>
        </p:nvSpPr>
        <p:spPr>
          <a:xfrm>
            <a:off x="6126480" y="4864608"/>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2-of-5 nodes failed</a:t>
            </a:r>
            <a:endParaRPr lang="en-US" sz="1300" dirty="0"/>
          </a:p>
        </p:txBody>
      </p:sp>
      <p:sp>
        <p:nvSpPr>
          <p:cNvPr id="30" name="Text 28"/>
          <p:cNvSpPr/>
          <p:nvPr/>
        </p:nvSpPr>
        <p:spPr>
          <a:xfrm>
            <a:off x="10058400" y="4864608"/>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97.0%</a:t>
            </a:r>
            <a:endParaRPr lang="en-US" sz="1300" dirty="0"/>
          </a:p>
        </p:txBody>
      </p:sp>
      <p:sp>
        <p:nvSpPr>
          <p:cNvPr id="31" name="Text 29"/>
          <p:cNvSpPr/>
          <p:nvPr/>
        </p:nvSpPr>
        <p:spPr>
          <a:xfrm>
            <a:off x="6126480" y="5157216"/>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Single-agent baseline</a:t>
            </a:r>
            <a:endParaRPr lang="en-US" sz="1300" dirty="0"/>
          </a:p>
        </p:txBody>
      </p:sp>
      <p:sp>
        <p:nvSpPr>
          <p:cNvPr id="32" name="Text 30"/>
          <p:cNvSpPr/>
          <p:nvPr/>
        </p:nvSpPr>
        <p:spPr>
          <a:xfrm>
            <a:off x="10058400" y="5157216"/>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44.0%</a:t>
            </a:r>
            <a:endParaRPr lang="en-US" sz="1300" dirty="0"/>
          </a:p>
        </p:txBody>
      </p:sp>
      <p:sp>
        <p:nvSpPr>
          <p:cNvPr id="33" name="Text 31"/>
          <p:cNvSpPr/>
          <p:nvPr/>
        </p:nvSpPr>
        <p:spPr>
          <a:xfrm>
            <a:off x="6126480" y="5449824"/>
            <a:ext cx="3840480" cy="25603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Propagation rounds</a:t>
            </a:r>
            <a:endParaRPr lang="en-US" sz="1300" dirty="0"/>
          </a:p>
        </p:txBody>
      </p:sp>
      <p:sp>
        <p:nvSpPr>
          <p:cNvPr id="34" name="Text 32"/>
          <p:cNvSpPr/>
          <p:nvPr/>
        </p:nvSpPr>
        <p:spPr>
          <a:xfrm>
            <a:off x="10058400" y="5449824"/>
            <a:ext cx="1645920" cy="256032"/>
          </a:xfrm>
          <a:prstGeom prst="rect">
            <a:avLst/>
          </a:prstGeom>
          <a:noFill/>
          <a:ln/>
        </p:spPr>
        <p:txBody>
          <a:bodyPr wrap="square" rtlCol="0" anchor="ctr"/>
          <a:lstStyle/>
          <a:p>
            <a:pPr algn="r" indent="0" marL="0">
              <a:buNone/>
            </a:pPr>
            <a:r>
              <a:rPr lang="en-US" sz="1300" b="1" dirty="0">
                <a:solidFill>
                  <a:srgbClr val="C8402A"/>
                </a:solidFill>
                <a:latin typeface="Calibri" pitchFamily="34" charset="0"/>
                <a:ea typeface="Calibri" pitchFamily="34" charset="-122"/>
                <a:cs typeface="Calibri" pitchFamily="34" charset="-120"/>
              </a:rPr>
              <a:t>ceil(log₂(5)) = 3</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Multi-Node Context Distribution (MNCD):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28</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Mesh topology: pub/sub + gossip protocol → replication factor R=3 → Borda consensus → distress channel escalation.</a:t>
            </a:r>
            <a:endParaRPr lang="en-US" sz="1200" dirty="0"/>
          </a:p>
        </p:txBody>
      </p:sp>
      <p:sp>
        <p:nvSpPr>
          <p:cNvPr id="10" name="Shape 8"/>
          <p:cNvSpPr/>
          <p:nvPr/>
        </p:nvSpPr>
        <p:spPr>
          <a:xfrm>
            <a:off x="320040" y="868680"/>
            <a:ext cx="11548872" cy="347472"/>
          </a:xfrm>
          <a:prstGeom prst="rect">
            <a:avLst/>
          </a:prstGeom>
          <a:solidFill>
            <a:srgbClr val="E3F0FF"/>
          </a:solidFill>
          <a:ln w="12700">
            <a:solidFill>
              <a:srgbClr val="1565C0"/>
            </a:solidFill>
            <a:prstDash val="solid"/>
          </a:ln>
        </p:spPr>
      </p:sp>
      <p:sp>
        <p:nvSpPr>
          <p:cNvPr id="11" name="Shape 9"/>
          <p:cNvSpPr/>
          <p:nvPr/>
        </p:nvSpPr>
        <p:spPr>
          <a:xfrm>
            <a:off x="320040" y="868680"/>
            <a:ext cx="731520" cy="347472"/>
          </a:xfrm>
          <a:prstGeom prst="rect">
            <a:avLst/>
          </a:prstGeom>
          <a:solidFill>
            <a:srgbClr val="1565C0"/>
          </a:solidFill>
          <a:ln w="12700">
            <a:solidFill>
              <a:srgbClr val="1565C0"/>
            </a:solidFill>
            <a:prstDash val="solid"/>
          </a:ln>
        </p:spPr>
      </p:sp>
      <p:sp>
        <p:nvSpPr>
          <p:cNvPr id="12" name="Text 10"/>
          <p:cNvSpPr/>
          <p:nvPr/>
        </p:nvSpPr>
        <p:spPr>
          <a:xfrm>
            <a:off x="320040" y="905256"/>
            <a:ext cx="7315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NOVEL</a:t>
            </a:r>
            <a:endParaRPr lang="en-US" sz="800" dirty="0"/>
          </a:p>
        </p:txBody>
      </p:sp>
      <p:sp>
        <p:nvSpPr>
          <p:cNvPr id="13" name="Text 11"/>
          <p:cNvSpPr/>
          <p:nvPr/>
        </p:nvSpPr>
        <p:spPr>
          <a:xfrm>
            <a:off x="1097280" y="905256"/>
            <a:ext cx="10725912" cy="274320"/>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Gossip Protocol Broadcast (O(log N) propagation)   |   Borda Consensus Aggregation over live data.gov.in feeds   |   R=3 Replication for ≥97% context availability under 2-of-5 node failure</a:t>
            </a:r>
            <a:endParaRPr lang="en-US" sz="1000" dirty="0"/>
          </a:p>
        </p:txBody>
      </p:sp>
      <p:pic>
        <p:nvPicPr>
          <p:cNvPr id="14" name="Image 0" descr="preencoded.png">    </p:cNvPr>
          <p:cNvPicPr>
            <a:picLocks noChangeAspect="1"/>
          </p:cNvPicPr>
          <p:nvPr/>
        </p:nvPicPr>
        <p:blipFill>
          <a:blip r:embed="rId1"/>
          <a:srcRect l="0" r="0" t="0" b="0"/>
          <a:stretch/>
        </p:blipFill>
        <p:spPr>
          <a:xfrm>
            <a:off x="320040" y="1252728"/>
            <a:ext cx="11548872" cy="529437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1 — Peer Selection and Gossip Broadcast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29</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1: The initiating node selects gossip peers and broadcasts the context update.</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Agent Responses + Mesh State (N=5 Nodes)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new session context delta (key-value (KV) store update, size ≤ 4KB)</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Mesh state: node_alive[0..4] = heartbeat status (last ping ≤ 5s)</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Node roles: any live node can initiate a gossip round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context delta + mesh state</a:t>
            </a:r>
            <a:endParaRPr lang="en-US" sz="900" dirty="0"/>
          </a:p>
        </p:txBody>
      </p:sp>
      <p:sp>
        <p:nvSpPr>
          <p:cNvPr id="21" name="Shape 19"/>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Gossip Peer Selection (Fan-out f=2)</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Initiating node selects f=2 random live peers from node_alive list</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Peer selection uses consistent hashing to avoid hot-spots</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Dead nodes (heartbeat timeout ≥ 5s) excluded from peer set</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peer list</a:t>
            </a:r>
            <a:endParaRPr lang="en-US" sz="900" dirty="0"/>
          </a:p>
        </p:txBody>
      </p:sp>
      <p:sp>
        <p:nvSpPr>
          <p:cNvPr id="32" name="Shape 30"/>
          <p:cNvSpPr/>
          <p:nvPr/>
        </p:nvSpPr>
        <p:spPr>
          <a:xfrm>
            <a:off x="594360" y="4416552"/>
            <a:ext cx="10972800" cy="1481328"/>
          </a:xfrm>
          <a:prstGeom prst="roundRect">
            <a:avLst>
              <a:gd name="adj" fmla="val 4938"/>
            </a:avLst>
          </a:prstGeom>
          <a:solidFill>
            <a:srgbClr val="F0FFF4"/>
          </a:solidFill>
          <a:ln w="12700">
            <a:solidFill>
              <a:srgbClr val="00695C"/>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Context Broadcast via Gossip Protocol</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Initiating node sends context delta to f=2 selected peers (async gRPC, timeout 200ms)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Piggybacked metadata: version_vector, sender_id, timestamp</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Anti-entropy: each message carries full Bloom filter of sender's known versions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2 — Iterative Propagation and Consensus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2: Context propagates through ceil(log₂(5))=3 gossip rounds and Borda consensus is computed.</a:t>
            </a:r>
            <a:endParaRPr lang="en-US" sz="1200" dirty="0"/>
          </a:p>
        </p:txBody>
      </p:sp>
      <p:sp>
        <p:nvSpPr>
          <p:cNvPr id="10" name="Shape 8"/>
          <p:cNvSpPr/>
          <p:nvPr/>
        </p:nvSpPr>
        <p:spPr>
          <a:xfrm>
            <a:off x="594360" y="868680"/>
            <a:ext cx="10972800" cy="1481328"/>
          </a:xfrm>
          <a:prstGeom prst="roundRect">
            <a:avLst>
              <a:gd name="adj" fmla="val 4938"/>
            </a:avLst>
          </a:prstGeom>
          <a:solidFill>
            <a:srgbClr val="F0FFF4"/>
          </a:solidFill>
          <a:ln w="12700">
            <a:solidFill>
              <a:srgbClr val="00695C"/>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Iterative Gossip Propagation (ceil(log₂(N)) Rounds)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receiving node re-broadcasts to f=2 new peers not yet in version_vector</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Round count: ceil(log₂(5)) = 3 rounds to reach all 5 nodes (worst case)</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Version conflict: last-write-wins using Lamport timestamp; ties broken by node_id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context versions</a:t>
            </a:r>
            <a:endParaRPr lang="en-US" sz="900" dirty="0"/>
          </a:p>
        </p:txBody>
      </p:sp>
      <p:sp>
        <p:nvSpPr>
          <p:cNvPr id="21" name="Shape 19"/>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Replica Verification (Replication Factor R=3)</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Wait for acknowledgement from R=3 nodes (out of 5) before returning success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 R=3 ACKs within timeout: context committed; availability = R/N = 3/5 = 60% minimum</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R=3 ensures availability even if 2 nodes fail: 3/5 live nodes → 97%+ availability (pilot result)</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replicated context</a:t>
            </a:r>
            <a:endParaRPr lang="en-US" sz="900" dirty="0"/>
          </a:p>
        </p:txBody>
      </p:sp>
      <p:sp>
        <p:nvSpPr>
          <p:cNvPr id="32" name="Shape 30"/>
          <p:cNvSpPr/>
          <p:nvPr/>
        </p:nvSpPr>
        <p:spPr>
          <a:xfrm>
            <a:off x="594360" y="4416552"/>
            <a:ext cx="10972800" cy="1481328"/>
          </a:xfrm>
          <a:prstGeom prst="roundRect">
            <a:avLst>
              <a:gd name="adj" fmla="val 4938"/>
            </a:avLst>
          </a:prstGeom>
          <a:solidFill>
            <a:srgbClr val="F0FFF4"/>
          </a:solidFill>
          <a:ln w="12700">
            <a:solidFill>
              <a:srgbClr val="00695C"/>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Borda Consensus Aggregation</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live node casts ranked ballot over received context versions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Borda count: version receiving highest sum of rank-scores is elected consensus version</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Ties broken by highest Lamport timestamp; result written to all R=3 replicas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3 — Algorithm Flow: Phase 3 — Mesh Reinforcement and Export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Multi-Node Context Distribution (MNCD) Phase 3: Edge weights in the mesh are updated and the consensus context is exported to the ACRS pipeline.</a:t>
            </a:r>
            <a:endParaRPr lang="en-US" sz="1200" dirty="0"/>
          </a:p>
        </p:txBody>
      </p:sp>
      <p:sp>
        <p:nvSpPr>
          <p:cNvPr id="10" name="Shape 8"/>
          <p:cNvSpPr/>
          <p:nvPr/>
        </p:nvSpPr>
        <p:spPr>
          <a:xfrm>
            <a:off x="594360" y="868680"/>
            <a:ext cx="10972800" cy="1481328"/>
          </a:xfrm>
          <a:prstGeom prst="roundRect">
            <a:avLst>
              <a:gd name="adj" fmla="val 4938"/>
            </a:avLst>
          </a:prstGeom>
          <a:solidFill>
            <a:srgbClr val="F0FFF4"/>
          </a:solidFill>
          <a:ln w="12700">
            <a:solidFill>
              <a:srgbClr val="00695C"/>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Mesh Edge Weight Reinforcement</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Successful propagation path: edge weights between nodes i→j incremented (+0.1)</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Timeout path: edge weights decremented (−0.05) to lower future selection probability</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Edge weights normalised to [0,1] after each round; stored in persistent adjacency matrix</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updated mesh weights</a:t>
            </a:r>
            <a:endParaRPr lang="en-US" sz="900" dirty="0"/>
          </a:p>
        </p:txBody>
      </p:sp>
      <p:sp>
        <p:nvSpPr>
          <p:cNvPr id="21" name="Shape 19"/>
          <p:cNvSpPr/>
          <p:nvPr/>
        </p:nvSpPr>
        <p:spPr>
          <a:xfrm>
            <a:off x="594360" y="2642616"/>
            <a:ext cx="10972800" cy="1481328"/>
          </a:xfrm>
          <a:prstGeom prst="roundRect">
            <a:avLst>
              <a:gd name="adj" fmla="val 4938"/>
            </a:avLst>
          </a:prstGeom>
          <a:solidFill>
            <a:srgbClr val="F0FFF4"/>
          </a:solidFill>
          <a:ln w="12700">
            <a:solidFill>
              <a:srgbClr val="00695C"/>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Distress Channel Escalation (Node Failure Detected)</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any node fails to ACK within 2× timeout: distress channel alert broadcast to all live nodes</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Surviving nodes re-elect new peer set, excluding failed node, and re-propagate</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Mesh self-heals: failed node removed from routing table; re-added on heartbeat recovery</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consensus answer + updated mesh</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Consensus Context Export + Updated Mesh Weights</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consensus session context available to all live agent nodes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mesh adjacency matrix persisted for next gossip round</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context availability 97.5% (no failures) / 97.0% (2-of-5 failure) on 5-node pilot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3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for the Multi-Node Context Distribution (MNCD) mesh is publicly available with Kaggle notebook replication.</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https://github.com/joyjeni/mncd-mesh-agents</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mncd/mesh.py — mesh topology manager and edge weight store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mncd/gossip.py — gossip broadcast protocol implementation</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mncd/borda.py — Borda count consensus aggregator</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mncd_mesh.ipynb — full 5-node simulation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Models</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google/gemma-2-2b-it OR Qwen/Qwen2.5-7B-Instruct (via HuggingFace)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(Local Kaggle inference — no external Application Programming Interface (API) dependency)</a:t>
            </a:r>
            <a:endParaRPr lang="en-US" sz="1150" dirty="0"/>
          </a:p>
        </p:txBody>
      </p:sp>
      <p:sp>
        <p:nvSpPr>
          <p:cNvPr id="22" name="Shape 20"/>
          <p:cNvSpPr/>
          <p:nvPr/>
        </p:nvSpPr>
        <p:spPr>
          <a:xfrm>
            <a:off x="320040" y="3694176"/>
            <a:ext cx="2286000" cy="822960"/>
          </a:xfrm>
          <a:prstGeom prst="rect">
            <a:avLst/>
          </a:prstGeom>
          <a:solidFill>
            <a:srgbClr val="283593"/>
          </a:solidFill>
          <a:ln w="12700">
            <a:solidFill>
              <a:srgbClr val="283593"/>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Protocol</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283593"/>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Replication factor R=3 | ceil(log₂(5))=3 gossip rounds for full convergence | Fan-out f=2 per round</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Fault Model</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2-of-5 simultaneous node failures | 10,000 simulated queries | 97.0% context availability achieved</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asyncio, gRPC, HuggingFace Transformers, Kaggle GPU (T4 ×2)</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4</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400" b="1" dirty="0">
                <a:solidFill>
                  <a:srgbClr val="3C2864"/>
                </a:solidFill>
                <a:latin typeface="Calibri" pitchFamily="34" charset="0"/>
                <a:ea typeface="Calibri" pitchFamily="34" charset="-122"/>
                <a:cs typeface="Calibri" pitchFamily="34" charset="-120"/>
              </a:rPr>
              <a:t>Objective 4: Flow-Conductance-based Neural Pruning</a:t>
            </a:r>
            <a:endParaRPr lang="en-US" sz="3400" dirty="0"/>
          </a:p>
          <a:p>
            <a:pPr algn="ctr" indent="0" marL="0">
              <a:buNone/>
            </a:pPr>
            <a:r>
              <a:rPr lang="en-US" sz="3400" b="1" dirty="0">
                <a:solidFill>
                  <a:srgbClr val="3C2864"/>
                </a:solidFill>
                <a:latin typeface="Calibri" pitchFamily="34" charset="0"/>
                <a:ea typeface="Calibri" pitchFamily="34" charset="-122"/>
                <a:cs typeface="Calibri" pitchFamily="34" charset="-120"/>
              </a:rPr>
              <a:t>(FCNP)</a:t>
            </a:r>
            <a:endParaRPr lang="en-US" sz="34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960120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9" name="Shape 7"/>
          <p:cNvSpPr/>
          <p:nvPr/>
        </p:nvSpPr>
        <p:spPr>
          <a:xfrm>
            <a:off x="11274552" y="6601968"/>
            <a:ext cx="914400" cy="256032"/>
          </a:xfrm>
          <a:prstGeom prst="rect">
            <a:avLst/>
          </a:prstGeom>
          <a:solidFill>
            <a:srgbClr val="3C2864"/>
          </a:solidFill>
          <a:ln w="12700">
            <a:solidFill>
              <a:srgbClr val="3C2864"/>
            </a:solidFill>
            <a:prstDash val="solid"/>
          </a:ln>
        </p:spPr>
      </p:sp>
      <p:sp>
        <p:nvSpPr>
          <p:cNvPr id="10" name="Text 8"/>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Flow-Conductance-based Neural Pruning (FCNP)</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Flow-Conductance-based Neural Pruning (FCNP) compresses multi-agent conversation context graphs through iterative flow-score-based token pruning.</a:t>
            </a:r>
            <a:endParaRPr lang="en-US" sz="1300" dirty="0"/>
          </a:p>
        </p:txBody>
      </p:sp>
      <p:sp>
        <p:nvSpPr>
          <p:cNvPr id="10" name="Text 8"/>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Algorithm Design</a:t>
            </a:r>
            <a:endParaRPr lang="en-US" sz="1600" dirty="0"/>
          </a:p>
        </p:txBody>
      </p:sp>
      <p:sp>
        <p:nvSpPr>
          <p:cNvPr id="11" name="Text 9"/>
          <p:cNvSpPr/>
          <p:nvPr/>
        </p:nvSpPr>
        <p:spPr>
          <a:xfrm>
            <a:off x="411480" y="126187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Model multi-agent context as directed weighted graph: nodes = tokens, edges = attention dependencies</a:t>
            </a:r>
            <a:endParaRPr lang="en-US" sz="1300" dirty="0"/>
          </a:p>
        </p:txBody>
      </p:sp>
      <p:sp>
        <p:nvSpPr>
          <p:cNvPr id="12" name="Text 10"/>
          <p:cNvSpPr/>
          <p:nvPr/>
        </p:nvSpPr>
        <p:spPr>
          <a:xfrm>
            <a:off x="411480" y="166420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Compute flow-score for each token node: weighted sum of in-flow × attention importance</a:t>
            </a:r>
            <a:endParaRPr lang="en-US" sz="1300" dirty="0"/>
          </a:p>
        </p:txBody>
      </p:sp>
      <p:sp>
        <p:nvSpPr>
          <p:cNvPr id="13" name="Text 11"/>
          <p:cNvSpPr/>
          <p:nvPr/>
        </p:nvSpPr>
        <p:spPr>
          <a:xfrm>
            <a:off x="411480" y="2066544"/>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Iterative pruning: remove lowest-flow nodes until target compression ratio achieved</a:t>
            </a:r>
            <a:endParaRPr lang="en-US" sz="1300" dirty="0"/>
          </a:p>
        </p:txBody>
      </p:sp>
      <p:sp>
        <p:nvSpPr>
          <p:cNvPr id="14" name="Text 12"/>
          <p:cNvSpPr/>
          <p:nvPr/>
        </p:nvSpPr>
        <p:spPr>
          <a:xfrm>
            <a:off x="411480" y="2468880"/>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Citation-preservation constraint: citation anchor nodes pinned (never pruned)</a:t>
            </a:r>
            <a:endParaRPr lang="en-US" sz="1300" dirty="0"/>
          </a:p>
        </p:txBody>
      </p:sp>
      <p:sp>
        <p:nvSpPr>
          <p:cNvPr id="15" name="Text 13"/>
          <p:cNvSpPr/>
          <p:nvPr/>
        </p:nvSpPr>
        <p:spPr>
          <a:xfrm>
            <a:off x="411480" y="2871216"/>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Target: 10:1 compression ratio (tokens retained / tokens input = 0.1)</a:t>
            </a:r>
            <a:endParaRPr lang="en-US" sz="1300" dirty="0"/>
          </a:p>
        </p:txBody>
      </p:sp>
      <p:sp>
        <p:nvSpPr>
          <p:cNvPr id="16" name="Text 14"/>
          <p:cNvSpPr/>
          <p:nvPr/>
        </p:nvSpPr>
        <p:spPr>
          <a:xfrm>
            <a:off x="411480" y="3273552"/>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Evaluated against 7 baselines: LoRA, SparseGPT, Scissorhands, H2O, AdaKV, Finch, StreamingLLM</a:t>
            </a:r>
            <a:endParaRPr lang="en-US" sz="1300" dirty="0"/>
          </a:p>
        </p:txBody>
      </p:sp>
      <p:sp>
        <p:nvSpPr>
          <p:cNvPr id="17" name="Text 15"/>
          <p:cNvSpPr/>
          <p:nvPr/>
        </p:nvSpPr>
        <p:spPr>
          <a:xfrm>
            <a:off x="411480" y="3675888"/>
            <a:ext cx="5257800" cy="365760"/>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 Statistical test: two-tailed Wilcoxon signed-rank, p&lt;0.05 threshold</a:t>
            </a:r>
            <a:endParaRPr lang="en-US" sz="1300" dirty="0"/>
          </a:p>
        </p:txBody>
      </p:sp>
      <p:sp>
        <p:nvSpPr>
          <p:cNvPr id="18" name="Text 16"/>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9" name="Shape 17"/>
          <p:cNvSpPr/>
          <p:nvPr/>
        </p:nvSpPr>
        <p:spPr>
          <a:xfrm>
            <a:off x="6035040" y="1261872"/>
            <a:ext cx="5852160" cy="2103120"/>
          </a:xfrm>
          <a:prstGeom prst="rect">
            <a:avLst/>
          </a:prstGeom>
          <a:solidFill>
            <a:srgbClr val="FFFFFF"/>
          </a:solidFill>
          <a:ln w="12700">
            <a:solidFill>
              <a:srgbClr val="3C2864"/>
            </a:solidFill>
            <a:prstDash val="solid"/>
          </a:ln>
        </p:spPr>
      </p:sp>
      <p:sp>
        <p:nvSpPr>
          <p:cNvPr id="20" name="Text 18"/>
          <p:cNvSpPr/>
          <p:nvPr/>
        </p:nvSpPr>
        <p:spPr>
          <a:xfrm>
            <a:off x="6126480" y="1316736"/>
            <a:ext cx="5669280" cy="438912"/>
          </a:xfrm>
          <a:prstGeom prst="rect">
            <a:avLst/>
          </a:prstGeom>
          <a:noFill/>
          <a:ln/>
        </p:spPr>
        <p:txBody>
          <a:bodyPr wrap="square" rtlCol="0" anchor="ctr"/>
          <a:lstStyle/>
          <a:p>
            <a:pPr indent="0" marL="0">
              <a:buNone/>
            </a:pPr>
            <a:r>
              <a:rPr lang="en-US" sz="1700" b="1" dirty="0">
                <a:solidFill>
                  <a:srgbClr val="C8402A"/>
                </a:solidFill>
                <a:latin typeface="Calibri" pitchFamily="34" charset="0"/>
                <a:ea typeface="Calibri" pitchFamily="34" charset="-122"/>
                <a:cs typeface="Calibri" pitchFamily="34" charset="-120"/>
              </a:rPr>
              <a:t>10:1 Compression  |  ≥99% Citation Accuracy</a:t>
            </a:r>
            <a:endParaRPr lang="en-US" sz="1700" dirty="0"/>
          </a:p>
        </p:txBody>
      </p:sp>
      <p:sp>
        <p:nvSpPr>
          <p:cNvPr id="21" name="Text 19"/>
          <p:cNvSpPr/>
          <p:nvPr/>
        </p:nvSpPr>
        <p:spPr>
          <a:xfrm>
            <a:off x="6126480" y="1810512"/>
            <a:ext cx="5669280" cy="1499616"/>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Key-Value (KV) token budget: 100% → 28% retained. Compression ratio = tokens retained ÷ tokens input. Citation accuracy = fraction of answer citations correctly preserved post-compression.</a:t>
            </a:r>
            <a:endParaRPr lang="en-US" sz="1300" dirty="0"/>
          </a:p>
        </p:txBody>
      </p:sp>
      <p:sp>
        <p:nvSpPr>
          <p:cNvPr id="22" name="Shape 20"/>
          <p:cNvSpPr/>
          <p:nvPr/>
        </p:nvSpPr>
        <p:spPr>
          <a:xfrm>
            <a:off x="6035040" y="3456432"/>
            <a:ext cx="5852160" cy="2377440"/>
          </a:xfrm>
          <a:prstGeom prst="rect">
            <a:avLst/>
          </a:prstGeom>
          <a:solidFill>
            <a:srgbClr val="3C2864"/>
          </a:solidFill>
          <a:ln w="12700">
            <a:solidFill>
              <a:srgbClr val="3C2864"/>
            </a:solidFill>
            <a:prstDash val="solid"/>
          </a:ln>
        </p:spPr>
      </p:sp>
      <p:sp>
        <p:nvSpPr>
          <p:cNvPr id="23" name="Text 21"/>
          <p:cNvSpPr/>
          <p:nvPr/>
        </p:nvSpPr>
        <p:spPr>
          <a:xfrm>
            <a:off x="6126480" y="3502152"/>
            <a:ext cx="5669280" cy="27432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Expected Outcome (Full Study):</a:t>
            </a:r>
            <a:endParaRPr lang="en-US" sz="1300" dirty="0"/>
          </a:p>
        </p:txBody>
      </p:sp>
      <p:sp>
        <p:nvSpPr>
          <p:cNvPr id="24" name="Text 22"/>
          <p:cNvSpPr/>
          <p:nvPr/>
        </p:nvSpPr>
        <p:spPr>
          <a:xfrm>
            <a:off x="6126480" y="3822192"/>
            <a:ext cx="5669280" cy="12801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10:1 compression ratio with ≥99% citation accuracy, statistically significant improvement over 7 baselines (Wilcoxon p&lt;0.05). Year 1 pilot: 9.8:1 compression with 98.9% citation accuracy on 500-turn conversation corpus, validating the flow-score mechanism.</a:t>
            </a:r>
            <a:endParaRPr lang="en-US" sz="1300" dirty="0"/>
          </a:p>
        </p:txBody>
      </p:sp>
      <p:sp>
        <p:nvSpPr>
          <p:cNvPr id="25" name="Text 23"/>
          <p:cNvSpPr/>
          <p:nvPr/>
        </p:nvSpPr>
        <p:spPr>
          <a:xfrm>
            <a:off x="6126480" y="5138928"/>
            <a:ext cx="5669280" cy="594360"/>
          </a:xfrm>
          <a:prstGeom prst="rect">
            <a:avLst/>
          </a:prstGeom>
          <a:noFill/>
          <a:ln/>
        </p:spPr>
        <p:txBody>
          <a:bodyPr wrap="square" rtlCol="0" anchor="ctr"/>
          <a:lstStyle/>
          <a:p>
            <a:pPr indent="0" marL="0">
              <a:buNone/>
            </a:pPr>
            <a:r>
              <a:rPr lang="en-US" sz="1200" b="1" dirty="0">
                <a:solidFill>
                  <a:srgbClr val="C8402A"/>
                </a:solidFill>
                <a:latin typeface="Calibri" pitchFamily="34" charset="0"/>
                <a:ea typeface="Calibri" pitchFamily="34" charset="-122"/>
                <a:cs typeface="Calibri" pitchFamily="34" charset="-120"/>
              </a:rPr>
              <a:t>Wilcoxon p&lt;0.05 vs all 7 baselines (SparseGPT, LoRA, Scissorhands, H2O, AdaKV, Finch, StreamingLLM)</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Flow-Conductance-based Neural Pruning (FCNP): System Architecture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Federated Context Negotiation Protocol: Parallel Dispatch Routing (PDR) parallel dispatch → flow conductance update rule → route weight adaptation → pruning of low-conductance paths.</a:t>
            </a:r>
            <a:endParaRPr lang="en-US" sz="1200" dirty="0"/>
          </a:p>
        </p:txBody>
      </p:sp>
      <p:sp>
        <p:nvSpPr>
          <p:cNvPr id="10" name="Shape 8"/>
          <p:cNvSpPr/>
          <p:nvPr/>
        </p:nvSpPr>
        <p:spPr>
          <a:xfrm>
            <a:off x="320040" y="868680"/>
            <a:ext cx="11548872" cy="347472"/>
          </a:xfrm>
          <a:prstGeom prst="rect">
            <a:avLst/>
          </a:prstGeom>
          <a:solidFill>
            <a:srgbClr val="E3F0FF"/>
          </a:solidFill>
          <a:ln w="12700">
            <a:solidFill>
              <a:srgbClr val="1565C0"/>
            </a:solidFill>
            <a:prstDash val="solid"/>
          </a:ln>
        </p:spPr>
      </p:sp>
      <p:sp>
        <p:nvSpPr>
          <p:cNvPr id="11" name="Shape 9"/>
          <p:cNvSpPr/>
          <p:nvPr/>
        </p:nvSpPr>
        <p:spPr>
          <a:xfrm>
            <a:off x="320040" y="868680"/>
            <a:ext cx="731520" cy="347472"/>
          </a:xfrm>
          <a:prstGeom prst="rect">
            <a:avLst/>
          </a:prstGeom>
          <a:solidFill>
            <a:srgbClr val="1565C0"/>
          </a:solidFill>
          <a:ln w="12700">
            <a:solidFill>
              <a:srgbClr val="1565C0"/>
            </a:solidFill>
            <a:prstDash val="solid"/>
          </a:ln>
        </p:spPr>
      </p:sp>
      <p:sp>
        <p:nvSpPr>
          <p:cNvPr id="12" name="Text 10"/>
          <p:cNvSpPr/>
          <p:nvPr/>
        </p:nvSpPr>
        <p:spPr>
          <a:xfrm>
            <a:off x="320040" y="905256"/>
            <a:ext cx="7315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NOVEL</a:t>
            </a:r>
            <a:endParaRPr lang="en-US" sz="800" dirty="0"/>
          </a:p>
        </p:txBody>
      </p:sp>
      <p:sp>
        <p:nvSpPr>
          <p:cNvPr id="13" name="Text 11"/>
          <p:cNvSpPr/>
          <p:nvPr/>
        </p:nvSpPr>
        <p:spPr>
          <a:xfrm>
            <a:off x="1097280" y="905256"/>
            <a:ext cx="10725912" cy="274320"/>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Flow Conductance Scoring (Kirchhoff Update Rule on token-attention graph)   |   10:1 compression with ≥99% citation accuracy   |   Citation anchor pinning — data.gov.in source tokens never evicted</a:t>
            </a:r>
            <a:endParaRPr lang="en-US" sz="1000" dirty="0"/>
          </a:p>
        </p:txBody>
      </p:sp>
      <p:pic>
        <p:nvPicPr>
          <p:cNvPr id="14" name="Image 0" descr="preencoded.png">    </p:cNvPr>
          <p:cNvPicPr>
            <a:picLocks noChangeAspect="1"/>
          </p:cNvPicPr>
          <p:nvPr/>
        </p:nvPicPr>
        <p:blipFill>
          <a:blip r:embed="rId1"/>
          <a:srcRect l="0" r="0" t="0" b="0"/>
          <a:stretch/>
        </p:blipFill>
        <p:spPr>
          <a:xfrm>
            <a:off x="320040" y="1252728"/>
            <a:ext cx="11548872" cy="529437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1 — Graph Construction and Conductance Scoring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36</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1: Multi-agent context is modelled as a token-attention graph and flow-conductance scores are computed.</a:t>
            </a:r>
            <a:endParaRPr lang="en-US" sz="1200" dirty="0"/>
          </a:p>
        </p:txBody>
      </p:sp>
      <p:sp>
        <p:nvSpPr>
          <p:cNvPr id="10" name="Shape 8"/>
          <p:cNvSpPr/>
          <p:nvPr/>
        </p:nvSpPr>
        <p:spPr>
          <a:xfrm>
            <a:off x="594360" y="868680"/>
            <a:ext cx="10972800" cy="1481328"/>
          </a:xfrm>
          <a:prstGeom prst="roundRect">
            <a:avLst>
              <a:gd name="adj" fmla="val 4938"/>
            </a:avLst>
          </a:prstGeom>
          <a:solidFill>
            <a:srgbClr val="EFF6FF"/>
          </a:solidFill>
          <a:ln w="12700">
            <a:solidFill>
              <a:srgbClr val="1565C0"/>
            </a:solidFill>
            <a:prstDash val="solid"/>
          </a:ln>
        </p:spPr>
      </p:sp>
      <p:sp>
        <p:nvSpPr>
          <p:cNvPr id="11" name="Shape 9"/>
          <p:cNvSpPr/>
          <p:nvPr/>
        </p:nvSpPr>
        <p:spPr>
          <a:xfrm>
            <a:off x="685800" y="923544"/>
            <a:ext cx="1280160" cy="274320"/>
          </a:xfrm>
          <a:prstGeom prst="roundRect">
            <a:avLst>
              <a:gd name="adj" fmla="val 16667"/>
            </a:avLst>
          </a:prstGeom>
          <a:solidFill>
            <a:srgbClr val="1565C0"/>
          </a:solidFill>
          <a:ln w="12700">
            <a:solidFill>
              <a:srgbClr val="1565C0"/>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Multi-Agent Context Stream (Key-Value (KV) Cache + Attention Weights)</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Input: full conversation context graph G=(V, E) across all agent turns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V = token nodes (|V| = context length, e.g., 4,096 tokens); E = attention dependencies (|E| ≈ |V|²)</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edge (t_i, t_j) carries weight = attention score A[i,j] from last transformer layer</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graph G=(V,E)</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Kirchhoff Flow-Conductance Computation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Model G as electrical network: conductance D(t_i) = Σ_j A[i,j] (total attention out-flow)</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Kirchhoff update rule: D(t) ← D(t) + η × (Q(t) / D(t) - D(t))</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Q(t) = in-flow × attention importance; η = 0.01 (conductance learning rate)</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conductance scores D(t)</a:t>
            </a:r>
            <a:endParaRPr lang="en-US" sz="900" dirty="0"/>
          </a:p>
        </p:txBody>
      </p:sp>
      <p:sp>
        <p:nvSpPr>
          <p:cNvPr id="32" name="Shape 30"/>
          <p:cNvSpPr/>
          <p:nvPr/>
        </p:nvSpPr>
        <p:spPr>
          <a:xfrm>
            <a:off x="594360" y="4416552"/>
            <a:ext cx="10972800" cy="1481328"/>
          </a:xfrm>
          <a:prstGeom prst="roundRect">
            <a:avLst>
              <a:gd name="adj" fmla="val 4938"/>
            </a:avLst>
          </a:prstGeom>
          <a:solidFill>
            <a:srgbClr val="FFF5F5"/>
          </a:solidFill>
          <a:ln w="12700">
            <a:solidFill>
              <a:srgbClr val="C8402A"/>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Citation Anchor Identification and Pinning</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Identify citation anchor tokens: tokens directly referenced in data.gov.in source attributions</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Pin anchors: set D(anchor) = ∞ (max score; never pruned)</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Anchor detection: regex match on URL patterns + BM25 overlap with reference strings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2 — Importance Fusion and Pruning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37</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2: Composite importance scores are computed and the lowest-flow tokens are iteratively pruned.</a:t>
            </a:r>
            <a:endParaRPr lang="en-US" sz="1200" dirty="0"/>
          </a:p>
        </p:txBody>
      </p:sp>
      <p:sp>
        <p:nvSpPr>
          <p:cNvPr id="10" name="Shape 8"/>
          <p:cNvSpPr/>
          <p:nvPr/>
        </p:nvSpPr>
        <p:spPr>
          <a:xfrm>
            <a:off x="594360" y="868680"/>
            <a:ext cx="10972800" cy="1481328"/>
          </a:xfrm>
          <a:prstGeom prst="roundRect">
            <a:avLst>
              <a:gd name="adj" fmla="val 4938"/>
            </a:avLst>
          </a:prstGeom>
          <a:solidFill>
            <a:srgbClr val="FFF5F5"/>
          </a:solidFill>
          <a:ln w="12700">
            <a:solidFill>
              <a:srgbClr val="C8402A"/>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Composite Importance Score Fusion</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Importance(t) = α1 × Conductance(t) + α2 × Recency(t) + α3 × TaskAlign(t)</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Default: α1=0.5, α2=0.3, α3=0.2 (tuned on ToolBench dev set)</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TaskAlign(t) = cosine_sim(token_embed(t), query_embed) — keeps task-relevant tokens</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importance scores</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Iterative Token Pruning (Target: 10:1 Compression)</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Sort tokens by Importance(t) ascending; prune bottom-p% per iteration</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iteration: recompute conductance on pruned graph (5 iterations until stable)</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Stopping criterion: |V_pruned| / |V_original| ≤ 0.10 (10:1 compression achieved)</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pruned token set</a:t>
            </a:r>
            <a:endParaRPr lang="en-US" sz="900" dirty="0"/>
          </a:p>
        </p:txBody>
      </p:sp>
      <p:sp>
        <p:nvSpPr>
          <p:cNvPr id="32" name="Shape 30"/>
          <p:cNvSpPr/>
          <p:nvPr/>
        </p:nvSpPr>
        <p:spPr>
          <a:xfrm>
            <a:off x="594360" y="4416552"/>
            <a:ext cx="10972800" cy="1481328"/>
          </a:xfrm>
          <a:prstGeom prst="roundRect">
            <a:avLst>
              <a:gd name="adj" fmla="val 4938"/>
            </a:avLst>
          </a:prstGeom>
          <a:solidFill>
            <a:srgbClr val="FFF5F5"/>
          </a:solidFill>
          <a:ln w="12700">
            <a:solidFill>
              <a:srgbClr val="C8402A"/>
            </a:solidFill>
            <a:prstDash val="solid"/>
          </a:ln>
        </p:spPr>
      </p:sp>
      <p:sp>
        <p:nvSpPr>
          <p:cNvPr id="33" name="Shape 31"/>
          <p:cNvSpPr/>
          <p:nvPr/>
        </p:nvSpPr>
        <p:spPr>
          <a:xfrm>
            <a:off x="685800" y="4471416"/>
            <a:ext cx="1280160" cy="274320"/>
          </a:xfrm>
          <a:prstGeom prst="roundRect">
            <a:avLst>
              <a:gd name="adj" fmla="val 16667"/>
            </a:avLst>
          </a:prstGeom>
          <a:solidFill>
            <a:srgbClr val="C8402A"/>
          </a:solidFill>
          <a:ln w="12700">
            <a:solidFill>
              <a:srgbClr val="C8402A"/>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5</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Citation Accuracy Verification</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Check: all citation anchor tokens in pruned set → citation accuracy = |anchors_kept| / |anchors_total|</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If citation accuracy &lt; 0.99: rollback last pruning iteration, reduce prune rate by 10%</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Target: ≥99% citation accuracy with 10:1 compression ratio achieved simultaneously</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 4 — Algorithm Flow: Phase 3 — Federated Update and Results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38</a:t>
            </a:r>
            <a:endParaRPr lang="en-US" sz="1300" dirty="0"/>
          </a:p>
        </p:txBody>
      </p:sp>
      <p:sp>
        <p:nvSpPr>
          <p:cNvPr id="9" name="Text 7"/>
          <p:cNvSpPr/>
          <p:nvPr/>
        </p:nvSpPr>
        <p:spPr>
          <a:xfrm>
            <a:off x="320040" y="512064"/>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Flow-Conductance-based Neural Pruning (FCNP) Phase 3: Pruned context is redistributed across agents and federated model parameters are updated.</a:t>
            </a:r>
            <a:endParaRPr lang="en-US" sz="1200" dirty="0"/>
          </a:p>
        </p:txBody>
      </p:sp>
      <p:sp>
        <p:nvSpPr>
          <p:cNvPr id="10" name="Shape 8"/>
          <p:cNvSpPr/>
          <p:nvPr/>
        </p:nvSpPr>
        <p:spPr>
          <a:xfrm>
            <a:off x="594360" y="868680"/>
            <a:ext cx="10972800" cy="1481328"/>
          </a:xfrm>
          <a:prstGeom prst="roundRect">
            <a:avLst>
              <a:gd name="adj" fmla="val 4938"/>
            </a:avLst>
          </a:prstGeom>
          <a:solidFill>
            <a:srgbClr val="FFF5F5"/>
          </a:solidFill>
          <a:ln w="12700">
            <a:solidFill>
              <a:srgbClr val="C8402A"/>
            </a:solidFill>
            <a:prstDash val="solid"/>
          </a:ln>
        </p:spPr>
      </p:sp>
      <p:sp>
        <p:nvSpPr>
          <p:cNvPr id="11" name="Shape 9"/>
          <p:cNvSpPr/>
          <p:nvPr/>
        </p:nvSpPr>
        <p:spPr>
          <a:xfrm>
            <a:off x="685800" y="923544"/>
            <a:ext cx="1280160" cy="274320"/>
          </a:xfrm>
          <a:prstGeom prst="roundRect">
            <a:avLst>
              <a:gd name="adj" fmla="val 16667"/>
            </a:avLst>
          </a:prstGeom>
          <a:solidFill>
            <a:srgbClr val="C8402A"/>
          </a:solidFill>
          <a:ln w="12700">
            <a:solidFill>
              <a:srgbClr val="C8402A"/>
            </a:solidFill>
            <a:prstDash val="solid"/>
          </a:ln>
        </p:spPr>
      </p:sp>
      <p:sp>
        <p:nvSpPr>
          <p:cNvPr id="12" name="Text 10"/>
          <p:cNvSpPr/>
          <p:nvPr/>
        </p:nvSpPr>
        <p:spPr>
          <a:xfrm>
            <a:off x="685800" y="923544"/>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13" name="Text 11"/>
          <p:cNvSpPr/>
          <p:nvPr/>
        </p:nvSpPr>
        <p:spPr>
          <a:xfrm>
            <a:off x="2057400" y="932688"/>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Pruned Context Redistribution via Multi-Node Context Distribution (MNCD)</a:t>
            </a:r>
            <a:endParaRPr lang="en-US" sz="1200" dirty="0"/>
          </a:p>
        </p:txBody>
      </p:sp>
      <p:sp>
        <p:nvSpPr>
          <p:cNvPr id="14" name="Text 12"/>
          <p:cNvSpPr/>
          <p:nvPr/>
        </p:nvSpPr>
        <p:spPr>
          <a:xfrm>
            <a:off x="731520" y="1271016"/>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Compressed Key-Value (KV) context (10:1 reduced) pushed to all live MNCD nodes</a:t>
            </a:r>
            <a:endParaRPr lang="en-US" sz="1050" dirty="0"/>
          </a:p>
        </p:txBody>
      </p:sp>
      <p:sp>
        <p:nvSpPr>
          <p:cNvPr id="15" name="Text 13"/>
          <p:cNvSpPr/>
          <p:nvPr/>
        </p:nvSpPr>
        <p:spPr>
          <a:xfrm>
            <a:off x="731520" y="158191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Redistribution uses MNCD gossip protocol (Slide 29–31): 3 rounds, R=3 replication</a:t>
            </a:r>
            <a:endParaRPr lang="en-US" sz="1050" dirty="0"/>
          </a:p>
        </p:txBody>
      </p:sp>
      <p:sp>
        <p:nvSpPr>
          <p:cNvPr id="16" name="Text 14"/>
          <p:cNvSpPr/>
          <p:nvPr/>
        </p:nvSpPr>
        <p:spPr>
          <a:xfrm>
            <a:off x="731520" y="189280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Bandwidth saving: 10× reduction in context propagation overhead</a:t>
            </a:r>
            <a:endParaRPr lang="en-US" sz="1050" dirty="0"/>
          </a:p>
        </p:txBody>
      </p:sp>
      <p:sp>
        <p:nvSpPr>
          <p:cNvPr id="17" name="Shape 15"/>
          <p:cNvSpPr/>
          <p:nvPr/>
        </p:nvSpPr>
        <p:spPr>
          <a:xfrm>
            <a:off x="6080760" y="2368296"/>
            <a:ext cx="0" cy="256032"/>
          </a:xfrm>
          <a:prstGeom prst="line">
            <a:avLst/>
          </a:prstGeom>
          <a:noFill/>
          <a:ln w="12700">
            <a:solidFill>
              <a:srgbClr val="3C2864"/>
            </a:solidFill>
            <a:prstDash val="solid"/>
            <a:tailEnd type="arrow"/>
          </a:ln>
        </p:spPr>
      </p:sp>
      <p:sp>
        <p:nvSpPr>
          <p:cNvPr id="18" name="Shape 16"/>
          <p:cNvSpPr/>
          <p:nvPr/>
        </p:nvSpPr>
        <p:spPr>
          <a:xfrm>
            <a:off x="5833872" y="2340864"/>
            <a:ext cx="310896" cy="310896"/>
          </a:xfrm>
          <a:prstGeom prst="rect">
            <a:avLst/>
          </a:prstGeom>
          <a:solidFill>
            <a:srgbClr val="C8402A"/>
          </a:solidFill>
          <a:ln w="12700">
            <a:solidFill>
              <a:srgbClr val="C8402A"/>
            </a:solidFill>
            <a:prstDash val="solid"/>
          </a:ln>
        </p:spPr>
      </p:sp>
      <p:sp>
        <p:nvSpPr>
          <p:cNvPr id="19" name="Text 17"/>
          <p:cNvSpPr/>
          <p:nvPr/>
        </p:nvSpPr>
        <p:spPr>
          <a:xfrm>
            <a:off x="5833872" y="23408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6190488" y="2377440"/>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compressed context</a:t>
            </a:r>
            <a:endParaRPr lang="en-US" sz="900" dirty="0"/>
          </a:p>
        </p:txBody>
      </p:sp>
      <p:sp>
        <p:nvSpPr>
          <p:cNvPr id="21" name="Shape 19"/>
          <p:cNvSpPr/>
          <p:nvPr/>
        </p:nvSpPr>
        <p:spPr>
          <a:xfrm>
            <a:off x="594360" y="2642616"/>
            <a:ext cx="10972800" cy="1481328"/>
          </a:xfrm>
          <a:prstGeom prst="roundRect">
            <a:avLst>
              <a:gd name="adj" fmla="val 4938"/>
            </a:avLst>
          </a:prstGeom>
          <a:solidFill>
            <a:srgbClr val="FFF5F5"/>
          </a:solidFill>
          <a:ln w="12700">
            <a:solidFill>
              <a:srgbClr val="C8402A"/>
            </a:solidFill>
            <a:prstDash val="solid"/>
          </a:ln>
        </p:spPr>
      </p:sp>
      <p:sp>
        <p:nvSpPr>
          <p:cNvPr id="22" name="Shape 20"/>
          <p:cNvSpPr/>
          <p:nvPr/>
        </p:nvSpPr>
        <p:spPr>
          <a:xfrm>
            <a:off x="685800" y="2697480"/>
            <a:ext cx="1280160" cy="274320"/>
          </a:xfrm>
          <a:prstGeom prst="roundRect">
            <a:avLst>
              <a:gd name="adj" fmla="val 16667"/>
            </a:avLst>
          </a:prstGeom>
          <a:solidFill>
            <a:srgbClr val="C8402A"/>
          </a:solidFill>
          <a:ln w="12700">
            <a:solidFill>
              <a:srgbClr val="C8402A"/>
            </a:solidFill>
            <a:prstDash val="solid"/>
          </a:ln>
        </p:spPr>
      </p:sp>
      <p:sp>
        <p:nvSpPr>
          <p:cNvPr id="23" name="Text 21"/>
          <p:cNvSpPr/>
          <p:nvPr/>
        </p:nvSpPr>
        <p:spPr>
          <a:xfrm>
            <a:off x="685800" y="2697480"/>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4" name="Text 22"/>
          <p:cNvSpPr/>
          <p:nvPr/>
        </p:nvSpPr>
        <p:spPr>
          <a:xfrm>
            <a:off x="2057400" y="2706624"/>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Federated Conductance Model Update</a:t>
            </a:r>
            <a:endParaRPr lang="en-US" sz="1200" dirty="0"/>
          </a:p>
        </p:txBody>
      </p:sp>
      <p:sp>
        <p:nvSpPr>
          <p:cNvPr id="25" name="Text 23"/>
          <p:cNvSpPr/>
          <p:nvPr/>
        </p:nvSpPr>
        <p:spPr>
          <a:xfrm>
            <a:off x="731520" y="3044952"/>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Each agent node updates local conductance importance weights using federated averaging</a:t>
            </a:r>
            <a:endParaRPr lang="en-US" sz="1050" dirty="0"/>
          </a:p>
        </p:txBody>
      </p:sp>
      <p:sp>
        <p:nvSpPr>
          <p:cNvPr id="26" name="Text 24"/>
          <p:cNvSpPr/>
          <p:nvPr/>
        </p:nvSpPr>
        <p:spPr>
          <a:xfrm>
            <a:off x="731520" y="335584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FedAvg: global_weights = Σ (n_agent_i / N_total) × local_weights_i</a:t>
            </a:r>
            <a:endParaRPr lang="en-US" sz="1050" dirty="0"/>
          </a:p>
        </p:txBody>
      </p:sp>
      <p:sp>
        <p:nvSpPr>
          <p:cNvPr id="27" name="Text 25"/>
          <p:cNvSpPr/>
          <p:nvPr/>
        </p:nvSpPr>
        <p:spPr>
          <a:xfrm>
            <a:off x="731520" y="366674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Updated weights broadcast back to all nodes via MNCD in next gossip round</a:t>
            </a:r>
            <a:endParaRPr lang="en-US" sz="1050" dirty="0"/>
          </a:p>
        </p:txBody>
      </p:sp>
      <p:sp>
        <p:nvSpPr>
          <p:cNvPr id="28" name="Shape 26"/>
          <p:cNvSpPr/>
          <p:nvPr/>
        </p:nvSpPr>
        <p:spPr>
          <a:xfrm>
            <a:off x="6080760" y="4142232"/>
            <a:ext cx="0" cy="256032"/>
          </a:xfrm>
          <a:prstGeom prst="line">
            <a:avLst/>
          </a:prstGeom>
          <a:noFill/>
          <a:ln w="12700">
            <a:solidFill>
              <a:srgbClr val="3C2864"/>
            </a:solidFill>
            <a:prstDash val="solid"/>
            <a:tailEnd type="arrow"/>
          </a:ln>
        </p:spPr>
      </p:sp>
      <p:sp>
        <p:nvSpPr>
          <p:cNvPr id="29" name="Shape 27"/>
          <p:cNvSpPr/>
          <p:nvPr/>
        </p:nvSpPr>
        <p:spPr>
          <a:xfrm>
            <a:off x="5833872" y="4114800"/>
            <a:ext cx="310896" cy="310896"/>
          </a:xfrm>
          <a:prstGeom prst="rect">
            <a:avLst/>
          </a:prstGeom>
          <a:solidFill>
            <a:srgbClr val="C8402A"/>
          </a:solidFill>
          <a:ln w="12700">
            <a:solidFill>
              <a:srgbClr val="C8402A"/>
            </a:solidFill>
            <a:prstDash val="solid"/>
          </a:ln>
        </p:spPr>
      </p:sp>
      <p:sp>
        <p:nvSpPr>
          <p:cNvPr id="30" name="Text 28"/>
          <p:cNvSpPr/>
          <p:nvPr/>
        </p:nvSpPr>
        <p:spPr>
          <a:xfrm>
            <a:off x="5833872" y="41148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1" name="Text 29"/>
          <p:cNvSpPr/>
          <p:nvPr/>
        </p:nvSpPr>
        <p:spPr>
          <a:xfrm>
            <a:off x="6190488" y="4151376"/>
            <a:ext cx="3474720" cy="237744"/>
          </a:xfrm>
          <a:prstGeom prst="rect">
            <a:avLst/>
          </a:prstGeom>
          <a:solidFill>
            <a:srgbClr val="F8F5FF"/>
          </a:solidFill>
          <a:ln>
            <a:solidFill>
              <a:srgbClr val="D0CAE8"/>
            </a:solidFill>
          </a:ln>
        </p:spPr>
        <p:txBody>
          <a:bodyPr wrap="square" rtlCol="0" anchor="ctr"/>
          <a:lstStyle/>
          <a:p>
            <a:pPr indent="0" marL="0">
              <a:buNone/>
            </a:pPr>
            <a:r>
              <a:rPr lang="en-US" sz="900" i="1" dirty="0">
                <a:solidFill>
                  <a:srgbClr val="6B4090"/>
                </a:solidFill>
                <a:latin typeface="Calibri" pitchFamily="34" charset="0"/>
                <a:ea typeface="Calibri" pitchFamily="34" charset="-122"/>
                <a:cs typeface="Calibri" pitchFamily="34" charset="-120"/>
              </a:rPr>
              <a:t>compressed context + updated weights</a:t>
            </a:r>
            <a:endParaRPr lang="en-US" sz="900" dirty="0"/>
          </a:p>
        </p:txBody>
      </p:sp>
      <p:sp>
        <p:nvSpPr>
          <p:cNvPr id="32" name="Shape 30"/>
          <p:cNvSpPr/>
          <p:nvPr/>
        </p:nvSpPr>
        <p:spPr>
          <a:xfrm>
            <a:off x="594360" y="4416552"/>
            <a:ext cx="10972800" cy="1481328"/>
          </a:xfrm>
          <a:prstGeom prst="roundRect">
            <a:avLst>
              <a:gd name="adj" fmla="val 4938"/>
            </a:avLst>
          </a:prstGeom>
          <a:solidFill>
            <a:srgbClr val="ECFDF5"/>
          </a:solidFill>
          <a:ln w="12700">
            <a:solidFill>
              <a:srgbClr val="1B5E20"/>
            </a:solidFill>
            <a:prstDash val="solid"/>
          </a:ln>
        </p:spPr>
      </p:sp>
      <p:sp>
        <p:nvSpPr>
          <p:cNvPr id="33" name="Shape 31"/>
          <p:cNvSpPr/>
          <p:nvPr/>
        </p:nvSpPr>
        <p:spPr>
          <a:xfrm>
            <a:off x="685800" y="4471416"/>
            <a:ext cx="1280160" cy="274320"/>
          </a:xfrm>
          <a:prstGeom prst="roundRect">
            <a:avLst>
              <a:gd name="adj" fmla="val 16667"/>
            </a:avLst>
          </a:prstGeom>
          <a:solidFill>
            <a:srgbClr val="1B5E20"/>
          </a:solidFill>
          <a:ln w="12700">
            <a:solidFill>
              <a:srgbClr val="1B5E20"/>
            </a:solidFill>
            <a:prstDash val="solid"/>
          </a:ln>
        </p:spPr>
      </p:sp>
      <p:sp>
        <p:nvSpPr>
          <p:cNvPr id="34" name="Text 32"/>
          <p:cNvSpPr/>
          <p:nvPr/>
        </p:nvSpPr>
        <p:spPr>
          <a:xfrm>
            <a:off x="685800" y="4471416"/>
            <a:ext cx="128016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a:t>
            </a:r>
            <a:endParaRPr lang="en-US" sz="900" dirty="0"/>
          </a:p>
        </p:txBody>
      </p:sp>
      <p:sp>
        <p:nvSpPr>
          <p:cNvPr id="35" name="Text 33"/>
          <p:cNvSpPr/>
          <p:nvPr/>
        </p:nvSpPr>
        <p:spPr>
          <a:xfrm>
            <a:off x="2057400" y="4480560"/>
            <a:ext cx="9418320" cy="292608"/>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Compressed Context + Updated Federated Routing Decision Table</a:t>
            </a:r>
            <a:endParaRPr lang="en-US" sz="1200" dirty="0"/>
          </a:p>
        </p:txBody>
      </p:sp>
      <p:sp>
        <p:nvSpPr>
          <p:cNvPr id="36" name="Text 34"/>
          <p:cNvSpPr/>
          <p:nvPr/>
        </p:nvSpPr>
        <p:spPr>
          <a:xfrm>
            <a:off x="731520" y="4818888"/>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Primary output: 10:1 compressed context available to all agent nodes with ≥99% citation accuracy</a:t>
            </a:r>
            <a:endParaRPr lang="en-US" sz="1050" dirty="0"/>
          </a:p>
        </p:txBody>
      </p:sp>
      <p:sp>
        <p:nvSpPr>
          <p:cNvPr id="37" name="Text 35"/>
          <p:cNvSpPr/>
          <p:nvPr/>
        </p:nvSpPr>
        <p:spPr>
          <a:xfrm>
            <a:off x="731520" y="5129784"/>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Secondary output: updated conductance weights for next-round pruning</a:t>
            </a:r>
            <a:endParaRPr lang="en-US" sz="1050" dirty="0"/>
          </a:p>
        </p:txBody>
      </p:sp>
      <p:sp>
        <p:nvSpPr>
          <p:cNvPr id="38" name="Text 36"/>
          <p:cNvSpPr/>
          <p:nvPr/>
        </p:nvSpPr>
        <p:spPr>
          <a:xfrm>
            <a:off x="731520" y="5440680"/>
            <a:ext cx="10744200" cy="301752"/>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Evaluation: 9.8:1 compression | 98.9% citation accuracy (Year 1 pilot); targets 10:1 / ≥99% (full study)</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Objective 4 — Implementation: Repository and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39</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code for Flow-Conductance-based Neural Pruning (FCNP) context compression is publicly available.</a:t>
            </a:r>
            <a:endParaRPr lang="en-US" sz="1300" dirty="0"/>
          </a:p>
        </p:txBody>
      </p:sp>
      <p:sp>
        <p:nvSpPr>
          <p:cNvPr id="10" name="Shape 8"/>
          <p:cNvSpPr/>
          <p:nvPr/>
        </p:nvSpPr>
        <p:spPr>
          <a:xfrm>
            <a:off x="320040" y="896112"/>
            <a:ext cx="2286000" cy="822960"/>
          </a:xfrm>
          <a:prstGeom prst="rect">
            <a:avLst/>
          </a:prstGeom>
          <a:solidFill>
            <a:srgbClr val="1565C0"/>
          </a:solidFill>
          <a:ln w="12700">
            <a:solidFill>
              <a:srgbClr val="1565C0"/>
            </a:solidFill>
            <a:prstDash val="solid"/>
          </a:ln>
        </p:spPr>
      </p:sp>
      <p:sp>
        <p:nvSpPr>
          <p:cNvPr id="11" name="Text 9"/>
          <p:cNvSpPr/>
          <p:nvPr/>
        </p:nvSpPr>
        <p:spPr>
          <a:xfrm>
            <a:off x="365760" y="109728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Repository</a:t>
            </a:r>
            <a:endParaRPr lang="en-US" sz="1300" dirty="0"/>
          </a:p>
        </p:txBody>
      </p:sp>
      <p:sp>
        <p:nvSpPr>
          <p:cNvPr id="12" name="Shape 10"/>
          <p:cNvSpPr/>
          <p:nvPr/>
        </p:nvSpPr>
        <p:spPr>
          <a:xfrm>
            <a:off x="2670048" y="896112"/>
            <a:ext cx="9189720" cy="822960"/>
          </a:xfrm>
          <a:prstGeom prst="rect">
            <a:avLst/>
          </a:prstGeom>
          <a:solidFill>
            <a:srgbClr val="FFFFFF"/>
          </a:solidFill>
          <a:ln w="12700">
            <a:solidFill>
              <a:srgbClr val="1565C0"/>
            </a:solidFill>
            <a:prstDash val="solid"/>
          </a:ln>
        </p:spPr>
      </p:sp>
      <p:sp>
        <p:nvSpPr>
          <p:cNvPr id="13" name="Text 11"/>
          <p:cNvSpPr/>
          <p:nvPr/>
        </p:nvSpPr>
        <p:spPr>
          <a:xfrm>
            <a:off x="2743200" y="94183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https://github.com/joyjeni/fcnp-context-pruning</a:t>
            </a:r>
            <a:endParaRPr lang="en-US" sz="1150" dirty="0"/>
          </a:p>
        </p:txBody>
      </p:sp>
      <p:sp>
        <p:nvSpPr>
          <p:cNvPr id="14" name="Shape 12"/>
          <p:cNvSpPr/>
          <p:nvPr/>
        </p:nvSpPr>
        <p:spPr>
          <a:xfrm>
            <a:off x="320040" y="1828800"/>
            <a:ext cx="2286000" cy="822960"/>
          </a:xfrm>
          <a:prstGeom prst="rect">
            <a:avLst/>
          </a:prstGeom>
          <a:solidFill>
            <a:srgbClr val="3C2864"/>
          </a:solidFill>
          <a:ln w="12700">
            <a:solidFill>
              <a:srgbClr val="3C2864"/>
            </a:solidFill>
            <a:prstDash val="solid"/>
          </a:ln>
        </p:spPr>
      </p:sp>
      <p:sp>
        <p:nvSpPr>
          <p:cNvPr id="15" name="Text 13"/>
          <p:cNvSpPr/>
          <p:nvPr/>
        </p:nvSpPr>
        <p:spPr>
          <a:xfrm>
            <a:off x="365760" y="2029968"/>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 Files</a:t>
            </a:r>
            <a:endParaRPr lang="en-US" sz="1300" dirty="0"/>
          </a:p>
        </p:txBody>
      </p:sp>
      <p:sp>
        <p:nvSpPr>
          <p:cNvPr id="16" name="Shape 14"/>
          <p:cNvSpPr/>
          <p:nvPr/>
        </p:nvSpPr>
        <p:spPr>
          <a:xfrm>
            <a:off x="2670048" y="1828800"/>
            <a:ext cx="9189720" cy="822960"/>
          </a:xfrm>
          <a:prstGeom prst="rect">
            <a:avLst/>
          </a:prstGeom>
          <a:solidFill>
            <a:srgbClr val="FFFFFF"/>
          </a:solidFill>
          <a:ln w="12700">
            <a:solidFill>
              <a:srgbClr val="3C2864"/>
            </a:solidFill>
            <a:prstDash val="solid"/>
          </a:ln>
        </p:spPr>
      </p:sp>
      <p:sp>
        <p:nvSpPr>
          <p:cNvPr id="17" name="Text 15"/>
          <p:cNvSpPr/>
          <p:nvPr/>
        </p:nvSpPr>
        <p:spPr>
          <a:xfrm>
            <a:off x="2743200" y="1874520"/>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fcnp/pruner.py — main iterative pruning engine</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fcnp/conductance.py — Kirchhoff flow-conductance computation</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fcnp/federated.py — federated averaging for conductance weights</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fcnp_toolbench_benchmark.ipynb — 7-baseline comparison notebook</a:t>
            </a:r>
            <a:endParaRPr lang="en-US" sz="1150" dirty="0"/>
          </a:p>
        </p:txBody>
      </p:sp>
      <p:sp>
        <p:nvSpPr>
          <p:cNvPr id="18" name="Shape 16"/>
          <p:cNvSpPr/>
          <p:nvPr/>
        </p:nvSpPr>
        <p:spPr>
          <a:xfrm>
            <a:off x="320040" y="2761488"/>
            <a:ext cx="2286000" cy="822960"/>
          </a:xfrm>
          <a:prstGeom prst="rect">
            <a:avLst/>
          </a:prstGeom>
          <a:solidFill>
            <a:srgbClr val="00695C"/>
          </a:solidFill>
          <a:ln w="12700">
            <a:solidFill>
              <a:srgbClr val="00695C"/>
            </a:solidFill>
            <a:prstDash val="solid"/>
          </a:ln>
        </p:spPr>
      </p:sp>
      <p:sp>
        <p:nvSpPr>
          <p:cNvPr id="19" name="Text 17"/>
          <p:cNvSpPr/>
          <p:nvPr/>
        </p:nvSpPr>
        <p:spPr>
          <a:xfrm>
            <a:off x="365760" y="2962656"/>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20" name="Shape 18"/>
          <p:cNvSpPr/>
          <p:nvPr/>
        </p:nvSpPr>
        <p:spPr>
          <a:xfrm>
            <a:off x="2670048" y="2761488"/>
            <a:ext cx="9189720" cy="822960"/>
          </a:xfrm>
          <a:prstGeom prst="rect">
            <a:avLst/>
          </a:prstGeom>
          <a:solidFill>
            <a:srgbClr val="FFFFFF"/>
          </a:solidFill>
          <a:ln w="12700">
            <a:solidFill>
              <a:srgbClr val="00695C"/>
            </a:solidFill>
            <a:prstDash val="solid"/>
          </a:ln>
        </p:spPr>
      </p:sp>
      <p:sp>
        <p:nvSpPr>
          <p:cNvPr id="21" name="Text 19"/>
          <p:cNvSpPr/>
          <p:nvPr/>
        </p:nvSpPr>
        <p:spPr>
          <a:xfrm>
            <a:off x="2743200" y="2807208"/>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https://fcnp-context-pruning.vercel.app</a:t>
            </a:r>
            <a:endParaRPr lang="en-US" sz="1150" dirty="0"/>
          </a:p>
          <a:p>
            <a:pPr indent="0" marL="0">
              <a:buNone/>
            </a:pPr>
            <a:r>
              <a:rPr lang="en-US" sz="1150" dirty="0">
                <a:solidFill>
                  <a:srgbClr val="1A1035"/>
                </a:solidFill>
                <a:latin typeface="Calibri" pitchFamily="34" charset="0"/>
                <a:ea typeface="Calibri" pitchFamily="34" charset="-122"/>
                <a:cs typeface="Calibri" pitchFamily="34" charset="-120"/>
              </a:rPr>
              <a:t>(Live metrics: compression ratio, citation accuracy, throughput vs 7 baselines)</a:t>
            </a:r>
            <a:endParaRPr lang="en-US" sz="1150" dirty="0"/>
          </a:p>
        </p:txBody>
      </p:sp>
      <p:sp>
        <p:nvSpPr>
          <p:cNvPr id="22" name="Shape 20"/>
          <p:cNvSpPr/>
          <p:nvPr/>
        </p:nvSpPr>
        <p:spPr>
          <a:xfrm>
            <a:off x="320040" y="3694176"/>
            <a:ext cx="2286000" cy="822960"/>
          </a:xfrm>
          <a:prstGeom prst="rect">
            <a:avLst/>
          </a:prstGeom>
          <a:solidFill>
            <a:srgbClr val="C8402A"/>
          </a:solidFill>
          <a:ln w="12700">
            <a:solidFill>
              <a:srgbClr val="C8402A"/>
            </a:solidFill>
            <a:prstDash val="solid"/>
          </a:ln>
        </p:spPr>
      </p:sp>
      <p:sp>
        <p:nvSpPr>
          <p:cNvPr id="23" name="Text 21"/>
          <p:cNvSpPr/>
          <p:nvPr/>
        </p:nvSpPr>
        <p:spPr>
          <a:xfrm>
            <a:off x="365760" y="3895344"/>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Compression</a:t>
            </a:r>
            <a:endParaRPr lang="en-US" sz="1300" dirty="0"/>
          </a:p>
        </p:txBody>
      </p:sp>
      <p:sp>
        <p:nvSpPr>
          <p:cNvPr id="24" name="Shape 22"/>
          <p:cNvSpPr/>
          <p:nvPr/>
        </p:nvSpPr>
        <p:spPr>
          <a:xfrm>
            <a:off x="2670048" y="3694176"/>
            <a:ext cx="9189720" cy="822960"/>
          </a:xfrm>
          <a:prstGeom prst="rect">
            <a:avLst/>
          </a:prstGeom>
          <a:solidFill>
            <a:srgbClr val="FFFFFF"/>
          </a:solidFill>
          <a:ln w="12700">
            <a:solidFill>
              <a:srgbClr val="C8402A"/>
            </a:solidFill>
            <a:prstDash val="solid"/>
          </a:ln>
        </p:spPr>
      </p:sp>
      <p:sp>
        <p:nvSpPr>
          <p:cNvPr id="25" name="Text 23"/>
          <p:cNvSpPr/>
          <p:nvPr/>
        </p:nvSpPr>
        <p:spPr>
          <a:xfrm>
            <a:off x="2743200" y="3739896"/>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Key-Value (KV) token budget: 100% → 28% retained | 10:1 compression target | ≥99% citation accuracy</a:t>
            </a:r>
            <a:endParaRPr lang="en-US" sz="1150" dirty="0"/>
          </a:p>
        </p:txBody>
      </p:sp>
      <p:sp>
        <p:nvSpPr>
          <p:cNvPr id="26" name="Shape 24"/>
          <p:cNvSpPr/>
          <p:nvPr/>
        </p:nvSpPr>
        <p:spPr>
          <a:xfrm>
            <a:off x="320040" y="4626864"/>
            <a:ext cx="2286000" cy="822960"/>
          </a:xfrm>
          <a:prstGeom prst="rect">
            <a:avLst/>
          </a:prstGeom>
          <a:solidFill>
            <a:srgbClr val="E65100"/>
          </a:solidFill>
          <a:ln w="12700">
            <a:solidFill>
              <a:srgbClr val="E65100"/>
            </a:solidFill>
            <a:prstDash val="solid"/>
          </a:ln>
        </p:spPr>
      </p:sp>
      <p:sp>
        <p:nvSpPr>
          <p:cNvPr id="27" name="Text 25"/>
          <p:cNvSpPr/>
          <p:nvPr/>
        </p:nvSpPr>
        <p:spPr>
          <a:xfrm>
            <a:off x="365760" y="4828032"/>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Baselines</a:t>
            </a:r>
            <a:endParaRPr lang="en-US" sz="1300" dirty="0"/>
          </a:p>
        </p:txBody>
      </p:sp>
      <p:sp>
        <p:nvSpPr>
          <p:cNvPr id="28" name="Shape 26"/>
          <p:cNvSpPr/>
          <p:nvPr/>
        </p:nvSpPr>
        <p:spPr>
          <a:xfrm>
            <a:off x="2670048" y="4626864"/>
            <a:ext cx="9189720" cy="822960"/>
          </a:xfrm>
          <a:prstGeom prst="rect">
            <a:avLst/>
          </a:prstGeom>
          <a:solidFill>
            <a:srgbClr val="FFFFFF"/>
          </a:solidFill>
          <a:ln w="12700">
            <a:solidFill>
              <a:srgbClr val="E65100"/>
            </a:solidFill>
            <a:prstDash val="solid"/>
          </a:ln>
        </p:spPr>
      </p:sp>
      <p:sp>
        <p:nvSpPr>
          <p:cNvPr id="29" name="Text 27"/>
          <p:cNvSpPr/>
          <p:nvPr/>
        </p:nvSpPr>
        <p:spPr>
          <a:xfrm>
            <a:off x="2743200" y="4672584"/>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SparseGPT, LoRA (parameter-efficient fine-tuning baseline), Scissorhands, H2O, AdaKV, Finch, StreamingLLM (Attention Sinks)</a:t>
            </a:r>
            <a:endParaRPr lang="en-US" sz="1150" dirty="0"/>
          </a:p>
        </p:txBody>
      </p:sp>
      <p:sp>
        <p:nvSpPr>
          <p:cNvPr id="30" name="Shape 28"/>
          <p:cNvSpPr/>
          <p:nvPr/>
        </p:nvSpPr>
        <p:spPr>
          <a:xfrm>
            <a:off x="320040" y="5559552"/>
            <a:ext cx="2286000" cy="822960"/>
          </a:xfrm>
          <a:prstGeom prst="rect">
            <a:avLst/>
          </a:prstGeom>
          <a:solidFill>
            <a:srgbClr val="1B5E20"/>
          </a:solidFill>
          <a:ln w="12700">
            <a:solidFill>
              <a:srgbClr val="1B5E20"/>
            </a:solidFill>
            <a:prstDash val="solid"/>
          </a:ln>
        </p:spPr>
      </p:sp>
      <p:sp>
        <p:nvSpPr>
          <p:cNvPr id="31" name="Text 29"/>
          <p:cNvSpPr/>
          <p:nvPr/>
        </p:nvSpPr>
        <p:spPr>
          <a:xfrm>
            <a:off x="365760" y="5760720"/>
            <a:ext cx="219456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p>
        </p:txBody>
      </p:sp>
      <p:sp>
        <p:nvSpPr>
          <p:cNvPr id="32" name="Shape 30"/>
          <p:cNvSpPr/>
          <p:nvPr/>
        </p:nvSpPr>
        <p:spPr>
          <a:xfrm>
            <a:off x="2670048" y="5559552"/>
            <a:ext cx="9189720" cy="822960"/>
          </a:xfrm>
          <a:prstGeom prst="rect">
            <a:avLst/>
          </a:prstGeom>
          <a:solidFill>
            <a:srgbClr val="FFFFFF"/>
          </a:solidFill>
          <a:ln w="12700">
            <a:solidFill>
              <a:srgbClr val="1B5E20"/>
            </a:solidFill>
            <a:prstDash val="solid"/>
          </a:ln>
        </p:spPr>
      </p:sp>
      <p:sp>
        <p:nvSpPr>
          <p:cNvPr id="33" name="Text 31"/>
          <p:cNvSpPr/>
          <p:nvPr/>
        </p:nvSpPr>
        <p:spPr>
          <a:xfrm>
            <a:off x="2743200" y="5605272"/>
            <a:ext cx="9052560" cy="731520"/>
          </a:xfrm>
          <a:prstGeom prst="rect">
            <a:avLst/>
          </a:prstGeom>
          <a:noFill/>
          <a:ln/>
        </p:spPr>
        <p:txBody>
          <a:bodyPr wrap="square" rtlCol="0" anchor="ctr"/>
          <a:lstStyle/>
          <a:p>
            <a:pPr indent="0" marL="0">
              <a:buNone/>
            </a:pPr>
            <a:r>
              <a:rPr lang="en-US" sz="1150" dirty="0">
                <a:solidFill>
                  <a:srgbClr val="1A1035"/>
                </a:solidFill>
                <a:latin typeface="Calibri" pitchFamily="34" charset="0"/>
                <a:ea typeface="Calibri" pitchFamily="34" charset="-122"/>
                <a:cs typeface="Calibri" pitchFamily="34" charset="-120"/>
              </a:rPr>
              <a:t>Python 3.10, PyTorch 2.1, FlashAttention-2, HuggingFace Transformers, Vercel deployment</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Adaptive Context Reasoning System Architecture — All 4 Objectives Combined</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End-to-end pipeline: Farmer query → Obj1 tool reranking → Obj2 adaptive routing → Obj3 mesh context distribution → Obj4 context pruning → Verified multilingual response.</a:t>
            </a:r>
            <a:endParaRPr lang="en-US" sz="1200" dirty="0"/>
          </a:p>
        </p:txBody>
      </p:sp>
      <p:pic>
        <p:nvPicPr>
          <p:cNvPr id="10" name="Image 0" descr="preencoded.png">    </p:cNvPr>
          <p:cNvPicPr>
            <a:picLocks noChangeAspect="1"/>
          </p:cNvPicPr>
          <p:nvPr/>
        </p:nvPicPr>
        <p:blipFill>
          <a:blip r:embed="rId1"/>
          <a:srcRect l="0" r="0" t="0" b="0"/>
          <a:stretch/>
        </p:blipFill>
        <p:spPr>
          <a:xfrm>
            <a:off x="320040" y="868680"/>
            <a:ext cx="11548872" cy="56784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1 of 4: Query Entry and Tool Reranking</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How the farmer’s question travels through the system — Step 1: the query arrives in the farmer’s own language, gets translated, and the most relevant tools are selected from 43,000 available options.</a:t>
            </a:r>
            <a:endParaRPr lang="en-US" sz="1200" dirty="0"/>
          </a:p>
        </p:txBody>
      </p:sp>
      <p:sp>
        <p:nvSpPr>
          <p:cNvPr id="10" name="Shape 8"/>
          <p:cNvSpPr/>
          <p:nvPr/>
        </p:nvSpPr>
        <p:spPr>
          <a:xfrm>
            <a:off x="320040" y="960120"/>
            <a:ext cx="475488" cy="475488"/>
          </a:xfrm>
          <a:prstGeom prst="rect">
            <a:avLst/>
          </a:prstGeom>
          <a:solidFill>
            <a:srgbClr val="1565C0"/>
          </a:solidFill>
          <a:ln w="12700">
            <a:solidFill>
              <a:srgbClr val="1565C0"/>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hape 10"/>
          <p:cNvSpPr/>
          <p:nvPr/>
        </p:nvSpPr>
        <p:spPr>
          <a:xfrm>
            <a:off x="850392" y="960120"/>
            <a:ext cx="11018520" cy="1170432"/>
          </a:xfrm>
          <a:prstGeom prst="rect">
            <a:avLst/>
          </a:prstGeom>
          <a:solidFill>
            <a:srgbClr val="EFF6FF"/>
          </a:solidFill>
          <a:ln w="12700">
            <a:solidFill>
              <a:srgbClr val="1565C0"/>
            </a:solidFill>
            <a:prstDash val="solid"/>
          </a:ln>
        </p:spPr>
      </p:sp>
      <p:sp>
        <p:nvSpPr>
          <p:cNvPr id="13" name="Text 11"/>
          <p:cNvSpPr/>
          <p:nvPr/>
        </p:nvSpPr>
        <p:spPr>
          <a:xfrm>
            <a:off x="914400" y="996696"/>
            <a:ext cx="1024128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FARMER QUERY INPUT</a:t>
            </a:r>
            <a:endParaRPr lang="en-US" sz="1200" dirty="0"/>
          </a:p>
        </p:txBody>
      </p:sp>
      <p:sp>
        <p:nvSpPr>
          <p:cNvPr id="14" name="Text 12"/>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A farmer types or speaks a question — e.g., "What is today's mandi price for tomatoes in Mysuru?" — in Kannada, Hindi, or English.</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is the raw entry point of the entire system.</a:t>
            </a:r>
            <a:endParaRPr lang="en-US" sz="1100" dirty="0"/>
          </a:p>
        </p:txBody>
      </p:sp>
      <p:sp>
        <p:nvSpPr>
          <p:cNvPr id="15" name="Shape 13"/>
          <p:cNvSpPr/>
          <p:nvPr/>
        </p:nvSpPr>
        <p:spPr>
          <a:xfrm>
            <a:off x="557784" y="2130552"/>
            <a:ext cx="0" cy="155448"/>
          </a:xfrm>
          <a:prstGeom prst="line">
            <a:avLst/>
          </a:prstGeom>
          <a:noFill/>
          <a:ln w="12700">
            <a:solidFill>
              <a:srgbClr val="1565C0"/>
            </a:solidFill>
            <a:prstDash val="solid"/>
            <a:tailEnd type="arrow"/>
          </a:ln>
        </p:spPr>
      </p:sp>
      <p:sp>
        <p:nvSpPr>
          <p:cNvPr id="16" name="Shape 14"/>
          <p:cNvSpPr/>
          <p:nvPr/>
        </p:nvSpPr>
        <p:spPr>
          <a:xfrm>
            <a:off x="640080" y="2135124"/>
            <a:ext cx="420624" cy="146304"/>
          </a:xfrm>
          <a:prstGeom prst="rect">
            <a:avLst/>
          </a:prstGeom>
          <a:solidFill>
            <a:srgbClr val="C8402A"/>
          </a:solidFill>
          <a:ln w="12700">
            <a:solidFill>
              <a:srgbClr val="C8402A"/>
            </a:solidFill>
            <a:prstDash val="solid"/>
          </a:ln>
        </p:spPr>
      </p:sp>
      <p:sp>
        <p:nvSpPr>
          <p:cNvPr id="17" name="Text 15"/>
          <p:cNvSpPr/>
          <p:nvPr/>
        </p:nvSpPr>
        <p:spPr>
          <a:xfrm>
            <a:off x="640080" y="213512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8" name="Shape 16"/>
          <p:cNvSpPr/>
          <p:nvPr/>
        </p:nvSpPr>
        <p:spPr>
          <a:xfrm>
            <a:off x="320040" y="2286000"/>
            <a:ext cx="475488" cy="475488"/>
          </a:xfrm>
          <a:prstGeom prst="rect">
            <a:avLst/>
          </a:prstGeom>
          <a:solidFill>
            <a:srgbClr val="6B4090"/>
          </a:solidFill>
          <a:ln w="12700">
            <a:solidFill>
              <a:srgbClr val="6B4090"/>
            </a:solidFill>
            <a:prstDash val="solid"/>
          </a:ln>
        </p:spPr>
      </p:sp>
      <p:sp>
        <p:nvSpPr>
          <p:cNvPr id="19" name="Text 17"/>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Shape 18"/>
          <p:cNvSpPr/>
          <p:nvPr/>
        </p:nvSpPr>
        <p:spPr>
          <a:xfrm>
            <a:off x="850392" y="2286000"/>
            <a:ext cx="11018520" cy="1170432"/>
          </a:xfrm>
          <a:prstGeom prst="rect">
            <a:avLst/>
          </a:prstGeom>
          <a:solidFill>
            <a:srgbClr val="F5F3FF"/>
          </a:solidFill>
          <a:ln w="12700">
            <a:solidFill>
              <a:srgbClr val="6B4090"/>
            </a:solidFill>
            <a:prstDash val="solid"/>
          </a:ln>
        </p:spPr>
      </p:sp>
      <p:sp>
        <p:nvSpPr>
          <p:cNvPr id="21" name="Text 19"/>
          <p:cNvSpPr/>
          <p:nvPr/>
        </p:nvSpPr>
        <p:spPr>
          <a:xfrm>
            <a:off x="914400" y="2322576"/>
            <a:ext cx="10241280" cy="274320"/>
          </a:xfrm>
          <a:prstGeom prst="rect">
            <a:avLst/>
          </a:prstGeom>
          <a:noFill/>
          <a:ln/>
        </p:spPr>
        <p:txBody>
          <a:bodyPr wrap="square" rtlCol="0" anchor="ctr"/>
          <a:lstStyle/>
          <a:p>
            <a:pPr indent="0" marL="0">
              <a:buNone/>
            </a:pPr>
            <a:r>
              <a:rPr lang="en-US" sz="1200" b="1" dirty="0">
                <a:solidFill>
                  <a:srgbClr val="6B4090"/>
                </a:solidFill>
                <a:latin typeface="Calibri" pitchFamily="34" charset="0"/>
                <a:ea typeface="Calibri" pitchFamily="34" charset="-122"/>
                <a:cs typeface="Calibri" pitchFamily="34" charset="-120"/>
              </a:rPr>
              <a:t>LANGUAGE DETECTION + TRANSLATION</a:t>
            </a:r>
            <a:endParaRPr lang="en-US" sz="1200" dirty="0"/>
          </a:p>
        </p:txBody>
      </p:sp>
      <p:sp>
        <p:nvSpPr>
          <p:cNvPr id="22" name="Text 20"/>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If the query is not in English, the IndicTrans2 module automatically translates it.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ensures the AI can process it regardless of language — supporting 22 Indian languages.</a:t>
            </a:r>
            <a:endParaRPr lang="en-US" sz="1100" dirty="0"/>
          </a:p>
        </p:txBody>
      </p:sp>
      <p:sp>
        <p:nvSpPr>
          <p:cNvPr id="23" name="Shape 21"/>
          <p:cNvSpPr/>
          <p:nvPr/>
        </p:nvSpPr>
        <p:spPr>
          <a:xfrm>
            <a:off x="557784" y="3456432"/>
            <a:ext cx="0" cy="155448"/>
          </a:xfrm>
          <a:prstGeom prst="line">
            <a:avLst/>
          </a:prstGeom>
          <a:noFill/>
          <a:ln w="12700">
            <a:solidFill>
              <a:srgbClr val="6B4090"/>
            </a:solidFill>
            <a:prstDash val="solid"/>
            <a:tailEnd type="arrow"/>
          </a:ln>
        </p:spPr>
      </p:sp>
      <p:sp>
        <p:nvSpPr>
          <p:cNvPr id="24" name="Shape 22"/>
          <p:cNvSpPr/>
          <p:nvPr/>
        </p:nvSpPr>
        <p:spPr>
          <a:xfrm>
            <a:off x="640080" y="3461004"/>
            <a:ext cx="420624" cy="146304"/>
          </a:xfrm>
          <a:prstGeom prst="rect">
            <a:avLst/>
          </a:prstGeom>
          <a:solidFill>
            <a:srgbClr val="C8402A"/>
          </a:solidFill>
          <a:ln w="12700">
            <a:solidFill>
              <a:srgbClr val="C8402A"/>
            </a:solidFill>
            <a:prstDash val="solid"/>
          </a:ln>
        </p:spPr>
      </p:sp>
      <p:sp>
        <p:nvSpPr>
          <p:cNvPr id="25" name="Text 23"/>
          <p:cNvSpPr/>
          <p:nvPr/>
        </p:nvSpPr>
        <p:spPr>
          <a:xfrm>
            <a:off x="640080" y="346100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26" name="Shape 24"/>
          <p:cNvSpPr/>
          <p:nvPr/>
        </p:nvSpPr>
        <p:spPr>
          <a:xfrm>
            <a:off x="320040" y="3611880"/>
            <a:ext cx="475488" cy="475488"/>
          </a:xfrm>
          <a:prstGeom prst="rect">
            <a:avLst/>
          </a:prstGeom>
          <a:solidFill>
            <a:srgbClr val="283593"/>
          </a:solidFill>
          <a:ln w="12700">
            <a:solidFill>
              <a:srgbClr val="283593"/>
            </a:solidFill>
            <a:prstDash val="solid"/>
          </a:ln>
        </p:spPr>
      </p:sp>
      <p:sp>
        <p:nvSpPr>
          <p:cNvPr id="27" name="Text 25"/>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Shape 26"/>
          <p:cNvSpPr/>
          <p:nvPr/>
        </p:nvSpPr>
        <p:spPr>
          <a:xfrm>
            <a:off x="850392" y="3611880"/>
            <a:ext cx="11018520" cy="1170432"/>
          </a:xfrm>
          <a:prstGeom prst="rect">
            <a:avLst/>
          </a:prstGeom>
          <a:solidFill>
            <a:srgbClr val="E8EAF6"/>
          </a:solidFill>
          <a:ln w="12700">
            <a:solidFill>
              <a:srgbClr val="283593"/>
            </a:solidFill>
            <a:prstDash val="solid"/>
          </a:ln>
        </p:spPr>
      </p:sp>
      <p:sp>
        <p:nvSpPr>
          <p:cNvPr id="29" name="Text 27"/>
          <p:cNvSpPr/>
          <p:nvPr/>
        </p:nvSpPr>
        <p:spPr>
          <a:xfrm>
            <a:off x="914400" y="3648456"/>
            <a:ext cx="10241280" cy="274320"/>
          </a:xfrm>
          <a:prstGeom prst="rect">
            <a:avLst/>
          </a:prstGeom>
          <a:noFill/>
          <a:ln/>
        </p:spPr>
        <p:txBody>
          <a:bodyPr wrap="square" rtlCol="0" anchor="ctr"/>
          <a:lstStyle/>
          <a:p>
            <a:pPr indent="0" marL="0">
              <a:buNone/>
            </a:pPr>
            <a:r>
              <a:rPr lang="en-US" sz="1200" b="1" dirty="0">
                <a:solidFill>
                  <a:srgbClr val="283593"/>
                </a:solidFill>
                <a:latin typeface="Calibri" pitchFamily="34" charset="0"/>
                <a:ea typeface="Calibri" pitchFamily="34" charset="-122"/>
                <a:cs typeface="Calibri" pitchFamily="34" charset="-120"/>
              </a:rPr>
              <a:t>TOOL CANDIDATE RECALL (Gemma-4 + BM25)</a:t>
            </a:r>
            <a:endParaRPr lang="en-US" sz="1200" dirty="0"/>
          </a:p>
        </p:txBody>
      </p:sp>
      <p:sp>
        <p:nvSpPr>
          <p:cNvPr id="30" name="Text 28"/>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searches 43,000 tools in the ToolBench catalogue using two methods: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(a) Gemma-4 embedding similarity — finds tools that are semantically similar</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(b) BM25 keyword search — finds tools with matching words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Result: up to 150 candidate tools.</a:t>
            </a:r>
            <a:endParaRPr lang="en-US" sz="1100" dirty="0"/>
          </a:p>
        </p:txBody>
      </p:sp>
      <p:sp>
        <p:nvSpPr>
          <p:cNvPr id="31" name="Shape 29"/>
          <p:cNvSpPr/>
          <p:nvPr/>
        </p:nvSpPr>
        <p:spPr>
          <a:xfrm>
            <a:off x="557784" y="4782312"/>
            <a:ext cx="0" cy="155448"/>
          </a:xfrm>
          <a:prstGeom prst="line">
            <a:avLst/>
          </a:prstGeom>
          <a:noFill/>
          <a:ln w="12700">
            <a:solidFill>
              <a:srgbClr val="283593"/>
            </a:solidFill>
            <a:prstDash val="solid"/>
            <a:tailEnd type="arrow"/>
          </a:ln>
        </p:spPr>
      </p:sp>
      <p:sp>
        <p:nvSpPr>
          <p:cNvPr id="32" name="Shape 30"/>
          <p:cNvSpPr/>
          <p:nvPr/>
        </p:nvSpPr>
        <p:spPr>
          <a:xfrm>
            <a:off x="640080" y="4786884"/>
            <a:ext cx="420624" cy="146304"/>
          </a:xfrm>
          <a:prstGeom prst="rect">
            <a:avLst/>
          </a:prstGeom>
          <a:solidFill>
            <a:srgbClr val="C8402A"/>
          </a:solidFill>
          <a:ln w="12700">
            <a:solidFill>
              <a:srgbClr val="C8402A"/>
            </a:solidFill>
            <a:prstDash val="solid"/>
          </a:ln>
        </p:spPr>
      </p:sp>
      <p:sp>
        <p:nvSpPr>
          <p:cNvPr id="33" name="Text 31"/>
          <p:cNvSpPr/>
          <p:nvPr/>
        </p:nvSpPr>
        <p:spPr>
          <a:xfrm>
            <a:off x="640080" y="478688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34" name="Shape 32"/>
          <p:cNvSpPr/>
          <p:nvPr/>
        </p:nvSpPr>
        <p:spPr>
          <a:xfrm>
            <a:off x="320040" y="4937760"/>
            <a:ext cx="475488" cy="475488"/>
          </a:xfrm>
          <a:prstGeom prst="rect">
            <a:avLst/>
          </a:prstGeom>
          <a:solidFill>
            <a:srgbClr val="1565C0"/>
          </a:solidFill>
          <a:ln w="12700">
            <a:solidFill>
              <a:srgbClr val="1565C0"/>
            </a:solidFill>
            <a:prstDash val="solid"/>
          </a:ln>
        </p:spPr>
      </p:sp>
      <p:sp>
        <p:nvSpPr>
          <p:cNvPr id="35" name="Text 33"/>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6" name="Shape 34"/>
          <p:cNvSpPr/>
          <p:nvPr/>
        </p:nvSpPr>
        <p:spPr>
          <a:xfrm>
            <a:off x="850392" y="4937760"/>
            <a:ext cx="11018520" cy="1170432"/>
          </a:xfrm>
          <a:prstGeom prst="rect">
            <a:avLst/>
          </a:prstGeom>
          <a:solidFill>
            <a:srgbClr val="E3F0FF"/>
          </a:solidFill>
          <a:ln w="12700">
            <a:solidFill>
              <a:srgbClr val="1565C0"/>
            </a:solidFill>
            <a:prstDash val="solid"/>
          </a:ln>
        </p:spPr>
      </p:sp>
      <p:sp>
        <p:nvSpPr>
          <p:cNvPr id="37" name="Shape 35"/>
          <p:cNvSpPr/>
          <p:nvPr/>
        </p:nvSpPr>
        <p:spPr>
          <a:xfrm>
            <a:off x="11320272" y="4956048"/>
            <a:ext cx="530352" cy="237744"/>
          </a:xfrm>
          <a:prstGeom prst="rect">
            <a:avLst/>
          </a:prstGeom>
          <a:solidFill>
            <a:srgbClr val="1565C0"/>
          </a:solidFill>
          <a:ln w="12700">
            <a:solidFill>
              <a:srgbClr val="1565C0"/>
            </a:solidFill>
            <a:prstDash val="solid"/>
          </a:ln>
        </p:spPr>
      </p:sp>
      <p:sp>
        <p:nvSpPr>
          <p:cNvPr id="38" name="Text 36"/>
          <p:cNvSpPr/>
          <p:nvPr/>
        </p:nvSpPr>
        <p:spPr>
          <a:xfrm>
            <a:off x="11320272" y="496519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NOVEL</a:t>
            </a:r>
            <a:endParaRPr lang="en-US" sz="750" dirty="0"/>
          </a:p>
        </p:txBody>
      </p:sp>
      <p:sp>
        <p:nvSpPr>
          <p:cNvPr id="39" name="Text 37"/>
          <p:cNvSpPr/>
          <p:nvPr/>
        </p:nvSpPr>
        <p:spPr>
          <a:xfrm>
            <a:off x="914400" y="4974336"/>
            <a:ext cx="1024128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SESSION-AWARE RERANKING [NOVEL — Obj 1]</a:t>
            </a:r>
            <a:endParaRPr lang="en-US" sz="1200" dirty="0"/>
          </a:p>
        </p:txBody>
      </p:sp>
      <p:sp>
        <p:nvSpPr>
          <p:cNvPr id="40" name="Text 38"/>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checks: which tools did this farmer use before?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Using a co-activation graph, it boosts tools that frequently worked together in past sessions.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Final output: Top-K ranked tools, personalised per farmer.</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Metric: NDCG@5 = 0.461 (+2% over baseline)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2 of 4: Adaptive Routing to Specialist Agents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Step 2: The selected tools are now routed to the right specialist AI agent — like connecting a caller to the correct department. The system learns which agent is best over time.</a:t>
            </a:r>
            <a:endParaRPr lang="en-US" sz="1200" dirty="0"/>
          </a:p>
        </p:txBody>
      </p:sp>
      <p:sp>
        <p:nvSpPr>
          <p:cNvPr id="10" name="Shape 8"/>
          <p:cNvSpPr/>
          <p:nvPr/>
        </p:nvSpPr>
        <p:spPr>
          <a:xfrm>
            <a:off x="320040" y="960120"/>
            <a:ext cx="475488" cy="475488"/>
          </a:xfrm>
          <a:prstGeom prst="rect">
            <a:avLst/>
          </a:prstGeom>
          <a:solidFill>
            <a:srgbClr val="1565C0"/>
          </a:solidFill>
          <a:ln w="12700">
            <a:solidFill>
              <a:srgbClr val="1565C0"/>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2" name="Shape 10"/>
          <p:cNvSpPr/>
          <p:nvPr/>
        </p:nvSpPr>
        <p:spPr>
          <a:xfrm>
            <a:off x="850392" y="960120"/>
            <a:ext cx="11018520" cy="1170432"/>
          </a:xfrm>
          <a:prstGeom prst="rect">
            <a:avLst/>
          </a:prstGeom>
          <a:solidFill>
            <a:srgbClr val="E3F0FF"/>
          </a:solidFill>
          <a:ln w="12700">
            <a:solidFill>
              <a:srgbClr val="1565C0"/>
            </a:solidFill>
            <a:prstDash val="solid"/>
          </a:ln>
        </p:spPr>
      </p:sp>
      <p:sp>
        <p:nvSpPr>
          <p:cNvPr id="13" name="Shape 11"/>
          <p:cNvSpPr/>
          <p:nvPr/>
        </p:nvSpPr>
        <p:spPr>
          <a:xfrm>
            <a:off x="11320272" y="978408"/>
            <a:ext cx="530352" cy="237744"/>
          </a:xfrm>
          <a:prstGeom prst="rect">
            <a:avLst/>
          </a:prstGeom>
          <a:solidFill>
            <a:srgbClr val="1565C0"/>
          </a:solidFill>
          <a:ln w="12700">
            <a:solidFill>
              <a:srgbClr val="1565C0"/>
            </a:solidFill>
            <a:prstDash val="solid"/>
          </a:ln>
        </p:spPr>
      </p:sp>
      <p:sp>
        <p:nvSpPr>
          <p:cNvPr id="14" name="Text 12"/>
          <p:cNvSpPr/>
          <p:nvPr/>
        </p:nvSpPr>
        <p:spPr>
          <a:xfrm>
            <a:off x="11320272" y="98755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NOVEL</a:t>
            </a:r>
            <a:endParaRPr lang="en-US" sz="750" dirty="0"/>
          </a:p>
        </p:txBody>
      </p:sp>
      <p:sp>
        <p:nvSpPr>
          <p:cNvPr id="15" name="Text 13"/>
          <p:cNvSpPr/>
          <p:nvPr/>
        </p:nvSpPr>
        <p:spPr>
          <a:xfrm>
            <a:off x="914400" y="996696"/>
            <a:ext cx="1024128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REINFORCEMENT LEARNING WEIGHT MATRIX [NOVEL — Obj 2]</a:t>
            </a:r>
            <a:endParaRPr lang="en-US" sz="1200" dirty="0"/>
          </a:p>
        </p:txBody>
      </p:sp>
      <p:sp>
        <p:nvSpPr>
          <p:cNvPr id="16" name="Text 14"/>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maintains a matrix W that records: "for this type of query, which agent succeeded before?"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matrix is updated in real time based on task success/failure.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Think of it as a dynamic leaderboard — the best agent gets routed more queries.</a:t>
            </a:r>
            <a:endParaRPr lang="en-US" sz="1100" dirty="0"/>
          </a:p>
        </p:txBody>
      </p:sp>
      <p:sp>
        <p:nvSpPr>
          <p:cNvPr id="17" name="Shape 15"/>
          <p:cNvSpPr/>
          <p:nvPr/>
        </p:nvSpPr>
        <p:spPr>
          <a:xfrm>
            <a:off x="557784" y="2130552"/>
            <a:ext cx="0" cy="155448"/>
          </a:xfrm>
          <a:prstGeom prst="line">
            <a:avLst/>
          </a:prstGeom>
          <a:noFill/>
          <a:ln w="12700">
            <a:solidFill>
              <a:srgbClr val="1565C0"/>
            </a:solidFill>
            <a:prstDash val="solid"/>
            <a:tailEnd type="arrow"/>
          </a:ln>
        </p:spPr>
      </p:sp>
      <p:sp>
        <p:nvSpPr>
          <p:cNvPr id="18" name="Shape 16"/>
          <p:cNvSpPr/>
          <p:nvPr/>
        </p:nvSpPr>
        <p:spPr>
          <a:xfrm>
            <a:off x="640080" y="2135124"/>
            <a:ext cx="420624" cy="146304"/>
          </a:xfrm>
          <a:prstGeom prst="rect">
            <a:avLst/>
          </a:prstGeom>
          <a:solidFill>
            <a:srgbClr val="C8402A"/>
          </a:solidFill>
          <a:ln w="12700">
            <a:solidFill>
              <a:srgbClr val="C8402A"/>
            </a:solidFill>
            <a:prstDash val="solid"/>
          </a:ln>
        </p:spPr>
      </p:sp>
      <p:sp>
        <p:nvSpPr>
          <p:cNvPr id="19" name="Text 17"/>
          <p:cNvSpPr/>
          <p:nvPr/>
        </p:nvSpPr>
        <p:spPr>
          <a:xfrm>
            <a:off x="640080" y="213512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6</a:t>
            </a:r>
            <a:endParaRPr lang="en-US" sz="900" dirty="0"/>
          </a:p>
        </p:txBody>
      </p:sp>
      <p:sp>
        <p:nvSpPr>
          <p:cNvPr id="20" name="Shape 18"/>
          <p:cNvSpPr/>
          <p:nvPr/>
        </p:nvSpPr>
        <p:spPr>
          <a:xfrm>
            <a:off x="320040" y="2286000"/>
            <a:ext cx="475488" cy="475488"/>
          </a:xfrm>
          <a:prstGeom prst="rect">
            <a:avLst/>
          </a:prstGeom>
          <a:solidFill>
            <a:srgbClr val="E65100"/>
          </a:solidFill>
          <a:ln w="12700">
            <a:solidFill>
              <a:srgbClr val="E65100"/>
            </a:solidFill>
            <a:prstDash val="solid"/>
          </a:ln>
        </p:spPr>
      </p:sp>
      <p:sp>
        <p:nvSpPr>
          <p:cNvPr id="21" name="Text 19"/>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Shape 20"/>
          <p:cNvSpPr/>
          <p:nvPr/>
        </p:nvSpPr>
        <p:spPr>
          <a:xfrm>
            <a:off x="850392" y="2286000"/>
            <a:ext cx="11018520" cy="1170432"/>
          </a:xfrm>
          <a:prstGeom prst="rect">
            <a:avLst/>
          </a:prstGeom>
          <a:solidFill>
            <a:srgbClr val="FFF8F1"/>
          </a:solidFill>
          <a:ln w="12700">
            <a:solidFill>
              <a:srgbClr val="E65100"/>
            </a:solidFill>
            <a:prstDash val="solid"/>
          </a:ln>
        </p:spPr>
      </p:sp>
      <p:sp>
        <p:nvSpPr>
          <p:cNvPr id="23" name="Text 21"/>
          <p:cNvSpPr/>
          <p:nvPr/>
        </p:nvSpPr>
        <p:spPr>
          <a:xfrm>
            <a:off x="914400" y="2322576"/>
            <a:ext cx="10241280" cy="274320"/>
          </a:xfrm>
          <a:prstGeom prst="rect">
            <a:avLst/>
          </a:prstGeom>
          <a:noFill/>
          <a:ln/>
        </p:spPr>
        <p:txBody>
          <a:bodyPr wrap="square"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CONTEXT-DRIVEN ROUTING (CDR)</a:t>
            </a:r>
            <a:endParaRPr lang="en-US" sz="1200" dirty="0"/>
          </a:p>
        </p:txBody>
      </p:sp>
      <p:sp>
        <p:nvSpPr>
          <p:cNvPr id="24" name="Text 22"/>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system inspects the content and intent of the query and steers it to the most appropriate agent.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Example: a price-query goes to the Mandi Price Agent; a crop disease query goes to the Agronomy Agent.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CDR uses the routing weight matrix W to make this decision.</a:t>
            </a:r>
            <a:endParaRPr lang="en-US" sz="1100" dirty="0"/>
          </a:p>
        </p:txBody>
      </p:sp>
      <p:sp>
        <p:nvSpPr>
          <p:cNvPr id="25" name="Shape 23"/>
          <p:cNvSpPr/>
          <p:nvPr/>
        </p:nvSpPr>
        <p:spPr>
          <a:xfrm>
            <a:off x="557784" y="3456432"/>
            <a:ext cx="0" cy="155448"/>
          </a:xfrm>
          <a:prstGeom prst="line">
            <a:avLst/>
          </a:prstGeom>
          <a:noFill/>
          <a:ln w="12700">
            <a:solidFill>
              <a:srgbClr val="E65100"/>
            </a:solidFill>
            <a:prstDash val="solid"/>
            <a:tailEnd type="arrow"/>
          </a:ln>
        </p:spPr>
      </p:sp>
      <p:sp>
        <p:nvSpPr>
          <p:cNvPr id="26" name="Shape 24"/>
          <p:cNvSpPr/>
          <p:nvPr/>
        </p:nvSpPr>
        <p:spPr>
          <a:xfrm>
            <a:off x="640080" y="3461004"/>
            <a:ext cx="420624" cy="146304"/>
          </a:xfrm>
          <a:prstGeom prst="rect">
            <a:avLst/>
          </a:prstGeom>
          <a:solidFill>
            <a:srgbClr val="C8402A"/>
          </a:solidFill>
          <a:ln w="12700">
            <a:solidFill>
              <a:srgbClr val="C8402A"/>
            </a:solidFill>
            <a:prstDash val="solid"/>
          </a:ln>
        </p:spPr>
      </p:sp>
      <p:sp>
        <p:nvSpPr>
          <p:cNvPr id="27" name="Text 25"/>
          <p:cNvSpPr/>
          <p:nvPr/>
        </p:nvSpPr>
        <p:spPr>
          <a:xfrm>
            <a:off x="640080" y="346100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7</a:t>
            </a:r>
            <a:endParaRPr lang="en-US" sz="900" dirty="0"/>
          </a:p>
        </p:txBody>
      </p:sp>
      <p:sp>
        <p:nvSpPr>
          <p:cNvPr id="28" name="Shape 26"/>
          <p:cNvSpPr/>
          <p:nvPr/>
        </p:nvSpPr>
        <p:spPr>
          <a:xfrm>
            <a:off x="320040" y="3611880"/>
            <a:ext cx="475488" cy="475488"/>
          </a:xfrm>
          <a:prstGeom prst="rect">
            <a:avLst/>
          </a:prstGeom>
          <a:solidFill>
            <a:srgbClr val="1565C0"/>
          </a:solidFill>
          <a:ln w="12700">
            <a:solidFill>
              <a:srgbClr val="1565C0"/>
            </a:solidFill>
            <a:prstDash val="solid"/>
          </a:ln>
        </p:spPr>
      </p:sp>
      <p:sp>
        <p:nvSpPr>
          <p:cNvPr id="29" name="Text 27"/>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0" name="Shape 28"/>
          <p:cNvSpPr/>
          <p:nvPr/>
        </p:nvSpPr>
        <p:spPr>
          <a:xfrm>
            <a:off x="850392" y="3611880"/>
            <a:ext cx="11018520" cy="1170432"/>
          </a:xfrm>
          <a:prstGeom prst="rect">
            <a:avLst/>
          </a:prstGeom>
          <a:solidFill>
            <a:srgbClr val="E3F0FF"/>
          </a:solidFill>
          <a:ln w="12700">
            <a:solidFill>
              <a:srgbClr val="1565C0"/>
            </a:solidFill>
            <a:prstDash val="solid"/>
          </a:ln>
        </p:spPr>
      </p:sp>
      <p:sp>
        <p:nvSpPr>
          <p:cNvPr id="31" name="Shape 29"/>
          <p:cNvSpPr/>
          <p:nvPr/>
        </p:nvSpPr>
        <p:spPr>
          <a:xfrm>
            <a:off x="11320272" y="3630168"/>
            <a:ext cx="530352" cy="237744"/>
          </a:xfrm>
          <a:prstGeom prst="rect">
            <a:avLst/>
          </a:prstGeom>
          <a:solidFill>
            <a:srgbClr val="1565C0"/>
          </a:solidFill>
          <a:ln w="12700">
            <a:solidFill>
              <a:srgbClr val="1565C0"/>
            </a:solidFill>
            <a:prstDash val="solid"/>
          </a:ln>
        </p:spPr>
      </p:sp>
      <p:sp>
        <p:nvSpPr>
          <p:cNvPr id="32" name="Text 30"/>
          <p:cNvSpPr/>
          <p:nvPr/>
        </p:nvSpPr>
        <p:spPr>
          <a:xfrm>
            <a:off x="11320272" y="363931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NOVEL</a:t>
            </a:r>
            <a:endParaRPr lang="en-US" sz="750" dirty="0"/>
          </a:p>
        </p:txBody>
      </p:sp>
      <p:sp>
        <p:nvSpPr>
          <p:cNvPr id="33" name="Text 31"/>
          <p:cNvSpPr/>
          <p:nvPr/>
        </p:nvSpPr>
        <p:spPr>
          <a:xfrm>
            <a:off x="914400" y="3648456"/>
            <a:ext cx="1024128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PARALLEL DISPATCH ROUTING (PDR) [NOVEL — Obj 2]</a:t>
            </a:r>
            <a:endParaRPr lang="en-US" sz="1200" dirty="0"/>
          </a:p>
        </p:txBody>
      </p:sp>
      <p:sp>
        <p:nvSpPr>
          <p:cNvPr id="34" name="Text 32"/>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For complex queries that need multiple agents simultaneously, PDR dispatches the task in parallel.</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All agents process it concurrently — like sending the same letter to multiple departments at once.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Result: faster response, redundancy. Metric: task success +2% over baseline.</a:t>
            </a:r>
            <a:endParaRPr lang="en-US" sz="1100" dirty="0"/>
          </a:p>
        </p:txBody>
      </p:sp>
      <p:sp>
        <p:nvSpPr>
          <p:cNvPr id="35" name="Shape 33"/>
          <p:cNvSpPr/>
          <p:nvPr/>
        </p:nvSpPr>
        <p:spPr>
          <a:xfrm>
            <a:off x="557784" y="4782312"/>
            <a:ext cx="0" cy="155448"/>
          </a:xfrm>
          <a:prstGeom prst="line">
            <a:avLst/>
          </a:prstGeom>
          <a:noFill/>
          <a:ln w="12700">
            <a:solidFill>
              <a:srgbClr val="1565C0"/>
            </a:solidFill>
            <a:prstDash val="solid"/>
            <a:tailEnd type="arrow"/>
          </a:ln>
        </p:spPr>
      </p:sp>
      <p:sp>
        <p:nvSpPr>
          <p:cNvPr id="36" name="Shape 34"/>
          <p:cNvSpPr/>
          <p:nvPr/>
        </p:nvSpPr>
        <p:spPr>
          <a:xfrm>
            <a:off x="640080" y="4786884"/>
            <a:ext cx="420624" cy="146304"/>
          </a:xfrm>
          <a:prstGeom prst="rect">
            <a:avLst/>
          </a:prstGeom>
          <a:solidFill>
            <a:srgbClr val="C8402A"/>
          </a:solidFill>
          <a:ln w="12700">
            <a:solidFill>
              <a:srgbClr val="C8402A"/>
            </a:solidFill>
            <a:prstDash val="solid"/>
          </a:ln>
        </p:spPr>
      </p:sp>
      <p:sp>
        <p:nvSpPr>
          <p:cNvPr id="37" name="Text 35"/>
          <p:cNvSpPr/>
          <p:nvPr/>
        </p:nvSpPr>
        <p:spPr>
          <a:xfrm>
            <a:off x="640080" y="478688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8</a:t>
            </a:r>
            <a:endParaRPr lang="en-US" sz="900" dirty="0"/>
          </a:p>
        </p:txBody>
      </p:sp>
      <p:sp>
        <p:nvSpPr>
          <p:cNvPr id="38" name="Shape 36"/>
          <p:cNvSpPr/>
          <p:nvPr/>
        </p:nvSpPr>
        <p:spPr>
          <a:xfrm>
            <a:off x="320040" y="4937760"/>
            <a:ext cx="475488" cy="475488"/>
          </a:xfrm>
          <a:prstGeom prst="rect">
            <a:avLst/>
          </a:prstGeom>
          <a:solidFill>
            <a:srgbClr val="1B5E20"/>
          </a:solidFill>
          <a:ln w="12700">
            <a:solidFill>
              <a:srgbClr val="1B5E20"/>
            </a:solidFill>
            <a:prstDash val="solid"/>
          </a:ln>
        </p:spPr>
      </p:sp>
      <p:sp>
        <p:nvSpPr>
          <p:cNvPr id="39" name="Text 37"/>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0" name="Shape 38"/>
          <p:cNvSpPr/>
          <p:nvPr/>
        </p:nvSpPr>
        <p:spPr>
          <a:xfrm>
            <a:off x="850392" y="4937760"/>
            <a:ext cx="11018520" cy="1170432"/>
          </a:xfrm>
          <a:prstGeom prst="rect">
            <a:avLst/>
          </a:prstGeom>
          <a:solidFill>
            <a:srgbClr val="F0FFF4"/>
          </a:solidFill>
          <a:ln w="12700">
            <a:solidFill>
              <a:srgbClr val="1B5E20"/>
            </a:solidFill>
            <a:prstDash val="solid"/>
          </a:ln>
        </p:spPr>
      </p:sp>
      <p:sp>
        <p:nvSpPr>
          <p:cNvPr id="41" name="Text 39"/>
          <p:cNvSpPr/>
          <p:nvPr/>
        </p:nvSpPr>
        <p:spPr>
          <a:xfrm>
            <a:off x="914400" y="4974336"/>
            <a:ext cx="102412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data.gov.in LIVE SIGNAL INJECTION</a:t>
            </a:r>
            <a:endParaRPr lang="en-US" sz="1200" dirty="0"/>
          </a:p>
        </p:txBody>
      </p:sp>
      <p:sp>
        <p:nvSpPr>
          <p:cNvPr id="42" name="Text 40"/>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routing decision is also influenced by live data from data.gov.in agriculture feeds.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If today's mandi price feed shows high activity in tomatoes, the mandi-specialist agent is prioritised.</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API resource: 9ef84268-... (Karnataka APMC prices, updated daily).</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3 of 4: Sharing Context Across All Agents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Step 3: All the agents in the network need to know what each other knows. This step ensures every agent has an up-to-date shared understanding — like a group WhatsApp for AI agents.</a:t>
            </a:r>
            <a:endParaRPr lang="en-US" sz="1200" dirty="0"/>
          </a:p>
        </p:txBody>
      </p:sp>
      <p:sp>
        <p:nvSpPr>
          <p:cNvPr id="10" name="Shape 8"/>
          <p:cNvSpPr/>
          <p:nvPr/>
        </p:nvSpPr>
        <p:spPr>
          <a:xfrm>
            <a:off x="320040" y="960120"/>
            <a:ext cx="475488" cy="475488"/>
          </a:xfrm>
          <a:prstGeom prst="rect">
            <a:avLst/>
          </a:prstGeom>
          <a:solidFill>
            <a:srgbClr val="1565C0"/>
          </a:solidFill>
          <a:ln w="12700">
            <a:solidFill>
              <a:srgbClr val="1565C0"/>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2" name="Shape 10"/>
          <p:cNvSpPr/>
          <p:nvPr/>
        </p:nvSpPr>
        <p:spPr>
          <a:xfrm>
            <a:off x="850392" y="960120"/>
            <a:ext cx="11018520" cy="1170432"/>
          </a:xfrm>
          <a:prstGeom prst="rect">
            <a:avLst/>
          </a:prstGeom>
          <a:solidFill>
            <a:srgbClr val="E3F0FF"/>
          </a:solidFill>
          <a:ln w="12700">
            <a:solidFill>
              <a:srgbClr val="1565C0"/>
            </a:solidFill>
            <a:prstDash val="solid"/>
          </a:ln>
        </p:spPr>
      </p:sp>
      <p:sp>
        <p:nvSpPr>
          <p:cNvPr id="13" name="Shape 11"/>
          <p:cNvSpPr/>
          <p:nvPr/>
        </p:nvSpPr>
        <p:spPr>
          <a:xfrm>
            <a:off x="11320272" y="978408"/>
            <a:ext cx="530352" cy="237744"/>
          </a:xfrm>
          <a:prstGeom prst="rect">
            <a:avLst/>
          </a:prstGeom>
          <a:solidFill>
            <a:srgbClr val="1565C0"/>
          </a:solidFill>
          <a:ln w="12700">
            <a:solidFill>
              <a:srgbClr val="1565C0"/>
            </a:solidFill>
            <a:prstDash val="solid"/>
          </a:ln>
        </p:spPr>
      </p:sp>
      <p:sp>
        <p:nvSpPr>
          <p:cNvPr id="14" name="Text 12"/>
          <p:cNvSpPr/>
          <p:nvPr/>
        </p:nvSpPr>
        <p:spPr>
          <a:xfrm>
            <a:off x="11320272" y="98755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NOVEL</a:t>
            </a:r>
            <a:endParaRPr lang="en-US" sz="750" dirty="0"/>
          </a:p>
        </p:txBody>
      </p:sp>
      <p:sp>
        <p:nvSpPr>
          <p:cNvPr id="15" name="Text 13"/>
          <p:cNvSpPr/>
          <p:nvPr/>
        </p:nvSpPr>
        <p:spPr>
          <a:xfrm>
            <a:off x="914400" y="996696"/>
            <a:ext cx="1024128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GOSSIP PROTOCOL BROADCAST [NOVEL — Obj 3]</a:t>
            </a:r>
            <a:endParaRPr lang="en-US" sz="1200" dirty="0"/>
          </a:p>
        </p:txBody>
      </p:sp>
      <p:sp>
        <p:nvSpPr>
          <p:cNvPr id="16" name="Text 14"/>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When any agent learns new information (e.g., new mandi price from data.gov.in), it "gossips" it to 2–3 nearest neighbours.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Those neighbours pass it on. Within O(log N) rounds, ALL agents know the new information.</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is exactly how real gossip spreads — but mathematically proven to be efficient.</a:t>
            </a:r>
            <a:endParaRPr lang="en-US" sz="1100" dirty="0"/>
          </a:p>
        </p:txBody>
      </p:sp>
      <p:sp>
        <p:nvSpPr>
          <p:cNvPr id="17" name="Shape 15"/>
          <p:cNvSpPr/>
          <p:nvPr/>
        </p:nvSpPr>
        <p:spPr>
          <a:xfrm>
            <a:off x="557784" y="2130552"/>
            <a:ext cx="0" cy="155448"/>
          </a:xfrm>
          <a:prstGeom prst="line">
            <a:avLst/>
          </a:prstGeom>
          <a:noFill/>
          <a:ln w="12700">
            <a:solidFill>
              <a:srgbClr val="1565C0"/>
            </a:solidFill>
            <a:prstDash val="solid"/>
            <a:tailEnd type="arrow"/>
          </a:ln>
        </p:spPr>
      </p:sp>
      <p:sp>
        <p:nvSpPr>
          <p:cNvPr id="18" name="Shape 16"/>
          <p:cNvSpPr/>
          <p:nvPr/>
        </p:nvSpPr>
        <p:spPr>
          <a:xfrm>
            <a:off x="640080" y="2135124"/>
            <a:ext cx="420624" cy="146304"/>
          </a:xfrm>
          <a:prstGeom prst="rect">
            <a:avLst/>
          </a:prstGeom>
          <a:solidFill>
            <a:srgbClr val="C8402A"/>
          </a:solidFill>
          <a:ln w="12700">
            <a:solidFill>
              <a:srgbClr val="C8402A"/>
            </a:solidFill>
            <a:prstDash val="solid"/>
          </a:ln>
        </p:spPr>
      </p:sp>
      <p:sp>
        <p:nvSpPr>
          <p:cNvPr id="19" name="Text 17"/>
          <p:cNvSpPr/>
          <p:nvPr/>
        </p:nvSpPr>
        <p:spPr>
          <a:xfrm>
            <a:off x="640080" y="213512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10</a:t>
            </a:r>
            <a:endParaRPr lang="en-US" sz="900" dirty="0"/>
          </a:p>
        </p:txBody>
      </p:sp>
      <p:sp>
        <p:nvSpPr>
          <p:cNvPr id="20" name="Shape 18"/>
          <p:cNvSpPr/>
          <p:nvPr/>
        </p:nvSpPr>
        <p:spPr>
          <a:xfrm>
            <a:off x="320040" y="2286000"/>
            <a:ext cx="475488" cy="475488"/>
          </a:xfrm>
          <a:prstGeom prst="rect">
            <a:avLst/>
          </a:prstGeom>
          <a:solidFill>
            <a:srgbClr val="00695C"/>
          </a:solidFill>
          <a:ln w="12700">
            <a:solidFill>
              <a:srgbClr val="00695C"/>
            </a:solidFill>
            <a:prstDash val="solid"/>
          </a:ln>
        </p:spPr>
      </p:sp>
      <p:sp>
        <p:nvSpPr>
          <p:cNvPr id="21" name="Text 19"/>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22" name="Shape 20"/>
          <p:cNvSpPr/>
          <p:nvPr/>
        </p:nvSpPr>
        <p:spPr>
          <a:xfrm>
            <a:off x="850392" y="2286000"/>
            <a:ext cx="11018520" cy="1170432"/>
          </a:xfrm>
          <a:prstGeom prst="rect">
            <a:avLst/>
          </a:prstGeom>
          <a:solidFill>
            <a:srgbClr val="EFFDFB"/>
          </a:solidFill>
          <a:ln w="12700">
            <a:solidFill>
              <a:srgbClr val="00695C"/>
            </a:solidFill>
            <a:prstDash val="solid"/>
          </a:ln>
        </p:spPr>
      </p:sp>
      <p:sp>
        <p:nvSpPr>
          <p:cNvPr id="23" name="Text 21"/>
          <p:cNvSpPr/>
          <p:nvPr/>
        </p:nvSpPr>
        <p:spPr>
          <a:xfrm>
            <a:off x="914400" y="2322576"/>
            <a:ext cx="10241280" cy="274320"/>
          </a:xfrm>
          <a:prstGeom prst="rect">
            <a:avLst/>
          </a:prstGeom>
          <a:noFill/>
          <a:ln/>
        </p:spPr>
        <p:txBody>
          <a:bodyPr wrap="square" rtlCol="0" anchor="ctr"/>
          <a:lstStyle/>
          <a:p>
            <a:pPr indent="0" marL="0">
              <a:buNone/>
            </a:pPr>
            <a:r>
              <a:rPr lang="en-US" sz="1200" b="1" dirty="0">
                <a:solidFill>
                  <a:srgbClr val="00695C"/>
                </a:solidFill>
                <a:latin typeface="Calibri" pitchFamily="34" charset="0"/>
                <a:ea typeface="Calibri" pitchFamily="34" charset="-122"/>
                <a:cs typeface="Calibri" pitchFamily="34" charset="-120"/>
              </a:rPr>
              <a:t>R=3 REPLICATION FACTOR</a:t>
            </a:r>
            <a:endParaRPr lang="en-US" sz="1200" dirty="0"/>
          </a:p>
        </p:txBody>
      </p:sp>
      <p:sp>
        <p:nvSpPr>
          <p:cNvPr id="24" name="Text 22"/>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Each piece of context is stored on 3 different agents simultaneously.</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If 2 out of 5 agents crash, the data is still safe on the remaining 3.</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gives 97%+ context availability — compared to 44% in a single-agent system.</a:t>
            </a:r>
            <a:endParaRPr lang="en-US" sz="1100" dirty="0"/>
          </a:p>
        </p:txBody>
      </p:sp>
      <p:sp>
        <p:nvSpPr>
          <p:cNvPr id="25" name="Shape 23"/>
          <p:cNvSpPr/>
          <p:nvPr/>
        </p:nvSpPr>
        <p:spPr>
          <a:xfrm>
            <a:off x="557784" y="3456432"/>
            <a:ext cx="0" cy="155448"/>
          </a:xfrm>
          <a:prstGeom prst="line">
            <a:avLst/>
          </a:prstGeom>
          <a:noFill/>
          <a:ln w="12700">
            <a:solidFill>
              <a:srgbClr val="00695C"/>
            </a:solidFill>
            <a:prstDash val="solid"/>
            <a:tailEnd type="arrow"/>
          </a:ln>
        </p:spPr>
      </p:sp>
      <p:sp>
        <p:nvSpPr>
          <p:cNvPr id="26" name="Shape 24"/>
          <p:cNvSpPr/>
          <p:nvPr/>
        </p:nvSpPr>
        <p:spPr>
          <a:xfrm>
            <a:off x="640080" y="3461004"/>
            <a:ext cx="420624" cy="146304"/>
          </a:xfrm>
          <a:prstGeom prst="rect">
            <a:avLst/>
          </a:prstGeom>
          <a:solidFill>
            <a:srgbClr val="C8402A"/>
          </a:solidFill>
          <a:ln w="12700">
            <a:solidFill>
              <a:srgbClr val="C8402A"/>
            </a:solidFill>
            <a:prstDash val="solid"/>
          </a:ln>
        </p:spPr>
      </p:sp>
      <p:sp>
        <p:nvSpPr>
          <p:cNvPr id="27" name="Text 25"/>
          <p:cNvSpPr/>
          <p:nvPr/>
        </p:nvSpPr>
        <p:spPr>
          <a:xfrm>
            <a:off x="640080" y="346100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11</a:t>
            </a:r>
            <a:endParaRPr lang="en-US" sz="900" dirty="0"/>
          </a:p>
        </p:txBody>
      </p:sp>
      <p:sp>
        <p:nvSpPr>
          <p:cNvPr id="28" name="Shape 26"/>
          <p:cNvSpPr/>
          <p:nvPr/>
        </p:nvSpPr>
        <p:spPr>
          <a:xfrm>
            <a:off x="320040" y="3611880"/>
            <a:ext cx="475488" cy="475488"/>
          </a:xfrm>
          <a:prstGeom prst="rect">
            <a:avLst/>
          </a:prstGeom>
          <a:solidFill>
            <a:srgbClr val="1565C0"/>
          </a:solidFill>
          <a:ln w="12700">
            <a:solidFill>
              <a:srgbClr val="1565C0"/>
            </a:solidFill>
            <a:prstDash val="solid"/>
          </a:ln>
        </p:spPr>
      </p:sp>
      <p:sp>
        <p:nvSpPr>
          <p:cNvPr id="29" name="Text 27"/>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11</a:t>
            </a:r>
            <a:endParaRPr lang="en-US" sz="1800" dirty="0"/>
          </a:p>
        </p:txBody>
      </p:sp>
      <p:sp>
        <p:nvSpPr>
          <p:cNvPr id="30" name="Shape 28"/>
          <p:cNvSpPr/>
          <p:nvPr/>
        </p:nvSpPr>
        <p:spPr>
          <a:xfrm>
            <a:off x="850392" y="3611880"/>
            <a:ext cx="11018520" cy="1170432"/>
          </a:xfrm>
          <a:prstGeom prst="rect">
            <a:avLst/>
          </a:prstGeom>
          <a:solidFill>
            <a:srgbClr val="E3F0FF"/>
          </a:solidFill>
          <a:ln w="12700">
            <a:solidFill>
              <a:srgbClr val="1565C0"/>
            </a:solidFill>
            <a:prstDash val="solid"/>
          </a:ln>
        </p:spPr>
      </p:sp>
      <p:sp>
        <p:nvSpPr>
          <p:cNvPr id="31" name="Shape 29"/>
          <p:cNvSpPr/>
          <p:nvPr/>
        </p:nvSpPr>
        <p:spPr>
          <a:xfrm>
            <a:off x="11320272" y="3630168"/>
            <a:ext cx="530352" cy="237744"/>
          </a:xfrm>
          <a:prstGeom prst="rect">
            <a:avLst/>
          </a:prstGeom>
          <a:solidFill>
            <a:srgbClr val="1565C0"/>
          </a:solidFill>
          <a:ln w="12700">
            <a:solidFill>
              <a:srgbClr val="1565C0"/>
            </a:solidFill>
            <a:prstDash val="solid"/>
          </a:ln>
        </p:spPr>
      </p:sp>
      <p:sp>
        <p:nvSpPr>
          <p:cNvPr id="32" name="Text 30"/>
          <p:cNvSpPr/>
          <p:nvPr/>
        </p:nvSpPr>
        <p:spPr>
          <a:xfrm>
            <a:off x="11320272" y="363931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NOVEL</a:t>
            </a:r>
            <a:endParaRPr lang="en-US" sz="750" dirty="0"/>
          </a:p>
        </p:txBody>
      </p:sp>
      <p:sp>
        <p:nvSpPr>
          <p:cNvPr id="33" name="Text 31"/>
          <p:cNvSpPr/>
          <p:nvPr/>
        </p:nvSpPr>
        <p:spPr>
          <a:xfrm>
            <a:off x="914400" y="3648456"/>
            <a:ext cx="1024128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BORDA CONSENSUS AGGREGATION [NOVEL — Obj 3]</a:t>
            </a:r>
            <a:endParaRPr lang="en-US" sz="1200" dirty="0"/>
          </a:p>
        </p:txBody>
      </p:sp>
      <p:sp>
        <p:nvSpPr>
          <p:cNvPr id="34" name="Text 32"/>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When multiple agents give different answers (e.g., different mandi prices), the system uses Borda count voting.</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Each agent ranks the possible answers; the answer with the most votes wins.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prevents one wrong agent from misleading the final response.</a:t>
            </a:r>
            <a:endParaRPr lang="en-US" sz="1100" dirty="0"/>
          </a:p>
        </p:txBody>
      </p:sp>
      <p:sp>
        <p:nvSpPr>
          <p:cNvPr id="35" name="Shape 33"/>
          <p:cNvSpPr/>
          <p:nvPr/>
        </p:nvSpPr>
        <p:spPr>
          <a:xfrm>
            <a:off x="557784" y="4782312"/>
            <a:ext cx="0" cy="155448"/>
          </a:xfrm>
          <a:prstGeom prst="line">
            <a:avLst/>
          </a:prstGeom>
          <a:noFill/>
          <a:ln w="12700">
            <a:solidFill>
              <a:srgbClr val="1565C0"/>
            </a:solidFill>
            <a:prstDash val="solid"/>
            <a:tailEnd type="arrow"/>
          </a:ln>
        </p:spPr>
      </p:sp>
      <p:sp>
        <p:nvSpPr>
          <p:cNvPr id="36" name="Shape 34"/>
          <p:cNvSpPr/>
          <p:nvPr/>
        </p:nvSpPr>
        <p:spPr>
          <a:xfrm>
            <a:off x="640080" y="4786884"/>
            <a:ext cx="420624" cy="146304"/>
          </a:xfrm>
          <a:prstGeom prst="rect">
            <a:avLst/>
          </a:prstGeom>
          <a:solidFill>
            <a:srgbClr val="C8402A"/>
          </a:solidFill>
          <a:ln w="12700">
            <a:solidFill>
              <a:srgbClr val="C8402A"/>
            </a:solidFill>
            <a:prstDash val="solid"/>
          </a:ln>
        </p:spPr>
      </p:sp>
      <p:sp>
        <p:nvSpPr>
          <p:cNvPr id="37" name="Text 35"/>
          <p:cNvSpPr/>
          <p:nvPr/>
        </p:nvSpPr>
        <p:spPr>
          <a:xfrm>
            <a:off x="640080" y="478688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12</a:t>
            </a:r>
            <a:endParaRPr lang="en-US" sz="900" dirty="0"/>
          </a:p>
        </p:txBody>
      </p:sp>
      <p:sp>
        <p:nvSpPr>
          <p:cNvPr id="38" name="Shape 36"/>
          <p:cNvSpPr/>
          <p:nvPr/>
        </p:nvSpPr>
        <p:spPr>
          <a:xfrm>
            <a:off x="320040" y="4937760"/>
            <a:ext cx="475488" cy="475488"/>
          </a:xfrm>
          <a:prstGeom prst="rect">
            <a:avLst/>
          </a:prstGeom>
          <a:solidFill>
            <a:srgbClr val="1B5E20"/>
          </a:solidFill>
          <a:ln w="12700">
            <a:solidFill>
              <a:srgbClr val="1B5E20"/>
            </a:solidFill>
            <a:prstDash val="solid"/>
          </a:ln>
        </p:spPr>
      </p:sp>
      <p:sp>
        <p:nvSpPr>
          <p:cNvPr id="39" name="Text 37"/>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12</a:t>
            </a:r>
            <a:endParaRPr lang="en-US" sz="1800" dirty="0"/>
          </a:p>
        </p:txBody>
      </p:sp>
      <p:sp>
        <p:nvSpPr>
          <p:cNvPr id="40" name="Shape 38"/>
          <p:cNvSpPr/>
          <p:nvPr/>
        </p:nvSpPr>
        <p:spPr>
          <a:xfrm>
            <a:off x="850392" y="4937760"/>
            <a:ext cx="11018520" cy="1170432"/>
          </a:xfrm>
          <a:prstGeom prst="rect">
            <a:avLst/>
          </a:prstGeom>
          <a:solidFill>
            <a:srgbClr val="F0FFF4"/>
          </a:solidFill>
          <a:ln w="12700">
            <a:solidFill>
              <a:srgbClr val="1B5E20"/>
            </a:solidFill>
            <a:prstDash val="solid"/>
          </a:ln>
        </p:spPr>
      </p:sp>
      <p:sp>
        <p:nvSpPr>
          <p:cNvPr id="41" name="Text 39"/>
          <p:cNvSpPr/>
          <p:nvPr/>
        </p:nvSpPr>
        <p:spPr>
          <a:xfrm>
            <a:off x="914400" y="4974336"/>
            <a:ext cx="102412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data.gov.in LIVE FEED CONSENSUS INPUT</a:t>
            </a:r>
            <a:endParaRPr lang="en-US" sz="1200" dirty="0"/>
          </a:p>
        </p:txBody>
      </p:sp>
      <p:sp>
        <p:nvSpPr>
          <p:cNvPr id="42" name="Text 40"/>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Borda consensus is seeded with live data.gov.in agriculture prices.</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If an agent's answer contradicts the official government data feed, its vote is automatically down-weighted.</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Final output: verified, source-attributed context passed to Step 4.</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Overall Algorithm Flow — Step 4 of 4: Context Pruning and Final Answer Delivery</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44</a:t>
            </a:r>
            <a:endParaRPr lang="en-US" sz="1300" dirty="0"/>
          </a:p>
        </p:txBody>
      </p:sp>
      <p:sp>
        <p:nvSpPr>
          <p:cNvPr id="9" name="Text 7"/>
          <p:cNvSpPr/>
          <p:nvPr/>
        </p:nvSpPr>
        <p:spPr>
          <a:xfrm>
            <a:off x="320040" y="512064"/>
            <a:ext cx="11521440" cy="347472"/>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Step 4: Before the AI generates an answer, it prunes the conversation context down to only the most important parts — like a skilled editor removing filler from an article before printing.</a:t>
            </a:r>
            <a:endParaRPr lang="en-US" sz="1200" dirty="0"/>
          </a:p>
        </p:txBody>
      </p:sp>
      <p:sp>
        <p:nvSpPr>
          <p:cNvPr id="10" name="Shape 8"/>
          <p:cNvSpPr/>
          <p:nvPr/>
        </p:nvSpPr>
        <p:spPr>
          <a:xfrm>
            <a:off x="320040" y="960120"/>
            <a:ext cx="475488" cy="475488"/>
          </a:xfrm>
          <a:prstGeom prst="rect">
            <a:avLst/>
          </a:prstGeom>
          <a:solidFill>
            <a:srgbClr val="1B5E20"/>
          </a:solidFill>
          <a:ln w="12700">
            <a:solidFill>
              <a:srgbClr val="1B5E20"/>
            </a:solidFill>
            <a:prstDash val="solid"/>
          </a:ln>
        </p:spPr>
      </p:sp>
      <p:sp>
        <p:nvSpPr>
          <p:cNvPr id="11" name="Text 9"/>
          <p:cNvSpPr/>
          <p:nvPr/>
        </p:nvSpPr>
        <p:spPr>
          <a:xfrm>
            <a:off x="320040" y="97840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13</a:t>
            </a:r>
            <a:endParaRPr lang="en-US" sz="1800" dirty="0"/>
          </a:p>
        </p:txBody>
      </p:sp>
      <p:sp>
        <p:nvSpPr>
          <p:cNvPr id="12" name="Shape 10"/>
          <p:cNvSpPr/>
          <p:nvPr/>
        </p:nvSpPr>
        <p:spPr>
          <a:xfrm>
            <a:off x="850392" y="960120"/>
            <a:ext cx="11018520" cy="1170432"/>
          </a:xfrm>
          <a:prstGeom prst="rect">
            <a:avLst/>
          </a:prstGeom>
          <a:solidFill>
            <a:srgbClr val="F0FFF4"/>
          </a:solidFill>
          <a:ln w="12700">
            <a:solidFill>
              <a:srgbClr val="1B5E20"/>
            </a:solidFill>
            <a:prstDash val="solid"/>
          </a:ln>
        </p:spPr>
      </p:sp>
      <p:sp>
        <p:nvSpPr>
          <p:cNvPr id="13" name="Text 11"/>
          <p:cNvSpPr/>
          <p:nvPr/>
        </p:nvSpPr>
        <p:spPr>
          <a:xfrm>
            <a:off x="914400" y="996696"/>
            <a:ext cx="102412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BUILD TOKEN-ATTENTION GRAPH</a:t>
            </a:r>
            <a:endParaRPr lang="en-US" sz="1200" dirty="0"/>
          </a:p>
        </p:txBody>
      </p:sp>
      <p:sp>
        <p:nvSpPr>
          <p:cNvPr id="14" name="Text 12"/>
          <p:cNvSpPr/>
          <p:nvPr/>
        </p:nvSpPr>
        <p:spPr>
          <a:xfrm>
            <a:off x="914400" y="127101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full conversation context (up to 4,096 tokens) is modelled as a graph.</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Each word/token is a node. Each attention connection between words is an edge.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Strong connections = important relationships. Weak connections = noise.</a:t>
            </a:r>
            <a:endParaRPr lang="en-US" sz="1100" dirty="0"/>
          </a:p>
        </p:txBody>
      </p:sp>
      <p:sp>
        <p:nvSpPr>
          <p:cNvPr id="15" name="Shape 13"/>
          <p:cNvSpPr/>
          <p:nvPr/>
        </p:nvSpPr>
        <p:spPr>
          <a:xfrm>
            <a:off x="557784" y="2130552"/>
            <a:ext cx="0" cy="155448"/>
          </a:xfrm>
          <a:prstGeom prst="line">
            <a:avLst/>
          </a:prstGeom>
          <a:noFill/>
          <a:ln w="12700">
            <a:solidFill>
              <a:srgbClr val="1B5E20"/>
            </a:solidFill>
            <a:prstDash val="solid"/>
            <a:tailEnd type="arrow"/>
          </a:ln>
        </p:spPr>
      </p:sp>
      <p:sp>
        <p:nvSpPr>
          <p:cNvPr id="16" name="Shape 14"/>
          <p:cNvSpPr/>
          <p:nvPr/>
        </p:nvSpPr>
        <p:spPr>
          <a:xfrm>
            <a:off x="640080" y="2135124"/>
            <a:ext cx="420624" cy="146304"/>
          </a:xfrm>
          <a:prstGeom prst="rect">
            <a:avLst/>
          </a:prstGeom>
          <a:solidFill>
            <a:srgbClr val="C8402A"/>
          </a:solidFill>
          <a:ln w="12700">
            <a:solidFill>
              <a:srgbClr val="C8402A"/>
            </a:solidFill>
            <a:prstDash val="solid"/>
          </a:ln>
        </p:spPr>
      </p:sp>
      <p:sp>
        <p:nvSpPr>
          <p:cNvPr id="17" name="Text 15"/>
          <p:cNvSpPr/>
          <p:nvPr/>
        </p:nvSpPr>
        <p:spPr>
          <a:xfrm>
            <a:off x="640080" y="213512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14</a:t>
            </a:r>
            <a:endParaRPr lang="en-US" sz="900" dirty="0"/>
          </a:p>
        </p:txBody>
      </p:sp>
      <p:sp>
        <p:nvSpPr>
          <p:cNvPr id="18" name="Shape 16"/>
          <p:cNvSpPr/>
          <p:nvPr/>
        </p:nvSpPr>
        <p:spPr>
          <a:xfrm>
            <a:off x="320040" y="2286000"/>
            <a:ext cx="475488" cy="475488"/>
          </a:xfrm>
          <a:prstGeom prst="rect">
            <a:avLst/>
          </a:prstGeom>
          <a:solidFill>
            <a:srgbClr val="1565C0"/>
          </a:solidFill>
          <a:ln w="12700">
            <a:solidFill>
              <a:srgbClr val="1565C0"/>
            </a:solidFill>
            <a:prstDash val="solid"/>
          </a:ln>
        </p:spPr>
      </p:sp>
      <p:sp>
        <p:nvSpPr>
          <p:cNvPr id="19" name="Text 17"/>
          <p:cNvSpPr/>
          <p:nvPr/>
        </p:nvSpPr>
        <p:spPr>
          <a:xfrm>
            <a:off x="320040" y="230428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14</a:t>
            </a:r>
            <a:endParaRPr lang="en-US" sz="1800" dirty="0"/>
          </a:p>
        </p:txBody>
      </p:sp>
      <p:sp>
        <p:nvSpPr>
          <p:cNvPr id="20" name="Shape 18"/>
          <p:cNvSpPr/>
          <p:nvPr/>
        </p:nvSpPr>
        <p:spPr>
          <a:xfrm>
            <a:off x="850392" y="2286000"/>
            <a:ext cx="11018520" cy="1170432"/>
          </a:xfrm>
          <a:prstGeom prst="rect">
            <a:avLst/>
          </a:prstGeom>
          <a:solidFill>
            <a:srgbClr val="E3F0FF"/>
          </a:solidFill>
          <a:ln w="12700">
            <a:solidFill>
              <a:srgbClr val="1565C0"/>
            </a:solidFill>
            <a:prstDash val="solid"/>
          </a:ln>
        </p:spPr>
      </p:sp>
      <p:sp>
        <p:nvSpPr>
          <p:cNvPr id="21" name="Shape 19"/>
          <p:cNvSpPr/>
          <p:nvPr/>
        </p:nvSpPr>
        <p:spPr>
          <a:xfrm>
            <a:off x="11320272" y="2304288"/>
            <a:ext cx="530352" cy="237744"/>
          </a:xfrm>
          <a:prstGeom prst="rect">
            <a:avLst/>
          </a:prstGeom>
          <a:solidFill>
            <a:srgbClr val="1565C0"/>
          </a:solidFill>
          <a:ln w="12700">
            <a:solidFill>
              <a:srgbClr val="1565C0"/>
            </a:solidFill>
            <a:prstDash val="solid"/>
          </a:ln>
        </p:spPr>
      </p:sp>
      <p:sp>
        <p:nvSpPr>
          <p:cNvPr id="22" name="Text 20"/>
          <p:cNvSpPr/>
          <p:nvPr/>
        </p:nvSpPr>
        <p:spPr>
          <a:xfrm>
            <a:off x="11320272" y="2313432"/>
            <a:ext cx="53035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NOVEL</a:t>
            </a:r>
            <a:endParaRPr lang="en-US" sz="750" dirty="0"/>
          </a:p>
        </p:txBody>
      </p:sp>
      <p:sp>
        <p:nvSpPr>
          <p:cNvPr id="23" name="Text 21"/>
          <p:cNvSpPr/>
          <p:nvPr/>
        </p:nvSpPr>
        <p:spPr>
          <a:xfrm>
            <a:off x="914400" y="2322576"/>
            <a:ext cx="10241280" cy="274320"/>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FLOW CONDUCTANCE SCORING [NOVEL — Obj 4]</a:t>
            </a:r>
            <a:endParaRPr lang="en-US" sz="1200" dirty="0"/>
          </a:p>
        </p:txBody>
      </p:sp>
      <p:sp>
        <p:nvSpPr>
          <p:cNvPr id="24" name="Text 22"/>
          <p:cNvSpPr/>
          <p:nvPr/>
        </p:nvSpPr>
        <p:spPr>
          <a:xfrm>
            <a:off x="914400" y="259689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Inspired by electrical circuit analysis: tokens with high "conductance" (information flow) are important; low-conductance tokens are safe to remove.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The Kirchhoff Update Rule computes a score for every token.</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Citation anchors (tokens from data.gov.in source) are always pinned — never removed.</a:t>
            </a:r>
            <a:endParaRPr lang="en-US" sz="1100" dirty="0"/>
          </a:p>
        </p:txBody>
      </p:sp>
      <p:sp>
        <p:nvSpPr>
          <p:cNvPr id="25" name="Shape 23"/>
          <p:cNvSpPr/>
          <p:nvPr/>
        </p:nvSpPr>
        <p:spPr>
          <a:xfrm>
            <a:off x="557784" y="3456432"/>
            <a:ext cx="0" cy="155448"/>
          </a:xfrm>
          <a:prstGeom prst="line">
            <a:avLst/>
          </a:prstGeom>
          <a:noFill/>
          <a:ln w="12700">
            <a:solidFill>
              <a:srgbClr val="1565C0"/>
            </a:solidFill>
            <a:prstDash val="solid"/>
            <a:tailEnd type="arrow"/>
          </a:ln>
        </p:spPr>
      </p:sp>
      <p:sp>
        <p:nvSpPr>
          <p:cNvPr id="26" name="Shape 24"/>
          <p:cNvSpPr/>
          <p:nvPr/>
        </p:nvSpPr>
        <p:spPr>
          <a:xfrm>
            <a:off x="640080" y="3461004"/>
            <a:ext cx="420624" cy="146304"/>
          </a:xfrm>
          <a:prstGeom prst="rect">
            <a:avLst/>
          </a:prstGeom>
          <a:solidFill>
            <a:srgbClr val="C8402A"/>
          </a:solidFill>
          <a:ln w="12700">
            <a:solidFill>
              <a:srgbClr val="C8402A"/>
            </a:solidFill>
            <a:prstDash val="solid"/>
          </a:ln>
        </p:spPr>
      </p:sp>
      <p:sp>
        <p:nvSpPr>
          <p:cNvPr id="27" name="Text 25"/>
          <p:cNvSpPr/>
          <p:nvPr/>
        </p:nvSpPr>
        <p:spPr>
          <a:xfrm>
            <a:off x="640080" y="346100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15</a:t>
            </a:r>
            <a:endParaRPr lang="en-US" sz="900" dirty="0"/>
          </a:p>
        </p:txBody>
      </p:sp>
      <p:sp>
        <p:nvSpPr>
          <p:cNvPr id="28" name="Shape 26"/>
          <p:cNvSpPr/>
          <p:nvPr/>
        </p:nvSpPr>
        <p:spPr>
          <a:xfrm>
            <a:off x="320040" y="3611880"/>
            <a:ext cx="475488" cy="475488"/>
          </a:xfrm>
          <a:prstGeom prst="rect">
            <a:avLst/>
          </a:prstGeom>
          <a:solidFill>
            <a:srgbClr val="1B5E20"/>
          </a:solidFill>
          <a:ln w="12700">
            <a:solidFill>
              <a:srgbClr val="1B5E20"/>
            </a:solidFill>
            <a:prstDash val="solid"/>
          </a:ln>
        </p:spPr>
      </p:sp>
      <p:sp>
        <p:nvSpPr>
          <p:cNvPr id="29" name="Text 27"/>
          <p:cNvSpPr/>
          <p:nvPr/>
        </p:nvSpPr>
        <p:spPr>
          <a:xfrm>
            <a:off x="320040" y="363016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15</a:t>
            </a:r>
            <a:endParaRPr lang="en-US" sz="1800" dirty="0"/>
          </a:p>
        </p:txBody>
      </p:sp>
      <p:sp>
        <p:nvSpPr>
          <p:cNvPr id="30" name="Shape 28"/>
          <p:cNvSpPr/>
          <p:nvPr/>
        </p:nvSpPr>
        <p:spPr>
          <a:xfrm>
            <a:off x="850392" y="3611880"/>
            <a:ext cx="11018520" cy="1170432"/>
          </a:xfrm>
          <a:prstGeom prst="rect">
            <a:avLst/>
          </a:prstGeom>
          <a:solidFill>
            <a:srgbClr val="F0FFF4"/>
          </a:solidFill>
          <a:ln w="12700">
            <a:solidFill>
              <a:srgbClr val="1B5E20"/>
            </a:solidFill>
            <a:prstDash val="solid"/>
          </a:ln>
        </p:spPr>
      </p:sp>
      <p:sp>
        <p:nvSpPr>
          <p:cNvPr id="31" name="Text 29"/>
          <p:cNvSpPr/>
          <p:nvPr/>
        </p:nvSpPr>
        <p:spPr>
          <a:xfrm>
            <a:off x="914400" y="3648456"/>
            <a:ext cx="10241280" cy="274320"/>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PRUNE LOW-CONDUCTANCE TOKENS</a:t>
            </a:r>
            <a:endParaRPr lang="en-US" sz="1200" dirty="0"/>
          </a:p>
        </p:txBody>
      </p:sp>
      <p:sp>
        <p:nvSpPr>
          <p:cNvPr id="32" name="Text 30"/>
          <p:cNvSpPr/>
          <p:nvPr/>
        </p:nvSpPr>
        <p:spPr>
          <a:xfrm>
            <a:off x="914400" y="392277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Tokens scoring below the pruning threshold are evicted from the Key-Value (KV) cache.</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Result: context compressed from 100% → only 28% kept, while retaining all important information.</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This speeds up inference and reduces memory — with less than 1.2% accuracy loss.</a:t>
            </a:r>
            <a:endParaRPr lang="en-US" sz="1100" dirty="0"/>
          </a:p>
        </p:txBody>
      </p:sp>
      <p:sp>
        <p:nvSpPr>
          <p:cNvPr id="33" name="Shape 31"/>
          <p:cNvSpPr/>
          <p:nvPr/>
        </p:nvSpPr>
        <p:spPr>
          <a:xfrm>
            <a:off x="557784" y="4782312"/>
            <a:ext cx="0" cy="155448"/>
          </a:xfrm>
          <a:prstGeom prst="line">
            <a:avLst/>
          </a:prstGeom>
          <a:noFill/>
          <a:ln w="12700">
            <a:solidFill>
              <a:srgbClr val="1B5E20"/>
            </a:solidFill>
            <a:prstDash val="solid"/>
            <a:tailEnd type="arrow"/>
          </a:ln>
        </p:spPr>
      </p:sp>
      <p:sp>
        <p:nvSpPr>
          <p:cNvPr id="34" name="Shape 32"/>
          <p:cNvSpPr/>
          <p:nvPr/>
        </p:nvSpPr>
        <p:spPr>
          <a:xfrm>
            <a:off x="640080" y="4786884"/>
            <a:ext cx="420624" cy="146304"/>
          </a:xfrm>
          <a:prstGeom prst="rect">
            <a:avLst/>
          </a:prstGeom>
          <a:solidFill>
            <a:srgbClr val="C8402A"/>
          </a:solidFill>
          <a:ln w="12700">
            <a:solidFill>
              <a:srgbClr val="C8402A"/>
            </a:solidFill>
            <a:prstDash val="solid"/>
          </a:ln>
        </p:spPr>
      </p:sp>
      <p:sp>
        <p:nvSpPr>
          <p:cNvPr id="35" name="Text 33"/>
          <p:cNvSpPr/>
          <p:nvPr/>
        </p:nvSpPr>
        <p:spPr>
          <a:xfrm>
            <a:off x="640080" y="4786884"/>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16</a:t>
            </a:r>
            <a:endParaRPr lang="en-US" sz="900" dirty="0"/>
          </a:p>
        </p:txBody>
      </p:sp>
      <p:sp>
        <p:nvSpPr>
          <p:cNvPr id="36" name="Shape 34"/>
          <p:cNvSpPr/>
          <p:nvPr/>
        </p:nvSpPr>
        <p:spPr>
          <a:xfrm>
            <a:off x="320040" y="4937760"/>
            <a:ext cx="475488" cy="475488"/>
          </a:xfrm>
          <a:prstGeom prst="rect">
            <a:avLst/>
          </a:prstGeom>
          <a:solidFill>
            <a:srgbClr val="3C2864"/>
          </a:solidFill>
          <a:ln w="12700">
            <a:solidFill>
              <a:srgbClr val="3C2864"/>
            </a:solidFill>
            <a:prstDash val="solid"/>
          </a:ln>
        </p:spPr>
      </p:sp>
      <p:sp>
        <p:nvSpPr>
          <p:cNvPr id="37" name="Text 35"/>
          <p:cNvSpPr/>
          <p:nvPr/>
        </p:nvSpPr>
        <p:spPr>
          <a:xfrm>
            <a:off x="320040" y="4956048"/>
            <a:ext cx="475488"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16</a:t>
            </a:r>
            <a:endParaRPr lang="en-US" sz="1800" dirty="0"/>
          </a:p>
        </p:txBody>
      </p:sp>
      <p:sp>
        <p:nvSpPr>
          <p:cNvPr id="38" name="Shape 36"/>
          <p:cNvSpPr/>
          <p:nvPr/>
        </p:nvSpPr>
        <p:spPr>
          <a:xfrm>
            <a:off x="850392" y="4937760"/>
            <a:ext cx="11018520" cy="1170432"/>
          </a:xfrm>
          <a:prstGeom prst="rect">
            <a:avLst/>
          </a:prstGeom>
          <a:solidFill>
            <a:srgbClr val="F4F0FF"/>
          </a:solidFill>
          <a:ln w="12700">
            <a:solidFill>
              <a:srgbClr val="3C2864"/>
            </a:solidFill>
            <a:prstDash val="solid"/>
          </a:ln>
        </p:spPr>
      </p:sp>
      <p:sp>
        <p:nvSpPr>
          <p:cNvPr id="39" name="Text 37"/>
          <p:cNvSpPr/>
          <p:nvPr/>
        </p:nvSpPr>
        <p:spPr>
          <a:xfrm>
            <a:off x="914400" y="4974336"/>
            <a:ext cx="10241280" cy="274320"/>
          </a:xfrm>
          <a:prstGeom prst="rect">
            <a:avLst/>
          </a:prstGeom>
          <a:noFill/>
          <a:ln/>
        </p:spPr>
        <p:txBody>
          <a:bodyPr wrap="square" rtlCol="0" anchor="ctr"/>
          <a:lstStyle/>
          <a:p>
            <a:pPr indent="0" marL="0">
              <a:buNone/>
            </a:pPr>
            <a:r>
              <a:rPr lang="en-US" sz="1200" b="1" dirty="0">
                <a:solidFill>
                  <a:srgbClr val="3C2864"/>
                </a:solidFill>
                <a:latin typeface="Calibri" pitchFamily="34" charset="0"/>
                <a:ea typeface="Calibri" pitchFamily="34" charset="-122"/>
                <a:cs typeface="Calibri" pitchFamily="34" charset="-120"/>
              </a:rPr>
              <a:t>GENERATE + VERIFY FINAL RESPONSE</a:t>
            </a:r>
            <a:endParaRPr lang="en-US" sz="1200" dirty="0"/>
          </a:p>
        </p:txBody>
      </p:sp>
      <p:sp>
        <p:nvSpPr>
          <p:cNvPr id="40" name="Text 38"/>
          <p:cNvSpPr/>
          <p:nvPr/>
        </p:nvSpPr>
        <p:spPr>
          <a:xfrm>
            <a:off x="914400" y="5248656"/>
            <a:ext cx="10789920" cy="80467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The LLM now generates the final answer using only the pruned, high-quality context.</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Every fact is traced back to its source — data.gov.in is cited explicitly.</a:t>
            </a:r>
            <a:endParaRPr lang="en-US" sz="1100" dirty="0"/>
          </a:p>
          <a:p>
            <a:pPr indent="0" marL="0">
              <a:buNone/>
            </a:pPr>
            <a:r>
              <a:rPr lang="en-US" sz="1100" dirty="0">
                <a:solidFill>
                  <a:srgbClr val="1A1035"/>
                </a:solidFill>
                <a:latin typeface="Calibri" pitchFamily="34" charset="0"/>
                <a:ea typeface="Calibri" pitchFamily="34" charset="-122"/>
                <a:cs typeface="Calibri" pitchFamily="34" charset="-120"/>
              </a:rPr>
              <a:t>Farmer receives a verified, multilingual, source-attributed response. Throughput: +2% over baseline.</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Novelty Matrix — ACRS Contributions vs. State-of-the-Art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45</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Each Adaptive Context Reasoning System (ACRS) component addresses a specific unresolved gap not covered by any existing system. The matrix maps each objective to its gap, novel mechanism, and validated performance gain.</a:t>
            </a:r>
            <a:endParaRPr lang="en-US" sz="1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320040" y="886968"/>
          <a:ext cx="11548872" cy="5641848"/>
        </p:xfrm>
        <a:graphic>
          <a:graphicData uri="http://schemas.openxmlformats.org/drawingml/2006/table">
            <a:tbl>
              <a:tblPr/>
              <a:tblGrid>
                <a:gridCol w="1508760"/>
                <a:gridCol w="2194560"/>
                <a:gridCol w="2651760"/>
                <a:gridCol w="2194560"/>
                <a:gridCol w="2999232"/>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Unresolved Gap</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Novel Mechanism</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Closest Prior Work</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Validated Gain</a:t>
                      </a:r>
                      <a:endParaRPr lang="en-US" sz="12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2864"/>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1</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SessionRerank+</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E3A5F"/>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No session-context in tool reranking; stateless retrieval only</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Co-activation graph reranking with session-decay weighting (Obj 1)</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ToolBench (Qin et al., 2023); ToolLLM — no session state</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BEAFE"/>
                    </a:solidFill>
                  </a:tcPr>
                </a:tc>
                <a:tc>
                  <a:txBody>
                    <a:bodyPr/>
                    <a:lstStyle/>
                    <a:p>
                      <a:pPr indent="0" marL="0">
                        <a:buNone/>
                      </a:pPr>
                      <a:r>
                        <a:rPr lang="en-US" sz="1000" b="1" dirty="0">
                          <a:solidFill>
                            <a:srgbClr val="14532E"/>
                          </a:solidFill>
                          <a:latin typeface="Calibri" pitchFamily="34" charset="0"/>
                          <a:ea typeface="Calibri" pitchFamily="34" charset="-122"/>
                          <a:cs typeface="Calibri" pitchFamily="34" charset="-120"/>
                        </a:rPr>
                        <a:t>NDCG@5: 0.452 → 0.461 (+2% over SOTA baseline, p&lt;0.05)</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DCFCE7"/>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2</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APRR+CDR+PDR</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7C2D12"/>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Offline-trained fixed routing; no live RL weight update</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Online RL weight matrix (W) with CDR + PDR parallel dispatch (Obj 2)</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 Eagle (Zhao et al., 2024)</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FEDD5"/>
                    </a:solidFill>
                  </a:tcPr>
                </a:tc>
                <a:tc>
                  <a:txBody>
                    <a:bodyPr/>
                    <a:lstStyle/>
                    <a:p>
                      <a:pPr indent="0" marL="0">
                        <a:buNone/>
                      </a:pPr>
                      <a:r>
                        <a:rPr lang="en-US" sz="1000" b="1" dirty="0">
                          <a:solidFill>
                            <a:srgbClr val="7C2D12"/>
                          </a:solidFill>
                          <a:latin typeface="Calibri" pitchFamily="34" charset="0"/>
                          <a:ea typeface="Calibri" pitchFamily="34" charset="-122"/>
                          <a:cs typeface="Calibri" pitchFamily="34" charset="-120"/>
                        </a:rPr>
                        <a:t>Task success: +2% over best reported baseline; Latency within Service Level Agreement (SLA)</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EF9C3"/>
                    </a:solidFill>
                  </a:tcPr>
                </a:tc>
              </a:tr>
              <a:tr h="13075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3</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MNCD</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134E4A"/>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Single-agent LLM systems; no mesh fault tolerance or Borda consensus</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Gossip-protocol mesh + Borda consensus aggregator + R=3 replication (Obj 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AutoGen (Wu et al., 2023); no edge-weight mesh or Borda</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Context availability: 44% → 97%+ ; Fault tolerance: 0 → R=3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CCFBF1"/>
                    </a:solidFill>
                  </a:tcPr>
                </a:tc>
              </a:tr>
              <a:tr h="13167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 4</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FCNP</a:t>
                      </a:r>
                      <a:endParaRPr lang="en-US" sz="11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3C1361"/>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Fixed-size KV eviction; no live federated routing feedback</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Flow Conductance Update Rule + federated model update across agents (Obj 4)</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 Scissorhands (Liu et al., 2023)</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EDE9FE"/>
                    </a:solidFill>
                  </a:tcPr>
                </a:tc>
                <a:tc>
                  <a:txBody>
                    <a:bodyPr/>
                    <a:lstStyle/>
                    <a:p>
                      <a:pPr indent="0" marL="0">
                        <a:buNone/>
                      </a:pPr>
                      <a:r>
                        <a:rPr lang="en-US" sz="1000" b="1" dirty="0">
                          <a:solidFill>
                            <a:srgbClr val="3C1361"/>
                          </a:solidFill>
                          <a:latin typeface="Calibri" pitchFamily="34" charset="0"/>
                          <a:ea typeface="Calibri" pitchFamily="34" charset="-122"/>
                          <a:cs typeface="Calibri" pitchFamily="34" charset="-120"/>
                        </a:rPr>
                        <a:t>KV tokens: 100% → 28% kept; Throughput +2% over baseline; Acc. loss &lt;1.2%</a:t>
                      </a:r>
                      <a:endParaRPr lang="en-US" sz="1000" dirty="0">
                        <a:latin typeface="Calibri" charset="0"/>
                        <a:ea typeface="Calibri" charset="0"/>
                        <a:cs typeface="Calibri" charset="0"/>
                      </a:endParaRPr>
                    </a:p>
                  </a:txBody>
                  <a:tcPr marL="91440" marR="91440" marT="45720" marB="45720" anchor="ctr">
                    <a:lnL w="9525" cap="flat" cmpd="sng" algn="ctr">
                      <a:solidFill>
                        <a:srgbClr val="D0CAE8"/>
                      </a:solidFill>
                      <a:prstDash val="solid"/>
                      <a:round/>
                      <a:headEnd type="none" w="med" len="med"/>
                      <a:tailEnd type="none" w="med" len="med"/>
                    </a:lnL>
                    <a:lnR w="9525" cap="flat" cmpd="sng" algn="ctr">
                      <a:solidFill>
                        <a:srgbClr val="D0CAE8"/>
                      </a:solidFill>
                      <a:prstDash val="solid"/>
                      <a:round/>
                      <a:headEnd type="none" w="med" len="med"/>
                      <a:tailEnd type="none" w="med" len="med"/>
                    </a:lnR>
                    <a:lnT w="9525" cap="flat" cmpd="sng" algn="ctr">
                      <a:solidFill>
                        <a:srgbClr val="D0CAE8"/>
                      </a:solidFill>
                      <a:prstDash val="solid"/>
                      <a:round/>
                      <a:headEnd type="none" w="med" len="med"/>
                      <a:tailEnd type="none" w="med" len="med"/>
                    </a:lnT>
                    <a:lnB w="9525" cap="flat" cmpd="sng" algn="ctr">
                      <a:solidFill>
                        <a:srgbClr val="D0CAE8"/>
                      </a:solidFill>
                      <a:prstDash val="solid"/>
                      <a:round/>
                      <a:headEnd type="none" w="med" len="med"/>
                      <a:tailEnd type="none" w="med" len="med"/>
                    </a:lnB>
                    <a:solidFill>
                      <a:srgbClr val="F3E8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Feasibility Assessment &amp; Resources</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four objectives are computationally feasible within available institutional infrastructure. Year 1 pilot experiments validate the core mechanisms of each component.</a:t>
            </a:r>
            <a:endParaRPr lang="en-US" sz="1300" dirty="0"/>
          </a:p>
        </p:txBody>
      </p:sp>
      <p:sp>
        <p:nvSpPr>
          <p:cNvPr id="10" name="Shape 8"/>
          <p:cNvSpPr/>
          <p:nvPr/>
        </p:nvSpPr>
        <p:spPr>
          <a:xfrm>
            <a:off x="320040" y="987552"/>
            <a:ext cx="3794760" cy="5440680"/>
          </a:xfrm>
          <a:prstGeom prst="rect">
            <a:avLst/>
          </a:prstGeom>
          <a:solidFill>
            <a:srgbClr val="FFFFFF"/>
          </a:solidFill>
          <a:ln w="12700">
            <a:solidFill>
              <a:srgbClr val="3C2864"/>
            </a:solidFill>
            <a:prstDash val="solid"/>
          </a:ln>
        </p:spPr>
      </p:sp>
      <p:sp>
        <p:nvSpPr>
          <p:cNvPr id="11" name="Shape 9"/>
          <p:cNvSpPr/>
          <p:nvPr/>
        </p:nvSpPr>
        <p:spPr>
          <a:xfrm>
            <a:off x="320040" y="987552"/>
            <a:ext cx="3794760" cy="384048"/>
          </a:xfrm>
          <a:prstGeom prst="rect">
            <a:avLst/>
          </a:prstGeom>
          <a:solidFill>
            <a:srgbClr val="3C2864"/>
          </a:solidFill>
          <a:ln w="12700">
            <a:solidFill>
              <a:srgbClr val="3C2864"/>
            </a:solidFill>
            <a:prstDash val="solid"/>
          </a:ln>
        </p:spPr>
      </p:sp>
      <p:sp>
        <p:nvSpPr>
          <p:cNvPr id="12" name="Text 10"/>
          <p:cNvSpPr/>
          <p:nvPr/>
        </p:nvSpPr>
        <p:spPr>
          <a:xfrm>
            <a:off x="41148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Risk &amp; Mitigation</a:t>
            </a:r>
            <a:endParaRPr lang="en-US" sz="1300" dirty="0"/>
          </a:p>
        </p:txBody>
      </p:sp>
      <p:sp>
        <p:nvSpPr>
          <p:cNvPr id="13" name="Text 11"/>
          <p:cNvSpPr/>
          <p:nvPr/>
        </p:nvSpPr>
        <p:spPr>
          <a:xfrm>
            <a:off x="42976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GPU memory constraint for large multi-agent runs → Mitigation: LoRA + quantised inference (4-bit)</a:t>
            </a:r>
            <a:endParaRPr lang="en-US" sz="1200" dirty="0"/>
          </a:p>
        </p:txBody>
      </p:sp>
      <p:sp>
        <p:nvSpPr>
          <p:cNvPr id="14" name="Text 12"/>
          <p:cNvSpPr/>
          <p:nvPr/>
        </p:nvSpPr>
        <p:spPr>
          <a:xfrm>
            <a:off x="42976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ToolBench Application Programming Interface (API) deprecation → Mitigation: local API emulation server</a:t>
            </a:r>
            <a:endParaRPr lang="en-US" sz="1200" dirty="0"/>
          </a:p>
        </p:txBody>
      </p:sp>
      <p:sp>
        <p:nvSpPr>
          <p:cNvPr id="15" name="Text 13"/>
          <p:cNvSpPr/>
          <p:nvPr/>
        </p:nvSpPr>
        <p:spPr>
          <a:xfrm>
            <a:off x="42976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MNCD gossip convergence failure under high churn → Mitigation: bounded gossip fan-out + heartbeat</a:t>
            </a:r>
            <a:endParaRPr lang="en-US" sz="1200" dirty="0"/>
          </a:p>
        </p:txBody>
      </p:sp>
      <p:sp>
        <p:nvSpPr>
          <p:cNvPr id="16" name="Text 14"/>
          <p:cNvSpPr/>
          <p:nvPr/>
        </p:nvSpPr>
        <p:spPr>
          <a:xfrm>
            <a:off x="42976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Flow-Conductance-based Neural Pruning (FCNP) citation accuracy below 99% → Mitigation: citation-anchor pinning + rollback pruning</a:t>
            </a:r>
            <a:endParaRPr lang="en-US" sz="1200" dirty="0"/>
          </a:p>
        </p:txBody>
      </p:sp>
      <p:sp>
        <p:nvSpPr>
          <p:cNvPr id="17" name="Text 15"/>
          <p:cNvSpPr/>
          <p:nvPr/>
        </p:nvSpPr>
        <p:spPr>
          <a:xfrm>
            <a:off x="42976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data.gov.in API downtime → Mitigation: local cache of last 24h mandi feed</a:t>
            </a:r>
            <a:endParaRPr lang="en-US" sz="1200" dirty="0"/>
          </a:p>
        </p:txBody>
      </p:sp>
      <p:sp>
        <p:nvSpPr>
          <p:cNvPr id="18" name="Text 16"/>
          <p:cNvSpPr/>
          <p:nvPr/>
        </p:nvSpPr>
        <p:spPr>
          <a:xfrm>
            <a:off x="429768" y="501091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Risk: IndicTrans2 translation errors → Mitigation: confidence threshold + English fallback</a:t>
            </a:r>
            <a:endParaRPr lang="en-US" sz="1200" dirty="0"/>
          </a:p>
        </p:txBody>
      </p:sp>
      <p:sp>
        <p:nvSpPr>
          <p:cNvPr id="19" name="Shape 17"/>
          <p:cNvSpPr/>
          <p:nvPr/>
        </p:nvSpPr>
        <p:spPr>
          <a:xfrm>
            <a:off x="4297680" y="987552"/>
            <a:ext cx="3794760" cy="5440680"/>
          </a:xfrm>
          <a:prstGeom prst="rect">
            <a:avLst/>
          </a:prstGeom>
          <a:solidFill>
            <a:srgbClr val="FFFFFF"/>
          </a:solidFill>
          <a:ln w="12700">
            <a:solidFill>
              <a:srgbClr val="3C2864"/>
            </a:solidFill>
            <a:prstDash val="solid"/>
          </a:ln>
        </p:spPr>
      </p:sp>
      <p:sp>
        <p:nvSpPr>
          <p:cNvPr id="20" name="Shape 18"/>
          <p:cNvSpPr/>
          <p:nvPr/>
        </p:nvSpPr>
        <p:spPr>
          <a:xfrm>
            <a:off x="4297680" y="987552"/>
            <a:ext cx="3794760" cy="384048"/>
          </a:xfrm>
          <a:prstGeom prst="rect">
            <a:avLst/>
          </a:prstGeom>
          <a:solidFill>
            <a:srgbClr val="3C2864"/>
          </a:solidFill>
          <a:ln w="12700">
            <a:solidFill>
              <a:srgbClr val="3C2864"/>
            </a:solidFill>
            <a:prstDash val="solid"/>
          </a:ln>
        </p:spPr>
      </p:sp>
      <p:sp>
        <p:nvSpPr>
          <p:cNvPr id="21" name="Text 19"/>
          <p:cNvSpPr/>
          <p:nvPr/>
        </p:nvSpPr>
        <p:spPr>
          <a:xfrm>
            <a:off x="438912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Access</a:t>
            </a:r>
            <a:endParaRPr lang="en-US" sz="1300" dirty="0"/>
          </a:p>
        </p:txBody>
      </p:sp>
      <p:sp>
        <p:nvSpPr>
          <p:cNvPr id="22" name="Text 20"/>
          <p:cNvSpPr/>
          <p:nvPr/>
        </p:nvSpPr>
        <p:spPr>
          <a:xfrm>
            <a:off x="440740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data.gov.in: Open Government Data Platform India — live agriculture commodity price feeds</a:t>
            </a:r>
            <a:endParaRPr lang="en-US" sz="1200" dirty="0"/>
          </a:p>
        </p:txBody>
      </p:sp>
      <p:sp>
        <p:nvSpPr>
          <p:cNvPr id="23" name="Text 21"/>
          <p:cNvSpPr/>
          <p:nvPr/>
        </p:nvSpPr>
        <p:spPr>
          <a:xfrm>
            <a:off x="440740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API Token registered for academic research access (Resource ID: 9ef84268-...)</a:t>
            </a:r>
            <a:endParaRPr lang="en-US" sz="1200" dirty="0"/>
          </a:p>
        </p:txBody>
      </p:sp>
      <p:sp>
        <p:nvSpPr>
          <p:cNvPr id="24" name="Text 22"/>
          <p:cNvSpPr/>
          <p:nvPr/>
        </p:nvSpPr>
        <p:spPr>
          <a:xfrm>
            <a:off x="440740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ToolBench: 43,000 annotated APIs — publicly available for academic benchmarking</a:t>
            </a:r>
            <a:endParaRPr lang="en-US" sz="1200" dirty="0"/>
          </a:p>
        </p:txBody>
      </p:sp>
      <p:sp>
        <p:nvSpPr>
          <p:cNvPr id="25" name="Text 23"/>
          <p:cNvSpPr/>
          <p:nvPr/>
        </p:nvSpPr>
        <p:spPr>
          <a:xfrm>
            <a:off x="440740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HuggingFace Model Hub: Gemma-4, IndicTrans2 — open-access model weights</a:t>
            </a:r>
            <a:endParaRPr lang="en-US" sz="1200" dirty="0"/>
          </a:p>
        </p:txBody>
      </p:sp>
      <p:sp>
        <p:nvSpPr>
          <p:cNvPr id="26" name="Text 24"/>
          <p:cNvSpPr/>
          <p:nvPr/>
        </p:nvSpPr>
        <p:spPr>
          <a:xfrm>
            <a:off x="440740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No proprietary or restricted datasets used — all sources are open access</a:t>
            </a:r>
            <a:endParaRPr lang="en-US" sz="1200" dirty="0"/>
          </a:p>
        </p:txBody>
      </p:sp>
      <p:sp>
        <p:nvSpPr>
          <p:cNvPr id="27" name="Text 25"/>
          <p:cNvSpPr/>
          <p:nvPr/>
        </p:nvSpPr>
        <p:spPr>
          <a:xfrm>
            <a:off x="4407408" y="501091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No personally identifiable information processed — farmer queries are anonymised</a:t>
            </a:r>
            <a:endParaRPr lang="en-US" sz="1200" dirty="0"/>
          </a:p>
        </p:txBody>
      </p:sp>
      <p:sp>
        <p:nvSpPr>
          <p:cNvPr id="28" name="Shape 26"/>
          <p:cNvSpPr/>
          <p:nvPr/>
        </p:nvSpPr>
        <p:spPr>
          <a:xfrm>
            <a:off x="8275320" y="987552"/>
            <a:ext cx="3794760" cy="5440680"/>
          </a:xfrm>
          <a:prstGeom prst="rect">
            <a:avLst/>
          </a:prstGeom>
          <a:solidFill>
            <a:srgbClr val="FFFFFF"/>
          </a:solidFill>
          <a:ln w="12700">
            <a:solidFill>
              <a:srgbClr val="3C2864"/>
            </a:solidFill>
            <a:prstDash val="solid"/>
          </a:ln>
        </p:spPr>
      </p:sp>
      <p:sp>
        <p:nvSpPr>
          <p:cNvPr id="29" name="Shape 27"/>
          <p:cNvSpPr/>
          <p:nvPr/>
        </p:nvSpPr>
        <p:spPr>
          <a:xfrm>
            <a:off x="8275320" y="987552"/>
            <a:ext cx="3794760" cy="384048"/>
          </a:xfrm>
          <a:prstGeom prst="rect">
            <a:avLst/>
          </a:prstGeom>
          <a:solidFill>
            <a:srgbClr val="3C2864"/>
          </a:solidFill>
          <a:ln w="12700">
            <a:solidFill>
              <a:srgbClr val="3C2864"/>
            </a:solidFill>
            <a:prstDash val="solid"/>
          </a:ln>
        </p:spPr>
      </p:sp>
      <p:sp>
        <p:nvSpPr>
          <p:cNvPr id="30" name="Text 28"/>
          <p:cNvSpPr/>
          <p:nvPr/>
        </p:nvSpPr>
        <p:spPr>
          <a:xfrm>
            <a:off x="8366760" y="1005840"/>
            <a:ext cx="3611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Acknowledgement</a:t>
            </a:r>
            <a:endParaRPr lang="en-US" sz="1300" dirty="0"/>
          </a:p>
        </p:txBody>
      </p:sp>
      <p:sp>
        <p:nvSpPr>
          <p:cNvPr id="31" name="Text 29"/>
          <p:cNvSpPr/>
          <p:nvPr/>
        </p:nvSpPr>
        <p:spPr>
          <a:xfrm>
            <a:off x="8385048" y="1444752"/>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Data source: data.gov.in — Open Government Data (OGD) Platform India (Ministry of Electronics and Information Technology)</a:t>
            </a:r>
            <a:endParaRPr lang="en-US" sz="1200" dirty="0"/>
          </a:p>
        </p:txBody>
      </p:sp>
      <p:sp>
        <p:nvSpPr>
          <p:cNvPr id="32" name="Text 30"/>
          <p:cNvSpPr/>
          <p:nvPr/>
        </p:nvSpPr>
        <p:spPr>
          <a:xfrm>
            <a:off x="8385048" y="2157984"/>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Open-source tools: PyTorch, HuggingFace Transformers, FlashAttention-2, FAISS, Gradio, IndicTrans2 (AI4Bharat)</a:t>
            </a:r>
            <a:endParaRPr lang="en-US" sz="1200" dirty="0"/>
          </a:p>
        </p:txBody>
      </p:sp>
      <p:sp>
        <p:nvSpPr>
          <p:cNvPr id="33" name="Text 31"/>
          <p:cNvSpPr/>
          <p:nvPr/>
        </p:nvSpPr>
        <p:spPr>
          <a:xfrm>
            <a:off x="8385048" y="2871216"/>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Compute: Google Colab Pro+ (T4/A100), Kaggle Notebooks (P100/T4) — public academic compute platforms</a:t>
            </a:r>
            <a:endParaRPr lang="en-US" sz="1200" dirty="0"/>
          </a:p>
        </p:txBody>
      </p:sp>
      <p:sp>
        <p:nvSpPr>
          <p:cNvPr id="34" name="Text 32"/>
          <p:cNvSpPr/>
          <p:nvPr/>
        </p:nvSpPr>
        <p:spPr>
          <a:xfrm>
            <a:off x="8385048" y="3584448"/>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This research uses live data feeds from data.gov.in (Agriculture Catalogue) as the primary real-world data integration layer</a:t>
            </a:r>
            <a:endParaRPr lang="en-US" sz="1200" dirty="0"/>
          </a:p>
        </p:txBody>
      </p:sp>
      <p:sp>
        <p:nvSpPr>
          <p:cNvPr id="35" name="Text 33"/>
          <p:cNvSpPr/>
          <p:nvPr/>
        </p:nvSpPr>
        <p:spPr>
          <a:xfrm>
            <a:off x="8385048" y="4297680"/>
            <a:ext cx="3584448" cy="67665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All benchmark datasets (ToolBench 43K) and model weights are publicly available — no proprietary data used</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Ethics, Security &amp; Responsible AI</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47</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ACRS operates in production Large Language Model (LLM) inference environments. Ethical considerations span data privacy, adversarial robustness, and EU AI Act compliance.</a:t>
            </a:r>
            <a:endParaRPr lang="en-US" sz="1300" dirty="0"/>
          </a:p>
        </p:txBody>
      </p:sp>
      <p:sp>
        <p:nvSpPr>
          <p:cNvPr id="10" name="Shape 8"/>
          <p:cNvSpPr/>
          <p:nvPr/>
        </p:nvSpPr>
        <p:spPr>
          <a:xfrm>
            <a:off x="320040" y="1005840"/>
            <a:ext cx="5623560" cy="2450592"/>
          </a:xfrm>
          <a:prstGeom prst="rect">
            <a:avLst/>
          </a:prstGeom>
          <a:solidFill>
            <a:srgbClr val="FFFFFF"/>
          </a:solidFill>
          <a:ln w="12700">
            <a:solidFill>
              <a:srgbClr val="3C2864"/>
            </a:solidFill>
            <a:prstDash val="solid"/>
          </a:ln>
        </p:spPr>
      </p:sp>
      <p:sp>
        <p:nvSpPr>
          <p:cNvPr id="11" name="Shape 9"/>
          <p:cNvSpPr/>
          <p:nvPr/>
        </p:nvSpPr>
        <p:spPr>
          <a:xfrm>
            <a:off x="320040" y="1005840"/>
            <a:ext cx="502920" cy="502920"/>
          </a:xfrm>
          <a:prstGeom prst="rect">
            <a:avLst/>
          </a:prstGeom>
          <a:solidFill>
            <a:srgbClr val="C8402A"/>
          </a:solidFill>
          <a:ln w="12700">
            <a:solidFill>
              <a:srgbClr val="C8402A"/>
            </a:solidFill>
            <a:prstDash val="solid"/>
          </a:ln>
        </p:spPr>
      </p:sp>
      <p:sp>
        <p:nvSpPr>
          <p:cNvPr id="12" name="Text 10"/>
          <p:cNvSpPr/>
          <p:nvPr/>
        </p:nvSpPr>
        <p:spPr>
          <a:xfrm>
            <a:off x="338328" y="1097280"/>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E1</a:t>
            </a:r>
            <a:endParaRPr lang="en-US" sz="1300" dirty="0"/>
          </a:p>
        </p:txBody>
      </p:sp>
      <p:sp>
        <p:nvSpPr>
          <p:cNvPr id="13" name="Text 11"/>
          <p:cNvSpPr/>
          <p:nvPr/>
        </p:nvSpPr>
        <p:spPr>
          <a:xfrm>
            <a:off x="886968" y="1078992"/>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Prompt Injection &amp; Indirect Prompt Injection</a:t>
            </a:r>
            <a:endParaRPr lang="en-US" sz="1300" dirty="0"/>
          </a:p>
        </p:txBody>
      </p:sp>
      <p:sp>
        <p:nvSpPr>
          <p:cNvPr id="14" name="Text 12"/>
          <p:cNvSpPr/>
          <p:nvPr/>
        </p:nvSpPr>
        <p:spPr>
          <a:xfrm>
            <a:off x="429768" y="1481328"/>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Multi-agent systems are vulnerable to indirect prompt injection (Greshake et al., 2023; InjecAgent — Zhan et al., 2024). ACRS mitigates via: input sanitisation layer before SessionRerank+; routing guards in Context-Driven Routing (CDR) that flag anomalous CoT paths; MNCD context integrity hashes to detect tampered context propagation.</a:t>
            </a:r>
            <a:endParaRPr lang="en-US" sz="1200" dirty="0"/>
          </a:p>
        </p:txBody>
      </p:sp>
      <p:sp>
        <p:nvSpPr>
          <p:cNvPr id="15" name="Shape 13"/>
          <p:cNvSpPr/>
          <p:nvPr/>
        </p:nvSpPr>
        <p:spPr>
          <a:xfrm>
            <a:off x="6263640" y="1005840"/>
            <a:ext cx="5623560" cy="2450592"/>
          </a:xfrm>
          <a:prstGeom prst="rect">
            <a:avLst/>
          </a:prstGeom>
          <a:solidFill>
            <a:srgbClr val="FFFFFF"/>
          </a:solidFill>
          <a:ln w="12700">
            <a:solidFill>
              <a:srgbClr val="3C2864"/>
            </a:solidFill>
            <a:prstDash val="solid"/>
          </a:ln>
        </p:spPr>
      </p:sp>
      <p:sp>
        <p:nvSpPr>
          <p:cNvPr id="16" name="Shape 14"/>
          <p:cNvSpPr/>
          <p:nvPr/>
        </p:nvSpPr>
        <p:spPr>
          <a:xfrm>
            <a:off x="6263640" y="1005840"/>
            <a:ext cx="502920" cy="502920"/>
          </a:xfrm>
          <a:prstGeom prst="rect">
            <a:avLst/>
          </a:prstGeom>
          <a:solidFill>
            <a:srgbClr val="C8402A"/>
          </a:solidFill>
          <a:ln w="12700">
            <a:solidFill>
              <a:srgbClr val="C8402A"/>
            </a:solidFill>
            <a:prstDash val="solid"/>
          </a:ln>
        </p:spPr>
      </p:sp>
      <p:sp>
        <p:nvSpPr>
          <p:cNvPr id="17" name="Text 15"/>
          <p:cNvSpPr/>
          <p:nvPr/>
        </p:nvSpPr>
        <p:spPr>
          <a:xfrm>
            <a:off x="6281928" y="1097280"/>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E2</a:t>
            </a:r>
            <a:endParaRPr lang="en-US" sz="1300" dirty="0"/>
          </a:p>
        </p:txBody>
      </p:sp>
      <p:sp>
        <p:nvSpPr>
          <p:cNvPr id="18" name="Text 16"/>
          <p:cNvSpPr/>
          <p:nvPr/>
        </p:nvSpPr>
        <p:spPr>
          <a:xfrm>
            <a:off x="6830568" y="1078992"/>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Data Privacy &amp; Personally Identifiable Information (PII) Handling</a:t>
            </a:r>
            <a:endParaRPr lang="en-US" sz="1300" dirty="0"/>
          </a:p>
        </p:txBody>
      </p:sp>
      <p:sp>
        <p:nvSpPr>
          <p:cNvPr id="19" name="Text 17"/>
          <p:cNvSpPr/>
          <p:nvPr/>
        </p:nvSpPr>
        <p:spPr>
          <a:xfrm>
            <a:off x="6373368" y="1481328"/>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Session history stored in MNCD nodes may contain Personally Identifiable Information (PII). Mitigations: in-memory only context stores with TTL expiry; differential privacy noise injection on exported session features; IndicTrans2 translation sub-system processes Indian language inputs — no external API calls for user data.</a:t>
            </a:r>
            <a:endParaRPr lang="en-US" sz="1200" dirty="0"/>
          </a:p>
        </p:txBody>
      </p:sp>
      <p:sp>
        <p:nvSpPr>
          <p:cNvPr id="20" name="Shape 18"/>
          <p:cNvSpPr/>
          <p:nvPr/>
        </p:nvSpPr>
        <p:spPr>
          <a:xfrm>
            <a:off x="320040" y="3639312"/>
            <a:ext cx="5623560" cy="2450592"/>
          </a:xfrm>
          <a:prstGeom prst="rect">
            <a:avLst/>
          </a:prstGeom>
          <a:solidFill>
            <a:srgbClr val="FFFFFF"/>
          </a:solidFill>
          <a:ln w="12700">
            <a:solidFill>
              <a:srgbClr val="3C2864"/>
            </a:solidFill>
            <a:prstDash val="solid"/>
          </a:ln>
        </p:spPr>
      </p:sp>
      <p:sp>
        <p:nvSpPr>
          <p:cNvPr id="21" name="Shape 19"/>
          <p:cNvSpPr/>
          <p:nvPr/>
        </p:nvSpPr>
        <p:spPr>
          <a:xfrm>
            <a:off x="320040" y="3639312"/>
            <a:ext cx="502920" cy="502920"/>
          </a:xfrm>
          <a:prstGeom prst="rect">
            <a:avLst/>
          </a:prstGeom>
          <a:solidFill>
            <a:srgbClr val="C8402A"/>
          </a:solidFill>
          <a:ln w="12700">
            <a:solidFill>
              <a:srgbClr val="C8402A"/>
            </a:solidFill>
            <a:prstDash val="solid"/>
          </a:ln>
        </p:spPr>
      </p:sp>
      <p:sp>
        <p:nvSpPr>
          <p:cNvPr id="22" name="Text 20"/>
          <p:cNvSpPr/>
          <p:nvPr/>
        </p:nvSpPr>
        <p:spPr>
          <a:xfrm>
            <a:off x="338328" y="3730752"/>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E3</a:t>
            </a:r>
            <a:endParaRPr lang="en-US" sz="1300" dirty="0"/>
          </a:p>
        </p:txBody>
      </p:sp>
      <p:sp>
        <p:nvSpPr>
          <p:cNvPr id="23" name="Text 21"/>
          <p:cNvSpPr/>
          <p:nvPr/>
        </p:nvSpPr>
        <p:spPr>
          <a:xfrm>
            <a:off x="886968" y="3712464"/>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AI Act Compliance &amp; Trustworthiness</a:t>
            </a:r>
            <a:endParaRPr lang="en-US" sz="1300" dirty="0"/>
          </a:p>
        </p:txBody>
      </p:sp>
      <p:sp>
        <p:nvSpPr>
          <p:cNvPr id="24" name="Text 22"/>
          <p:cNvSpPr/>
          <p:nvPr/>
        </p:nvSpPr>
        <p:spPr>
          <a:xfrm>
            <a:off x="429768" y="4114800"/>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ACRS is a high-impact AI system (multi-agent decision making). EU AI Act Article 9 (Mittelstadt, 2023): risk management system documented. ACRS provides full routing decision logs (CDR chain-of-thought scores, APRR weight snapshots) for auditability. FCNP pruning decisions are reproducible from flow-score logs.</a:t>
            </a:r>
            <a:endParaRPr lang="en-US" sz="1200" dirty="0"/>
          </a:p>
        </p:txBody>
      </p:sp>
      <p:sp>
        <p:nvSpPr>
          <p:cNvPr id="25" name="Shape 23"/>
          <p:cNvSpPr/>
          <p:nvPr/>
        </p:nvSpPr>
        <p:spPr>
          <a:xfrm>
            <a:off x="6263640" y="3639312"/>
            <a:ext cx="5623560" cy="2450592"/>
          </a:xfrm>
          <a:prstGeom prst="rect">
            <a:avLst/>
          </a:prstGeom>
          <a:solidFill>
            <a:srgbClr val="FFFFFF"/>
          </a:solidFill>
          <a:ln w="12700">
            <a:solidFill>
              <a:srgbClr val="3C2864"/>
            </a:solidFill>
            <a:prstDash val="solid"/>
          </a:ln>
        </p:spPr>
      </p:sp>
      <p:sp>
        <p:nvSpPr>
          <p:cNvPr id="26" name="Shape 24"/>
          <p:cNvSpPr/>
          <p:nvPr/>
        </p:nvSpPr>
        <p:spPr>
          <a:xfrm>
            <a:off x="6263640" y="3639312"/>
            <a:ext cx="502920" cy="502920"/>
          </a:xfrm>
          <a:prstGeom prst="rect">
            <a:avLst/>
          </a:prstGeom>
          <a:solidFill>
            <a:srgbClr val="C8402A"/>
          </a:solidFill>
          <a:ln w="12700">
            <a:solidFill>
              <a:srgbClr val="C8402A"/>
            </a:solidFill>
            <a:prstDash val="solid"/>
          </a:ln>
        </p:spPr>
      </p:sp>
      <p:sp>
        <p:nvSpPr>
          <p:cNvPr id="27" name="Text 25"/>
          <p:cNvSpPr/>
          <p:nvPr/>
        </p:nvSpPr>
        <p:spPr>
          <a:xfrm>
            <a:off x="6281928" y="3730752"/>
            <a:ext cx="466344"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E4</a:t>
            </a:r>
            <a:endParaRPr lang="en-US" sz="1300" dirty="0"/>
          </a:p>
        </p:txBody>
      </p:sp>
      <p:sp>
        <p:nvSpPr>
          <p:cNvPr id="28" name="Text 26"/>
          <p:cNvSpPr/>
          <p:nvPr/>
        </p:nvSpPr>
        <p:spPr>
          <a:xfrm>
            <a:off x="6830568" y="3712464"/>
            <a:ext cx="5010912" cy="347472"/>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Multilingual Equity &amp; Bias Mitigation</a:t>
            </a:r>
            <a:endParaRPr lang="en-US" sz="1300" dirty="0"/>
          </a:p>
        </p:txBody>
      </p:sp>
      <p:sp>
        <p:nvSpPr>
          <p:cNvPr id="29" name="Text 27"/>
          <p:cNvSpPr/>
          <p:nvPr/>
        </p:nvSpPr>
        <p:spPr>
          <a:xfrm>
            <a:off x="6373368" y="4114800"/>
            <a:ext cx="5431536" cy="1920240"/>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IndicTrans2 (Gala et al., 2023) and IndicGenBench (Singh et al., 2024) evaluations ensure SessionRerank+ tool rankings do not degrade for Indic language queries. Routing decisions (APRR+CDR+PDR) evaluated for language-group fairness: no statistical routing penalty for Indic vs English queries (t-test, α=0.05).</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Methodology &amp; Research Timeline (3-Year PhD Schedule)</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48</a:t>
            </a:r>
            <a:endParaRPr lang="en-US" sz="1300" dirty="0"/>
          </a:p>
        </p:txBody>
      </p:sp>
      <p:sp>
        <p:nvSpPr>
          <p:cNvPr id="9" name="Text 7"/>
          <p:cNvSpPr/>
          <p:nvPr/>
        </p:nvSpPr>
        <p:spPr>
          <a:xfrm>
            <a:off x="320040" y="530352"/>
            <a:ext cx="11521440" cy="347472"/>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Structured 3-year programme with annual milestones, continuous experimental validation, and iterative benchmarking against published state-of-the-art.</a:t>
            </a:r>
            <a:endParaRPr lang="en-US" sz="1300" dirty="0"/>
          </a:p>
        </p:txBody>
      </p:sp>
      <p:sp>
        <p:nvSpPr>
          <p:cNvPr id="10" name="Shape 8"/>
          <p:cNvSpPr/>
          <p:nvPr/>
        </p:nvSpPr>
        <p:spPr>
          <a:xfrm>
            <a:off x="320040" y="1005840"/>
            <a:ext cx="3794760" cy="5468112"/>
          </a:xfrm>
          <a:prstGeom prst="rect">
            <a:avLst/>
          </a:prstGeom>
          <a:solidFill>
            <a:srgbClr val="FFFFFF"/>
          </a:solidFill>
          <a:ln w="12700">
            <a:solidFill>
              <a:srgbClr val="3C2864"/>
            </a:solidFill>
            <a:prstDash val="solid"/>
          </a:ln>
        </p:spPr>
      </p:sp>
      <p:sp>
        <p:nvSpPr>
          <p:cNvPr id="11" name="Shape 9"/>
          <p:cNvSpPr/>
          <p:nvPr/>
        </p:nvSpPr>
        <p:spPr>
          <a:xfrm>
            <a:off x="320040" y="1005840"/>
            <a:ext cx="3794760" cy="566928"/>
          </a:xfrm>
          <a:prstGeom prst="rect">
            <a:avLst/>
          </a:prstGeom>
          <a:solidFill>
            <a:srgbClr val="3C2864"/>
          </a:solidFill>
          <a:ln w="12700">
            <a:solidFill>
              <a:srgbClr val="3C2864"/>
            </a:solidFill>
            <a:prstDash val="solid"/>
          </a:ln>
        </p:spPr>
      </p:sp>
      <p:sp>
        <p:nvSpPr>
          <p:cNvPr id="12" name="Text 10"/>
          <p:cNvSpPr/>
          <p:nvPr/>
        </p:nvSpPr>
        <p:spPr>
          <a:xfrm>
            <a:off x="411480"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1</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(2024–25)</a:t>
            </a:r>
            <a:endParaRPr lang="en-US" sz="1300" dirty="0"/>
          </a:p>
        </p:txBody>
      </p:sp>
      <p:sp>
        <p:nvSpPr>
          <p:cNvPr id="13" name="Text 11"/>
          <p:cNvSpPr/>
          <p:nvPr/>
        </p:nvSpPr>
        <p:spPr>
          <a:xfrm>
            <a:off x="2103120"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Foundation &amp; Pilot</a:t>
            </a:r>
            <a:endParaRPr lang="en-US" sz="1300" dirty="0"/>
          </a:p>
        </p:txBody>
      </p:sp>
      <p:sp>
        <p:nvSpPr>
          <p:cNvPr id="14" name="Text 12"/>
          <p:cNvSpPr/>
          <p:nvPr/>
        </p:nvSpPr>
        <p:spPr>
          <a:xfrm>
            <a:off x="429768"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Literature review completion (55 papers catalogued)</a:t>
            </a:r>
            <a:endParaRPr lang="en-US" sz="1200" dirty="0"/>
          </a:p>
        </p:txBody>
      </p:sp>
      <p:sp>
        <p:nvSpPr>
          <p:cNvPr id="15" name="Text 13"/>
          <p:cNvSpPr/>
          <p:nvPr/>
        </p:nvSpPr>
        <p:spPr>
          <a:xfrm>
            <a:off x="429768"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ToolBench environment setup + baseline replication</a:t>
            </a:r>
            <a:endParaRPr lang="en-US" sz="1200" dirty="0"/>
          </a:p>
        </p:txBody>
      </p:sp>
      <p:sp>
        <p:nvSpPr>
          <p:cNvPr id="16" name="Text 14"/>
          <p:cNvSpPr/>
          <p:nvPr/>
        </p:nvSpPr>
        <p:spPr>
          <a:xfrm>
            <a:off x="429768"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SessionRerank+ pilot: NDCG@5 = 0.461 (Year 1 pilot, +2% over baseline)</a:t>
            </a:r>
            <a:endParaRPr lang="en-US" sz="1200" dirty="0"/>
          </a:p>
        </p:txBody>
      </p:sp>
      <p:sp>
        <p:nvSpPr>
          <p:cNvPr id="17" name="Text 15"/>
          <p:cNvSpPr/>
          <p:nvPr/>
        </p:nvSpPr>
        <p:spPr>
          <a:xfrm>
            <a:off x="429768"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APRR+CDR+PDR pilot: 47.0% success, 261ms latency</a:t>
            </a:r>
            <a:endParaRPr lang="en-US" sz="1200" dirty="0"/>
          </a:p>
        </p:txBody>
      </p:sp>
      <p:sp>
        <p:nvSpPr>
          <p:cNvPr id="18" name="Text 16"/>
          <p:cNvSpPr/>
          <p:nvPr/>
        </p:nvSpPr>
        <p:spPr>
          <a:xfrm>
            <a:off x="429768"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MNCD pilot: 97.5% / 97.0% availability (5-node)</a:t>
            </a:r>
            <a:endParaRPr lang="en-US" sz="1200" dirty="0"/>
          </a:p>
        </p:txBody>
      </p:sp>
      <p:sp>
        <p:nvSpPr>
          <p:cNvPr id="19" name="Text 17"/>
          <p:cNvSpPr/>
          <p:nvPr/>
        </p:nvSpPr>
        <p:spPr>
          <a:xfrm>
            <a:off x="429768"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PRP-1 submission (June 2026)</a:t>
            </a:r>
            <a:endParaRPr lang="en-US" sz="1200" dirty="0"/>
          </a:p>
        </p:txBody>
      </p:sp>
      <p:sp>
        <p:nvSpPr>
          <p:cNvPr id="20" name="Shape 18"/>
          <p:cNvSpPr/>
          <p:nvPr/>
        </p:nvSpPr>
        <p:spPr>
          <a:xfrm>
            <a:off x="320040" y="5961888"/>
            <a:ext cx="3794760" cy="502920"/>
          </a:xfrm>
          <a:prstGeom prst="rect">
            <a:avLst/>
          </a:prstGeom>
          <a:solidFill>
            <a:srgbClr val="C8402A"/>
          </a:solidFill>
          <a:ln w="12700">
            <a:solidFill>
              <a:srgbClr val="C8402A"/>
            </a:solidFill>
            <a:prstDash val="solid"/>
          </a:ln>
        </p:spPr>
      </p:sp>
      <p:sp>
        <p:nvSpPr>
          <p:cNvPr id="21" name="Text 19"/>
          <p:cNvSpPr/>
          <p:nvPr/>
        </p:nvSpPr>
        <p:spPr>
          <a:xfrm>
            <a:off x="411480"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PRP-1 Report + 4 pilot implementations</a:t>
            </a:r>
            <a:endParaRPr lang="en-US" sz="1200" dirty="0"/>
          </a:p>
        </p:txBody>
      </p:sp>
      <p:sp>
        <p:nvSpPr>
          <p:cNvPr id="22" name="Shape 20"/>
          <p:cNvSpPr/>
          <p:nvPr/>
        </p:nvSpPr>
        <p:spPr>
          <a:xfrm>
            <a:off x="4279392" y="1005840"/>
            <a:ext cx="3794760" cy="5468112"/>
          </a:xfrm>
          <a:prstGeom prst="rect">
            <a:avLst/>
          </a:prstGeom>
          <a:solidFill>
            <a:srgbClr val="FFFFFF"/>
          </a:solidFill>
          <a:ln w="12700">
            <a:solidFill>
              <a:srgbClr val="3C2864"/>
            </a:solidFill>
            <a:prstDash val="solid"/>
          </a:ln>
        </p:spPr>
      </p:sp>
      <p:sp>
        <p:nvSpPr>
          <p:cNvPr id="23" name="Shape 21"/>
          <p:cNvSpPr/>
          <p:nvPr/>
        </p:nvSpPr>
        <p:spPr>
          <a:xfrm>
            <a:off x="4279392" y="1005840"/>
            <a:ext cx="3794760" cy="566928"/>
          </a:xfrm>
          <a:prstGeom prst="rect">
            <a:avLst/>
          </a:prstGeom>
          <a:solidFill>
            <a:srgbClr val="3C2864"/>
          </a:solidFill>
          <a:ln w="12700">
            <a:solidFill>
              <a:srgbClr val="3C2864"/>
            </a:solidFill>
            <a:prstDash val="solid"/>
          </a:ln>
        </p:spPr>
      </p:sp>
      <p:sp>
        <p:nvSpPr>
          <p:cNvPr id="24" name="Text 22"/>
          <p:cNvSpPr/>
          <p:nvPr/>
        </p:nvSpPr>
        <p:spPr>
          <a:xfrm>
            <a:off x="4370832"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2</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(2025–26)</a:t>
            </a:r>
            <a:endParaRPr lang="en-US" sz="1300" dirty="0"/>
          </a:p>
        </p:txBody>
      </p:sp>
      <p:sp>
        <p:nvSpPr>
          <p:cNvPr id="25" name="Text 23"/>
          <p:cNvSpPr/>
          <p:nvPr/>
        </p:nvSpPr>
        <p:spPr>
          <a:xfrm>
            <a:off x="6062472"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Full System Development</a:t>
            </a:r>
            <a:endParaRPr lang="en-US" sz="1300" dirty="0"/>
          </a:p>
        </p:txBody>
      </p:sp>
      <p:sp>
        <p:nvSpPr>
          <p:cNvPr id="26" name="Text 24"/>
          <p:cNvSpPr/>
          <p:nvPr/>
        </p:nvSpPr>
        <p:spPr>
          <a:xfrm>
            <a:off x="4389120"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SessionRerank+ full implementation: NDCG@5 ≥ 0.52 target</a:t>
            </a:r>
            <a:endParaRPr lang="en-US" sz="1200" dirty="0"/>
          </a:p>
        </p:txBody>
      </p:sp>
      <p:sp>
        <p:nvSpPr>
          <p:cNvPr id="27" name="Text 25"/>
          <p:cNvSpPr/>
          <p:nvPr/>
        </p:nvSpPr>
        <p:spPr>
          <a:xfrm>
            <a:off x="4389120"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APRR+CDR+PDR production integration: ablation studies</a:t>
            </a:r>
            <a:endParaRPr lang="en-US" sz="1200" dirty="0"/>
          </a:p>
        </p:txBody>
      </p:sp>
      <p:sp>
        <p:nvSpPr>
          <p:cNvPr id="28" name="Text 26"/>
          <p:cNvSpPr/>
          <p:nvPr/>
        </p:nvSpPr>
        <p:spPr>
          <a:xfrm>
            <a:off x="4389120"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MNCD: scale to 10-node cluster, varying failure rates</a:t>
            </a:r>
            <a:endParaRPr lang="en-US" sz="1200" dirty="0"/>
          </a:p>
        </p:txBody>
      </p:sp>
      <p:sp>
        <p:nvSpPr>
          <p:cNvPr id="29" name="Text 27"/>
          <p:cNvSpPr/>
          <p:nvPr/>
        </p:nvSpPr>
        <p:spPr>
          <a:xfrm>
            <a:off x="4389120"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FCNP: citation-anchor algorithm finalised, 7-baseline comparison</a:t>
            </a:r>
            <a:endParaRPr lang="en-US" sz="1200" dirty="0"/>
          </a:p>
        </p:txBody>
      </p:sp>
      <p:sp>
        <p:nvSpPr>
          <p:cNvPr id="30" name="Text 28"/>
          <p:cNvSpPr/>
          <p:nvPr/>
        </p:nvSpPr>
        <p:spPr>
          <a:xfrm>
            <a:off x="4389120"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Multilingual evaluation: IndicTrans2 fairness testing</a:t>
            </a:r>
            <a:endParaRPr lang="en-US" sz="1200" dirty="0"/>
          </a:p>
        </p:txBody>
      </p:sp>
      <p:sp>
        <p:nvSpPr>
          <p:cNvPr id="31" name="Text 29"/>
          <p:cNvSpPr/>
          <p:nvPr/>
        </p:nvSpPr>
        <p:spPr>
          <a:xfrm>
            <a:off x="4389120"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First Journal/Conference paper submission (target: Year 2)</a:t>
            </a:r>
            <a:endParaRPr lang="en-US" sz="1200" dirty="0"/>
          </a:p>
        </p:txBody>
      </p:sp>
      <p:sp>
        <p:nvSpPr>
          <p:cNvPr id="32" name="Shape 30"/>
          <p:cNvSpPr/>
          <p:nvPr/>
        </p:nvSpPr>
        <p:spPr>
          <a:xfrm>
            <a:off x="4279392" y="5961888"/>
            <a:ext cx="3794760" cy="502920"/>
          </a:xfrm>
          <a:prstGeom prst="rect">
            <a:avLst/>
          </a:prstGeom>
          <a:solidFill>
            <a:srgbClr val="C8402A"/>
          </a:solidFill>
          <a:ln w="12700">
            <a:solidFill>
              <a:srgbClr val="C8402A"/>
            </a:solidFill>
            <a:prstDash val="solid"/>
          </a:ln>
        </p:spPr>
      </p:sp>
      <p:sp>
        <p:nvSpPr>
          <p:cNvPr id="33" name="Text 31"/>
          <p:cNvSpPr/>
          <p:nvPr/>
        </p:nvSpPr>
        <p:spPr>
          <a:xfrm>
            <a:off x="4370832"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Journal/Conference paper + full system v1.0</a:t>
            </a:r>
            <a:endParaRPr lang="en-US" sz="1200" dirty="0"/>
          </a:p>
        </p:txBody>
      </p:sp>
      <p:sp>
        <p:nvSpPr>
          <p:cNvPr id="34" name="Shape 32"/>
          <p:cNvSpPr/>
          <p:nvPr/>
        </p:nvSpPr>
        <p:spPr>
          <a:xfrm>
            <a:off x="8238744" y="1005840"/>
            <a:ext cx="3794760" cy="5468112"/>
          </a:xfrm>
          <a:prstGeom prst="rect">
            <a:avLst/>
          </a:prstGeom>
          <a:solidFill>
            <a:srgbClr val="FFFFFF"/>
          </a:solidFill>
          <a:ln w="12700">
            <a:solidFill>
              <a:srgbClr val="3C2864"/>
            </a:solidFill>
            <a:prstDash val="solid"/>
          </a:ln>
        </p:spPr>
      </p:sp>
      <p:sp>
        <p:nvSpPr>
          <p:cNvPr id="35" name="Shape 33"/>
          <p:cNvSpPr/>
          <p:nvPr/>
        </p:nvSpPr>
        <p:spPr>
          <a:xfrm>
            <a:off x="8238744" y="1005840"/>
            <a:ext cx="3794760" cy="566928"/>
          </a:xfrm>
          <a:prstGeom prst="rect">
            <a:avLst/>
          </a:prstGeom>
          <a:solidFill>
            <a:srgbClr val="3C2864"/>
          </a:solidFill>
          <a:ln w="12700">
            <a:solidFill>
              <a:srgbClr val="3C2864"/>
            </a:solidFill>
            <a:prstDash val="solid"/>
          </a:ln>
        </p:spPr>
      </p:sp>
      <p:sp>
        <p:nvSpPr>
          <p:cNvPr id="36" name="Text 34"/>
          <p:cNvSpPr/>
          <p:nvPr/>
        </p:nvSpPr>
        <p:spPr>
          <a:xfrm>
            <a:off x="8330184" y="1014984"/>
            <a:ext cx="1828800" cy="548640"/>
          </a:xfrm>
          <a:prstGeom prst="rect">
            <a:avLst/>
          </a:prstGeom>
          <a:noFill/>
          <a:ln/>
        </p:spPr>
        <p:txBody>
          <a:bodyPr wrap="square" rtlCol="0" anchor="ctr"/>
          <a:lstStyle/>
          <a:p>
            <a:pPr indent="0" marL="0">
              <a:buNone/>
            </a:pPr>
            <a:r>
              <a:rPr lang="en-US" sz="1300" b="1" dirty="0">
                <a:solidFill>
                  <a:srgbClr val="C8402A"/>
                </a:solidFill>
                <a:latin typeface="Calibri" pitchFamily="34" charset="0"/>
                <a:ea typeface="Calibri" pitchFamily="34" charset="-122"/>
                <a:cs typeface="Calibri" pitchFamily="34" charset="-120"/>
              </a:rPr>
              <a:t>Year 3</a:t>
            </a:r>
            <a:endParaRPr lang="en-US" sz="1300" dirty="0"/>
          </a:p>
          <a:p>
            <a:pPr indent="0" marL="0">
              <a:buNone/>
            </a:pPr>
            <a:r>
              <a:rPr lang="en-US" sz="1300" b="1" dirty="0">
                <a:solidFill>
                  <a:srgbClr val="C8402A"/>
                </a:solidFill>
                <a:latin typeface="Calibri" pitchFamily="34" charset="0"/>
                <a:ea typeface="Calibri" pitchFamily="34" charset="-122"/>
                <a:cs typeface="Calibri" pitchFamily="34" charset="-120"/>
              </a:rPr>
              <a:t>(2026–27)</a:t>
            </a:r>
            <a:endParaRPr lang="en-US" sz="1300" dirty="0"/>
          </a:p>
        </p:txBody>
      </p:sp>
      <p:sp>
        <p:nvSpPr>
          <p:cNvPr id="37" name="Text 35"/>
          <p:cNvSpPr/>
          <p:nvPr/>
        </p:nvSpPr>
        <p:spPr>
          <a:xfrm>
            <a:off x="10021824" y="1078992"/>
            <a:ext cx="1920240" cy="42062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Evaluation &amp; Thesis</a:t>
            </a:r>
            <a:endParaRPr lang="en-US" sz="1300" dirty="0"/>
          </a:p>
        </p:txBody>
      </p:sp>
      <p:sp>
        <p:nvSpPr>
          <p:cNvPr id="38" name="Text 36"/>
          <p:cNvSpPr/>
          <p:nvPr/>
        </p:nvSpPr>
        <p:spPr>
          <a:xfrm>
            <a:off x="8348472" y="164592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Full 30-scenario end-to-end ACRS evaluation</a:t>
            </a:r>
            <a:endParaRPr lang="en-US" sz="1200" dirty="0"/>
          </a:p>
        </p:txBody>
      </p:sp>
      <p:sp>
        <p:nvSpPr>
          <p:cNvPr id="39" name="Text 37"/>
          <p:cNvSpPr/>
          <p:nvPr/>
        </p:nvSpPr>
        <p:spPr>
          <a:xfrm>
            <a:off x="8348472" y="2267712"/>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Wilcoxon significance tests across all 4 objectives</a:t>
            </a:r>
            <a:endParaRPr lang="en-US" sz="1200" dirty="0"/>
          </a:p>
        </p:txBody>
      </p:sp>
      <p:sp>
        <p:nvSpPr>
          <p:cNvPr id="40" name="Text 38"/>
          <p:cNvSpPr/>
          <p:nvPr/>
        </p:nvSpPr>
        <p:spPr>
          <a:xfrm>
            <a:off x="8348472" y="2889504"/>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Ethics &amp; AI Act compliance documentation</a:t>
            </a:r>
            <a:endParaRPr lang="en-US" sz="1200" dirty="0"/>
          </a:p>
        </p:txBody>
      </p:sp>
      <p:sp>
        <p:nvSpPr>
          <p:cNvPr id="41" name="Text 39"/>
          <p:cNvSpPr/>
          <p:nvPr/>
        </p:nvSpPr>
        <p:spPr>
          <a:xfrm>
            <a:off x="8348472" y="3511296"/>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Journal/Conference paper submission (second paper)</a:t>
            </a:r>
            <a:endParaRPr lang="en-US" sz="1200" dirty="0"/>
          </a:p>
        </p:txBody>
      </p:sp>
      <p:sp>
        <p:nvSpPr>
          <p:cNvPr id="42" name="Text 40"/>
          <p:cNvSpPr/>
          <p:nvPr/>
        </p:nvSpPr>
        <p:spPr>
          <a:xfrm>
            <a:off x="8348472" y="4133088"/>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Thesis writing and internal review</a:t>
            </a:r>
            <a:endParaRPr lang="en-US" sz="1200" dirty="0"/>
          </a:p>
        </p:txBody>
      </p:sp>
      <p:sp>
        <p:nvSpPr>
          <p:cNvPr id="43" name="Text 41"/>
          <p:cNvSpPr/>
          <p:nvPr/>
        </p:nvSpPr>
        <p:spPr>
          <a:xfrm>
            <a:off x="8348472" y="4754880"/>
            <a:ext cx="3593592" cy="585216"/>
          </a:xfrm>
          <a:prstGeom prst="rect">
            <a:avLst/>
          </a:prstGeom>
          <a:noFill/>
          <a:ln/>
        </p:spPr>
        <p:txBody>
          <a:bodyPr wrap="square" rtlCol="0" anchor="t"/>
          <a:lstStyle/>
          <a:p>
            <a:pPr indent="0" marL="0">
              <a:buNone/>
            </a:pPr>
            <a:r>
              <a:rPr lang="en-US" sz="1200" dirty="0">
                <a:solidFill>
                  <a:srgbClr val="1A1035"/>
                </a:solidFill>
                <a:latin typeface="Calibri" pitchFamily="34" charset="0"/>
                <a:ea typeface="Calibri" pitchFamily="34" charset="-122"/>
                <a:cs typeface="Calibri" pitchFamily="34" charset="-120"/>
              </a:rPr>
              <a:t>• Thesis submission and viva preparation</a:t>
            </a:r>
            <a:endParaRPr lang="en-US" sz="1200" dirty="0"/>
          </a:p>
        </p:txBody>
      </p:sp>
      <p:sp>
        <p:nvSpPr>
          <p:cNvPr id="44" name="Shape 42"/>
          <p:cNvSpPr/>
          <p:nvPr/>
        </p:nvSpPr>
        <p:spPr>
          <a:xfrm>
            <a:off x="8238744" y="5961888"/>
            <a:ext cx="3794760" cy="502920"/>
          </a:xfrm>
          <a:prstGeom prst="rect">
            <a:avLst/>
          </a:prstGeom>
          <a:solidFill>
            <a:srgbClr val="C8402A"/>
          </a:solidFill>
          <a:ln w="12700">
            <a:solidFill>
              <a:srgbClr val="C8402A"/>
            </a:solidFill>
            <a:prstDash val="solid"/>
          </a:ln>
        </p:spPr>
      </p:sp>
      <p:sp>
        <p:nvSpPr>
          <p:cNvPr id="45" name="Text 43"/>
          <p:cNvSpPr/>
          <p:nvPr/>
        </p:nvSpPr>
        <p:spPr>
          <a:xfrm>
            <a:off x="8330184" y="5980176"/>
            <a:ext cx="36118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Journal/Conference paper + PhD Thesis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64008"/>
            <a:ext cx="11612880" cy="329184"/>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Conclusion — Adaptive Context Reasoning System (ACRS) PhD Research Proposal</a:t>
            </a:r>
            <a:endParaRPr lang="en-US" sz="1700" dirty="0"/>
          </a:p>
        </p:txBody>
      </p:sp>
      <p:sp>
        <p:nvSpPr>
          <p:cNvPr id="5" name="Text 3"/>
          <p:cNvSpPr/>
          <p:nvPr/>
        </p:nvSpPr>
        <p:spPr>
          <a:xfrm>
            <a:off x="457200" y="594360"/>
            <a:ext cx="11274552" cy="457200"/>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Adaptive Context Reasoning System (ACRS) presents a unified framework addressing four independent, unresolved gaps in multi-agent Large Language Model (LLM) inference:</a:t>
            </a:r>
            <a:endParaRPr lang="en-US" sz="1400" dirty="0"/>
          </a:p>
        </p:txBody>
      </p:sp>
      <p:sp>
        <p:nvSpPr>
          <p:cNvPr id="6" name="Shape 4"/>
          <p:cNvSpPr/>
          <p:nvPr/>
        </p:nvSpPr>
        <p:spPr>
          <a:xfrm>
            <a:off x="457200" y="1188720"/>
            <a:ext cx="457200" cy="457200"/>
          </a:xfrm>
          <a:prstGeom prst="rect">
            <a:avLst/>
          </a:prstGeom>
          <a:solidFill>
            <a:srgbClr val="C8402A"/>
          </a:solidFill>
          <a:ln w="12700">
            <a:solidFill>
              <a:srgbClr val="C8402A"/>
            </a:solidFill>
            <a:prstDash val="solid"/>
          </a:ln>
        </p:spPr>
      </p:sp>
      <p:sp>
        <p:nvSpPr>
          <p:cNvPr id="7" name="Text 5"/>
          <p:cNvSpPr/>
          <p:nvPr/>
        </p:nvSpPr>
        <p:spPr>
          <a:xfrm>
            <a:off x="457200" y="1243584"/>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05840" y="1207008"/>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SessionRerank+</a:t>
            </a:r>
            <a:endParaRPr lang="en-US" sz="1400" dirty="0"/>
          </a:p>
        </p:txBody>
      </p:sp>
      <p:sp>
        <p:nvSpPr>
          <p:cNvPr id="9" name="Text 7"/>
          <p:cNvSpPr/>
          <p:nvPr/>
        </p:nvSpPr>
        <p:spPr>
          <a:xfrm>
            <a:off x="3108960" y="1207008"/>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Session-aware tool reranking: NDCG@5 ≥ 0.461 (+2% over dense retrieval baseline, p&lt;0.05) on 43,000 real-world APIs</a:t>
            </a:r>
            <a:endParaRPr lang="en-US" sz="1300" dirty="0"/>
          </a:p>
        </p:txBody>
      </p:sp>
      <p:sp>
        <p:nvSpPr>
          <p:cNvPr id="10" name="Shape 8"/>
          <p:cNvSpPr/>
          <p:nvPr/>
        </p:nvSpPr>
        <p:spPr>
          <a:xfrm>
            <a:off x="457200" y="2304288"/>
            <a:ext cx="457200" cy="457200"/>
          </a:xfrm>
          <a:prstGeom prst="rect">
            <a:avLst/>
          </a:prstGeom>
          <a:solidFill>
            <a:srgbClr val="C8402A"/>
          </a:solidFill>
          <a:ln w="12700">
            <a:solidFill>
              <a:srgbClr val="C8402A"/>
            </a:solidFill>
            <a:prstDash val="solid"/>
          </a:ln>
        </p:spPr>
      </p:sp>
      <p:sp>
        <p:nvSpPr>
          <p:cNvPr id="11" name="Text 9"/>
          <p:cNvSpPr/>
          <p:nvPr/>
        </p:nvSpPr>
        <p:spPr>
          <a:xfrm>
            <a:off x="457200" y="2359152"/>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05840" y="2322576"/>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APRR+CDR+PDR</a:t>
            </a:r>
            <a:endParaRPr lang="en-US" sz="1400" dirty="0"/>
          </a:p>
        </p:txBody>
      </p:sp>
      <p:sp>
        <p:nvSpPr>
          <p:cNvPr id="13" name="Text 11"/>
          <p:cNvSpPr/>
          <p:nvPr/>
        </p:nvSpPr>
        <p:spPr>
          <a:xfrm>
            <a:off x="3108960" y="2322576"/>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Online Reinforcement Learning (RL) adaptive routing: ≥47% task success, ≤265ms latency, +2% routing improvement over static baseline</a:t>
            </a:r>
            <a:endParaRPr lang="en-US" sz="1300" dirty="0"/>
          </a:p>
        </p:txBody>
      </p:sp>
      <p:sp>
        <p:nvSpPr>
          <p:cNvPr id="14" name="Shape 12"/>
          <p:cNvSpPr/>
          <p:nvPr/>
        </p:nvSpPr>
        <p:spPr>
          <a:xfrm>
            <a:off x="457200" y="3419856"/>
            <a:ext cx="457200" cy="457200"/>
          </a:xfrm>
          <a:prstGeom prst="rect">
            <a:avLst/>
          </a:prstGeom>
          <a:solidFill>
            <a:srgbClr val="C8402A"/>
          </a:solidFill>
          <a:ln w="12700">
            <a:solidFill>
              <a:srgbClr val="C8402A"/>
            </a:solidFill>
            <a:prstDash val="solid"/>
          </a:ln>
        </p:spPr>
      </p:sp>
      <p:sp>
        <p:nvSpPr>
          <p:cNvPr id="15" name="Text 13"/>
          <p:cNvSpPr/>
          <p:nvPr/>
        </p:nvSpPr>
        <p:spPr>
          <a:xfrm>
            <a:off x="457200" y="3474720"/>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005840" y="3438144"/>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MNCD</a:t>
            </a:r>
            <a:endParaRPr lang="en-US" sz="1400" dirty="0"/>
          </a:p>
        </p:txBody>
      </p:sp>
      <p:sp>
        <p:nvSpPr>
          <p:cNvPr id="17" name="Text 15"/>
          <p:cNvSpPr/>
          <p:nvPr/>
        </p:nvSpPr>
        <p:spPr>
          <a:xfrm>
            <a:off x="3108960" y="3438144"/>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Decentralised context distribution: ≥97% context availability under 2-of-5 node failures, O(log N) propagation</a:t>
            </a:r>
            <a:endParaRPr lang="en-US" sz="1300" dirty="0"/>
          </a:p>
        </p:txBody>
      </p:sp>
      <p:sp>
        <p:nvSpPr>
          <p:cNvPr id="18" name="Shape 16"/>
          <p:cNvSpPr/>
          <p:nvPr/>
        </p:nvSpPr>
        <p:spPr>
          <a:xfrm>
            <a:off x="457200" y="4535424"/>
            <a:ext cx="457200" cy="457200"/>
          </a:xfrm>
          <a:prstGeom prst="rect">
            <a:avLst/>
          </a:prstGeom>
          <a:solidFill>
            <a:srgbClr val="C8402A"/>
          </a:solidFill>
          <a:ln w="12700">
            <a:solidFill>
              <a:srgbClr val="C8402A"/>
            </a:solidFill>
            <a:prstDash val="solid"/>
          </a:ln>
        </p:spPr>
      </p:sp>
      <p:sp>
        <p:nvSpPr>
          <p:cNvPr id="19" name="Text 17"/>
          <p:cNvSpPr/>
          <p:nvPr/>
        </p:nvSpPr>
        <p:spPr>
          <a:xfrm>
            <a:off x="457200" y="4590288"/>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005840" y="4553712"/>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FCNP</a:t>
            </a:r>
            <a:endParaRPr lang="en-US" sz="1400" dirty="0"/>
          </a:p>
        </p:txBody>
      </p:sp>
      <p:sp>
        <p:nvSpPr>
          <p:cNvPr id="21" name="Text 19"/>
          <p:cNvSpPr/>
          <p:nvPr/>
        </p:nvSpPr>
        <p:spPr>
          <a:xfrm>
            <a:off x="3108960" y="4553712"/>
            <a:ext cx="8595360" cy="621792"/>
          </a:xfrm>
          <a:prstGeom prst="rect">
            <a:avLst/>
          </a:prstGeom>
          <a:noFill/>
          <a:ln/>
        </p:spPr>
        <p:txBody>
          <a:bodyPr wrap="square" rtlCol="0" anchor="ctr"/>
          <a:lstStyle/>
          <a:p>
            <a:pPr indent="0" marL="0">
              <a:buNone/>
            </a:pPr>
            <a:r>
              <a:rPr lang="en-US" sz="1300" dirty="0">
                <a:solidFill>
                  <a:srgbClr val="1A1035"/>
                </a:solidFill>
                <a:latin typeface="Calibri" pitchFamily="34" charset="0"/>
                <a:ea typeface="Calibri" pitchFamily="34" charset="-122"/>
                <a:cs typeface="Calibri" pitchFamily="34" charset="-120"/>
              </a:rPr>
              <a:t>Flow-Conductance-based Neural Pruning (FCNP): 10:1 context compression, ≥99% citation accuracy, Wilcoxon p&lt;0.05 vs 7 baselines</a:t>
            </a:r>
            <a:endParaRPr lang="en-US" sz="1300" dirty="0"/>
          </a:p>
        </p:txBody>
      </p:sp>
      <p:sp>
        <p:nvSpPr>
          <p:cNvPr id="22" name="Shape 20"/>
          <p:cNvSpPr/>
          <p:nvPr/>
        </p:nvSpPr>
        <p:spPr>
          <a:xfrm>
            <a:off x="457200" y="5715000"/>
            <a:ext cx="11274552" cy="0"/>
          </a:xfrm>
          <a:prstGeom prst="line">
            <a:avLst/>
          </a:prstGeom>
          <a:noFill/>
          <a:ln w="12700">
            <a:solidFill>
              <a:srgbClr val="C8402A"/>
            </a:solidFill>
            <a:prstDash val="solid"/>
          </a:ln>
        </p:spPr>
      </p:sp>
      <p:sp>
        <p:nvSpPr>
          <p:cNvPr id="23" name="Text 21"/>
          <p:cNvSpPr/>
          <p:nvPr/>
        </p:nvSpPr>
        <p:spPr>
          <a:xfrm>
            <a:off x="457200" y="5806440"/>
            <a:ext cx="11274552" cy="502920"/>
          </a:xfrm>
          <a:prstGeom prst="rect">
            <a:avLst/>
          </a:prstGeom>
          <a:noFill/>
          <a:ln/>
        </p:spPr>
        <p:txBody>
          <a:bodyPr wrap="square" rtlCol="0" anchor="ctr"/>
          <a:lstStyle/>
          <a:p>
            <a:pPr algn="ctr" indent="0" marL="0">
              <a:buNone/>
            </a:pPr>
            <a:r>
              <a:rPr lang="en-US" sz="1300" i="1" dirty="0">
                <a:solidFill>
                  <a:srgbClr val="3C2864"/>
                </a:solidFill>
                <a:latin typeface="Calibri" pitchFamily="34" charset="0"/>
                <a:ea typeface="Calibri" pitchFamily="34" charset="-122"/>
                <a:cs typeface="Calibri" pitchFamily="34" charset="-120"/>
              </a:rPr>
              <a:t>Together, these four components form a production-validated, ethically compliant, and statistically rigorous system for the next generation of multi-agent Large Language Model (LLM) inference infrastructure.</a:t>
            </a:r>
            <a:endParaRPr lang="en-US" sz="1300" dirty="0"/>
          </a:p>
        </p:txBody>
      </p:sp>
      <p:sp>
        <p:nvSpPr>
          <p:cNvPr id="24" name="Shape 22"/>
          <p:cNvSpPr/>
          <p:nvPr/>
        </p:nvSpPr>
        <p:spPr>
          <a:xfrm>
            <a:off x="0" y="6583680"/>
            <a:ext cx="12188952" cy="274320"/>
          </a:xfrm>
          <a:prstGeom prst="rect">
            <a:avLst/>
          </a:prstGeom>
          <a:solidFill>
            <a:srgbClr val="C8402A"/>
          </a:solidFill>
          <a:ln w="12700">
            <a:solidFill>
              <a:srgbClr val="C8402A"/>
            </a:solidFill>
            <a:prstDash val="solid"/>
          </a:ln>
        </p:spPr>
      </p:sp>
      <p:sp>
        <p:nvSpPr>
          <p:cNvPr id="25" name="Shape 23"/>
          <p:cNvSpPr/>
          <p:nvPr/>
        </p:nvSpPr>
        <p:spPr>
          <a:xfrm>
            <a:off x="11274552" y="6583680"/>
            <a:ext cx="914400" cy="274320"/>
          </a:xfrm>
          <a:prstGeom prst="rect">
            <a:avLst/>
          </a:prstGeom>
          <a:solidFill>
            <a:srgbClr val="3C2864"/>
          </a:solidFill>
          <a:ln w="12700">
            <a:solidFill>
              <a:srgbClr val="3C2864"/>
            </a:solidFill>
            <a:prstDash val="solid"/>
          </a:ln>
        </p:spPr>
      </p:sp>
      <p:sp>
        <p:nvSpPr>
          <p:cNvPr id="26" name="Text 24"/>
          <p:cNvSpPr/>
          <p:nvPr/>
        </p:nvSpPr>
        <p:spPr>
          <a:xfrm>
            <a:off x="182880" y="6601968"/>
            <a:ext cx="10972800" cy="237744"/>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27" name="Text 25"/>
          <p:cNvSpPr/>
          <p:nvPr/>
        </p:nvSpPr>
        <p:spPr>
          <a:xfrm>
            <a:off x="11274552" y="6601968"/>
            <a:ext cx="9144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ACRS End-to-End Integration — ToolBench, data.gov.in &amp; HuggingFace Deployment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a:t>
            </a:r>
            <a:endParaRPr lang="en-US" sz="1300" dirty="0"/>
          </a:p>
        </p:txBody>
      </p:sp>
      <p:sp>
        <p:nvSpPr>
          <p:cNvPr id="9" name="Text 7"/>
          <p:cNvSpPr/>
          <p:nvPr/>
        </p:nvSpPr>
        <p:spPr>
          <a:xfrm>
            <a:off x="320040" y="530352"/>
            <a:ext cx="11521440" cy="292608"/>
          </a:xfrm>
          <a:prstGeom prst="rect">
            <a:avLst/>
          </a:prstGeom>
          <a:noFill/>
          <a:ln/>
        </p:spPr>
        <p:txBody>
          <a:bodyPr wrap="square" rtlCol="0" anchor="ctr"/>
          <a:lstStyle/>
          <a:p>
            <a:pPr indent="0" marL="0">
              <a:buNone/>
            </a:pPr>
            <a:r>
              <a:rPr lang="en-US" sz="1200" i="1" dirty="0">
                <a:solidFill>
                  <a:srgbClr val="3C2864"/>
                </a:solidFill>
                <a:latin typeface="Calibri" pitchFamily="34" charset="0"/>
                <a:ea typeface="Calibri" pitchFamily="34" charset="-122"/>
                <a:cs typeface="Calibri" pitchFamily="34" charset="-120"/>
              </a:rPr>
              <a:t>All four objectives operate on a shared ToolBench dataset and live data.gov.in agriculture feeds — deployed as a unified HuggingFace (HF) Spaces demo.</a:t>
            </a:r>
            <a:endParaRPr lang="en-US" sz="1200" dirty="0"/>
          </a:p>
        </p:txBody>
      </p:sp>
      <p:sp>
        <p:nvSpPr>
          <p:cNvPr id="10" name="Shape 8"/>
          <p:cNvSpPr/>
          <p:nvPr/>
        </p:nvSpPr>
        <p:spPr>
          <a:xfrm>
            <a:off x="320040" y="896112"/>
            <a:ext cx="11548872" cy="502920"/>
          </a:xfrm>
          <a:prstGeom prst="rect">
            <a:avLst/>
          </a:prstGeom>
          <a:solidFill>
            <a:srgbClr val="1A237E"/>
          </a:solidFill>
          <a:ln w="12700">
            <a:solidFill>
              <a:srgbClr val="1A237E"/>
            </a:solidFill>
            <a:prstDash val="solid"/>
          </a:ln>
        </p:spPr>
      </p:sp>
      <p:sp>
        <p:nvSpPr>
          <p:cNvPr id="11" name="Text 9"/>
          <p:cNvSpPr/>
          <p:nvPr/>
        </p:nvSpPr>
        <p:spPr>
          <a:xfrm>
            <a:off x="365760" y="932688"/>
            <a:ext cx="9144000"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SHARED INPUT: ToolBench (43,000 Application Programming Interfaces (APIs)) + data.gov.in Live Feeds</a:t>
            </a:r>
            <a:endParaRPr lang="en-US" sz="1200" dirty="0"/>
          </a:p>
        </p:txBody>
      </p:sp>
      <p:sp>
        <p:nvSpPr>
          <p:cNvPr id="12" name="Shape 10"/>
          <p:cNvSpPr/>
          <p:nvPr/>
        </p:nvSpPr>
        <p:spPr>
          <a:xfrm>
            <a:off x="320040" y="1472184"/>
            <a:ext cx="3749040" cy="749808"/>
          </a:xfrm>
          <a:prstGeom prst="rect">
            <a:avLst/>
          </a:prstGeom>
          <a:solidFill>
            <a:srgbClr val="E8F5E9"/>
          </a:solidFill>
          <a:ln w="12700">
            <a:solidFill>
              <a:srgbClr val="2E7D32"/>
            </a:solidFill>
            <a:prstDash val="solid"/>
          </a:ln>
        </p:spPr>
      </p:sp>
      <p:sp>
        <p:nvSpPr>
          <p:cNvPr id="13" name="Text 11"/>
          <p:cNvSpPr/>
          <p:nvPr/>
        </p:nvSpPr>
        <p:spPr>
          <a:xfrm>
            <a:off x="411480"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Mandi Prices</a:t>
            </a:r>
            <a:endParaRPr lang="en-US" sz="1100" dirty="0"/>
          </a:p>
        </p:txBody>
      </p:sp>
      <p:sp>
        <p:nvSpPr>
          <p:cNvPr id="14" name="Text 12"/>
          <p:cNvSpPr/>
          <p:nvPr/>
        </p:nvSpPr>
        <p:spPr>
          <a:xfrm>
            <a:off x="411480"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9ef84268-d588-465a-a308-a864a43d0070</a:t>
            </a:r>
            <a:endParaRPr lang="en-US" sz="800" dirty="0"/>
          </a:p>
        </p:txBody>
      </p:sp>
      <p:sp>
        <p:nvSpPr>
          <p:cNvPr id="15" name="Text 13"/>
          <p:cNvSpPr/>
          <p:nvPr/>
        </p:nvSpPr>
        <p:spPr>
          <a:xfrm>
            <a:off x="411480"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modal_price, arrival_date</a:t>
            </a:r>
            <a:endParaRPr lang="en-US" sz="900" dirty="0"/>
          </a:p>
        </p:txBody>
      </p:sp>
      <p:sp>
        <p:nvSpPr>
          <p:cNvPr id="16" name="Shape 14"/>
          <p:cNvSpPr/>
          <p:nvPr/>
        </p:nvSpPr>
        <p:spPr>
          <a:xfrm>
            <a:off x="4242816" y="1472184"/>
            <a:ext cx="3749040" cy="749808"/>
          </a:xfrm>
          <a:prstGeom prst="rect">
            <a:avLst/>
          </a:prstGeom>
          <a:solidFill>
            <a:srgbClr val="E8F5E9"/>
          </a:solidFill>
          <a:ln w="12700">
            <a:solidFill>
              <a:srgbClr val="2E7D32"/>
            </a:solidFill>
            <a:prstDash val="solid"/>
          </a:ln>
        </p:spPr>
      </p:sp>
      <p:sp>
        <p:nvSpPr>
          <p:cNvPr id="17" name="Text 15"/>
          <p:cNvSpPr/>
          <p:nvPr/>
        </p:nvSpPr>
        <p:spPr>
          <a:xfrm>
            <a:off x="4334256"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Crop Arrivals</a:t>
            </a:r>
            <a:endParaRPr lang="en-US" sz="1100" dirty="0"/>
          </a:p>
        </p:txBody>
      </p:sp>
      <p:sp>
        <p:nvSpPr>
          <p:cNvPr id="18" name="Text 16"/>
          <p:cNvSpPr/>
          <p:nvPr/>
        </p:nvSpPr>
        <p:spPr>
          <a:xfrm>
            <a:off x="4334256"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35985678-0d79-46b4-9ed6-6f13308a1d24</a:t>
            </a:r>
            <a:endParaRPr lang="en-US" sz="800" dirty="0"/>
          </a:p>
        </p:txBody>
      </p:sp>
      <p:sp>
        <p:nvSpPr>
          <p:cNvPr id="19" name="Text 17"/>
          <p:cNvSpPr/>
          <p:nvPr/>
        </p:nvSpPr>
        <p:spPr>
          <a:xfrm>
            <a:off x="4334256"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Market, Modal_Price</a:t>
            </a:r>
            <a:endParaRPr lang="en-US" sz="900" dirty="0"/>
          </a:p>
        </p:txBody>
      </p:sp>
      <p:sp>
        <p:nvSpPr>
          <p:cNvPr id="20" name="Shape 18"/>
          <p:cNvSpPr/>
          <p:nvPr/>
        </p:nvSpPr>
        <p:spPr>
          <a:xfrm>
            <a:off x="8165592" y="1472184"/>
            <a:ext cx="3749040" cy="749808"/>
          </a:xfrm>
          <a:prstGeom prst="rect">
            <a:avLst/>
          </a:prstGeom>
          <a:solidFill>
            <a:srgbClr val="E3F2FD"/>
          </a:solidFill>
          <a:ln w="12700">
            <a:solidFill>
              <a:srgbClr val="1565C0"/>
            </a:solidFill>
            <a:prstDash val="solid"/>
          </a:ln>
        </p:spPr>
      </p:sp>
      <p:sp>
        <p:nvSpPr>
          <p:cNvPr id="21" name="Text 19"/>
          <p:cNvSpPr/>
          <p:nvPr/>
        </p:nvSpPr>
        <p:spPr>
          <a:xfrm>
            <a:off x="8257032" y="1499616"/>
            <a:ext cx="3566160" cy="201168"/>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STATIC  ToolBench APIs</a:t>
            </a:r>
            <a:endParaRPr lang="en-US" sz="1100" dirty="0"/>
          </a:p>
        </p:txBody>
      </p:sp>
      <p:sp>
        <p:nvSpPr>
          <p:cNvPr id="22" name="Text 20"/>
          <p:cNvSpPr/>
          <p:nvPr/>
        </p:nvSpPr>
        <p:spPr>
          <a:xfrm>
            <a:off x="8257032"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Qin et al. 2024 — 43K APIs</a:t>
            </a:r>
            <a:endParaRPr lang="en-US" sz="800" dirty="0"/>
          </a:p>
        </p:txBody>
      </p:sp>
      <p:sp>
        <p:nvSpPr>
          <p:cNvPr id="23" name="Text 21"/>
          <p:cNvSpPr/>
          <p:nvPr/>
        </p:nvSpPr>
        <p:spPr>
          <a:xfrm>
            <a:off x="8257032"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tool_name, api_endpoint, category, description</a:t>
            </a:r>
            <a:endParaRPr lang="en-US" sz="900" dirty="0"/>
          </a:p>
        </p:txBody>
      </p:sp>
      <p:sp>
        <p:nvSpPr>
          <p:cNvPr id="24" name="Shape 22"/>
          <p:cNvSpPr/>
          <p:nvPr/>
        </p:nvSpPr>
        <p:spPr>
          <a:xfrm>
            <a:off x="320040" y="2331720"/>
            <a:ext cx="2816352" cy="2011680"/>
          </a:xfrm>
          <a:prstGeom prst="rect">
            <a:avLst/>
          </a:prstGeom>
          <a:solidFill>
            <a:srgbClr val="E3F2FD"/>
          </a:solidFill>
          <a:ln w="12700">
            <a:solidFill>
              <a:srgbClr val="1565C0"/>
            </a:solidFill>
            <a:prstDash val="solid"/>
          </a:ln>
        </p:spPr>
      </p:sp>
      <p:sp>
        <p:nvSpPr>
          <p:cNvPr id="25" name="Shape 23"/>
          <p:cNvSpPr/>
          <p:nvPr/>
        </p:nvSpPr>
        <p:spPr>
          <a:xfrm>
            <a:off x="320040" y="2331720"/>
            <a:ext cx="2816352" cy="347472"/>
          </a:xfrm>
          <a:prstGeom prst="rect">
            <a:avLst/>
          </a:prstGeom>
          <a:solidFill>
            <a:srgbClr val="1565C0"/>
          </a:solidFill>
          <a:ln w="12700">
            <a:solidFill>
              <a:srgbClr val="1565C0"/>
            </a:solidFill>
            <a:prstDash val="solid"/>
          </a:ln>
        </p:spPr>
      </p:sp>
      <p:sp>
        <p:nvSpPr>
          <p:cNvPr id="26" name="Text 24"/>
          <p:cNvSpPr/>
          <p:nvPr/>
        </p:nvSpPr>
        <p:spPr>
          <a:xfrm>
            <a:off x="393192"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1 — SessionRerank+</a:t>
            </a:r>
            <a:endParaRPr lang="en-US" sz="1050" dirty="0"/>
          </a:p>
        </p:txBody>
      </p:sp>
      <p:sp>
        <p:nvSpPr>
          <p:cNvPr id="27" name="Text 25"/>
          <p:cNvSpPr/>
          <p:nvPr/>
        </p:nvSpPr>
        <p:spPr>
          <a:xfrm>
            <a:off x="411480"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Reranks ToolBench APIs using co-activation graph + session history. Selects Top-K APIs for current farmer query.</a:t>
            </a:r>
            <a:endParaRPr lang="en-US" sz="1000" dirty="0"/>
          </a:p>
        </p:txBody>
      </p:sp>
      <p:sp>
        <p:nvSpPr>
          <p:cNvPr id="28" name="Shape 26"/>
          <p:cNvSpPr/>
          <p:nvPr/>
        </p:nvSpPr>
        <p:spPr>
          <a:xfrm>
            <a:off x="3154680" y="3246120"/>
            <a:ext cx="109728" cy="0"/>
          </a:xfrm>
          <a:prstGeom prst="line">
            <a:avLst/>
          </a:prstGeom>
          <a:noFill/>
          <a:ln w="12700">
            <a:solidFill>
              <a:srgbClr val="3C2864"/>
            </a:solidFill>
            <a:prstDash val="solid"/>
            <a:tailEnd type="arrow"/>
          </a:ln>
        </p:spPr>
      </p:sp>
      <p:sp>
        <p:nvSpPr>
          <p:cNvPr id="29" name="Shape 27"/>
          <p:cNvSpPr/>
          <p:nvPr/>
        </p:nvSpPr>
        <p:spPr>
          <a:xfrm>
            <a:off x="3282696" y="2331720"/>
            <a:ext cx="2816352" cy="2011680"/>
          </a:xfrm>
          <a:prstGeom prst="rect">
            <a:avLst/>
          </a:prstGeom>
          <a:solidFill>
            <a:srgbClr val="FFF3E0"/>
          </a:solidFill>
          <a:ln w="12700">
            <a:solidFill>
              <a:srgbClr val="E65100"/>
            </a:solidFill>
            <a:prstDash val="solid"/>
          </a:ln>
        </p:spPr>
      </p:sp>
      <p:sp>
        <p:nvSpPr>
          <p:cNvPr id="30" name="Shape 28"/>
          <p:cNvSpPr/>
          <p:nvPr/>
        </p:nvSpPr>
        <p:spPr>
          <a:xfrm>
            <a:off x="3282696" y="2331720"/>
            <a:ext cx="2816352" cy="347472"/>
          </a:xfrm>
          <a:prstGeom prst="rect">
            <a:avLst/>
          </a:prstGeom>
          <a:solidFill>
            <a:srgbClr val="E65100"/>
          </a:solidFill>
          <a:ln w="12700">
            <a:solidFill>
              <a:srgbClr val="E65100"/>
            </a:solidFill>
            <a:prstDash val="solid"/>
          </a:ln>
        </p:spPr>
      </p:sp>
      <p:sp>
        <p:nvSpPr>
          <p:cNvPr id="31" name="Text 29"/>
          <p:cNvSpPr/>
          <p:nvPr/>
        </p:nvSpPr>
        <p:spPr>
          <a:xfrm>
            <a:off x="3355848"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2 — APRR+CDR+PDR</a:t>
            </a:r>
            <a:endParaRPr lang="en-US" sz="1050" dirty="0"/>
          </a:p>
        </p:txBody>
      </p:sp>
      <p:sp>
        <p:nvSpPr>
          <p:cNvPr id="32" name="Text 30"/>
          <p:cNvSpPr/>
          <p:nvPr/>
        </p:nvSpPr>
        <p:spPr>
          <a:xfrm>
            <a:off x="3374136"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Routes query to specialist agents using RL weight matrix W, updated by mandi price signal.</a:t>
            </a:r>
            <a:endParaRPr lang="en-US" sz="1000" dirty="0"/>
          </a:p>
        </p:txBody>
      </p:sp>
      <p:sp>
        <p:nvSpPr>
          <p:cNvPr id="33" name="Shape 31"/>
          <p:cNvSpPr/>
          <p:nvPr/>
        </p:nvSpPr>
        <p:spPr>
          <a:xfrm>
            <a:off x="6117336" y="3246120"/>
            <a:ext cx="109728" cy="0"/>
          </a:xfrm>
          <a:prstGeom prst="line">
            <a:avLst/>
          </a:prstGeom>
          <a:noFill/>
          <a:ln w="12700">
            <a:solidFill>
              <a:srgbClr val="3C2864"/>
            </a:solidFill>
            <a:prstDash val="solid"/>
            <a:tailEnd type="arrow"/>
          </a:ln>
        </p:spPr>
      </p:sp>
      <p:sp>
        <p:nvSpPr>
          <p:cNvPr id="34" name="Shape 32"/>
          <p:cNvSpPr/>
          <p:nvPr/>
        </p:nvSpPr>
        <p:spPr>
          <a:xfrm>
            <a:off x="6245352" y="2331720"/>
            <a:ext cx="2816352" cy="2011680"/>
          </a:xfrm>
          <a:prstGeom prst="rect">
            <a:avLst/>
          </a:prstGeom>
          <a:solidFill>
            <a:srgbClr val="E8F5E9"/>
          </a:solidFill>
          <a:ln w="12700">
            <a:solidFill>
              <a:srgbClr val="2E7D32"/>
            </a:solidFill>
            <a:prstDash val="solid"/>
          </a:ln>
        </p:spPr>
      </p:sp>
      <p:sp>
        <p:nvSpPr>
          <p:cNvPr id="35" name="Shape 33"/>
          <p:cNvSpPr/>
          <p:nvPr/>
        </p:nvSpPr>
        <p:spPr>
          <a:xfrm>
            <a:off x="6245352" y="2331720"/>
            <a:ext cx="2816352" cy="347472"/>
          </a:xfrm>
          <a:prstGeom prst="rect">
            <a:avLst/>
          </a:prstGeom>
          <a:solidFill>
            <a:srgbClr val="2E7D32"/>
          </a:solidFill>
          <a:ln w="12700">
            <a:solidFill>
              <a:srgbClr val="2E7D32"/>
            </a:solidFill>
            <a:prstDash val="solid"/>
          </a:ln>
        </p:spPr>
      </p:sp>
      <p:sp>
        <p:nvSpPr>
          <p:cNvPr id="36" name="Text 34"/>
          <p:cNvSpPr/>
          <p:nvPr/>
        </p:nvSpPr>
        <p:spPr>
          <a:xfrm>
            <a:off x="6318504"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3 — MNCD</a:t>
            </a:r>
            <a:endParaRPr lang="en-US" sz="1050" dirty="0"/>
          </a:p>
        </p:txBody>
      </p:sp>
      <p:sp>
        <p:nvSpPr>
          <p:cNvPr id="37" name="Text 35"/>
          <p:cNvSpPr/>
          <p:nvPr/>
        </p:nvSpPr>
        <p:spPr>
          <a:xfrm>
            <a:off x="6336792"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Distributes context across agent mesh via gossip protocol. Borda consensus over live data.gov.in responses.</a:t>
            </a:r>
            <a:endParaRPr lang="en-US" sz="1000" dirty="0"/>
          </a:p>
        </p:txBody>
      </p:sp>
      <p:sp>
        <p:nvSpPr>
          <p:cNvPr id="38" name="Shape 36"/>
          <p:cNvSpPr/>
          <p:nvPr/>
        </p:nvSpPr>
        <p:spPr>
          <a:xfrm>
            <a:off x="9079992" y="3246120"/>
            <a:ext cx="109728" cy="0"/>
          </a:xfrm>
          <a:prstGeom prst="line">
            <a:avLst/>
          </a:prstGeom>
          <a:noFill/>
          <a:ln w="12700">
            <a:solidFill>
              <a:srgbClr val="3C2864"/>
            </a:solidFill>
            <a:prstDash val="solid"/>
            <a:tailEnd type="arrow"/>
          </a:ln>
        </p:spPr>
      </p:sp>
      <p:sp>
        <p:nvSpPr>
          <p:cNvPr id="39" name="Shape 37"/>
          <p:cNvSpPr/>
          <p:nvPr/>
        </p:nvSpPr>
        <p:spPr>
          <a:xfrm>
            <a:off x="9208008" y="2331720"/>
            <a:ext cx="2816352" cy="2011680"/>
          </a:xfrm>
          <a:prstGeom prst="rect">
            <a:avLst/>
          </a:prstGeom>
          <a:solidFill>
            <a:srgbClr val="F3E5F5"/>
          </a:solidFill>
          <a:ln w="12700">
            <a:solidFill>
              <a:srgbClr val="6A0080"/>
            </a:solidFill>
            <a:prstDash val="solid"/>
          </a:ln>
        </p:spPr>
      </p:sp>
      <p:sp>
        <p:nvSpPr>
          <p:cNvPr id="40" name="Shape 38"/>
          <p:cNvSpPr/>
          <p:nvPr/>
        </p:nvSpPr>
        <p:spPr>
          <a:xfrm>
            <a:off x="9208008" y="2331720"/>
            <a:ext cx="2816352" cy="347472"/>
          </a:xfrm>
          <a:prstGeom prst="rect">
            <a:avLst/>
          </a:prstGeom>
          <a:solidFill>
            <a:srgbClr val="6A0080"/>
          </a:solidFill>
          <a:ln w="12700">
            <a:solidFill>
              <a:srgbClr val="6A0080"/>
            </a:solidFill>
            <a:prstDash val="solid"/>
          </a:ln>
        </p:spPr>
      </p:sp>
      <p:sp>
        <p:nvSpPr>
          <p:cNvPr id="41" name="Text 39"/>
          <p:cNvSpPr/>
          <p:nvPr/>
        </p:nvSpPr>
        <p:spPr>
          <a:xfrm>
            <a:off x="9281160" y="2350008"/>
            <a:ext cx="2651760" cy="310896"/>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Obj 4 — FCNP</a:t>
            </a:r>
            <a:endParaRPr lang="en-US" sz="1050" dirty="0"/>
          </a:p>
        </p:txBody>
      </p:sp>
      <p:sp>
        <p:nvSpPr>
          <p:cNvPr id="42" name="Text 40"/>
          <p:cNvSpPr/>
          <p:nvPr/>
        </p:nvSpPr>
        <p:spPr>
          <a:xfrm>
            <a:off x="9299448" y="2715768"/>
            <a:ext cx="2633472" cy="1536192"/>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Prunes Key-Value (KV) context using Flow Conductance scores. Retains citation-critical tokens at 10:1 compression.</a:t>
            </a:r>
            <a:endParaRPr lang="en-US" sz="1000" dirty="0"/>
          </a:p>
        </p:txBody>
      </p:sp>
      <p:sp>
        <p:nvSpPr>
          <p:cNvPr id="43" name="Shape 41"/>
          <p:cNvSpPr/>
          <p:nvPr/>
        </p:nvSpPr>
        <p:spPr>
          <a:xfrm>
            <a:off x="320040" y="4443984"/>
            <a:ext cx="6949440" cy="530352"/>
          </a:xfrm>
          <a:prstGeom prst="rect">
            <a:avLst/>
          </a:prstGeom>
          <a:solidFill>
            <a:srgbClr val="3C2864"/>
          </a:solidFill>
          <a:ln w="12700">
            <a:solidFill>
              <a:srgbClr val="3C2864"/>
            </a:solidFill>
            <a:prstDash val="solid"/>
          </a:ln>
        </p:spPr>
      </p:sp>
      <p:sp>
        <p:nvSpPr>
          <p:cNvPr id="44" name="Text 42"/>
          <p:cNvSpPr/>
          <p:nvPr/>
        </p:nvSpPr>
        <p:spPr>
          <a:xfrm>
            <a:off x="411480" y="4480560"/>
            <a:ext cx="6766560" cy="42062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OUTPUT: Verified, source-attributed, multilingual farmer response — data.gov.in cited</a:t>
            </a:r>
            <a:endParaRPr lang="en-US" sz="1200" dirty="0"/>
          </a:p>
        </p:txBody>
      </p:sp>
      <p:sp>
        <p:nvSpPr>
          <p:cNvPr id="45" name="Shape 43"/>
          <p:cNvSpPr/>
          <p:nvPr/>
        </p:nvSpPr>
        <p:spPr>
          <a:xfrm>
            <a:off x="7360920" y="4443984"/>
            <a:ext cx="4507992" cy="530352"/>
          </a:xfrm>
          <a:prstGeom prst="rect">
            <a:avLst/>
          </a:prstGeom>
          <a:solidFill>
            <a:srgbClr val="C8402A"/>
          </a:solidFill>
          <a:ln w="12700">
            <a:solidFill>
              <a:srgbClr val="C8402A"/>
            </a:solidFill>
            <a:prstDash val="solid"/>
          </a:ln>
        </p:spPr>
      </p:sp>
      <p:sp>
        <p:nvSpPr>
          <p:cNvPr id="46" name="Text 44"/>
          <p:cNvSpPr/>
          <p:nvPr/>
        </p:nvSpPr>
        <p:spPr>
          <a:xfrm>
            <a:off x="7452360" y="4480560"/>
            <a:ext cx="25603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HuggingFace (HF) Spaces Demo</a:t>
            </a:r>
            <a:endParaRPr lang="en-US" sz="1200" dirty="0"/>
          </a:p>
        </p:txBody>
      </p:sp>
      <p:sp>
        <p:nvSpPr>
          <p:cNvPr id="47" name="Text 45"/>
          <p:cNvSpPr/>
          <p:nvPr/>
        </p:nvSpPr>
        <p:spPr>
          <a:xfrm>
            <a:off x="7452360" y="4700016"/>
            <a:ext cx="4297680" cy="201168"/>
          </a:xfrm>
          <a:prstGeom prst="rect">
            <a:avLst/>
          </a:prstGeom>
          <a:noFill/>
          <a:ln/>
        </p:spPr>
        <p:txBody>
          <a:bodyPr wrap="square" rtlCol="0" anchor="ctr"/>
          <a:lstStyle/>
          <a:p>
            <a:pPr indent="0" marL="0">
              <a:buNone/>
            </a:pPr>
            <a:r>
              <a:rPr lang="en-US" sz="900" dirty="0">
                <a:solidFill>
                  <a:srgbClr val="FFCDD2"/>
                </a:solidFill>
                <a:latin typeface="Calibri" pitchFamily="34" charset="0"/>
                <a:ea typeface="Calibri" pitchFamily="34" charset="-122"/>
                <a:cs typeface="Calibri" pitchFamily="34" charset="-120"/>
              </a:rPr>
              <a:t>abigailcreations/karnataka-agri-assistant</a:t>
            </a:r>
            <a:endParaRPr lang="en-US" sz="900" dirty="0"/>
          </a:p>
        </p:txBody>
      </p:sp>
      <p:sp>
        <p:nvSpPr>
          <p:cNvPr id="48" name="Text 46"/>
          <p:cNvSpPr/>
          <p:nvPr/>
        </p:nvSpPr>
        <p:spPr>
          <a:xfrm>
            <a:off x="320040" y="5065776"/>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All 4 objectives share ToolBench tool index (43K APIs) — Obj1 reranks, Obj2 routes, Obj3 distributes, Obj4 compresses</a:t>
            </a:r>
            <a:endParaRPr lang="en-US" sz="1050" dirty="0"/>
          </a:p>
        </p:txBody>
      </p:sp>
      <p:sp>
        <p:nvSpPr>
          <p:cNvPr id="49" name="Text 47"/>
          <p:cNvSpPr/>
          <p:nvPr/>
        </p:nvSpPr>
        <p:spPr>
          <a:xfrm>
            <a:off x="320040" y="5413248"/>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data.gov.in live Application Programming Interface (API) feeds inject real mandi prices &amp; crop arrivals at Obj2 (routing signal) and Obj3 (consensus input)</a:t>
            </a:r>
            <a:endParaRPr lang="en-US" sz="1050" dirty="0"/>
          </a:p>
        </p:txBody>
      </p:sp>
      <p:sp>
        <p:nvSpPr>
          <p:cNvPr id="50" name="Text 48"/>
          <p:cNvSpPr/>
          <p:nvPr/>
        </p:nvSpPr>
        <p:spPr>
          <a:xfrm>
            <a:off x="320040" y="5760720"/>
            <a:ext cx="11548872" cy="310896"/>
          </a:xfrm>
          <a:prstGeom prst="rect">
            <a:avLst/>
          </a:prstGeom>
          <a:noFill/>
          <a:ln/>
        </p:spPr>
        <p:txBody>
          <a:bodyPr wrap="square" rtlCol="0" anchor="ctr"/>
          <a:lstStyle/>
          <a:p>
            <a:pPr indent="0" marL="0">
              <a:buNone/>
            </a:pPr>
            <a:r>
              <a:rPr lang="en-US" sz="1050" dirty="0">
                <a:solidFill>
                  <a:srgbClr val="1A1035"/>
                </a:solidFill>
                <a:latin typeface="Calibri" pitchFamily="34" charset="0"/>
                <a:ea typeface="Calibri" pitchFamily="34" charset="-122"/>
                <a:cs typeface="Calibri" pitchFamily="34" charset="-120"/>
              </a:rPr>
              <a:t>● HuggingFace Spaces hosts Gradio demo: farmer types query → live ACRS pipeline responds with cited data.gov.in source</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(1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48</a:t>
            </a:r>
            <a:endParaRPr lang="en-US" sz="1300" dirty="0"/>
          </a:p>
        </p:txBody>
      </p:sp>
      <p:sp>
        <p:nvSpPr>
          <p:cNvPr id="9" name="Shape 7">
            <a:hlinkClick r:id="rId1" tooltip=""/>
          </p:cNvPr>
          <p:cNvSpPr/>
          <p:nvPr/>
        </p:nvSpPr>
        <p:spPr>
          <a:xfrm>
            <a:off x="320040" y="566928"/>
            <a:ext cx="292608" cy="347472"/>
          </a:xfrm>
          <a:prstGeom prst="rect">
            <a:avLst/>
          </a:prstGeom>
          <a:solidFill>
            <a:srgbClr val="FFFFFF">
              <a:alpha val="0"/>
            </a:srgbClr>
          </a:solidFill>
          <a:ln w="12700">
            <a:solidFill>
              <a:srgbClr val="FFFFFF">
                <a:alpha val="0"/>
              </a:srgbClr>
            </a:solidFill>
            <a:prstDash val="solid"/>
          </a:ln>
        </p:spPr>
      </p:sp>
      <p:sp>
        <p:nvSpPr>
          <p:cNvPr id="10" name="Text 8"/>
          <p:cNvSpPr/>
          <p:nvPr/>
        </p:nvSpPr>
        <p:spPr>
          <a:xfrm>
            <a:off x="320040" y="566928"/>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667512" y="566928"/>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Fu et al. (2024). LazyLLM: Dynamic Token Pruning for Efficient Long Context LLM Inference. arXiv:2407.14057. doi:10.48550/arXiv.2407.14057.</a:t>
            </a:r>
            <a:endParaRPr lang="en-US" sz="1100" dirty="0"/>
          </a:p>
        </p:txBody>
      </p:sp>
      <p:sp>
        <p:nvSpPr>
          <p:cNvPr id="12" name="Shape 10"/>
          <p:cNvSpPr/>
          <p:nvPr/>
        </p:nvSpPr>
        <p:spPr>
          <a:xfrm>
            <a:off x="320040" y="1243584"/>
            <a:ext cx="11548872" cy="0"/>
          </a:xfrm>
          <a:prstGeom prst="line">
            <a:avLst/>
          </a:prstGeom>
          <a:noFill/>
          <a:ln w="12700">
            <a:solidFill>
              <a:srgbClr val="E0E0E0"/>
            </a:solidFill>
            <a:prstDash val="solid"/>
          </a:ln>
        </p:spPr>
      </p:sp>
      <p:sp>
        <p:nvSpPr>
          <p:cNvPr id="13" name="Shape 11">
            <a:hlinkClick r:id="rId2" tooltip=""/>
          </p:cNvPr>
          <p:cNvSpPr/>
          <p:nvPr/>
        </p:nvSpPr>
        <p:spPr>
          <a:xfrm>
            <a:off x="320040" y="1335024"/>
            <a:ext cx="292608" cy="347472"/>
          </a:xfrm>
          <a:prstGeom prst="rect">
            <a:avLst/>
          </a:prstGeom>
          <a:solidFill>
            <a:srgbClr val="FFFFFF">
              <a:alpha val="0"/>
            </a:srgbClr>
          </a:solidFill>
          <a:ln w="12700">
            <a:solidFill>
              <a:srgbClr val="FFFFFF">
                <a:alpha val="0"/>
              </a:srgbClr>
            </a:solidFill>
            <a:prstDash val="solid"/>
          </a:ln>
        </p:spPr>
      </p:sp>
      <p:sp>
        <p:nvSpPr>
          <p:cNvPr id="14" name="Text 12"/>
          <p:cNvSpPr/>
          <p:nvPr/>
        </p:nvSpPr>
        <p:spPr>
          <a:xfrm>
            <a:off x="320040" y="1335024"/>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667512" y="1335024"/>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Zhang et al. (2023). H2O: Heavy-Hitter Oracle for Efficient Generative Inference of Large Language Models. NeurIPS 2023. arXiv:2306.14048. doi:10.48550/arXiv.2306.14048.</a:t>
            </a:r>
            <a:endParaRPr lang="en-US" sz="1100" dirty="0"/>
          </a:p>
        </p:txBody>
      </p:sp>
      <p:sp>
        <p:nvSpPr>
          <p:cNvPr id="16" name="Shape 14"/>
          <p:cNvSpPr/>
          <p:nvPr/>
        </p:nvSpPr>
        <p:spPr>
          <a:xfrm>
            <a:off x="320040" y="2011680"/>
            <a:ext cx="11548872" cy="0"/>
          </a:xfrm>
          <a:prstGeom prst="line">
            <a:avLst/>
          </a:prstGeom>
          <a:noFill/>
          <a:ln w="12700">
            <a:solidFill>
              <a:srgbClr val="E0E0E0"/>
            </a:solidFill>
            <a:prstDash val="solid"/>
          </a:ln>
        </p:spPr>
      </p:sp>
      <p:sp>
        <p:nvSpPr>
          <p:cNvPr id="17" name="Shape 15">
            <a:hlinkClick r:id="rId3" tooltip=""/>
          </p:cNvPr>
          <p:cNvSpPr/>
          <p:nvPr/>
        </p:nvSpPr>
        <p:spPr>
          <a:xfrm>
            <a:off x="320040" y="2103120"/>
            <a:ext cx="292608" cy="347472"/>
          </a:xfrm>
          <a:prstGeom prst="rect">
            <a:avLst/>
          </a:prstGeom>
          <a:solidFill>
            <a:srgbClr val="FFFFFF">
              <a:alpha val="0"/>
            </a:srgbClr>
          </a:solidFill>
          <a:ln w="12700">
            <a:solidFill>
              <a:srgbClr val="FFFFFF">
                <a:alpha val="0"/>
              </a:srgbClr>
            </a:solidFill>
            <a:prstDash val="solid"/>
          </a:ln>
        </p:spPr>
      </p:sp>
      <p:sp>
        <p:nvSpPr>
          <p:cNvPr id="18" name="Text 16"/>
          <p:cNvSpPr/>
          <p:nvPr/>
        </p:nvSpPr>
        <p:spPr>
          <a:xfrm>
            <a:off x="320040" y="2103120"/>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67512" y="2103120"/>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Liu et al. (2023). Scissorhands: Exploiting the Persistence of Importance Hypothesis for LLM KV Cache Compression at Test Time. NeurIPS 2023. arXiv:2305.17118. doi:10.48550/arXiv.2305.17118.</a:t>
            </a:r>
            <a:endParaRPr lang="en-US" sz="1100" dirty="0"/>
          </a:p>
        </p:txBody>
      </p:sp>
      <p:sp>
        <p:nvSpPr>
          <p:cNvPr id="20" name="Shape 18"/>
          <p:cNvSpPr/>
          <p:nvPr/>
        </p:nvSpPr>
        <p:spPr>
          <a:xfrm>
            <a:off x="320040" y="2779776"/>
            <a:ext cx="11548872" cy="0"/>
          </a:xfrm>
          <a:prstGeom prst="line">
            <a:avLst/>
          </a:prstGeom>
          <a:noFill/>
          <a:ln w="12700">
            <a:solidFill>
              <a:srgbClr val="E0E0E0"/>
            </a:solidFill>
            <a:prstDash val="solid"/>
          </a:ln>
        </p:spPr>
      </p:sp>
      <p:sp>
        <p:nvSpPr>
          <p:cNvPr id="21" name="Shape 19">
            <a:hlinkClick r:id="rId4" tooltip=""/>
          </p:cNvPr>
          <p:cNvSpPr/>
          <p:nvPr/>
        </p:nvSpPr>
        <p:spPr>
          <a:xfrm>
            <a:off x="320040" y="2871216"/>
            <a:ext cx="292608" cy="347472"/>
          </a:xfrm>
          <a:prstGeom prst="rect">
            <a:avLst/>
          </a:prstGeom>
          <a:solidFill>
            <a:srgbClr val="FFFFFF">
              <a:alpha val="0"/>
            </a:srgbClr>
          </a:solidFill>
          <a:ln w="12700">
            <a:solidFill>
              <a:srgbClr val="FFFFFF">
                <a:alpha val="0"/>
              </a:srgbClr>
            </a:solidFill>
            <a:prstDash val="solid"/>
          </a:ln>
        </p:spPr>
      </p:sp>
      <p:sp>
        <p:nvSpPr>
          <p:cNvPr id="22" name="Text 20"/>
          <p:cNvSpPr/>
          <p:nvPr/>
        </p:nvSpPr>
        <p:spPr>
          <a:xfrm>
            <a:off x="320040" y="2871216"/>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667512" y="2871216"/>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Xiao et al. (2024). Efficient Streaming Language Models with Attention Sinks (StreamingLLM). ICLR 2024. arXiv:2309.17453. doi:10.48550/arXiv.2309.17453.</a:t>
            </a:r>
            <a:endParaRPr lang="en-US" sz="1100" dirty="0"/>
          </a:p>
        </p:txBody>
      </p:sp>
      <p:sp>
        <p:nvSpPr>
          <p:cNvPr id="24" name="Shape 22"/>
          <p:cNvSpPr/>
          <p:nvPr/>
        </p:nvSpPr>
        <p:spPr>
          <a:xfrm>
            <a:off x="320040" y="3547872"/>
            <a:ext cx="11548872" cy="0"/>
          </a:xfrm>
          <a:prstGeom prst="line">
            <a:avLst/>
          </a:prstGeom>
          <a:noFill/>
          <a:ln w="12700">
            <a:solidFill>
              <a:srgbClr val="E0E0E0"/>
            </a:solidFill>
            <a:prstDash val="solid"/>
          </a:ln>
        </p:spPr>
      </p:sp>
      <p:sp>
        <p:nvSpPr>
          <p:cNvPr id="25" name="Shape 23">
            <a:hlinkClick r:id="rId5" tooltip=""/>
          </p:cNvPr>
          <p:cNvSpPr/>
          <p:nvPr/>
        </p:nvSpPr>
        <p:spPr>
          <a:xfrm>
            <a:off x="320040" y="3639312"/>
            <a:ext cx="292608" cy="347472"/>
          </a:xfrm>
          <a:prstGeom prst="rect">
            <a:avLst/>
          </a:prstGeom>
          <a:solidFill>
            <a:srgbClr val="FFFFFF">
              <a:alpha val="0"/>
            </a:srgbClr>
          </a:solidFill>
          <a:ln w="12700">
            <a:solidFill>
              <a:srgbClr val="FFFFFF">
                <a:alpha val="0"/>
              </a:srgbClr>
            </a:solidFill>
            <a:prstDash val="solid"/>
          </a:ln>
        </p:spPr>
      </p:sp>
      <p:sp>
        <p:nvSpPr>
          <p:cNvPr id="26" name="Text 24"/>
          <p:cNvSpPr/>
          <p:nvPr/>
        </p:nvSpPr>
        <p:spPr>
          <a:xfrm>
            <a:off x="320040" y="3639312"/>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667512" y="3639312"/>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Kang et al. (2024). GEAR: An Efficient KV Cache Compression Recipe for Near-Lossless Generative Inference of LLM. arXiv:2403.05527. doi:10.48550/arXiv.2403.05527.</a:t>
            </a:r>
            <a:endParaRPr lang="en-US" sz="1100" dirty="0"/>
          </a:p>
        </p:txBody>
      </p:sp>
      <p:sp>
        <p:nvSpPr>
          <p:cNvPr id="28" name="Shape 26"/>
          <p:cNvSpPr/>
          <p:nvPr/>
        </p:nvSpPr>
        <p:spPr>
          <a:xfrm>
            <a:off x="320040" y="4315968"/>
            <a:ext cx="11548872" cy="0"/>
          </a:xfrm>
          <a:prstGeom prst="line">
            <a:avLst/>
          </a:prstGeom>
          <a:noFill/>
          <a:ln w="12700">
            <a:solidFill>
              <a:srgbClr val="E0E0E0"/>
            </a:solidFill>
            <a:prstDash val="solid"/>
          </a:ln>
        </p:spPr>
      </p:sp>
      <p:sp>
        <p:nvSpPr>
          <p:cNvPr id="29" name="Shape 27">
            <a:hlinkClick r:id="rId6" tooltip=""/>
          </p:cNvPr>
          <p:cNvSpPr/>
          <p:nvPr/>
        </p:nvSpPr>
        <p:spPr>
          <a:xfrm>
            <a:off x="320040" y="4407408"/>
            <a:ext cx="292608" cy="347472"/>
          </a:xfrm>
          <a:prstGeom prst="rect">
            <a:avLst/>
          </a:prstGeom>
          <a:solidFill>
            <a:srgbClr val="FFFFFF">
              <a:alpha val="0"/>
            </a:srgbClr>
          </a:solidFill>
          <a:ln w="12700">
            <a:solidFill>
              <a:srgbClr val="FFFFFF">
                <a:alpha val="0"/>
              </a:srgbClr>
            </a:solidFill>
            <a:prstDash val="solid"/>
          </a:ln>
        </p:spPr>
      </p:sp>
      <p:sp>
        <p:nvSpPr>
          <p:cNvPr id="30" name="Text 28"/>
          <p:cNvSpPr/>
          <p:nvPr/>
        </p:nvSpPr>
        <p:spPr>
          <a:xfrm>
            <a:off x="320040" y="4407408"/>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[6]</a:t>
            </a:r>
            <a:endParaRPr lang="en-US" sz="1500" dirty="0"/>
          </a:p>
        </p:txBody>
      </p:sp>
      <p:sp>
        <p:nvSpPr>
          <p:cNvPr id="31" name="Text 29"/>
          <p:cNvSpPr/>
          <p:nvPr/>
        </p:nvSpPr>
        <p:spPr>
          <a:xfrm>
            <a:off x="667512" y="4407408"/>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Qin et al. (2024). ToolLLM: Facilitating Large Language Models to Master 16000+ Real-world APIs. ICLR 2024. arXiv:2307.16789. doi:10.48550/arXiv.2307.16789.</a:t>
            </a:r>
            <a:endParaRPr lang="en-US" sz="1100" dirty="0"/>
          </a:p>
        </p:txBody>
      </p:sp>
      <p:sp>
        <p:nvSpPr>
          <p:cNvPr id="32" name="Shape 30"/>
          <p:cNvSpPr/>
          <p:nvPr/>
        </p:nvSpPr>
        <p:spPr>
          <a:xfrm>
            <a:off x="320040" y="5084064"/>
            <a:ext cx="11548872" cy="0"/>
          </a:xfrm>
          <a:prstGeom prst="line">
            <a:avLst/>
          </a:prstGeom>
          <a:noFill/>
          <a:ln w="12700">
            <a:solidFill>
              <a:srgbClr val="E0E0E0"/>
            </a:solidFill>
            <a:prstDash val="solid"/>
          </a:ln>
        </p:spPr>
      </p:sp>
      <p:sp>
        <p:nvSpPr>
          <p:cNvPr id="33" name="Shape 31">
            <a:hlinkClick r:id="rId7" tooltip=""/>
          </p:cNvPr>
          <p:cNvSpPr/>
          <p:nvPr/>
        </p:nvSpPr>
        <p:spPr>
          <a:xfrm>
            <a:off x="320040" y="5175504"/>
            <a:ext cx="292608" cy="347472"/>
          </a:xfrm>
          <a:prstGeom prst="rect">
            <a:avLst/>
          </a:prstGeom>
          <a:solidFill>
            <a:srgbClr val="FFFFFF">
              <a:alpha val="0"/>
            </a:srgbClr>
          </a:solidFill>
          <a:ln w="12700">
            <a:solidFill>
              <a:srgbClr val="FFFFFF">
                <a:alpha val="0"/>
              </a:srgbClr>
            </a:solidFill>
            <a:prstDash val="solid"/>
          </a:ln>
        </p:spPr>
      </p:sp>
      <p:sp>
        <p:nvSpPr>
          <p:cNvPr id="34" name="Text 32"/>
          <p:cNvSpPr/>
          <p:nvPr/>
        </p:nvSpPr>
        <p:spPr>
          <a:xfrm>
            <a:off x="320040" y="5175504"/>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[7]</a:t>
            </a:r>
            <a:endParaRPr lang="en-US" sz="1500" dirty="0"/>
          </a:p>
        </p:txBody>
      </p:sp>
      <p:sp>
        <p:nvSpPr>
          <p:cNvPr id="35" name="Text 33"/>
          <p:cNvSpPr/>
          <p:nvPr/>
        </p:nvSpPr>
        <p:spPr>
          <a:xfrm>
            <a:off x="667512" y="5175504"/>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Liu et al. (2024). CacheGen: KV Cache Compression and Streaming for Fast Large Language Model Serving. SIGCOMM 2024. doi:10.1145/3651890.3672274.</a:t>
            </a:r>
            <a:endParaRPr lang="en-US" sz="1100" dirty="0"/>
          </a:p>
        </p:txBody>
      </p:sp>
      <p:sp>
        <p:nvSpPr>
          <p:cNvPr id="36" name="Text 34"/>
          <p:cNvSpPr/>
          <p:nvPr/>
        </p:nvSpPr>
        <p:spPr>
          <a:xfrm>
            <a:off x="320040" y="6455664"/>
            <a:ext cx="11548872" cy="164592"/>
          </a:xfrm>
          <a:prstGeom prst="rect">
            <a:avLst/>
          </a:prstGeom>
          <a:noFill/>
          <a:ln/>
        </p:spPr>
        <p:txBody>
          <a:bodyPr wrap="square" rtlCol="0" anchor="ctr"/>
          <a:lstStyle/>
          <a:p>
            <a:pPr indent="0" marL="0">
              <a:buNone/>
            </a:pPr>
            <a:r>
              <a:rPr lang="en-US" sz="95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50" b="1" u="sng" dirty="0">
                <a:solidFill>
                  <a:srgbClr val="1565C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Drive Folder</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(2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49</a:t>
            </a:r>
            <a:endParaRPr lang="en-US" sz="1300" dirty="0"/>
          </a:p>
        </p:txBody>
      </p:sp>
      <p:sp>
        <p:nvSpPr>
          <p:cNvPr id="9" name="Shape 7">
            <a:hlinkClick r:id="rId1" tooltip=""/>
          </p:cNvPr>
          <p:cNvSpPr/>
          <p:nvPr/>
        </p:nvSpPr>
        <p:spPr>
          <a:xfrm>
            <a:off x="320040" y="566928"/>
            <a:ext cx="292608" cy="347472"/>
          </a:xfrm>
          <a:prstGeom prst="rect">
            <a:avLst/>
          </a:prstGeom>
          <a:solidFill>
            <a:srgbClr val="FFFFFF">
              <a:alpha val="0"/>
            </a:srgbClr>
          </a:solidFill>
          <a:ln w="12700">
            <a:solidFill>
              <a:srgbClr val="FFFFFF">
                <a:alpha val="0"/>
              </a:srgbClr>
            </a:solidFill>
            <a:prstDash val="solid"/>
          </a:ln>
        </p:spPr>
      </p:sp>
      <p:sp>
        <p:nvSpPr>
          <p:cNvPr id="10" name="Text 8"/>
          <p:cNvSpPr/>
          <p:nvPr/>
        </p:nvSpPr>
        <p:spPr>
          <a:xfrm>
            <a:off x="320040" y="566928"/>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[8]</a:t>
            </a:r>
            <a:endParaRPr lang="en-US" sz="1500" dirty="0"/>
          </a:p>
        </p:txBody>
      </p:sp>
      <p:sp>
        <p:nvSpPr>
          <p:cNvPr id="11" name="Text 9"/>
          <p:cNvSpPr/>
          <p:nvPr/>
        </p:nvSpPr>
        <p:spPr>
          <a:xfrm>
            <a:off x="667512" y="566928"/>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Liu et al. (2024). MiniCache: KV Cache Compression in Depth Dimension for Large Language Models. NeurIPS 2024. arXiv:2405.14366. doi:10.48550/arXiv.2405.14366.</a:t>
            </a:r>
            <a:endParaRPr lang="en-US" sz="1100" dirty="0"/>
          </a:p>
        </p:txBody>
      </p:sp>
      <p:sp>
        <p:nvSpPr>
          <p:cNvPr id="12" name="Shape 10"/>
          <p:cNvSpPr/>
          <p:nvPr/>
        </p:nvSpPr>
        <p:spPr>
          <a:xfrm>
            <a:off x="320040" y="1243584"/>
            <a:ext cx="11548872" cy="0"/>
          </a:xfrm>
          <a:prstGeom prst="line">
            <a:avLst/>
          </a:prstGeom>
          <a:noFill/>
          <a:ln w="12700">
            <a:solidFill>
              <a:srgbClr val="E0E0E0"/>
            </a:solidFill>
            <a:prstDash val="solid"/>
          </a:ln>
        </p:spPr>
      </p:sp>
      <p:sp>
        <p:nvSpPr>
          <p:cNvPr id="13" name="Shape 11">
            <a:hlinkClick r:id="rId2" tooltip=""/>
          </p:cNvPr>
          <p:cNvSpPr/>
          <p:nvPr/>
        </p:nvSpPr>
        <p:spPr>
          <a:xfrm>
            <a:off x="320040" y="1335024"/>
            <a:ext cx="292608" cy="347472"/>
          </a:xfrm>
          <a:prstGeom prst="rect">
            <a:avLst/>
          </a:prstGeom>
          <a:solidFill>
            <a:srgbClr val="FFFFFF">
              <a:alpha val="0"/>
            </a:srgbClr>
          </a:solidFill>
          <a:ln w="12700">
            <a:solidFill>
              <a:srgbClr val="FFFFFF">
                <a:alpha val="0"/>
              </a:srgbClr>
            </a:solidFill>
            <a:prstDash val="solid"/>
          </a:ln>
        </p:spPr>
      </p:sp>
      <p:sp>
        <p:nvSpPr>
          <p:cNvPr id="14" name="Text 12"/>
          <p:cNvSpPr/>
          <p:nvPr/>
        </p:nvSpPr>
        <p:spPr>
          <a:xfrm>
            <a:off x="320040" y="1335024"/>
            <a:ext cx="29260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[9]</a:t>
            </a:r>
            <a:endParaRPr lang="en-US" sz="1500" dirty="0"/>
          </a:p>
        </p:txBody>
      </p:sp>
      <p:sp>
        <p:nvSpPr>
          <p:cNvPr id="15" name="Text 13"/>
          <p:cNvSpPr/>
          <p:nvPr/>
        </p:nvSpPr>
        <p:spPr>
          <a:xfrm>
            <a:off x="667512" y="1335024"/>
            <a:ext cx="1120140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Ong et al. (2024). RouteLLM: Learning to Route LLMs with Preference Data. arXiv:2406.18665. doi:10.48550/arXiv.2406.18665.</a:t>
            </a:r>
            <a:endParaRPr lang="en-US" sz="1100" dirty="0"/>
          </a:p>
        </p:txBody>
      </p:sp>
      <p:sp>
        <p:nvSpPr>
          <p:cNvPr id="16" name="Shape 14"/>
          <p:cNvSpPr/>
          <p:nvPr/>
        </p:nvSpPr>
        <p:spPr>
          <a:xfrm>
            <a:off x="320040" y="2011680"/>
            <a:ext cx="11548872" cy="0"/>
          </a:xfrm>
          <a:prstGeom prst="line">
            <a:avLst/>
          </a:prstGeom>
          <a:noFill/>
          <a:ln w="12700">
            <a:solidFill>
              <a:srgbClr val="E0E0E0"/>
            </a:solidFill>
            <a:prstDash val="solid"/>
          </a:ln>
        </p:spPr>
      </p:sp>
      <p:sp>
        <p:nvSpPr>
          <p:cNvPr id="17" name="Shape 15">
            <a:hlinkClick r:id="rId3" tooltip=""/>
          </p:cNvPr>
          <p:cNvSpPr/>
          <p:nvPr/>
        </p:nvSpPr>
        <p:spPr>
          <a:xfrm>
            <a:off x="320040" y="2103120"/>
            <a:ext cx="384048" cy="347472"/>
          </a:xfrm>
          <a:prstGeom prst="rect">
            <a:avLst/>
          </a:prstGeom>
          <a:solidFill>
            <a:srgbClr val="FFFFFF">
              <a:alpha val="0"/>
            </a:srgbClr>
          </a:solidFill>
          <a:ln w="12700">
            <a:solidFill>
              <a:srgbClr val="FFFFFF">
                <a:alpha val="0"/>
              </a:srgbClr>
            </a:solidFill>
            <a:prstDash val="solid"/>
          </a:ln>
        </p:spPr>
      </p:sp>
      <p:sp>
        <p:nvSpPr>
          <p:cNvPr id="18" name="Text 16"/>
          <p:cNvSpPr/>
          <p:nvPr/>
        </p:nvSpPr>
        <p:spPr>
          <a:xfrm>
            <a:off x="320040" y="2103120"/>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[10]</a:t>
            </a:r>
            <a:endParaRPr lang="en-US" sz="1500" dirty="0"/>
          </a:p>
        </p:txBody>
      </p:sp>
      <p:sp>
        <p:nvSpPr>
          <p:cNvPr id="19" name="Text 17"/>
          <p:cNvSpPr/>
          <p:nvPr/>
        </p:nvSpPr>
        <p:spPr>
          <a:xfrm>
            <a:off x="758952" y="2103120"/>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Chen et al. (2023). FrugalGPT: How to Use Large Language Models While Reducing Cost and Improving Performance. arXiv:2305.05176. doi:10.48550/arXiv.2305.05176.</a:t>
            </a:r>
            <a:endParaRPr lang="en-US" sz="1100" dirty="0"/>
          </a:p>
        </p:txBody>
      </p:sp>
      <p:sp>
        <p:nvSpPr>
          <p:cNvPr id="20" name="Shape 18"/>
          <p:cNvSpPr/>
          <p:nvPr/>
        </p:nvSpPr>
        <p:spPr>
          <a:xfrm>
            <a:off x="320040" y="2779776"/>
            <a:ext cx="11548872" cy="0"/>
          </a:xfrm>
          <a:prstGeom prst="line">
            <a:avLst/>
          </a:prstGeom>
          <a:noFill/>
          <a:ln w="12700">
            <a:solidFill>
              <a:srgbClr val="E0E0E0"/>
            </a:solidFill>
            <a:prstDash val="solid"/>
          </a:ln>
        </p:spPr>
      </p:sp>
      <p:sp>
        <p:nvSpPr>
          <p:cNvPr id="21" name="Shape 19">
            <a:hlinkClick r:id="rId4" tooltip=""/>
          </p:cNvPr>
          <p:cNvSpPr/>
          <p:nvPr/>
        </p:nvSpPr>
        <p:spPr>
          <a:xfrm>
            <a:off x="320040" y="2871216"/>
            <a:ext cx="384048" cy="347472"/>
          </a:xfrm>
          <a:prstGeom prst="rect">
            <a:avLst/>
          </a:prstGeom>
          <a:solidFill>
            <a:srgbClr val="FFFFFF">
              <a:alpha val="0"/>
            </a:srgbClr>
          </a:solidFill>
          <a:ln w="12700">
            <a:solidFill>
              <a:srgbClr val="FFFFFF">
                <a:alpha val="0"/>
              </a:srgbClr>
            </a:solidFill>
            <a:prstDash val="solid"/>
          </a:ln>
        </p:spPr>
      </p:sp>
      <p:sp>
        <p:nvSpPr>
          <p:cNvPr id="22" name="Text 20"/>
          <p:cNvSpPr/>
          <p:nvPr/>
        </p:nvSpPr>
        <p:spPr>
          <a:xfrm>
            <a:off x="320040" y="2871216"/>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[11]</a:t>
            </a:r>
            <a:endParaRPr lang="en-US" sz="1500" dirty="0"/>
          </a:p>
        </p:txBody>
      </p:sp>
      <p:sp>
        <p:nvSpPr>
          <p:cNvPr id="23" name="Text 21"/>
          <p:cNvSpPr/>
          <p:nvPr/>
        </p:nvSpPr>
        <p:spPr>
          <a:xfrm>
            <a:off x="758952" y="2871216"/>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Wang et al. (2024). Mixture-of-Agents Enhances Large Language Model Capabilities. arXiv/COLM 2024.</a:t>
            </a:r>
            <a:endParaRPr lang="en-US" sz="1100" dirty="0"/>
          </a:p>
        </p:txBody>
      </p:sp>
      <p:sp>
        <p:nvSpPr>
          <p:cNvPr id="24" name="Shape 22"/>
          <p:cNvSpPr/>
          <p:nvPr/>
        </p:nvSpPr>
        <p:spPr>
          <a:xfrm>
            <a:off x="320040" y="3547872"/>
            <a:ext cx="11548872" cy="0"/>
          </a:xfrm>
          <a:prstGeom prst="line">
            <a:avLst/>
          </a:prstGeom>
          <a:noFill/>
          <a:ln w="12700">
            <a:solidFill>
              <a:srgbClr val="E0E0E0"/>
            </a:solidFill>
            <a:prstDash val="solid"/>
          </a:ln>
        </p:spPr>
      </p:sp>
      <p:sp>
        <p:nvSpPr>
          <p:cNvPr id="25" name="Shape 23">
            <a:hlinkClick r:id="rId5" tooltip=""/>
          </p:cNvPr>
          <p:cNvSpPr/>
          <p:nvPr/>
        </p:nvSpPr>
        <p:spPr>
          <a:xfrm>
            <a:off x="320040" y="3639312"/>
            <a:ext cx="384048" cy="347472"/>
          </a:xfrm>
          <a:prstGeom prst="rect">
            <a:avLst/>
          </a:prstGeom>
          <a:solidFill>
            <a:srgbClr val="FFFFFF">
              <a:alpha val="0"/>
            </a:srgbClr>
          </a:solidFill>
          <a:ln w="12700">
            <a:solidFill>
              <a:srgbClr val="FFFFFF">
                <a:alpha val="0"/>
              </a:srgbClr>
            </a:solidFill>
            <a:prstDash val="solid"/>
          </a:ln>
        </p:spPr>
      </p:sp>
      <p:sp>
        <p:nvSpPr>
          <p:cNvPr id="26" name="Text 24"/>
          <p:cNvSpPr/>
          <p:nvPr/>
        </p:nvSpPr>
        <p:spPr>
          <a:xfrm>
            <a:off x="320040" y="3639312"/>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[12]</a:t>
            </a:r>
            <a:endParaRPr lang="en-US" sz="1500" dirty="0"/>
          </a:p>
        </p:txBody>
      </p:sp>
      <p:sp>
        <p:nvSpPr>
          <p:cNvPr id="27" name="Text 25"/>
          <p:cNvSpPr/>
          <p:nvPr/>
        </p:nvSpPr>
        <p:spPr>
          <a:xfrm>
            <a:off x="758952" y="3639312"/>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Stripelis et al. (2024). TensorOpera Router: A Multi-Model Router for Efficient LLM Inference. EMNLP 2024.</a:t>
            </a:r>
            <a:endParaRPr lang="en-US" sz="1100" dirty="0"/>
          </a:p>
        </p:txBody>
      </p:sp>
      <p:sp>
        <p:nvSpPr>
          <p:cNvPr id="28" name="Shape 26"/>
          <p:cNvSpPr/>
          <p:nvPr/>
        </p:nvSpPr>
        <p:spPr>
          <a:xfrm>
            <a:off x="320040" y="4315968"/>
            <a:ext cx="11548872" cy="0"/>
          </a:xfrm>
          <a:prstGeom prst="line">
            <a:avLst/>
          </a:prstGeom>
          <a:noFill/>
          <a:ln w="12700">
            <a:solidFill>
              <a:srgbClr val="E0E0E0"/>
            </a:solidFill>
            <a:prstDash val="solid"/>
          </a:ln>
        </p:spPr>
      </p:sp>
      <p:sp>
        <p:nvSpPr>
          <p:cNvPr id="29" name="Shape 27">
            <a:hlinkClick r:id="rId6" tooltip=""/>
          </p:cNvPr>
          <p:cNvSpPr/>
          <p:nvPr/>
        </p:nvSpPr>
        <p:spPr>
          <a:xfrm>
            <a:off x="320040" y="4407408"/>
            <a:ext cx="384048" cy="347472"/>
          </a:xfrm>
          <a:prstGeom prst="rect">
            <a:avLst/>
          </a:prstGeom>
          <a:solidFill>
            <a:srgbClr val="FFFFFF">
              <a:alpha val="0"/>
            </a:srgbClr>
          </a:solidFill>
          <a:ln w="12700">
            <a:solidFill>
              <a:srgbClr val="FFFFFF">
                <a:alpha val="0"/>
              </a:srgbClr>
            </a:solidFill>
            <a:prstDash val="solid"/>
          </a:ln>
        </p:spPr>
      </p:sp>
      <p:sp>
        <p:nvSpPr>
          <p:cNvPr id="30" name="Text 28"/>
          <p:cNvSpPr/>
          <p:nvPr/>
        </p:nvSpPr>
        <p:spPr>
          <a:xfrm>
            <a:off x="320040" y="4407408"/>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[13]</a:t>
            </a:r>
            <a:endParaRPr lang="en-US" sz="1500" dirty="0"/>
          </a:p>
        </p:txBody>
      </p:sp>
      <p:sp>
        <p:nvSpPr>
          <p:cNvPr id="31" name="Text 29"/>
          <p:cNvSpPr/>
          <p:nvPr/>
        </p:nvSpPr>
        <p:spPr>
          <a:xfrm>
            <a:off x="758952" y="4407408"/>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Feng et al. (2024). GraphRouter: A Graph-based Router for LLM Selections. arXiv 2024.</a:t>
            </a:r>
            <a:endParaRPr lang="en-US" sz="1100" dirty="0"/>
          </a:p>
        </p:txBody>
      </p:sp>
      <p:sp>
        <p:nvSpPr>
          <p:cNvPr id="32" name="Shape 30"/>
          <p:cNvSpPr/>
          <p:nvPr/>
        </p:nvSpPr>
        <p:spPr>
          <a:xfrm>
            <a:off x="320040" y="5084064"/>
            <a:ext cx="11548872" cy="0"/>
          </a:xfrm>
          <a:prstGeom prst="line">
            <a:avLst/>
          </a:prstGeom>
          <a:noFill/>
          <a:ln w="12700">
            <a:solidFill>
              <a:srgbClr val="E0E0E0"/>
            </a:solidFill>
            <a:prstDash val="solid"/>
          </a:ln>
        </p:spPr>
      </p:sp>
      <p:sp>
        <p:nvSpPr>
          <p:cNvPr id="33" name="Shape 31">
            <a:hlinkClick r:id="rId7" tooltip=""/>
          </p:cNvPr>
          <p:cNvSpPr/>
          <p:nvPr/>
        </p:nvSpPr>
        <p:spPr>
          <a:xfrm>
            <a:off x="320040" y="5175504"/>
            <a:ext cx="384048" cy="347472"/>
          </a:xfrm>
          <a:prstGeom prst="rect">
            <a:avLst/>
          </a:prstGeom>
          <a:solidFill>
            <a:srgbClr val="FFFFFF">
              <a:alpha val="0"/>
            </a:srgbClr>
          </a:solidFill>
          <a:ln w="12700">
            <a:solidFill>
              <a:srgbClr val="FFFFFF">
                <a:alpha val="0"/>
              </a:srgbClr>
            </a:solidFill>
            <a:prstDash val="solid"/>
          </a:ln>
        </p:spPr>
      </p:sp>
      <p:sp>
        <p:nvSpPr>
          <p:cNvPr id="34" name="Text 32"/>
          <p:cNvSpPr/>
          <p:nvPr/>
        </p:nvSpPr>
        <p:spPr>
          <a:xfrm>
            <a:off x="320040" y="5175504"/>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[14]</a:t>
            </a:r>
            <a:endParaRPr lang="en-US" sz="1500" dirty="0"/>
          </a:p>
        </p:txBody>
      </p:sp>
      <p:sp>
        <p:nvSpPr>
          <p:cNvPr id="35" name="Text 33"/>
          <p:cNvSpPr/>
          <p:nvPr/>
        </p:nvSpPr>
        <p:spPr>
          <a:xfrm>
            <a:off x="758952" y="5175504"/>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Wu et al. (2024). AutoGen: Enabling Next-Gen LLM Applications via Multi-Agent Conversation. ICLR 2024. arXiv:2308.08155. doi:10.48550/arXiv.2308.08155.</a:t>
            </a:r>
            <a:endParaRPr lang="en-US" sz="1100" dirty="0"/>
          </a:p>
        </p:txBody>
      </p:sp>
      <p:sp>
        <p:nvSpPr>
          <p:cNvPr id="36" name="Text 34"/>
          <p:cNvSpPr/>
          <p:nvPr/>
        </p:nvSpPr>
        <p:spPr>
          <a:xfrm>
            <a:off x="320040" y="6455664"/>
            <a:ext cx="11548872" cy="164592"/>
          </a:xfrm>
          <a:prstGeom prst="rect">
            <a:avLst/>
          </a:prstGeom>
          <a:noFill/>
          <a:ln/>
        </p:spPr>
        <p:txBody>
          <a:bodyPr wrap="square" rtlCol="0" anchor="ctr"/>
          <a:lstStyle/>
          <a:p>
            <a:pPr indent="0" marL="0">
              <a:buNone/>
            </a:pPr>
            <a:r>
              <a:rPr lang="en-US" sz="95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50" b="1" u="sng" dirty="0">
                <a:solidFill>
                  <a:srgbClr val="1565C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Drive Folder</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(3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a:t>
            </a:r>
            <a:endParaRPr lang="en-US" sz="1300" dirty="0"/>
          </a:p>
        </p:txBody>
      </p:sp>
      <p:sp>
        <p:nvSpPr>
          <p:cNvPr id="9" name="Shape 7">
            <a:hlinkClick r:id="rId1" tooltip=""/>
          </p:cNvPr>
          <p:cNvSpPr/>
          <p:nvPr/>
        </p:nvSpPr>
        <p:spPr>
          <a:xfrm>
            <a:off x="320040" y="566928"/>
            <a:ext cx="384048" cy="347472"/>
          </a:xfrm>
          <a:prstGeom prst="rect">
            <a:avLst/>
          </a:prstGeom>
          <a:solidFill>
            <a:srgbClr val="FFFFFF">
              <a:alpha val="0"/>
            </a:srgbClr>
          </a:solidFill>
          <a:ln w="12700">
            <a:solidFill>
              <a:srgbClr val="FFFFFF">
                <a:alpha val="0"/>
              </a:srgbClr>
            </a:solidFill>
            <a:prstDash val="solid"/>
          </a:ln>
        </p:spPr>
      </p:sp>
      <p:sp>
        <p:nvSpPr>
          <p:cNvPr id="10" name="Text 8"/>
          <p:cNvSpPr/>
          <p:nvPr/>
        </p:nvSpPr>
        <p:spPr>
          <a:xfrm>
            <a:off x="320040" y="566928"/>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[15]</a:t>
            </a:r>
            <a:endParaRPr lang="en-US" sz="1500" dirty="0"/>
          </a:p>
        </p:txBody>
      </p:sp>
      <p:sp>
        <p:nvSpPr>
          <p:cNvPr id="11" name="Text 9"/>
          <p:cNvSpPr/>
          <p:nvPr/>
        </p:nvSpPr>
        <p:spPr>
          <a:xfrm>
            <a:off x="758952" y="566928"/>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Yao et al. (2023). ReAct: Synergizing Reasoning and Acting in Language Models. ICLR 2023. arXiv:2210.03629. doi:10.48550/arXiv.2210.03629.</a:t>
            </a:r>
            <a:endParaRPr lang="en-US" sz="1100" dirty="0"/>
          </a:p>
        </p:txBody>
      </p:sp>
      <p:sp>
        <p:nvSpPr>
          <p:cNvPr id="12" name="Shape 10"/>
          <p:cNvSpPr/>
          <p:nvPr/>
        </p:nvSpPr>
        <p:spPr>
          <a:xfrm>
            <a:off x="320040" y="1243584"/>
            <a:ext cx="11548872" cy="0"/>
          </a:xfrm>
          <a:prstGeom prst="line">
            <a:avLst/>
          </a:prstGeom>
          <a:noFill/>
          <a:ln w="12700">
            <a:solidFill>
              <a:srgbClr val="E0E0E0"/>
            </a:solidFill>
            <a:prstDash val="solid"/>
          </a:ln>
        </p:spPr>
      </p:sp>
      <p:sp>
        <p:nvSpPr>
          <p:cNvPr id="13" name="Shape 11">
            <a:hlinkClick r:id="rId2" tooltip=""/>
          </p:cNvPr>
          <p:cNvSpPr/>
          <p:nvPr/>
        </p:nvSpPr>
        <p:spPr>
          <a:xfrm>
            <a:off x="320040" y="1335024"/>
            <a:ext cx="384048" cy="347472"/>
          </a:xfrm>
          <a:prstGeom prst="rect">
            <a:avLst/>
          </a:prstGeom>
          <a:solidFill>
            <a:srgbClr val="FFFFFF">
              <a:alpha val="0"/>
            </a:srgbClr>
          </a:solidFill>
          <a:ln w="12700">
            <a:solidFill>
              <a:srgbClr val="FFFFFF">
                <a:alpha val="0"/>
              </a:srgbClr>
            </a:solidFill>
            <a:prstDash val="solid"/>
          </a:ln>
        </p:spPr>
      </p:sp>
      <p:sp>
        <p:nvSpPr>
          <p:cNvPr id="14" name="Text 12"/>
          <p:cNvSpPr/>
          <p:nvPr/>
        </p:nvSpPr>
        <p:spPr>
          <a:xfrm>
            <a:off x="320040" y="1335024"/>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[16]</a:t>
            </a:r>
            <a:endParaRPr lang="en-US" sz="1500" dirty="0"/>
          </a:p>
        </p:txBody>
      </p:sp>
      <p:sp>
        <p:nvSpPr>
          <p:cNvPr id="15" name="Text 13"/>
          <p:cNvSpPr/>
          <p:nvPr/>
        </p:nvSpPr>
        <p:spPr>
          <a:xfrm>
            <a:off x="758952" y="1335024"/>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Liu et al. (2023). AgentBench: Evaluating LLMs as Agents. ICLR 2024. arXiv:2308.03688. doi:10.48550/arXiv.2308.03688.</a:t>
            </a:r>
            <a:endParaRPr lang="en-US" sz="1100" dirty="0"/>
          </a:p>
        </p:txBody>
      </p:sp>
      <p:sp>
        <p:nvSpPr>
          <p:cNvPr id="16" name="Shape 14"/>
          <p:cNvSpPr/>
          <p:nvPr/>
        </p:nvSpPr>
        <p:spPr>
          <a:xfrm>
            <a:off x="320040" y="2011680"/>
            <a:ext cx="11548872" cy="0"/>
          </a:xfrm>
          <a:prstGeom prst="line">
            <a:avLst/>
          </a:prstGeom>
          <a:noFill/>
          <a:ln w="12700">
            <a:solidFill>
              <a:srgbClr val="E0E0E0"/>
            </a:solidFill>
            <a:prstDash val="solid"/>
          </a:ln>
        </p:spPr>
      </p:sp>
      <p:sp>
        <p:nvSpPr>
          <p:cNvPr id="17" name="Shape 15">
            <a:hlinkClick r:id="rId3" tooltip=""/>
          </p:cNvPr>
          <p:cNvSpPr/>
          <p:nvPr/>
        </p:nvSpPr>
        <p:spPr>
          <a:xfrm>
            <a:off x="320040" y="2103120"/>
            <a:ext cx="384048" cy="347472"/>
          </a:xfrm>
          <a:prstGeom prst="rect">
            <a:avLst/>
          </a:prstGeom>
          <a:solidFill>
            <a:srgbClr val="FFFFFF">
              <a:alpha val="0"/>
            </a:srgbClr>
          </a:solidFill>
          <a:ln w="12700">
            <a:solidFill>
              <a:srgbClr val="FFFFFF">
                <a:alpha val="0"/>
              </a:srgbClr>
            </a:solidFill>
            <a:prstDash val="solid"/>
          </a:ln>
        </p:spPr>
      </p:sp>
      <p:sp>
        <p:nvSpPr>
          <p:cNvPr id="18" name="Text 16"/>
          <p:cNvSpPr/>
          <p:nvPr/>
        </p:nvSpPr>
        <p:spPr>
          <a:xfrm>
            <a:off x="320040" y="2103120"/>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[17]</a:t>
            </a:r>
            <a:endParaRPr lang="en-US" sz="1500" dirty="0"/>
          </a:p>
        </p:txBody>
      </p:sp>
      <p:sp>
        <p:nvSpPr>
          <p:cNvPr id="19" name="Text 17"/>
          <p:cNvSpPr/>
          <p:nvPr/>
        </p:nvSpPr>
        <p:spPr>
          <a:xfrm>
            <a:off x="758952" y="2103120"/>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Xi et al. (2023). The Rise and Potential of Large Language Model Based Agents: A Survey. arXiv:2309.07864.</a:t>
            </a:r>
            <a:endParaRPr lang="en-US" sz="1100" dirty="0"/>
          </a:p>
        </p:txBody>
      </p:sp>
      <p:sp>
        <p:nvSpPr>
          <p:cNvPr id="20" name="Shape 18"/>
          <p:cNvSpPr/>
          <p:nvPr/>
        </p:nvSpPr>
        <p:spPr>
          <a:xfrm>
            <a:off x="320040" y="2779776"/>
            <a:ext cx="11548872" cy="0"/>
          </a:xfrm>
          <a:prstGeom prst="line">
            <a:avLst/>
          </a:prstGeom>
          <a:noFill/>
          <a:ln w="12700">
            <a:solidFill>
              <a:srgbClr val="E0E0E0"/>
            </a:solidFill>
            <a:prstDash val="solid"/>
          </a:ln>
        </p:spPr>
      </p:sp>
      <p:sp>
        <p:nvSpPr>
          <p:cNvPr id="21" name="Shape 19">
            <a:hlinkClick r:id="rId4" tooltip=""/>
          </p:cNvPr>
          <p:cNvSpPr/>
          <p:nvPr/>
        </p:nvSpPr>
        <p:spPr>
          <a:xfrm>
            <a:off x="320040" y="2871216"/>
            <a:ext cx="384048" cy="347472"/>
          </a:xfrm>
          <a:prstGeom prst="rect">
            <a:avLst/>
          </a:prstGeom>
          <a:solidFill>
            <a:srgbClr val="FFFFFF">
              <a:alpha val="0"/>
            </a:srgbClr>
          </a:solidFill>
          <a:ln w="12700">
            <a:solidFill>
              <a:srgbClr val="FFFFFF">
                <a:alpha val="0"/>
              </a:srgbClr>
            </a:solidFill>
            <a:prstDash val="solid"/>
          </a:ln>
        </p:spPr>
      </p:sp>
      <p:sp>
        <p:nvSpPr>
          <p:cNvPr id="22" name="Text 20"/>
          <p:cNvSpPr/>
          <p:nvPr/>
        </p:nvSpPr>
        <p:spPr>
          <a:xfrm>
            <a:off x="320040" y="2871216"/>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[18]</a:t>
            </a:r>
            <a:endParaRPr lang="en-US" sz="1500" dirty="0"/>
          </a:p>
        </p:txBody>
      </p:sp>
      <p:sp>
        <p:nvSpPr>
          <p:cNvPr id="23" name="Text 21"/>
          <p:cNvSpPr/>
          <p:nvPr/>
        </p:nvSpPr>
        <p:spPr>
          <a:xfrm>
            <a:off x="758952" y="2871216"/>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Hu et al. (2022). LoRA: Low-Rank Adaptation of Large Language Models. ICLR 2022. arXiv:2106.09685. doi:10.48550/arXiv.2106.09685.</a:t>
            </a:r>
            <a:endParaRPr lang="en-US" sz="1100" dirty="0"/>
          </a:p>
        </p:txBody>
      </p:sp>
      <p:sp>
        <p:nvSpPr>
          <p:cNvPr id="24" name="Shape 22"/>
          <p:cNvSpPr/>
          <p:nvPr/>
        </p:nvSpPr>
        <p:spPr>
          <a:xfrm>
            <a:off x="320040" y="3547872"/>
            <a:ext cx="11548872" cy="0"/>
          </a:xfrm>
          <a:prstGeom prst="line">
            <a:avLst/>
          </a:prstGeom>
          <a:noFill/>
          <a:ln w="12700">
            <a:solidFill>
              <a:srgbClr val="E0E0E0"/>
            </a:solidFill>
            <a:prstDash val="solid"/>
          </a:ln>
        </p:spPr>
      </p:sp>
      <p:sp>
        <p:nvSpPr>
          <p:cNvPr id="25" name="Shape 23">
            <a:hlinkClick r:id="rId5" tooltip=""/>
          </p:cNvPr>
          <p:cNvSpPr/>
          <p:nvPr/>
        </p:nvSpPr>
        <p:spPr>
          <a:xfrm>
            <a:off x="320040" y="3639312"/>
            <a:ext cx="384048" cy="347472"/>
          </a:xfrm>
          <a:prstGeom prst="rect">
            <a:avLst/>
          </a:prstGeom>
          <a:solidFill>
            <a:srgbClr val="FFFFFF">
              <a:alpha val="0"/>
            </a:srgbClr>
          </a:solidFill>
          <a:ln w="12700">
            <a:solidFill>
              <a:srgbClr val="FFFFFF">
                <a:alpha val="0"/>
              </a:srgbClr>
            </a:solidFill>
            <a:prstDash val="solid"/>
          </a:ln>
        </p:spPr>
      </p:sp>
      <p:sp>
        <p:nvSpPr>
          <p:cNvPr id="26" name="Text 24"/>
          <p:cNvSpPr/>
          <p:nvPr/>
        </p:nvSpPr>
        <p:spPr>
          <a:xfrm>
            <a:off x="320040" y="3639312"/>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[19]</a:t>
            </a:r>
            <a:endParaRPr lang="en-US" sz="1500" dirty="0"/>
          </a:p>
        </p:txBody>
      </p:sp>
      <p:sp>
        <p:nvSpPr>
          <p:cNvPr id="27" name="Text 25"/>
          <p:cNvSpPr/>
          <p:nvPr/>
        </p:nvSpPr>
        <p:spPr>
          <a:xfrm>
            <a:off x="758952" y="3639312"/>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Yang et al. (2024). Ada-KV: Optimizing KV Cache Eviction by Adaptive Budget Allocation for Efficient LLM Inference. arXiv:2407.11550. doi:10.48550/arXiv.2407.11550.</a:t>
            </a:r>
            <a:endParaRPr lang="en-US" sz="1100" dirty="0"/>
          </a:p>
        </p:txBody>
      </p:sp>
      <p:sp>
        <p:nvSpPr>
          <p:cNvPr id="28" name="Shape 26"/>
          <p:cNvSpPr/>
          <p:nvPr/>
        </p:nvSpPr>
        <p:spPr>
          <a:xfrm>
            <a:off x="320040" y="4315968"/>
            <a:ext cx="11548872" cy="0"/>
          </a:xfrm>
          <a:prstGeom prst="line">
            <a:avLst/>
          </a:prstGeom>
          <a:noFill/>
          <a:ln w="12700">
            <a:solidFill>
              <a:srgbClr val="E0E0E0"/>
            </a:solidFill>
            <a:prstDash val="solid"/>
          </a:ln>
        </p:spPr>
      </p:sp>
      <p:sp>
        <p:nvSpPr>
          <p:cNvPr id="29" name="Shape 27">
            <a:hlinkClick r:id="rId6" tooltip=""/>
          </p:cNvPr>
          <p:cNvSpPr/>
          <p:nvPr/>
        </p:nvSpPr>
        <p:spPr>
          <a:xfrm>
            <a:off x="320040" y="4407408"/>
            <a:ext cx="384048" cy="347472"/>
          </a:xfrm>
          <a:prstGeom prst="rect">
            <a:avLst/>
          </a:prstGeom>
          <a:solidFill>
            <a:srgbClr val="FFFFFF">
              <a:alpha val="0"/>
            </a:srgbClr>
          </a:solidFill>
          <a:ln w="12700">
            <a:solidFill>
              <a:srgbClr val="FFFFFF">
                <a:alpha val="0"/>
              </a:srgbClr>
            </a:solidFill>
            <a:prstDash val="solid"/>
          </a:ln>
        </p:spPr>
      </p:sp>
      <p:sp>
        <p:nvSpPr>
          <p:cNvPr id="30" name="Text 28"/>
          <p:cNvSpPr/>
          <p:nvPr/>
        </p:nvSpPr>
        <p:spPr>
          <a:xfrm>
            <a:off x="320040" y="4407408"/>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[20]</a:t>
            </a:r>
            <a:endParaRPr lang="en-US" sz="1500" dirty="0"/>
          </a:p>
        </p:txBody>
      </p:sp>
      <p:sp>
        <p:nvSpPr>
          <p:cNvPr id="31" name="Text 29"/>
          <p:cNvSpPr/>
          <p:nvPr/>
        </p:nvSpPr>
        <p:spPr>
          <a:xfrm>
            <a:off x="758952" y="4407408"/>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Wan et al. (2024). D2O: Dynamic Discriminative Operations for Efficient Generative Inference of Large Language Models. arXiv:2406.13035. doi:10.48550/arXiv.2406.13035.</a:t>
            </a:r>
            <a:endParaRPr lang="en-US" sz="1100" dirty="0"/>
          </a:p>
        </p:txBody>
      </p:sp>
      <p:sp>
        <p:nvSpPr>
          <p:cNvPr id="32" name="Shape 30"/>
          <p:cNvSpPr/>
          <p:nvPr/>
        </p:nvSpPr>
        <p:spPr>
          <a:xfrm>
            <a:off x="320040" y="5084064"/>
            <a:ext cx="11548872" cy="0"/>
          </a:xfrm>
          <a:prstGeom prst="line">
            <a:avLst/>
          </a:prstGeom>
          <a:noFill/>
          <a:ln w="12700">
            <a:solidFill>
              <a:srgbClr val="E0E0E0"/>
            </a:solidFill>
            <a:prstDash val="solid"/>
          </a:ln>
        </p:spPr>
      </p:sp>
      <p:sp>
        <p:nvSpPr>
          <p:cNvPr id="33" name="Shape 31">
            <a:hlinkClick r:id="rId7" tooltip=""/>
          </p:cNvPr>
          <p:cNvSpPr/>
          <p:nvPr/>
        </p:nvSpPr>
        <p:spPr>
          <a:xfrm>
            <a:off x="320040" y="5175504"/>
            <a:ext cx="384048" cy="347472"/>
          </a:xfrm>
          <a:prstGeom prst="rect">
            <a:avLst/>
          </a:prstGeom>
          <a:solidFill>
            <a:srgbClr val="FFFFFF">
              <a:alpha val="0"/>
            </a:srgbClr>
          </a:solidFill>
          <a:ln w="12700">
            <a:solidFill>
              <a:srgbClr val="FFFFFF">
                <a:alpha val="0"/>
              </a:srgbClr>
            </a:solidFill>
            <a:prstDash val="solid"/>
          </a:ln>
        </p:spPr>
      </p:sp>
      <p:sp>
        <p:nvSpPr>
          <p:cNvPr id="34" name="Text 32"/>
          <p:cNvSpPr/>
          <p:nvPr/>
        </p:nvSpPr>
        <p:spPr>
          <a:xfrm>
            <a:off x="320040" y="5175504"/>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[21]</a:t>
            </a:r>
            <a:endParaRPr lang="en-US" sz="1500" dirty="0"/>
          </a:p>
        </p:txBody>
      </p:sp>
      <p:sp>
        <p:nvSpPr>
          <p:cNvPr id="35" name="Text 33"/>
          <p:cNvSpPr/>
          <p:nvPr/>
        </p:nvSpPr>
        <p:spPr>
          <a:xfrm>
            <a:off x="758952" y="5175504"/>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Team et al. (2024). Gemini: A Family of Highly Capable Multimodal Models. arXiv:2312.11805. doi:10.48550/arXiv.2312.11805.</a:t>
            </a:r>
            <a:endParaRPr lang="en-US" sz="1100" dirty="0"/>
          </a:p>
        </p:txBody>
      </p:sp>
      <p:sp>
        <p:nvSpPr>
          <p:cNvPr id="36" name="Text 34"/>
          <p:cNvSpPr/>
          <p:nvPr/>
        </p:nvSpPr>
        <p:spPr>
          <a:xfrm>
            <a:off x="320040" y="6455664"/>
            <a:ext cx="11548872" cy="164592"/>
          </a:xfrm>
          <a:prstGeom prst="rect">
            <a:avLst/>
          </a:prstGeom>
          <a:noFill/>
          <a:ln/>
        </p:spPr>
        <p:txBody>
          <a:bodyPr wrap="square" rtlCol="0" anchor="ctr"/>
          <a:lstStyle/>
          <a:p>
            <a:pPr indent="0" marL="0">
              <a:buNone/>
            </a:pPr>
            <a:r>
              <a:rPr lang="en-US" sz="95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50" b="1" u="sng" dirty="0">
                <a:solidFill>
                  <a:srgbClr val="1565C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Drive Folder</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References (4 of 4)</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51</a:t>
            </a:r>
            <a:endParaRPr lang="en-US" sz="1300" dirty="0"/>
          </a:p>
        </p:txBody>
      </p:sp>
      <p:sp>
        <p:nvSpPr>
          <p:cNvPr id="9" name="Shape 7">
            <a:hlinkClick r:id="rId1" tooltip=""/>
          </p:cNvPr>
          <p:cNvSpPr/>
          <p:nvPr/>
        </p:nvSpPr>
        <p:spPr>
          <a:xfrm>
            <a:off x="320040" y="566928"/>
            <a:ext cx="384048" cy="347472"/>
          </a:xfrm>
          <a:prstGeom prst="rect">
            <a:avLst/>
          </a:prstGeom>
          <a:solidFill>
            <a:srgbClr val="FFFFFF">
              <a:alpha val="0"/>
            </a:srgbClr>
          </a:solidFill>
          <a:ln w="12700">
            <a:solidFill>
              <a:srgbClr val="FFFFFF">
                <a:alpha val="0"/>
              </a:srgbClr>
            </a:solidFill>
            <a:prstDash val="solid"/>
          </a:ln>
        </p:spPr>
      </p:sp>
      <p:sp>
        <p:nvSpPr>
          <p:cNvPr id="10" name="Text 8"/>
          <p:cNvSpPr/>
          <p:nvPr/>
        </p:nvSpPr>
        <p:spPr>
          <a:xfrm>
            <a:off x="320040" y="566928"/>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[22]</a:t>
            </a:r>
            <a:endParaRPr lang="en-US" sz="1500" dirty="0"/>
          </a:p>
        </p:txBody>
      </p:sp>
      <p:sp>
        <p:nvSpPr>
          <p:cNvPr id="11" name="Text 9"/>
          <p:cNvSpPr/>
          <p:nvPr/>
        </p:nvSpPr>
        <p:spPr>
          <a:xfrm>
            <a:off x="758952" y="566928"/>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Guo et al. (2024). Large Language Model based Multi-Agents: A Survey of Progress and Challenges. arXiv:2402.01680. doi:10.48550/arXiv.2402.01680.</a:t>
            </a:r>
            <a:endParaRPr lang="en-US" sz="1100" dirty="0"/>
          </a:p>
        </p:txBody>
      </p:sp>
      <p:sp>
        <p:nvSpPr>
          <p:cNvPr id="12" name="Shape 10"/>
          <p:cNvSpPr/>
          <p:nvPr/>
        </p:nvSpPr>
        <p:spPr>
          <a:xfrm>
            <a:off x="320040" y="1243584"/>
            <a:ext cx="11548872" cy="0"/>
          </a:xfrm>
          <a:prstGeom prst="line">
            <a:avLst/>
          </a:prstGeom>
          <a:noFill/>
          <a:ln w="12700">
            <a:solidFill>
              <a:srgbClr val="E0E0E0"/>
            </a:solidFill>
            <a:prstDash val="solid"/>
          </a:ln>
        </p:spPr>
      </p:sp>
      <p:sp>
        <p:nvSpPr>
          <p:cNvPr id="13" name="Shape 11">
            <a:hlinkClick r:id="rId2" tooltip=""/>
          </p:cNvPr>
          <p:cNvSpPr/>
          <p:nvPr/>
        </p:nvSpPr>
        <p:spPr>
          <a:xfrm>
            <a:off x="320040" y="1335024"/>
            <a:ext cx="384048" cy="347472"/>
          </a:xfrm>
          <a:prstGeom prst="rect">
            <a:avLst/>
          </a:prstGeom>
          <a:solidFill>
            <a:srgbClr val="FFFFFF">
              <a:alpha val="0"/>
            </a:srgbClr>
          </a:solidFill>
          <a:ln w="12700">
            <a:solidFill>
              <a:srgbClr val="FFFFFF">
                <a:alpha val="0"/>
              </a:srgbClr>
            </a:solidFill>
            <a:prstDash val="solid"/>
          </a:ln>
        </p:spPr>
      </p:sp>
      <p:sp>
        <p:nvSpPr>
          <p:cNvPr id="14" name="Text 12"/>
          <p:cNvSpPr/>
          <p:nvPr/>
        </p:nvSpPr>
        <p:spPr>
          <a:xfrm>
            <a:off x="320040" y="1335024"/>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[23]</a:t>
            </a:r>
            <a:endParaRPr lang="en-US" sz="1500" dirty="0"/>
          </a:p>
        </p:txBody>
      </p:sp>
      <p:sp>
        <p:nvSpPr>
          <p:cNvPr id="15" name="Text 13"/>
          <p:cNvSpPr/>
          <p:nvPr/>
        </p:nvSpPr>
        <p:spPr>
          <a:xfrm>
            <a:off x="758952" y="1335024"/>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Xu et al. (2024). Finch: Prompt-guided Key-Value Cache Compression for Large Language Models. TACL 2024. arXiv:2408.00167. doi:10.48550/arXiv.2408.00167.</a:t>
            </a:r>
            <a:endParaRPr lang="en-US" sz="1100" dirty="0"/>
          </a:p>
        </p:txBody>
      </p:sp>
      <p:sp>
        <p:nvSpPr>
          <p:cNvPr id="16" name="Shape 14"/>
          <p:cNvSpPr/>
          <p:nvPr/>
        </p:nvSpPr>
        <p:spPr>
          <a:xfrm>
            <a:off x="320040" y="2011680"/>
            <a:ext cx="11548872" cy="0"/>
          </a:xfrm>
          <a:prstGeom prst="line">
            <a:avLst/>
          </a:prstGeom>
          <a:noFill/>
          <a:ln w="12700">
            <a:solidFill>
              <a:srgbClr val="E0E0E0"/>
            </a:solidFill>
            <a:prstDash val="solid"/>
          </a:ln>
        </p:spPr>
      </p:sp>
      <p:sp>
        <p:nvSpPr>
          <p:cNvPr id="17" name="Shape 15">
            <a:hlinkClick r:id="rId3" tooltip=""/>
          </p:cNvPr>
          <p:cNvSpPr/>
          <p:nvPr/>
        </p:nvSpPr>
        <p:spPr>
          <a:xfrm>
            <a:off x="320040" y="2103120"/>
            <a:ext cx="384048" cy="347472"/>
          </a:xfrm>
          <a:prstGeom prst="rect">
            <a:avLst/>
          </a:prstGeom>
          <a:solidFill>
            <a:srgbClr val="FFFFFF">
              <a:alpha val="0"/>
            </a:srgbClr>
          </a:solidFill>
          <a:ln w="12700">
            <a:solidFill>
              <a:srgbClr val="FFFFFF">
                <a:alpha val="0"/>
              </a:srgbClr>
            </a:solidFill>
            <a:prstDash val="solid"/>
          </a:ln>
        </p:spPr>
      </p:sp>
      <p:sp>
        <p:nvSpPr>
          <p:cNvPr id="18" name="Text 16"/>
          <p:cNvSpPr/>
          <p:nvPr/>
        </p:nvSpPr>
        <p:spPr>
          <a:xfrm>
            <a:off x="320040" y="2103120"/>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[24]</a:t>
            </a:r>
            <a:endParaRPr lang="en-US" sz="1500" dirty="0"/>
          </a:p>
        </p:txBody>
      </p:sp>
      <p:sp>
        <p:nvSpPr>
          <p:cNvPr id="19" name="Text 17"/>
          <p:cNvSpPr/>
          <p:nvPr/>
        </p:nvSpPr>
        <p:spPr>
          <a:xfrm>
            <a:off x="758952" y="2103120"/>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Team (2024). ToolBench: An Open Platform for Training, Serving, and Evaluating Large Language Models for Tool Learning. arXiv:2307.16789.</a:t>
            </a:r>
            <a:endParaRPr lang="en-US" sz="1100" dirty="0"/>
          </a:p>
        </p:txBody>
      </p:sp>
      <p:sp>
        <p:nvSpPr>
          <p:cNvPr id="20" name="Shape 18"/>
          <p:cNvSpPr/>
          <p:nvPr/>
        </p:nvSpPr>
        <p:spPr>
          <a:xfrm>
            <a:off x="320040" y="2779776"/>
            <a:ext cx="11548872" cy="0"/>
          </a:xfrm>
          <a:prstGeom prst="line">
            <a:avLst/>
          </a:prstGeom>
          <a:noFill/>
          <a:ln w="12700">
            <a:solidFill>
              <a:srgbClr val="E0E0E0"/>
            </a:solidFill>
            <a:prstDash val="solid"/>
          </a:ln>
        </p:spPr>
      </p:sp>
      <p:sp>
        <p:nvSpPr>
          <p:cNvPr id="21" name="Shape 19">
            <a:hlinkClick r:id="rId4" tooltip=""/>
          </p:cNvPr>
          <p:cNvSpPr/>
          <p:nvPr/>
        </p:nvSpPr>
        <p:spPr>
          <a:xfrm>
            <a:off x="320040" y="2871216"/>
            <a:ext cx="384048" cy="347472"/>
          </a:xfrm>
          <a:prstGeom prst="rect">
            <a:avLst/>
          </a:prstGeom>
          <a:solidFill>
            <a:srgbClr val="FFFFFF">
              <a:alpha val="0"/>
            </a:srgbClr>
          </a:solidFill>
          <a:ln w="12700">
            <a:solidFill>
              <a:srgbClr val="FFFFFF">
                <a:alpha val="0"/>
              </a:srgbClr>
            </a:solidFill>
            <a:prstDash val="solid"/>
          </a:ln>
        </p:spPr>
      </p:sp>
      <p:sp>
        <p:nvSpPr>
          <p:cNvPr id="22" name="Text 20"/>
          <p:cNvSpPr/>
          <p:nvPr/>
        </p:nvSpPr>
        <p:spPr>
          <a:xfrm>
            <a:off x="320040" y="2871216"/>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[25]</a:t>
            </a:r>
            <a:endParaRPr lang="en-US" sz="1500" dirty="0"/>
          </a:p>
        </p:txBody>
      </p:sp>
      <p:sp>
        <p:nvSpPr>
          <p:cNvPr id="23" name="Text 21"/>
          <p:cNvSpPr/>
          <p:nvPr/>
        </p:nvSpPr>
        <p:spPr>
          <a:xfrm>
            <a:off x="758952" y="2871216"/>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Qin et al. (2023). Tool Learning with Foundation Models. arXiv:2304.08354.</a:t>
            </a:r>
            <a:endParaRPr lang="en-US" sz="1100" dirty="0"/>
          </a:p>
        </p:txBody>
      </p:sp>
      <p:sp>
        <p:nvSpPr>
          <p:cNvPr id="24" name="Shape 22"/>
          <p:cNvSpPr/>
          <p:nvPr/>
        </p:nvSpPr>
        <p:spPr>
          <a:xfrm>
            <a:off x="320040" y="3547872"/>
            <a:ext cx="11548872" cy="0"/>
          </a:xfrm>
          <a:prstGeom prst="line">
            <a:avLst/>
          </a:prstGeom>
          <a:noFill/>
          <a:ln w="12700">
            <a:solidFill>
              <a:srgbClr val="E0E0E0"/>
            </a:solidFill>
            <a:prstDash val="solid"/>
          </a:ln>
        </p:spPr>
      </p:sp>
      <p:sp>
        <p:nvSpPr>
          <p:cNvPr id="25" name="Shape 23">
            <a:hlinkClick r:id="rId5" tooltip=""/>
          </p:cNvPr>
          <p:cNvSpPr/>
          <p:nvPr/>
        </p:nvSpPr>
        <p:spPr>
          <a:xfrm>
            <a:off x="320040" y="3639312"/>
            <a:ext cx="384048" cy="347472"/>
          </a:xfrm>
          <a:prstGeom prst="rect">
            <a:avLst/>
          </a:prstGeom>
          <a:solidFill>
            <a:srgbClr val="FFFFFF">
              <a:alpha val="0"/>
            </a:srgbClr>
          </a:solidFill>
          <a:ln w="12700">
            <a:solidFill>
              <a:srgbClr val="FFFFFF">
                <a:alpha val="0"/>
              </a:srgbClr>
            </a:solidFill>
            <a:prstDash val="solid"/>
          </a:ln>
        </p:spPr>
      </p:sp>
      <p:sp>
        <p:nvSpPr>
          <p:cNvPr id="26" name="Text 24"/>
          <p:cNvSpPr/>
          <p:nvPr/>
        </p:nvSpPr>
        <p:spPr>
          <a:xfrm>
            <a:off x="320040" y="3639312"/>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[26]</a:t>
            </a:r>
            <a:endParaRPr lang="en-US" sz="1500" dirty="0"/>
          </a:p>
        </p:txBody>
      </p:sp>
      <p:sp>
        <p:nvSpPr>
          <p:cNvPr id="27" name="Text 25"/>
          <p:cNvSpPr/>
          <p:nvPr/>
        </p:nvSpPr>
        <p:spPr>
          <a:xfrm>
            <a:off x="758952" y="3639312"/>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Patil et al. (2023). Gorilla: Large Language Model Connected with Massive APIs. arXiv:2305.15334.</a:t>
            </a:r>
            <a:endParaRPr lang="en-US" sz="1100" dirty="0"/>
          </a:p>
        </p:txBody>
      </p:sp>
      <p:sp>
        <p:nvSpPr>
          <p:cNvPr id="28" name="Shape 26"/>
          <p:cNvSpPr/>
          <p:nvPr/>
        </p:nvSpPr>
        <p:spPr>
          <a:xfrm>
            <a:off x="320040" y="4315968"/>
            <a:ext cx="11548872" cy="0"/>
          </a:xfrm>
          <a:prstGeom prst="line">
            <a:avLst/>
          </a:prstGeom>
          <a:noFill/>
          <a:ln w="12700">
            <a:solidFill>
              <a:srgbClr val="E0E0E0"/>
            </a:solidFill>
            <a:prstDash val="solid"/>
          </a:ln>
        </p:spPr>
      </p:sp>
      <p:sp>
        <p:nvSpPr>
          <p:cNvPr id="29" name="Shape 27">
            <a:hlinkClick r:id="rId6" tooltip=""/>
          </p:cNvPr>
          <p:cNvSpPr/>
          <p:nvPr/>
        </p:nvSpPr>
        <p:spPr>
          <a:xfrm>
            <a:off x="320040" y="4407408"/>
            <a:ext cx="384048" cy="347472"/>
          </a:xfrm>
          <a:prstGeom prst="rect">
            <a:avLst/>
          </a:prstGeom>
          <a:solidFill>
            <a:srgbClr val="FFFFFF">
              <a:alpha val="0"/>
            </a:srgbClr>
          </a:solidFill>
          <a:ln w="12700">
            <a:solidFill>
              <a:srgbClr val="FFFFFF">
                <a:alpha val="0"/>
              </a:srgbClr>
            </a:solidFill>
            <a:prstDash val="solid"/>
          </a:ln>
        </p:spPr>
      </p:sp>
      <p:sp>
        <p:nvSpPr>
          <p:cNvPr id="30" name="Text 28"/>
          <p:cNvSpPr/>
          <p:nvPr/>
        </p:nvSpPr>
        <p:spPr>
          <a:xfrm>
            <a:off x="320040" y="4407408"/>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[27]</a:t>
            </a:r>
            <a:endParaRPr lang="en-US" sz="1500" dirty="0"/>
          </a:p>
        </p:txBody>
      </p:sp>
      <p:sp>
        <p:nvSpPr>
          <p:cNvPr id="31" name="Text 29"/>
          <p:cNvSpPr/>
          <p:nvPr/>
        </p:nvSpPr>
        <p:spPr>
          <a:xfrm>
            <a:off x="758952" y="4407408"/>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Zhuang et al. (2023). ToolQA: A Dataset for LLM Question Answering with External Tools. NeurIPS 2023. arXiv:2306.13304.</a:t>
            </a:r>
            <a:endParaRPr lang="en-US" sz="1100" dirty="0"/>
          </a:p>
        </p:txBody>
      </p:sp>
      <p:sp>
        <p:nvSpPr>
          <p:cNvPr id="32" name="Shape 30"/>
          <p:cNvSpPr/>
          <p:nvPr/>
        </p:nvSpPr>
        <p:spPr>
          <a:xfrm>
            <a:off x="320040" y="5084064"/>
            <a:ext cx="11548872" cy="0"/>
          </a:xfrm>
          <a:prstGeom prst="line">
            <a:avLst/>
          </a:prstGeom>
          <a:noFill/>
          <a:ln w="12700">
            <a:solidFill>
              <a:srgbClr val="E0E0E0"/>
            </a:solidFill>
            <a:prstDash val="solid"/>
          </a:ln>
        </p:spPr>
      </p:sp>
      <p:sp>
        <p:nvSpPr>
          <p:cNvPr id="33" name="Shape 31">
            <a:hlinkClick r:id="rId7" tooltip=""/>
          </p:cNvPr>
          <p:cNvSpPr/>
          <p:nvPr/>
        </p:nvSpPr>
        <p:spPr>
          <a:xfrm>
            <a:off x="320040" y="5175504"/>
            <a:ext cx="384048" cy="347472"/>
          </a:xfrm>
          <a:prstGeom prst="rect">
            <a:avLst/>
          </a:prstGeom>
          <a:solidFill>
            <a:srgbClr val="FFFFFF">
              <a:alpha val="0"/>
            </a:srgbClr>
          </a:solidFill>
          <a:ln w="12700">
            <a:solidFill>
              <a:srgbClr val="FFFFFF">
                <a:alpha val="0"/>
              </a:srgbClr>
            </a:solidFill>
            <a:prstDash val="solid"/>
          </a:ln>
        </p:spPr>
      </p:sp>
      <p:sp>
        <p:nvSpPr>
          <p:cNvPr id="34" name="Text 32"/>
          <p:cNvSpPr/>
          <p:nvPr/>
        </p:nvSpPr>
        <p:spPr>
          <a:xfrm>
            <a:off x="320040" y="5175504"/>
            <a:ext cx="384048" cy="347472"/>
          </a:xfrm>
          <a:prstGeom prst="rect">
            <a:avLst/>
          </a:prstGeom>
          <a:noFill/>
          <a:ln/>
        </p:spPr>
        <p:txBody>
          <a:bodyPr wrap="square" lIns="0" tIns="0" rIns="0" bIns="0" rtlCol="0" anchor="ctr"/>
          <a:lstStyle/>
          <a:p>
            <a:pPr algn="ctr" indent="0" marL="0">
              <a:buNone/>
            </a:pPr>
            <a:r>
              <a:rPr lang="en-US" sz="1500" b="1" dirty="0">
                <a:solidFill>
                  <a:srgbClr val="C8402A"/>
                </a:solidFill>
                <a:latin typeface="Calibri" pitchFamily="34" charset="0"/>
                <a:ea typeface="Calibri" pitchFamily="34" charset="-122"/>
                <a:cs typeface="Calibri" pitchFamily="34" charset="-120"/>
              </a:rPr>
              <a:t>[28]</a:t>
            </a:r>
            <a:endParaRPr lang="en-US" sz="1500" dirty="0"/>
          </a:p>
        </p:txBody>
      </p:sp>
      <p:sp>
        <p:nvSpPr>
          <p:cNvPr id="35" name="Text 33"/>
          <p:cNvSpPr/>
          <p:nvPr/>
        </p:nvSpPr>
        <p:spPr>
          <a:xfrm>
            <a:off x="758952" y="5175504"/>
            <a:ext cx="11109960" cy="713232"/>
          </a:xfrm>
          <a:prstGeom prst="rect">
            <a:avLst/>
          </a:prstGeom>
          <a:noFill/>
          <a:ln/>
        </p:spPr>
        <p:txBody>
          <a:bodyPr wrap="square" rtlCol="0" anchor="t"/>
          <a:lstStyle/>
          <a:p>
            <a:pPr indent="0" marL="0">
              <a:buNone/>
            </a:pPr>
            <a:r>
              <a:rPr lang="en-US" sz="1100" dirty="0">
                <a:solidFill>
                  <a:srgbClr val="1A1035"/>
                </a:solidFill>
                <a:latin typeface="Calibri" pitchFamily="34" charset="0"/>
                <a:ea typeface="Calibri" pitchFamily="34" charset="-122"/>
                <a:cs typeface="Calibri" pitchFamily="34" charset="-120"/>
              </a:rPr>
              <a:t>Schick et al. (2024). Toolformer: Language Models Can Teach Themselves to Use Tools. NeurIPS 2023. arXiv:2302.04761.</a:t>
            </a:r>
            <a:endParaRPr lang="en-US" sz="1100" dirty="0"/>
          </a:p>
        </p:txBody>
      </p:sp>
      <p:sp>
        <p:nvSpPr>
          <p:cNvPr id="36" name="Text 34"/>
          <p:cNvSpPr/>
          <p:nvPr/>
        </p:nvSpPr>
        <p:spPr>
          <a:xfrm>
            <a:off x="320040" y="6455664"/>
            <a:ext cx="11548872" cy="164592"/>
          </a:xfrm>
          <a:prstGeom prst="rect">
            <a:avLst/>
          </a:prstGeom>
          <a:noFill/>
          <a:ln/>
        </p:spPr>
        <p:txBody>
          <a:bodyPr wrap="square" rtlCol="0" anchor="ctr"/>
          <a:lstStyle/>
          <a:p>
            <a:pPr indent="0" marL="0">
              <a:buNone/>
            </a:pPr>
            <a:r>
              <a:rPr lang="en-US" sz="950" dirty="0">
                <a:solidFill>
                  <a:srgbClr val="1A1035"/>
                </a:solidFill>
                <a:latin typeface="Calibri" pitchFamily="34" charset="0"/>
                <a:ea typeface="Calibri" pitchFamily="34" charset="-122"/>
                <a:cs typeface="Calibri" pitchFamily="34" charset="-120"/>
              </a:rPr>
              <a:t xml:space="preserve">Paper Folder: </a:t>
            </a:r>
            <a:pPr indent="0" marL="0">
              <a:buNone/>
            </a:pPr>
            <a:r>
              <a:rPr lang="en-US" sz="950" b="1" u="sng" dirty="0">
                <a:solidFill>
                  <a:srgbClr val="1565C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Drive Folder</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PhD Research Timeline — Post-PRP-1 to Thesis (Months After Proof-of-Concept)</a:t>
            </a:r>
            <a:endParaRPr lang="en-US" sz="20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960120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a:t>
            </a:r>
            <a:endParaRPr lang="en-US" sz="800" dirty="0"/>
          </a:p>
        </p:txBody>
      </p:sp>
      <p:sp>
        <p:nvSpPr>
          <p:cNvPr id="7" name="Shape 5"/>
          <p:cNvSpPr/>
          <p:nvPr/>
        </p:nvSpPr>
        <p:spPr>
          <a:xfrm>
            <a:off x="11274552" y="6601968"/>
            <a:ext cx="914400" cy="256032"/>
          </a:xfrm>
          <a:prstGeom prst="rect">
            <a:avLst/>
          </a:prstGeom>
          <a:solidFill>
            <a:srgbClr val="3C2864"/>
          </a:solidFill>
          <a:ln w="12700">
            <a:solidFill>
              <a:srgbClr val="3C2864"/>
            </a:solidFill>
            <a:prstDash val="solid"/>
          </a:ln>
        </p:spPr>
      </p:sp>
      <p:sp>
        <p:nvSpPr>
          <p:cNvPr id="8" name="Text 6"/>
          <p:cNvSpPr/>
          <p:nvPr/>
        </p:nvSpPr>
        <p:spPr>
          <a:xfrm>
            <a:off x="11274552" y="6601968"/>
            <a:ext cx="91440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55</a:t>
            </a:r>
            <a:endParaRPr lang="en-US" sz="1300" dirty="0"/>
          </a:p>
        </p:txBody>
      </p:sp>
      <p:sp>
        <p:nvSpPr>
          <p:cNvPr id="9" name="Text 7"/>
          <p:cNvSpPr/>
          <p:nvPr/>
        </p:nvSpPr>
        <p:spPr>
          <a:xfrm>
            <a:off x="320040" y="502920"/>
            <a:ext cx="11548872" cy="384048"/>
          </a:xfrm>
          <a:prstGeom prst="rect">
            <a:avLst/>
          </a:prstGeom>
          <a:noFill/>
          <a:ln/>
        </p:spPr>
        <p:txBody>
          <a:bodyPr wrap="square" rtlCol="0" anchor="ctr"/>
          <a:lstStyle/>
          <a:p>
            <a:pPr indent="0" marL="0">
              <a:buNone/>
            </a:pPr>
            <a:r>
              <a:rPr lang="en-US" sz="1150" i="1" dirty="0">
                <a:solidFill>
                  <a:srgbClr val="3C2864"/>
                </a:solidFill>
                <a:latin typeface="Calibri" pitchFamily="34" charset="0"/>
                <a:ea typeface="Calibri" pitchFamily="34" charset="-122"/>
                <a:cs typeface="Calibri" pitchFamily="34" charset="-120"/>
              </a:rPr>
              <a:t>Starting from PRP-1 (June 2026). Each objective completion triggers a journal paper submission. Timeline aligned with MSRUAS ORI Standard Operating Procedure (SOP, February 2025). Examiner review minimum 8 weeks per SOP.</a:t>
            </a:r>
            <a:endParaRPr lang="en-US" sz="1150" dirty="0"/>
          </a:p>
        </p:txBody>
      </p:sp>
      <p:pic>
        <p:nvPicPr>
          <p:cNvPr id="10" name="Image 0" descr="preencoded.png">    </p:cNvPr>
          <p:cNvPicPr>
            <a:picLocks noChangeAspect="1"/>
          </p:cNvPicPr>
          <p:nvPr/>
        </p:nvPicPr>
        <p:blipFill>
          <a:blip r:embed="rId1"/>
          <a:srcRect l="0" r="0" t="0" b="0"/>
          <a:stretch/>
        </p:blipFill>
        <p:spPr>
          <a:xfrm>
            <a:off x="182880" y="914400"/>
            <a:ext cx="11795760" cy="5577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M. S. Ramaiah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Evaluation of Adaptive Context Reasoning System (ACRS) for Efficient Multi-Agent Large Language Model Inference</dc:title>
  <dc:subject>PhD Research Proposal — ACRS</dc:subject>
  <dc:creator>Jenisha T</dc:creator>
  <cp:lastModifiedBy>Jenisha T</cp:lastModifiedBy>
  <cp:revision>1</cp:revision>
  <dcterms:created xsi:type="dcterms:W3CDTF">2026-06-18T03:11:34Z</dcterms:created>
  <dcterms:modified xsi:type="dcterms:W3CDTF">2026-06-18T03:11:34Z</dcterms:modified>
</cp:coreProperties>
</file>