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6032" y="6565392"/>
            <a:ext cx="3108960" cy="256032"/>
          </a:xfrm>
        </p:spPr>
        <p:txBody>
          <a:bodyPr wrap="none"/>
          <a:lstStyle/>
          <a:p>
            <a:pPr algn="l"/>
            <a:fld id="{5BCAD085-E8A6-8845-BD4E-CB4CCA059FC4}" type="datetime3">
              <a:rPr lang="en-US" smtClean="0"/>
              <a:t>7 September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383280" y="6565392"/>
            <a:ext cx="5760720" cy="256032"/>
          </a:xfrm>
        </p:spPr>
        <p:txBody>
          <a:bodyPr wrap="none"/>
          <a:lstStyle/>
          <a:p>
            <a:pPr algn="ctr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601200" y="6565392"/>
            <a:ext cx="2286000" cy="256032"/>
          </a:xfrm>
        </p:spPr>
        <p:txBody>
          <a:bodyPr wrap="none"/>
          <a:lstStyle/>
          <a:p>
            <a:pPr algn="r"/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  <p:hf sldNum="1" hdr="0" ftr="1" dt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6032" y="6565392"/>
            <a:ext cx="3108960" cy="256032"/>
          </a:xfrm>
        </p:spPr>
        <p:txBody>
          <a:bodyPr wrap="none"/>
          <a:lstStyle/>
          <a:p>
            <a:pPr algn="l"/>
            <a:fld id="{5BCAD085-E8A6-8845-BD4E-CB4CCA059FC4}" type="datetime3">
              <a:rPr lang="en-US" smtClean="0"/>
              <a:t>7 September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383280" y="6565392"/>
            <a:ext cx="5760720" cy="256032"/>
          </a:xfrm>
        </p:spPr>
        <p:txBody>
          <a:bodyPr wrap="none"/>
          <a:lstStyle/>
          <a:p>
            <a:pPr algn="ctr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601200" y="6565392"/>
            <a:ext cx="2286000" cy="256032"/>
          </a:xfrm>
        </p:spPr>
        <p:txBody>
          <a:bodyPr wrap="none"/>
          <a:lstStyle/>
          <a:p>
            <a:pPr algn="r"/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  <p:hf sldNum="1" hdr="0" ftr="1" dt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6032" y="6565392"/>
            <a:ext cx="3108960" cy="256032"/>
          </a:xfrm>
        </p:spPr>
        <p:txBody>
          <a:bodyPr wrap="none"/>
          <a:lstStyle/>
          <a:p>
            <a:pPr algn="l"/>
            <a:fld id="{5BCAD085-E8A6-8845-BD4E-CB4CCA059FC4}" type="datetime3">
              <a:rPr lang="en-US" smtClean="0"/>
              <a:t>7 September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383280" y="6565392"/>
            <a:ext cx="5760720" cy="256032"/>
          </a:xfrm>
        </p:spPr>
        <p:txBody>
          <a:bodyPr wrap="none"/>
          <a:lstStyle/>
          <a:p>
            <a:pPr algn="ctr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601200" y="6565392"/>
            <a:ext cx="2286000" cy="256032"/>
          </a:xfrm>
        </p:spPr>
        <p:txBody>
          <a:bodyPr wrap="none"/>
          <a:lstStyle/>
          <a:p>
            <a:pPr algn="r"/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  <p:hf sldNum="1" hdr="0" ftr="1" dt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6032" y="6565392"/>
            <a:ext cx="3108960" cy="256032"/>
          </a:xfrm>
        </p:spPr>
        <p:txBody>
          <a:bodyPr wrap="none"/>
          <a:lstStyle/>
          <a:p>
            <a:pPr algn="l"/>
            <a:fld id="{5BCAD085-E8A6-8845-BD4E-CB4CCA059FC4}" type="datetime3">
              <a:rPr lang="en-US" smtClean="0"/>
              <a:t>7 September 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383280" y="6565392"/>
            <a:ext cx="5760720" cy="256032"/>
          </a:xfrm>
        </p:spPr>
        <p:txBody>
          <a:bodyPr wrap="none"/>
          <a:lstStyle/>
          <a:p>
            <a:pPr algn="ctr"/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601200" y="6565392"/>
            <a:ext cx="2286000" cy="256032"/>
          </a:xfrm>
        </p:spPr>
        <p:txBody>
          <a:bodyPr wrap="none"/>
          <a:lstStyle/>
          <a:p>
            <a:pPr algn="r"/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  <p:hf sldNum="1" hdr="0" ftr="1" dt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256032" y="6565392"/>
            <a:ext cx="3108960" cy="256032"/>
          </a:xfrm>
        </p:spPr>
        <p:txBody>
          <a:bodyPr wrap="none"/>
          <a:lstStyle/>
          <a:p>
            <a:pPr algn="l"/>
            <a:fld id="{5BCAD085-E8A6-8845-BD4E-CB4CCA059FC4}" type="datetime3">
              <a:rPr lang="en-US" smtClean="0"/>
              <a:t>7 September 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383280" y="6565392"/>
            <a:ext cx="5760720" cy="256032"/>
          </a:xfrm>
        </p:spPr>
        <p:txBody>
          <a:bodyPr wrap="none"/>
          <a:lstStyle/>
          <a:p>
            <a:pPr algn="ctr"/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9601200" y="6565392"/>
            <a:ext cx="2286000" cy="256032"/>
          </a:xfrm>
        </p:spPr>
        <p:txBody>
          <a:bodyPr wrap="none"/>
          <a:lstStyle/>
          <a:p>
            <a:pPr algn="r"/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  <p:hf sldNum="1" hdr="0" ftr="1" dt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56032" y="6565392"/>
            <a:ext cx="3108960" cy="256032"/>
          </a:xfrm>
        </p:spPr>
        <p:txBody>
          <a:bodyPr wrap="none"/>
          <a:lstStyle/>
          <a:p>
            <a:pPr algn="l"/>
            <a:fld id="{5BCAD085-E8A6-8845-BD4E-CB4CCA059FC4}" type="datetime3">
              <a:rPr lang="en-US" smtClean="0"/>
              <a:t>7 September 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383280" y="6565392"/>
            <a:ext cx="5760720" cy="256032"/>
          </a:xfrm>
        </p:spPr>
        <p:txBody>
          <a:bodyPr wrap="none"/>
          <a:lstStyle/>
          <a:p>
            <a:pPr algn="ctr"/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9601200" y="6565392"/>
            <a:ext cx="2286000" cy="256032"/>
          </a:xfrm>
        </p:spPr>
        <p:txBody>
          <a:bodyPr wrap="none"/>
          <a:lstStyle/>
          <a:p>
            <a:pPr algn="r"/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  <p:hf sldNum="1" hdr="0" ftr="1" dt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256032" y="6565392"/>
            <a:ext cx="3108960" cy="256032"/>
          </a:xfrm>
        </p:spPr>
        <p:txBody>
          <a:bodyPr wrap="none"/>
          <a:lstStyle/>
          <a:p>
            <a:pPr algn="l"/>
            <a:fld id="{5BCAD085-E8A6-8845-BD4E-CB4CCA059FC4}" type="datetime3">
              <a:rPr lang="en-US" smtClean="0"/>
              <a:t>7 September 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383280" y="6565392"/>
            <a:ext cx="5760720" cy="256032"/>
          </a:xfrm>
        </p:spPr>
        <p:txBody>
          <a:bodyPr wrap="none"/>
          <a:lstStyle/>
          <a:p>
            <a:pPr algn="ctr"/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9601200" y="6565392"/>
            <a:ext cx="2286000" cy="256032"/>
          </a:xfrm>
        </p:spPr>
        <p:txBody>
          <a:bodyPr wrap="none"/>
          <a:lstStyle/>
          <a:p>
            <a:pPr algn="r"/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  <p:hf sldNum="1" hdr="0" ftr="1" dt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6032" y="6565392"/>
            <a:ext cx="3108960" cy="256032"/>
          </a:xfrm>
        </p:spPr>
        <p:txBody>
          <a:bodyPr wrap="none"/>
          <a:lstStyle/>
          <a:p>
            <a:pPr algn="l"/>
            <a:fld id="{5BCAD085-E8A6-8845-BD4E-CB4CCA059FC4}" type="datetime3">
              <a:rPr lang="en-US" smtClean="0"/>
              <a:t>7 September 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383280" y="6565392"/>
            <a:ext cx="5760720" cy="256032"/>
          </a:xfrm>
        </p:spPr>
        <p:txBody>
          <a:bodyPr wrap="none"/>
          <a:lstStyle/>
          <a:p>
            <a:pPr algn="ctr"/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601200" y="6565392"/>
            <a:ext cx="2286000" cy="256032"/>
          </a:xfrm>
        </p:spPr>
        <p:txBody>
          <a:bodyPr wrap="none"/>
          <a:lstStyle/>
          <a:p>
            <a:pPr algn="r"/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  <p:hf sldNum="1" hdr="0" ftr="1" dt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6032" y="6565392"/>
            <a:ext cx="3108960" cy="256032"/>
          </a:xfrm>
        </p:spPr>
        <p:txBody>
          <a:bodyPr wrap="none"/>
          <a:lstStyle/>
          <a:p>
            <a:pPr algn="l"/>
            <a:fld id="{5BCAD085-E8A6-8845-BD4E-CB4CCA059FC4}" type="datetime3">
              <a:rPr lang="en-US" smtClean="0"/>
              <a:t>7 September 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383280" y="6565392"/>
            <a:ext cx="5760720" cy="256032"/>
          </a:xfrm>
        </p:spPr>
        <p:txBody>
          <a:bodyPr wrap="none"/>
          <a:lstStyle/>
          <a:p>
            <a:pPr algn="ctr"/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601200" y="6565392"/>
            <a:ext cx="2286000" cy="256032"/>
          </a:xfrm>
        </p:spPr>
        <p:txBody>
          <a:bodyPr wrap="none"/>
          <a:lstStyle/>
          <a:p>
            <a:pPr algn="r"/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  <p:hf sldNum="1" hdr="0" ftr="1" dt="1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6032" y="6565392"/>
            <a:ext cx="3108960" cy="256032"/>
          </a:xfrm>
        </p:spPr>
        <p:txBody>
          <a:bodyPr wrap="none"/>
          <a:lstStyle/>
          <a:p>
            <a:pPr algn="l"/>
            <a:fld id="{5BCAD085-E8A6-8845-BD4E-CB4CCA059FC4}" type="datetime3">
              <a:rPr lang="en-US" smtClean="0"/>
              <a:t>7 September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383280" y="6565392"/>
            <a:ext cx="5760720" cy="256032"/>
          </a:xfrm>
        </p:spPr>
        <p:txBody>
          <a:bodyPr wrap="none"/>
          <a:lstStyle/>
          <a:p>
            <a:pPr algn="ctr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601200" y="6565392"/>
            <a:ext cx="2286000" cy="256032"/>
          </a:xfrm>
        </p:spPr>
        <p:txBody>
          <a:bodyPr wrap="none"/>
          <a:lstStyle/>
          <a:p>
            <a:pPr algn="r"/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  <p:hf sldNum="1" hdr="0" ftr="1" dt="1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6032" y="6565392"/>
            <a:ext cx="3108960" cy="256032"/>
          </a:xfrm>
        </p:spPr>
        <p:txBody>
          <a:bodyPr wrap="none"/>
          <a:lstStyle/>
          <a:p>
            <a:pPr algn="l"/>
            <a:fld id="{5BCAD085-E8A6-8845-BD4E-CB4CCA059FC4}" type="datetime3">
              <a:rPr lang="en-US" smtClean="0"/>
              <a:t>7 September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383280" y="6565392"/>
            <a:ext cx="5760720" cy="256032"/>
          </a:xfrm>
        </p:spPr>
        <p:txBody>
          <a:bodyPr wrap="none"/>
          <a:lstStyle/>
          <a:p>
            <a:pPr algn="ctr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601200" y="6565392"/>
            <a:ext cx="2286000" cy="256032"/>
          </a:xfrm>
        </p:spPr>
        <p:txBody>
          <a:bodyPr wrap="none"/>
          <a:lstStyle/>
          <a:p>
            <a:pPr algn="r"/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  <p:hf sldNum="1" hdr="0" ftr="1" dt="1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56032" y="6565392"/>
            <a:ext cx="3108960" cy="256032"/>
          </a:xfrm>
          <a:prstGeom prst="rect">
            <a:avLst/>
          </a:prstGeom>
        </p:spPr>
        <p:txBody>
          <a:bodyPr vert="horz" lIns="91440" tIns="45720" rIns="91440" bIns="45720" rtlCol="0" anchor="ctr" wrap="none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algn="l"/>
            <a:fld id="{5BCAD085-E8A6-8845-BD4E-CB4CCA059FC4}" type="datetime3">
              <a:rPr lang="en-US" smtClean="0"/>
              <a:t>7 September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383280" y="6565392"/>
            <a:ext cx="5760720" cy="256032"/>
          </a:xfrm>
          <a:prstGeom prst="rect">
            <a:avLst/>
          </a:prstGeom>
        </p:spPr>
        <p:txBody>
          <a:bodyPr vert="horz" lIns="91440" tIns="45720" rIns="91440" bIns="45720" rtlCol="0" anchor="ctr" wrap="none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algn="ctr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601200" y="6565392"/>
            <a:ext cx="2286000" cy="256032"/>
          </a:xfrm>
          <a:prstGeom prst="rect">
            <a:avLst/>
          </a:prstGeom>
        </p:spPr>
        <p:txBody>
          <a:bodyPr vert="horz" lIns="91440" tIns="45720" rIns="91440" bIns="45720" rtlCol="0" anchor="ctr" wrap="none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algn="r"/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hf sldNum="1" hdr="0" ftr="1" dt="1"/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91695" cy="54864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73152"/>
            <a:ext cx="11521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M. S. RAMAIAH UNIVERSITY OF APPLIED SCIENCES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" y="347472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4A35A"/>
                </a:solidFill>
                <a:latin typeface="Calibri"/>
              </a:rPr>
              <a:t>Faculty of Engineering and Technology  ·  RESEARCH PROPOSAL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6565392"/>
            <a:ext cx="5760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Calibri"/>
              </a:rPr>
              <a:t>Jenisha T  |  24ETRP720001  |  Part Time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713232"/>
            <a:ext cx="12191695" cy="5797296"/>
          </a:xfrm>
          <a:prstGeom prst="rect">
            <a:avLst/>
          </a:prstGeom>
          <a:solidFill>
            <a:srgbClr val="FFFA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804672"/>
            <a:ext cx="11430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7C1D2E"/>
                </a:solidFill>
                <a:latin typeface="Calibri"/>
              </a:rPr>
              <a:t>RESEARCH PROPOSAL  ·  Title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02412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214"/>
                </a:solidFill>
                <a:latin typeface="Calibri"/>
              </a:rPr>
              <a:t>Adaptive Context Reasoning System (ACRS)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572768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C4A4E"/>
                </a:solidFill>
                <a:latin typeface="Calibri"/>
              </a:rPr>
              <a:t>A Structural Orchestration Layer for Multi-Agent LLM Ecosystems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1993392"/>
            <a:ext cx="1143000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Presented By: Jenisha T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(Reg. No. 24ETRP720001)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Supervisor: Dr. Jyothi A P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Department of Computer Science and Engineering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Faculty of Engineering and Technology, MSRUAS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199632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C4A4E"/>
                </a:solidFill>
                <a:latin typeface="Calibri"/>
              </a:rPr>
              <a:t>Proposal stage. No empirical performance claims. Live Indian Open Government Data is a methodological constraint, not a result.</a:t>
            </a:r>
          </a:p>
        </p:txBody>
      </p:sp>
      <p:sp>
        <p:nvSpPr>
          <p:cNvPr id="4001" name="Automatic Date 1"/>
          <p:cNvSpPr txBox="1"/>
          <p:nvPr/>
        </p:nvSpPr>
        <p:spPr>
          <a:xfrm>
            <a:off x="255016" y="6565900"/>
            <a:ext cx="310896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fld id="{71b3aeff-9eb6-466f-a712-8febfb6b1a75}" type="datetime3">
              <a:rPr lang="en-GB" sz="1000" dirty="0">
                <a:solidFill>
                  <a:srgbClr val="C4A35A"/>
                </a:solidFill>
                <a:latin typeface="Calibri"/>
              </a:rPr>
              <a:t>7 September 2026</a:t>
            </a:fld>
            <a:endParaRPr lang="en-GB" sz="1000"/>
          </a:p>
        </p:txBody>
      </p:sp>
      <p:sp>
        <p:nvSpPr>
          <p:cNvPr id="5001" name="Automatic Slide Number 1"/>
          <p:cNvSpPr txBox="1"/>
          <p:nvPr/>
        </p:nvSpPr>
        <p:spPr>
          <a:xfrm>
            <a:off x="9601200" y="6565900"/>
            <a:ext cx="228600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/>
            <a:fld id="{ce19ab25-573e-4d05-b117-c6152f6fdd1a}" type="slidenum">
              <a:rPr lang="en-GB" sz="1000" dirty="0">
                <a:solidFill>
                  <a:srgbClr val="C4A35A"/>
                </a:solidFill>
                <a:latin typeface="Calibri"/>
              </a:rPr>
              <a:t>1</a:t>
            </a:fld>
            <a:r>
              <a:rPr lang="en-GB" sz="1000">
                <a:solidFill>
                  <a:srgbClr val="C4A35A"/>
                </a:solidFill>
                <a:latin typeface="Calibri"/>
              </a:rPr>
              <a:t> / 35</a:t>
            </a:r>
            <a:endParaRPr lang="en-GB" sz="1000"/>
          </a:p>
        </p:txBody>
      </p:sp>
    </p:spTree>
  </p:cSld>
  <p:clrMapOvr>
    <a:masterClrMapping/>
  </p:clrMapOvr>
  <p:hf sldNum="1" hdr="0" ftr="1" dt="1"/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91695" cy="54864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73152"/>
            <a:ext cx="11521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M. S. RAMAIAH UNIVERSITY OF APPLIED SCIENCES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" y="347472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4A35A"/>
                </a:solidFill>
                <a:latin typeface="Calibri"/>
              </a:rPr>
              <a:t>Faculty of Engineering and Technology  ·  RESEARCH PROPOSAL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6565392"/>
            <a:ext cx="5760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Calibri"/>
              </a:rPr>
              <a:t>Jenisha T  |  24ETRP720001  |  Part Time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713232"/>
            <a:ext cx="12191695" cy="5797296"/>
          </a:xfrm>
          <a:prstGeom prst="rect">
            <a:avLst/>
          </a:prstGeom>
          <a:solidFill>
            <a:srgbClr val="FFFA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804672"/>
            <a:ext cx="11430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7C1D2E"/>
                </a:solidFill>
                <a:latin typeface="Calibri"/>
              </a:rPr>
              <a:t>RESEARCH PROPOSAL  ·  Research student details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02412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214"/>
                </a:solidFill>
                <a:latin typeface="Calibri"/>
              </a:rPr>
              <a:t>Research student details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572768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C4A4E"/>
                </a:solidFill>
                <a:latin typeface="Calibri"/>
              </a:rPr>
              <a:t>Attribute and Details as recorded for the FET research-proposal template.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1993392"/>
          <a:ext cx="11521439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6860"/>
                <a:gridCol w="7834579"/>
              </a:tblGrid>
              <a:tr h="365760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  <a:latin typeface="Calibri"/>
                        </a:rPr>
                        <a:t>Attribute</a:t>
                      </a:r>
                    </a:p>
                  </a:txBody>
                  <a:tcPr>
                    <a:solidFill>
                      <a:srgbClr val="7C1D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  <a:latin typeface="Calibri"/>
                        </a:rPr>
                        <a:t>Details</a:t>
                      </a:r>
                    </a:p>
                  </a:txBody>
                  <a:tcPr>
                    <a:solidFill>
                      <a:srgbClr val="7C1D2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7C1D2E"/>
                          </a:solidFill>
                          <a:latin typeface="Calibri"/>
                        </a:rPr>
                        <a:t>Full Name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214"/>
                          </a:solidFill>
                          <a:latin typeface="Calibri"/>
                        </a:rPr>
                        <a:t>Jenisha T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7C1D2E"/>
                          </a:solidFill>
                          <a:latin typeface="Calibri"/>
                        </a:rPr>
                        <a:t>Registration Number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214"/>
                          </a:solidFill>
                          <a:latin typeface="Calibri"/>
                        </a:rPr>
                        <a:t>24ETRP720001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7C1D2E"/>
                          </a:solidFill>
                          <a:latin typeface="Calibri"/>
                        </a:rPr>
                        <a:t>Date of Registration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214"/>
                          </a:solidFill>
                          <a:latin typeface="Calibri"/>
                        </a:rPr>
                        <a:t>04-Sept-2024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7C1D2E"/>
                          </a:solidFill>
                          <a:latin typeface="Calibri"/>
                        </a:rPr>
                        <a:t>Department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214"/>
                          </a:solidFill>
                          <a:latin typeface="Calibri"/>
                        </a:rPr>
                        <a:t>Computer Science and Engineering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7C1D2E"/>
                          </a:solidFill>
                          <a:latin typeface="Calibri"/>
                        </a:rPr>
                        <a:t>Faculty/School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214"/>
                          </a:solidFill>
                          <a:latin typeface="Calibri"/>
                        </a:rPr>
                        <a:t>FET (Faculty of Engineering and Technology)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7C1D2E"/>
                          </a:solidFill>
                          <a:latin typeface="Calibri"/>
                        </a:rPr>
                        <a:t>Course Type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214"/>
                          </a:solidFill>
                          <a:latin typeface="Calibri"/>
                        </a:rPr>
                        <a:t>Part Time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7C1D2E"/>
                          </a:solidFill>
                          <a:latin typeface="Calibri"/>
                        </a:rPr>
                        <a:t>Contact Address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214"/>
                          </a:solidFill>
                          <a:latin typeface="Calibri"/>
                        </a:rPr>
                        <a:t>#123, MSR Nagar, Bangalore. Phone: +91-XXXXXXXXXX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7C1D2E"/>
                          </a:solidFill>
                          <a:latin typeface="Calibri"/>
                        </a:rPr>
                        <a:t>Email Address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214"/>
                          </a:solidFill>
                          <a:latin typeface="Calibri"/>
                        </a:rPr>
                        <a:t>jenisha.t@msruas.ac.in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7C1D2E"/>
                          </a:solidFill>
                          <a:latin typeface="Calibri"/>
                        </a:rPr>
                        <a:t>Research Topic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214"/>
                          </a:solidFill>
                          <a:latin typeface="Calibri"/>
                        </a:rPr>
                        <a:t>Adaptive Context Reasoning System (ACRS)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7C1D2E"/>
                          </a:solidFill>
                          <a:latin typeface="Calibri"/>
                        </a:rPr>
                        <a:t>Supervisor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214"/>
                          </a:solidFill>
                          <a:latin typeface="Calibri"/>
                        </a:rPr>
                        <a:t>Dr. Jyothi A P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</a:tr>
            </a:tbl>
          </a:graphicData>
        </a:graphic>
      </p:graphicFrame>
      <p:sp>
        <p:nvSpPr>
          <p:cNvPr id="4002" name="Automatic Date 2"/>
          <p:cNvSpPr txBox="1"/>
          <p:nvPr/>
        </p:nvSpPr>
        <p:spPr>
          <a:xfrm>
            <a:off x="255016" y="6565900"/>
            <a:ext cx="310896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fld id="{d0559989-db4a-433a-99bc-a6bd40595895}" type="datetime3">
              <a:rPr lang="en-GB" sz="1000" dirty="0">
                <a:solidFill>
                  <a:srgbClr val="C4A35A"/>
                </a:solidFill>
                <a:latin typeface="Calibri"/>
              </a:rPr>
              <a:t>7 September 2026</a:t>
            </a:fld>
            <a:endParaRPr lang="en-GB" sz="1000"/>
          </a:p>
        </p:txBody>
      </p:sp>
      <p:sp>
        <p:nvSpPr>
          <p:cNvPr id="5002" name="Automatic Slide Number 2"/>
          <p:cNvSpPr txBox="1"/>
          <p:nvPr/>
        </p:nvSpPr>
        <p:spPr>
          <a:xfrm>
            <a:off x="9601200" y="6565900"/>
            <a:ext cx="228600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/>
            <a:fld id="{f6696013-ccf0-450a-b4cb-ae4fcc2761f0}" type="slidenum">
              <a:rPr lang="en-GB" sz="1000" dirty="0">
                <a:solidFill>
                  <a:srgbClr val="C4A35A"/>
                </a:solidFill>
                <a:latin typeface="Calibri"/>
              </a:rPr>
              <a:t>2</a:t>
            </a:fld>
            <a:r>
              <a:rPr lang="en-GB" sz="1000">
                <a:solidFill>
                  <a:srgbClr val="C4A35A"/>
                </a:solidFill>
                <a:latin typeface="Calibri"/>
              </a:rPr>
              <a:t> / 35</a:t>
            </a:r>
            <a:endParaRPr lang="en-GB" sz="1000"/>
          </a:p>
        </p:txBody>
      </p:sp>
    </p:spTree>
  </p:cSld>
  <p:clrMapOvr>
    <a:masterClrMapping/>
  </p:clrMapOvr>
  <p:hf sldNum="1" hdr="0" ftr="1" dt="1"/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91695" cy="54864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73152"/>
            <a:ext cx="11521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M. S. RAMAIAH UNIVERSITY OF APPLIED SCIENCES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" y="347472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4A35A"/>
                </a:solidFill>
                <a:latin typeface="Calibri"/>
              </a:rPr>
              <a:t>Faculty of Engineering and Technology  ·  RESEARCH PROPOSAL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6565392"/>
            <a:ext cx="5760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Calibri"/>
              </a:rPr>
              <a:t>Jenisha T  |  24ETRP720001  |  Part Time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713232"/>
            <a:ext cx="12191695" cy="5797296"/>
          </a:xfrm>
          <a:prstGeom prst="rect">
            <a:avLst/>
          </a:prstGeom>
          <a:solidFill>
            <a:srgbClr val="FFFA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804672"/>
            <a:ext cx="11430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7C1D2E"/>
                </a:solidFill>
                <a:latin typeface="Calibri"/>
              </a:rPr>
              <a:t>RESEARCH PROPOSAL  ·  Contents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02412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214"/>
                </a:solidFill>
                <a:latin typeface="Calibri"/>
              </a:rPr>
              <a:t>Contents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572768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C4A4E"/>
                </a:solidFill>
                <a:latin typeface="Calibri"/>
              </a:rPr>
              <a:t>Nine required sections plus the FET mapping To Solve the Research Gap. Literature Review follows the Evidence 1, Evidence 2, … template. After the literature summary, each limitation is closed by a named ACRS module. Research Methodology is expanded for each objective (O1 SATR, O2 APRR, O3 MNCD, O4 FCNP), the integrated loop, the exact repository formulas, and two worked traces (ToolBench-schema ranking; live data.gov.in). Objective order is SATR → APRR → MNCD → FCNP (not SMART).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1993392"/>
            <a:ext cx="113385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buFont typeface="Arial"/>
              <a:buChar char="•"/>
            </a:pPr>
            <a:r>
              <a:rPr sz="1400">
                <a:solidFill>
                  <a:srgbClr val="1A1214"/>
                </a:solidFill>
                <a:latin typeface="Calibri"/>
              </a:rPr>
              <a:t>01   Introduction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400">
                <a:solidFill>
                  <a:srgbClr val="1A1214"/>
                </a:solidFill>
                <a:latin typeface="Calibri"/>
              </a:rPr>
              <a:t>02   Literature Review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400">
                <a:solidFill>
                  <a:srgbClr val="1A1214"/>
                </a:solidFill>
                <a:latin typeface="Calibri"/>
              </a:rPr>
              <a:t>03   Summary of Literature Review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400">
                <a:solidFill>
                  <a:srgbClr val="1A1214"/>
                </a:solidFill>
                <a:latin typeface="Calibri"/>
              </a:rPr>
              <a:t>03a   To Solve the Research Gap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400">
                <a:solidFill>
                  <a:srgbClr val="1A1214"/>
                </a:solidFill>
                <a:latin typeface="Calibri"/>
              </a:rPr>
              <a:t>04   Identified Research Problem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400">
                <a:solidFill>
                  <a:srgbClr val="1A1214"/>
                </a:solidFill>
                <a:latin typeface="Calibri"/>
              </a:rPr>
              <a:t>05   Research Title &amp; Aim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400">
                <a:solidFill>
                  <a:srgbClr val="1A1214"/>
                </a:solidFill>
                <a:latin typeface="Calibri"/>
              </a:rPr>
              <a:t>06   Research Objectives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400">
                <a:solidFill>
                  <a:srgbClr val="1A1214"/>
                </a:solidFill>
                <a:latin typeface="Calibri"/>
              </a:rPr>
              <a:t>07   Research Questions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400">
                <a:solidFill>
                  <a:srgbClr val="1A1214"/>
                </a:solidFill>
                <a:latin typeface="Calibri"/>
              </a:rPr>
              <a:t>08   Research Methodology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400">
                <a:solidFill>
                  <a:srgbClr val="1A1214"/>
                </a:solidFill>
                <a:latin typeface="Calibri"/>
              </a:rPr>
              <a:t>08a   Methodology — O1 SATR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400">
                <a:solidFill>
                  <a:srgbClr val="1A1214"/>
                </a:solidFill>
                <a:latin typeface="Calibri"/>
              </a:rPr>
              <a:t>08b   Methodology — O2 APRR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400">
                <a:solidFill>
                  <a:srgbClr val="1A1214"/>
                </a:solidFill>
                <a:latin typeface="Calibri"/>
              </a:rPr>
              <a:t>08c   Methodology — O3 MNCD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400">
                <a:solidFill>
                  <a:srgbClr val="1A1214"/>
                </a:solidFill>
                <a:latin typeface="Calibri"/>
              </a:rPr>
              <a:t>08d   Methodology — O4 FCNP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400">
                <a:solidFill>
                  <a:srgbClr val="1A1214"/>
                </a:solidFill>
                <a:latin typeface="Calibri"/>
              </a:rPr>
              <a:t>08e   Methodology — integrated loop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400">
                <a:solidFill>
                  <a:srgbClr val="1A1214"/>
                </a:solidFill>
                <a:latin typeface="Calibri"/>
              </a:rPr>
              <a:t>08f   Methodology — implementation formulas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400">
                <a:solidFill>
                  <a:srgbClr val="1A1214"/>
                </a:solidFill>
                <a:latin typeface="Calibri"/>
              </a:rPr>
              <a:t>08g   Methodology — ToolBench walkthrough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400">
                <a:solidFill>
                  <a:srgbClr val="1A1214"/>
                </a:solidFill>
                <a:latin typeface="Calibri"/>
              </a:rPr>
              <a:t>08h   Methodology — data.gov.in walkthrough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400">
                <a:solidFill>
                  <a:srgbClr val="1A1214"/>
                </a:solidFill>
                <a:latin typeface="Calibri"/>
              </a:rPr>
              <a:t>09   Conclusion</a:t>
            </a:r>
          </a:p>
        </p:txBody>
      </p:sp>
      <p:sp>
        <p:nvSpPr>
          <p:cNvPr id="4003" name="Automatic Date 3"/>
          <p:cNvSpPr txBox="1"/>
          <p:nvPr/>
        </p:nvSpPr>
        <p:spPr>
          <a:xfrm>
            <a:off x="255016" y="6565900"/>
            <a:ext cx="310896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fld id="{029af62f-8c5b-4162-baf5-6185fbac24f3}" type="datetime3">
              <a:rPr lang="en-GB" sz="1000" dirty="0">
                <a:solidFill>
                  <a:srgbClr val="C4A35A"/>
                </a:solidFill>
                <a:latin typeface="Calibri"/>
              </a:rPr>
              <a:t>7 September 2026</a:t>
            </a:fld>
            <a:endParaRPr lang="en-GB" sz="1000"/>
          </a:p>
        </p:txBody>
      </p:sp>
      <p:sp>
        <p:nvSpPr>
          <p:cNvPr id="5003" name="Automatic Slide Number 3"/>
          <p:cNvSpPr txBox="1"/>
          <p:nvPr/>
        </p:nvSpPr>
        <p:spPr>
          <a:xfrm>
            <a:off x="9601200" y="6565900"/>
            <a:ext cx="228600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/>
            <a:fld id="{342b0715-4032-4b7f-8de4-68aceeac8cab}" type="slidenum">
              <a:rPr lang="en-GB" sz="1000" dirty="0">
                <a:solidFill>
                  <a:srgbClr val="C4A35A"/>
                </a:solidFill>
                <a:latin typeface="Calibri"/>
              </a:rPr>
              <a:t>3</a:t>
            </a:fld>
            <a:r>
              <a:rPr lang="en-GB" sz="1000">
                <a:solidFill>
                  <a:srgbClr val="C4A35A"/>
                </a:solidFill>
                <a:latin typeface="Calibri"/>
              </a:rPr>
              <a:t> / 35</a:t>
            </a:r>
            <a:endParaRPr lang="en-GB" sz="1000"/>
          </a:p>
        </p:txBody>
      </p:sp>
    </p:spTree>
  </p:cSld>
  <p:clrMapOvr>
    <a:masterClrMapping/>
  </p:clrMapOvr>
  <p:hf sldNum="1" hdr="0" ftr="1" dt="1"/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91695" cy="54864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73152"/>
            <a:ext cx="11521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M. S. RAMAIAH UNIVERSITY OF APPLIED SCIENCES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" y="347472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4A35A"/>
                </a:solidFill>
                <a:latin typeface="Calibri"/>
              </a:rPr>
              <a:t>Faculty of Engineering and Technology  ·  RESEARCH PROPOSAL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6565392"/>
            <a:ext cx="5760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Calibri"/>
              </a:rPr>
              <a:t>Jenisha T  |  24ETRP720001  |  Part Time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713232"/>
            <a:ext cx="12191695" cy="5797296"/>
          </a:xfrm>
          <a:prstGeom prst="rect">
            <a:avLst/>
          </a:prstGeom>
          <a:solidFill>
            <a:srgbClr val="FFFA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804672"/>
            <a:ext cx="11430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7C1D2E"/>
                </a:solidFill>
                <a:latin typeface="Calibri"/>
              </a:rPr>
              <a:t>RESEARCH PROPOSAL  ·  Introduction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02412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214"/>
                </a:solidFill>
                <a:latin typeface="Calibri"/>
              </a:rPr>
              <a:t>Introduction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572768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C4A4E"/>
                </a:solidFill>
                <a:latin typeface="Calibri"/>
              </a:rPr>
              <a:t>This proposal treats multi-agent LLM systems as a computer-science systems problem: not a new foundation model, but a missing orchestration layer between session memory, specialist routing, live tools, and context growth.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1993392"/>
            <a:ext cx="1143000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Wu et al. introduce AutoGen as a conversation-driven programming framework in which agents exchange messages until a stopping condition (ICLR 2024 LLM Agents Workshop; COLM 2024, arXiv:2308.08155). Hong et al. encode Standard Operating Procedures into MetaGPT so that a software-company metaphor produces structured artefacts (ICLR 2024). Qian et al. organise ChatDev as a chat-chain of organisational roles (ACL 2024). Li et al. study communicative agents in CAMEL (NeurIPS 2023).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Tool use is a parallel line. Qin et al. release ToolLLM / ToolBench: 16k+ REST APIs, a DFSDT planner, and ToolEval (ICLR 2024). Zheng et al. add ToolRerank over ToolLLM candidates (LREC-COLING 2024). Learned routers (RouteLLM, MasRouter, PILOT) pick models or collaboration modes. LLMLingua shortens prompts by token importance (EMNLP 2023).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Those stacks still leave four operational surfaces underspecified as one contract: session–tool fusion, a training-free specialist posterior, fail-loud live Indian Open Government Data, and a mesh prune that writes a residue back into retrieval. The next slides record that literature as Evidence 1, Evidence 2, … in the FET template.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ACRS is proposed as that missing layer. The integration order is SATR → APRR → MNCD → FCNP. The live demonstration corpus is Agriculture on data.gov.in. This deck does not claim a leaderboard number.</a:t>
            </a:r>
          </a:p>
        </p:txBody>
      </p:sp>
      <p:sp>
        <p:nvSpPr>
          <p:cNvPr id="4004" name="Automatic Date 4"/>
          <p:cNvSpPr txBox="1"/>
          <p:nvPr/>
        </p:nvSpPr>
        <p:spPr>
          <a:xfrm>
            <a:off x="255016" y="6565900"/>
            <a:ext cx="310896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fld id="{3748a27e-c603-47b4-ae7c-65005a79adc6}" type="datetime3">
              <a:rPr lang="en-GB" sz="1000" dirty="0">
                <a:solidFill>
                  <a:srgbClr val="C4A35A"/>
                </a:solidFill>
                <a:latin typeface="Calibri"/>
              </a:rPr>
              <a:t>7 September 2026</a:t>
            </a:fld>
            <a:endParaRPr lang="en-GB" sz="1000"/>
          </a:p>
        </p:txBody>
      </p:sp>
      <p:sp>
        <p:nvSpPr>
          <p:cNvPr id="5004" name="Automatic Slide Number 4"/>
          <p:cNvSpPr txBox="1"/>
          <p:nvPr/>
        </p:nvSpPr>
        <p:spPr>
          <a:xfrm>
            <a:off x="9601200" y="6565900"/>
            <a:ext cx="228600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/>
            <a:fld id="{4bf26da8-b6fb-4aee-a430-75455272fb13}" type="slidenum">
              <a:rPr lang="en-GB" sz="1000" dirty="0">
                <a:solidFill>
                  <a:srgbClr val="C4A35A"/>
                </a:solidFill>
                <a:latin typeface="Calibri"/>
              </a:rPr>
              <a:t>4</a:t>
            </a:fld>
            <a:r>
              <a:rPr lang="en-GB" sz="1000">
                <a:solidFill>
                  <a:srgbClr val="C4A35A"/>
                </a:solidFill>
                <a:latin typeface="Calibri"/>
              </a:rPr>
              <a:t> / 35</a:t>
            </a:r>
            <a:endParaRPr lang="en-GB" sz="1000"/>
          </a:p>
        </p:txBody>
      </p:sp>
    </p:spTree>
  </p:cSld>
  <p:clrMapOvr>
    <a:masterClrMapping/>
  </p:clrMapOvr>
  <p:hf sldNum="1" hdr="0" ftr="1" dt="1"/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91695" cy="54864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73152"/>
            <a:ext cx="11521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M. S. RAMAIAH UNIVERSITY OF APPLIED SCIENCES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" y="347472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4A35A"/>
                </a:solidFill>
                <a:latin typeface="Calibri"/>
              </a:rPr>
              <a:t>Faculty of Engineering and Technology  ·  RESEARCH PROPOSAL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6565392"/>
            <a:ext cx="5760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Calibri"/>
              </a:rPr>
              <a:t>Jenisha T  |  24ETRP720001  |  Part Time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713232"/>
            <a:ext cx="12191695" cy="5797296"/>
          </a:xfrm>
          <a:prstGeom prst="rect">
            <a:avLst/>
          </a:prstGeom>
          <a:solidFill>
            <a:srgbClr val="FFFA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804672"/>
            <a:ext cx="11430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7C1D2E"/>
                </a:solidFill>
                <a:latin typeface="Calibri"/>
              </a:rPr>
              <a:t>RESEARCH PROPOSAL  ·  Literature Review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02412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214"/>
                </a:solidFill>
                <a:latin typeface="Calibri"/>
              </a:rPr>
              <a:t>Literature Review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572768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C4A4E"/>
                </a:solidFill>
                <a:latin typeface="Calibri"/>
              </a:rPr>
              <a:t>FET template. Each paper is one Evidence block: Author(s), Year, Title, Publication, Objective, Methodology, Findings, Limitations, To solve the research gap.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0040" y="1993392"/>
            <a:ext cx="5678424" cy="41605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7C1D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" y="2066544"/>
            <a:ext cx="5495544" cy="4014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7C1D2E"/>
                </a:solidFill>
                <a:latin typeface="Calibri"/>
              </a:rPr>
              <a:t>Evidence 1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Author(s): </a:t>
            </a:r>
            <a:r>
              <a:rPr sz="1000">
                <a:solidFill>
                  <a:srgbClr val="1A1214"/>
                </a:solidFill>
                <a:latin typeface="Calibri"/>
              </a:rPr>
              <a:t>Wu, Q., Bansal, G., Zhang, J., Wu, Y., Li, B., Zhu, E., Jiang, L., Zhang, X., Zhang, S., Liu, J., Awadallah, A. H., White, R. W., Burger, D., and Wang, C.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Year: </a:t>
            </a:r>
            <a:r>
              <a:rPr sz="1000">
                <a:solidFill>
                  <a:srgbClr val="1A1214"/>
                </a:solidFill>
                <a:latin typeface="Calibri"/>
              </a:rPr>
              <a:t>2024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Title: </a:t>
            </a:r>
            <a:r>
              <a:rPr sz="1000">
                <a:solidFill>
                  <a:srgbClr val="1A1214"/>
                </a:solidFill>
                <a:latin typeface="Calibri"/>
              </a:rPr>
              <a:t>AutoGen: Enabling Next-Gen LLM Applications via Multi-Agent Conversations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Publication: </a:t>
            </a:r>
            <a:r>
              <a:rPr sz="1000">
                <a:solidFill>
                  <a:srgbClr val="1A1214"/>
                </a:solidFill>
                <a:latin typeface="Calibri"/>
              </a:rPr>
              <a:t>Conference on Language Modeling (COLM) 2024; ICLR 2024 Workshop on LLM Agents (Best Paper). arXiv:2308.08155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Objective: </a:t>
            </a:r>
            <a:r>
              <a:rPr sz="1000">
                <a:solidFill>
                  <a:srgbClr val="1A1214"/>
                </a:solidFill>
                <a:latin typeface="Calibri"/>
              </a:rPr>
              <a:t>Program LLM applications by composing multiple conversable agents.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Methodology: </a:t>
            </a:r>
            <a:r>
              <a:rPr sz="1000">
                <a:solidFill>
                  <a:srgbClr val="1A1214"/>
                </a:solidFill>
                <a:latin typeface="Calibri"/>
              </a:rPr>
              <a:t>Agents exchange natural-language messages until a stopping condition; modes mix LLMs, humans, and tools.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Findings: </a:t>
            </a:r>
            <a:r>
              <a:rPr sz="1000">
                <a:solidFill>
                  <a:srgbClr val="1A1214"/>
                </a:solidFill>
                <a:latin typeface="Calibri"/>
              </a:rPr>
              <a:t>Conversation is a working programming model for multi-agent LLM applications.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Limitations: </a:t>
            </a:r>
            <a:r>
              <a:rPr sz="1000">
                <a:solidFill>
                  <a:srgbClr val="1A1214"/>
                </a:solidFill>
                <a:latin typeface="Calibri"/>
              </a:rPr>
              <a:t>The unit of coordination is a chat message, not a live (toolId, score, citation) on Indian Open Government Data.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6" y="1993392"/>
            <a:ext cx="5678424" cy="41605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7C1D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54496" y="2066544"/>
            <a:ext cx="5495544" cy="4014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7C1D2E"/>
                </a:solidFill>
                <a:latin typeface="Calibri"/>
              </a:rPr>
              <a:t>Evidence 2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Author(s): </a:t>
            </a:r>
            <a:r>
              <a:rPr sz="1000">
                <a:solidFill>
                  <a:srgbClr val="1A1214"/>
                </a:solidFill>
                <a:latin typeface="Calibri"/>
              </a:rPr>
              <a:t>Hong, S., Zhuge, M., Chen, J., Zheng, X., Cheng, Y., Wang, J., Zhang, C., Wang, Z., Yau, S. K. S., Lin, Z., Zhou, L., Ran, C., Xiao, L., Wu, C., and Schmidhuber, J.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Year: </a:t>
            </a:r>
            <a:r>
              <a:rPr sz="1000">
                <a:solidFill>
                  <a:srgbClr val="1A1214"/>
                </a:solidFill>
                <a:latin typeface="Calibri"/>
              </a:rPr>
              <a:t>2024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Title: </a:t>
            </a:r>
            <a:r>
              <a:rPr sz="1000">
                <a:solidFill>
                  <a:srgbClr val="1A1214"/>
                </a:solidFill>
                <a:latin typeface="Calibri"/>
              </a:rPr>
              <a:t>MetaGPT: Meta Programming for A Multi-Agent Collaborative Framework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Publication: </a:t>
            </a:r>
            <a:r>
              <a:rPr sz="1000">
                <a:solidFill>
                  <a:srgbClr val="1A1214"/>
                </a:solidFill>
                <a:latin typeface="Calibri"/>
              </a:rPr>
              <a:t>ICLR 2024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Objective: </a:t>
            </a:r>
            <a:r>
              <a:rPr sz="1000">
                <a:solidFill>
                  <a:srgbClr val="1A1214"/>
                </a:solidFill>
                <a:latin typeface="Calibri"/>
              </a:rPr>
              <a:t>Reduce role drift in multi-agent software workflows by encoding human SOPs.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Methodology: </a:t>
            </a:r>
            <a:r>
              <a:rPr sz="1000">
                <a:solidFill>
                  <a:srgbClr val="1A1214"/>
                </a:solidFill>
                <a:latin typeface="Calibri"/>
              </a:rPr>
              <a:t>Standard Operating Procedures are written into prompt sequences; an assembly-line assigns roles.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Findings: </a:t>
            </a:r>
            <a:r>
              <a:rPr sz="1000">
                <a:solidFill>
                  <a:srgbClr val="1A1214"/>
                </a:solidFill>
                <a:latin typeface="Calibri"/>
              </a:rPr>
              <a:t>Authored SOPs produce more coherent software artefacts than unconstrained chat agents.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Limitations: </a:t>
            </a:r>
            <a:r>
              <a:rPr sz="1000">
                <a:solidFill>
                  <a:srgbClr val="1A1214"/>
                </a:solidFill>
                <a:latin typeface="Calibri"/>
              </a:rPr>
              <a:t>Who speaks next is designed in advance. The graph is not updated from session-local affinity after a live tool call.</a:t>
            </a:r>
          </a:p>
        </p:txBody>
      </p:sp>
      <p:sp>
        <p:nvSpPr>
          <p:cNvPr id="4005" name="Automatic Date 5"/>
          <p:cNvSpPr txBox="1"/>
          <p:nvPr/>
        </p:nvSpPr>
        <p:spPr>
          <a:xfrm>
            <a:off x="255016" y="6565900"/>
            <a:ext cx="310896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fld id="{a34d88df-573c-4780-a90d-1b2a0494a900}" type="datetime3">
              <a:rPr lang="en-GB" sz="1000" dirty="0">
                <a:solidFill>
                  <a:srgbClr val="C4A35A"/>
                </a:solidFill>
                <a:latin typeface="Calibri"/>
              </a:rPr>
              <a:t>7 September 2026</a:t>
            </a:fld>
            <a:endParaRPr lang="en-GB" sz="1000"/>
          </a:p>
        </p:txBody>
      </p:sp>
      <p:sp>
        <p:nvSpPr>
          <p:cNvPr id="5005" name="Automatic Slide Number 5"/>
          <p:cNvSpPr txBox="1"/>
          <p:nvPr/>
        </p:nvSpPr>
        <p:spPr>
          <a:xfrm>
            <a:off x="9601200" y="6565900"/>
            <a:ext cx="228600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/>
            <a:fld id="{7233a02d-9027-4940-abc6-47225f3ae5ff}" type="slidenum">
              <a:rPr lang="en-GB" sz="1000" dirty="0">
                <a:solidFill>
                  <a:srgbClr val="C4A35A"/>
                </a:solidFill>
                <a:latin typeface="Calibri"/>
              </a:rPr>
              <a:t>5</a:t>
            </a:fld>
            <a:r>
              <a:rPr lang="en-GB" sz="1000">
                <a:solidFill>
                  <a:srgbClr val="C4A35A"/>
                </a:solidFill>
                <a:latin typeface="Calibri"/>
              </a:rPr>
              <a:t> / 35</a:t>
            </a:r>
            <a:endParaRPr lang="en-GB" sz="1000"/>
          </a:p>
        </p:txBody>
      </p:sp>
    </p:spTree>
  </p:cSld>
  <p:clrMapOvr>
    <a:masterClrMapping/>
  </p:clrMapOvr>
  <p:hf sldNum="1" hdr="0" ftr="1" dt="1"/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91695" cy="54864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73152"/>
            <a:ext cx="11521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M. S. RAMAIAH UNIVERSITY OF APPLIED SCIENCES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" y="347472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4A35A"/>
                </a:solidFill>
                <a:latin typeface="Calibri"/>
              </a:rPr>
              <a:t>Faculty of Engineering and Technology  ·  RESEARCH PROPOSAL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6565392"/>
            <a:ext cx="5760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Calibri"/>
              </a:rPr>
              <a:t>Jenisha T  |  24ETRP720001  |  Part Time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713232"/>
            <a:ext cx="12191695" cy="5797296"/>
          </a:xfrm>
          <a:prstGeom prst="rect">
            <a:avLst/>
          </a:prstGeom>
          <a:solidFill>
            <a:srgbClr val="FFFA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804672"/>
            <a:ext cx="11430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7C1D2E"/>
                </a:solidFill>
                <a:latin typeface="Calibri"/>
              </a:rPr>
              <a:t>RESEARCH PROPOSAL  ·  Literature Review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02412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214"/>
                </a:solidFill>
                <a:latin typeface="Calibri"/>
              </a:rPr>
              <a:t>Literature Review — Evidence 3 &amp; Evidence 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572768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C4A4E"/>
                </a:solidFill>
                <a:latin typeface="Calibri"/>
              </a:rPr>
              <a:t>Continuation. Evidence 3 &amp; Evidence 4 in the same Evidence template.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0040" y="1993392"/>
            <a:ext cx="5678424" cy="41605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7C1D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" y="2066544"/>
            <a:ext cx="5495544" cy="4014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7C1D2E"/>
                </a:solidFill>
                <a:latin typeface="Calibri"/>
              </a:rPr>
              <a:t>Evidence 3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Author(s): </a:t>
            </a:r>
            <a:r>
              <a:rPr sz="1000">
                <a:solidFill>
                  <a:srgbClr val="1A1214"/>
                </a:solidFill>
                <a:latin typeface="Calibri"/>
              </a:rPr>
              <a:t>Qian, C., Liu, W., Liu, H., Chen, N., Dang, Y., Li, J., Yang, C., Chen, W., Su, Y., Cong, X., Xu, J., Li, D., Liu, Z., and Sun, M.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Year: </a:t>
            </a:r>
            <a:r>
              <a:rPr sz="1000">
                <a:solidFill>
                  <a:srgbClr val="1A1214"/>
                </a:solidFill>
                <a:latin typeface="Calibri"/>
              </a:rPr>
              <a:t>2024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Title: </a:t>
            </a:r>
            <a:r>
              <a:rPr sz="1000">
                <a:solidFill>
                  <a:srgbClr val="1A1214"/>
                </a:solidFill>
                <a:latin typeface="Calibri"/>
              </a:rPr>
              <a:t>ChatDev: Communicative Agents for Software Development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Publication: </a:t>
            </a:r>
            <a:r>
              <a:rPr sz="1000">
                <a:solidFill>
                  <a:srgbClr val="1A1214"/>
                </a:solidFill>
                <a:latin typeface="Calibri"/>
              </a:rPr>
              <a:t>ACL 2024 (long), pages 15174–15186. doi:10.18653/v1/2024.acl-long.810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Objective: </a:t>
            </a:r>
            <a:r>
              <a:rPr sz="1000">
                <a:solidFill>
                  <a:srgbClr val="1A1214"/>
                </a:solidFill>
                <a:latin typeface="Calibri"/>
              </a:rPr>
              <a:t>Organise specialised LLM agents as a chat-chain for software design, coding, and testing.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Methodology: </a:t>
            </a:r>
            <a:r>
              <a:rPr sz="1000">
                <a:solidFill>
                  <a:srgbClr val="1A1214"/>
                </a:solidFill>
                <a:latin typeface="Calibri"/>
              </a:rPr>
              <a:t>Chat chain (what to communicate) plus communicative dehallucination (how to communicate).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Findings: </a:t>
            </a:r>
            <a:r>
              <a:rPr sz="1000">
                <a:solidFill>
                  <a:srgbClr val="1A1214"/>
                </a:solidFill>
                <a:latin typeface="Calibri"/>
              </a:rPr>
              <a:t>Natural-language design talk and code-level debug talk can be unified in one multi-agent loop.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Limitations: </a:t>
            </a:r>
            <a:r>
              <a:rPr sz="1000">
                <a:solidFill>
                  <a:srgbClr val="1A1214"/>
                </a:solidFill>
                <a:latin typeface="Calibri"/>
              </a:rPr>
              <a:t>The environment is a codebase, not a ministry API with a fail-loud live GET.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6" y="1993392"/>
            <a:ext cx="5678424" cy="41605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7C1D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54496" y="2066544"/>
            <a:ext cx="5495544" cy="4014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7C1D2E"/>
                </a:solidFill>
                <a:latin typeface="Calibri"/>
              </a:rPr>
              <a:t>Evidence 4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Author(s): </a:t>
            </a:r>
            <a:r>
              <a:rPr sz="1000">
                <a:solidFill>
                  <a:srgbClr val="1A1214"/>
                </a:solidFill>
                <a:latin typeface="Calibri"/>
              </a:rPr>
              <a:t>Li, G., Hammoud, H. A. A. K., Itani, H., Khizbullin, D., and Ghanem, B.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Year: </a:t>
            </a:r>
            <a:r>
              <a:rPr sz="1000">
                <a:solidFill>
                  <a:srgbClr val="1A1214"/>
                </a:solidFill>
                <a:latin typeface="Calibri"/>
              </a:rPr>
              <a:t>2023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Title: </a:t>
            </a:r>
            <a:r>
              <a:rPr sz="1000">
                <a:solidFill>
                  <a:srgbClr val="1A1214"/>
                </a:solidFill>
                <a:latin typeface="Calibri"/>
              </a:rPr>
              <a:t>CAMEL: Communicative Agents for “Mind” Exploration of Large Language Model Society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Publication: </a:t>
            </a:r>
            <a:r>
              <a:rPr sz="1000">
                <a:solidFill>
                  <a:srgbClr val="1A1214"/>
                </a:solidFill>
                <a:latin typeface="Calibri"/>
              </a:rPr>
              <a:t>NeurIPS 2023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Objective: </a:t>
            </a:r>
            <a:r>
              <a:rPr sz="1000">
                <a:solidFill>
                  <a:srgbClr val="1A1214"/>
                </a:solidFill>
                <a:latin typeface="Calibri"/>
              </a:rPr>
              <a:t>Enable autonomous cooperation among communicative agents with minimal human steering.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Methodology: </a:t>
            </a:r>
            <a:r>
              <a:rPr sz="1000">
                <a:solidFill>
                  <a:srgbClr val="1A1214"/>
                </a:solidFill>
                <a:latin typeface="Calibri"/>
              </a:rPr>
              <a:t>Role-playing with inception prompting to keep agents on a human-specified task.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Findings: </a:t>
            </a:r>
            <a:r>
              <a:rPr sz="1000">
                <a:solidFill>
                  <a:srgbClr val="1A1214"/>
                </a:solidFill>
                <a:latin typeface="Calibri"/>
              </a:rPr>
              <a:t>Inception prompting yields scalable multi-agent conversational data and cooperative behaviour.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Limitations: </a:t>
            </a:r>
            <a:r>
              <a:rPr sz="1000">
                <a:solidFill>
                  <a:srgbClr val="1A1214"/>
                </a:solidFill>
                <a:latin typeface="Calibri"/>
              </a:rPr>
              <a:t>No first-class vote over tool identifiers backed by Open Government Data.</a:t>
            </a:r>
          </a:p>
        </p:txBody>
      </p:sp>
      <p:sp>
        <p:nvSpPr>
          <p:cNvPr id="4006" name="Automatic Date 6"/>
          <p:cNvSpPr txBox="1"/>
          <p:nvPr/>
        </p:nvSpPr>
        <p:spPr>
          <a:xfrm>
            <a:off x="255016" y="6565900"/>
            <a:ext cx="310896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fld id="{5866b750-f965-404d-8652-6324503b0307}" type="datetime3">
              <a:rPr lang="en-GB" sz="1000" dirty="0">
                <a:solidFill>
                  <a:srgbClr val="C4A35A"/>
                </a:solidFill>
                <a:latin typeface="Calibri"/>
              </a:rPr>
              <a:t>7 September 2026</a:t>
            </a:fld>
            <a:endParaRPr lang="en-GB" sz="1000"/>
          </a:p>
        </p:txBody>
      </p:sp>
      <p:sp>
        <p:nvSpPr>
          <p:cNvPr id="5006" name="Automatic Slide Number 6"/>
          <p:cNvSpPr txBox="1"/>
          <p:nvPr/>
        </p:nvSpPr>
        <p:spPr>
          <a:xfrm>
            <a:off x="9601200" y="6565900"/>
            <a:ext cx="228600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/>
            <a:fld id="{e33e20ce-f18c-45cc-a21e-1a3d1f18d606}" type="slidenum">
              <a:rPr lang="en-GB" sz="1000" dirty="0">
                <a:solidFill>
                  <a:srgbClr val="C4A35A"/>
                </a:solidFill>
                <a:latin typeface="Calibri"/>
              </a:rPr>
              <a:t>6</a:t>
            </a:fld>
            <a:r>
              <a:rPr lang="en-GB" sz="1000">
                <a:solidFill>
                  <a:srgbClr val="C4A35A"/>
                </a:solidFill>
                <a:latin typeface="Calibri"/>
              </a:rPr>
              <a:t> / 35</a:t>
            </a:r>
            <a:endParaRPr lang="en-GB" sz="1000"/>
          </a:p>
        </p:txBody>
      </p:sp>
    </p:spTree>
  </p:cSld>
  <p:clrMapOvr>
    <a:masterClrMapping/>
  </p:clrMapOvr>
  <p:hf sldNum="1" hdr="0" ftr="1" dt="1"/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91695" cy="54864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73152"/>
            <a:ext cx="11521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M. S. RAMAIAH UNIVERSITY OF APPLIED SCIENCES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" y="347472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4A35A"/>
                </a:solidFill>
                <a:latin typeface="Calibri"/>
              </a:rPr>
              <a:t>Faculty of Engineering and Technology  ·  RESEARCH PROPOSAL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6565392"/>
            <a:ext cx="5760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Calibri"/>
              </a:rPr>
              <a:t>Jenisha T  |  24ETRP720001  |  Part Time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713232"/>
            <a:ext cx="12191695" cy="5797296"/>
          </a:xfrm>
          <a:prstGeom prst="rect">
            <a:avLst/>
          </a:prstGeom>
          <a:solidFill>
            <a:srgbClr val="FFFA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804672"/>
            <a:ext cx="11430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7C1D2E"/>
                </a:solidFill>
                <a:latin typeface="Calibri"/>
              </a:rPr>
              <a:t>RESEARCH PROPOSAL  ·  Literature Review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02412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214"/>
                </a:solidFill>
                <a:latin typeface="Calibri"/>
              </a:rPr>
              <a:t>Literature Review — Evidence 5 &amp; Evidence 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572768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C4A4E"/>
                </a:solidFill>
                <a:latin typeface="Calibri"/>
              </a:rPr>
              <a:t>Continuation. Evidence 5 &amp; Evidence 6 in the same Evidence template.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0040" y="1993392"/>
            <a:ext cx="5678424" cy="41605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7C1D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" y="2066544"/>
            <a:ext cx="5495544" cy="4014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7C1D2E"/>
                </a:solidFill>
                <a:latin typeface="Calibri"/>
              </a:rPr>
              <a:t>Evidence 5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Author(s): </a:t>
            </a:r>
            <a:r>
              <a:rPr sz="1000">
                <a:solidFill>
                  <a:srgbClr val="1A1214"/>
                </a:solidFill>
                <a:latin typeface="Calibri"/>
              </a:rPr>
              <a:t>Qin, Y., Liang, S., Ye, Y., Zhu, K., Yan, L., Lu, Y., Lin, Y., Cong, X., Tang, X., Qian, B., Zhao, S., Hong, L., Tian, R., Xie, R., Zhou, J., Gerstein, M., Li, D., Liu, Z., and Sun, M.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Year: </a:t>
            </a:r>
            <a:r>
              <a:rPr sz="1000">
                <a:solidFill>
                  <a:srgbClr val="1A1214"/>
                </a:solidFill>
                <a:latin typeface="Calibri"/>
              </a:rPr>
              <a:t>2024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Title: </a:t>
            </a:r>
            <a:r>
              <a:rPr sz="1000">
                <a:solidFill>
                  <a:srgbClr val="1A1214"/>
                </a:solidFill>
                <a:latin typeface="Calibri"/>
              </a:rPr>
              <a:t>ToolLLM: Facilitating Large Language Models to Master 16000+ Real-world APIs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Publication: </a:t>
            </a:r>
            <a:r>
              <a:rPr sz="1000">
                <a:solidFill>
                  <a:srgbClr val="1A1214"/>
                </a:solidFill>
                <a:latin typeface="Calibri"/>
              </a:rPr>
              <a:t>ICLR 2024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Objective: </a:t>
            </a:r>
            <a:r>
              <a:rPr sz="1000">
                <a:solidFill>
                  <a:srgbClr val="1A1214"/>
                </a:solidFill>
                <a:latin typeface="Calibri"/>
              </a:rPr>
              <a:t>Give open LLMs general tool-use over a large real-world API catalogue.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Methodology: </a:t>
            </a:r>
            <a:r>
              <a:rPr sz="1000">
                <a:solidFill>
                  <a:srgbClr val="1A1214"/>
                </a:solidFill>
                <a:latin typeface="Calibri"/>
              </a:rPr>
              <a:t>ToolBench: 16,464 RapidAPI REST endpoints; SBERT retriever; DFSDT planner; ToolEval protocol.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Findings: </a:t>
            </a:r>
            <a:r>
              <a:rPr sz="1000">
                <a:solidFill>
                  <a:srgbClr val="1A1214"/>
                </a:solidFill>
                <a:latin typeface="Calibri"/>
              </a:rPr>
              <a:t>A public ranking library and planner exist for large-scale tool use.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Limitations: </a:t>
            </a:r>
            <a:r>
              <a:rPr sz="1000">
                <a:solidFill>
                  <a:srgbClr val="1A1214"/>
                </a:solidFill>
                <a:latin typeface="Calibri"/>
              </a:rPr>
              <a:t>Retrieval is turn-amnesic. RapidAPI keys are not redistributable, so this lab cannot execute ToolBench endpoints live.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6" y="1993392"/>
            <a:ext cx="5678424" cy="41605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7C1D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54496" y="2066544"/>
            <a:ext cx="5495544" cy="4014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7C1D2E"/>
                </a:solidFill>
                <a:latin typeface="Calibri"/>
              </a:rPr>
              <a:t>Evidence 6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Author(s): </a:t>
            </a:r>
            <a:r>
              <a:rPr sz="1000">
                <a:solidFill>
                  <a:srgbClr val="1A1214"/>
                </a:solidFill>
                <a:latin typeface="Calibri"/>
              </a:rPr>
              <a:t>Zheng, Y., Li, P., Liu, W., Liu, Y., Luan, J., and Wang, B.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Year: </a:t>
            </a:r>
            <a:r>
              <a:rPr sz="1000">
                <a:solidFill>
                  <a:srgbClr val="1A1214"/>
                </a:solidFill>
                <a:latin typeface="Calibri"/>
              </a:rPr>
              <a:t>2024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Title: </a:t>
            </a:r>
            <a:r>
              <a:rPr sz="1000">
                <a:solidFill>
                  <a:srgbClr val="1A1214"/>
                </a:solidFill>
                <a:latin typeface="Calibri"/>
              </a:rPr>
              <a:t>ToolRerank: Adaptive and Hierarchy-Aware Reranking for Tool Retrieval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Publication: </a:t>
            </a:r>
            <a:r>
              <a:rPr sz="1000">
                <a:solidFill>
                  <a:srgbClr val="1A1214"/>
                </a:solidFill>
                <a:latin typeface="Calibri"/>
              </a:rPr>
              <a:t>LREC-COLING 2024, pages 16263–16273. ACL Anthology 2024.lrec-main.1413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Objective: </a:t>
            </a:r>
            <a:r>
              <a:rPr sz="1000">
                <a:solidFill>
                  <a:srgbClr val="1A1214"/>
                </a:solidFill>
                <a:latin typeface="Calibri"/>
              </a:rPr>
              <a:t>Refine ToolLLM-style retrieval for seen versus unseen APIs and for tool-library hierarchy.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Methodology: </a:t>
            </a:r>
            <a:r>
              <a:rPr sz="1000">
                <a:solidFill>
                  <a:srgbClr val="1A1214"/>
                </a:solidFill>
                <a:latin typeface="Calibri"/>
              </a:rPr>
              <a:t>Adaptive truncation of seen/unseen APIs plus hierarchy-aware concentration or diversity.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Findings: </a:t>
            </a:r>
            <a:r>
              <a:rPr sz="1000">
                <a:solidFill>
                  <a:srgbClr val="1A1214"/>
                </a:solidFill>
                <a:latin typeface="Calibri"/>
              </a:rPr>
              <a:t>Reranking the SBERT shortlist improves downstream tool execution quality.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Limitations: </a:t>
            </a:r>
            <a:r>
              <a:rPr sz="1000">
                <a:solidFill>
                  <a:srgbClr val="1A1214"/>
                </a:solidFill>
                <a:latin typeface="Calibri"/>
              </a:rPr>
              <a:t>Still query-only. Session co-activation and later write-back from a pruned mesh are unused.</a:t>
            </a:r>
          </a:p>
        </p:txBody>
      </p:sp>
      <p:sp>
        <p:nvSpPr>
          <p:cNvPr id="4007" name="Automatic Date 7"/>
          <p:cNvSpPr txBox="1"/>
          <p:nvPr/>
        </p:nvSpPr>
        <p:spPr>
          <a:xfrm>
            <a:off x="255016" y="6565900"/>
            <a:ext cx="310896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fld id="{e2613ece-20a0-4d9c-b255-f6175e3b7691}" type="datetime3">
              <a:rPr lang="en-GB" sz="1000" dirty="0">
                <a:solidFill>
                  <a:srgbClr val="C4A35A"/>
                </a:solidFill>
                <a:latin typeface="Calibri"/>
              </a:rPr>
              <a:t>7 September 2026</a:t>
            </a:fld>
            <a:endParaRPr lang="en-GB" sz="1000"/>
          </a:p>
        </p:txBody>
      </p:sp>
      <p:sp>
        <p:nvSpPr>
          <p:cNvPr id="5007" name="Automatic Slide Number 7"/>
          <p:cNvSpPr txBox="1"/>
          <p:nvPr/>
        </p:nvSpPr>
        <p:spPr>
          <a:xfrm>
            <a:off x="9601200" y="6565900"/>
            <a:ext cx="228600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/>
            <a:fld id="{afbed635-b70a-4ec4-824a-71e4b7cff056}" type="slidenum">
              <a:rPr lang="en-GB" sz="1000" dirty="0">
                <a:solidFill>
                  <a:srgbClr val="C4A35A"/>
                </a:solidFill>
                <a:latin typeface="Calibri"/>
              </a:rPr>
              <a:t>7</a:t>
            </a:fld>
            <a:r>
              <a:rPr lang="en-GB" sz="1000">
                <a:solidFill>
                  <a:srgbClr val="C4A35A"/>
                </a:solidFill>
                <a:latin typeface="Calibri"/>
              </a:rPr>
              <a:t> / 35</a:t>
            </a:r>
            <a:endParaRPr lang="en-GB" sz="1000"/>
          </a:p>
        </p:txBody>
      </p:sp>
    </p:spTree>
  </p:cSld>
  <p:clrMapOvr>
    <a:masterClrMapping/>
  </p:clrMapOvr>
  <p:hf sldNum="1" hdr="0" ftr="1" dt="1"/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91695" cy="54864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73152"/>
            <a:ext cx="11521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M. S. RAMAIAH UNIVERSITY OF APPLIED SCIENCES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" y="347472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4A35A"/>
                </a:solidFill>
                <a:latin typeface="Calibri"/>
              </a:rPr>
              <a:t>Faculty of Engineering and Technology  ·  RESEARCH PROPOSAL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6565392"/>
            <a:ext cx="5760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Calibri"/>
              </a:rPr>
              <a:t>Jenisha T  |  24ETRP720001  |  Part Time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713232"/>
            <a:ext cx="12191695" cy="5797296"/>
          </a:xfrm>
          <a:prstGeom prst="rect">
            <a:avLst/>
          </a:prstGeom>
          <a:solidFill>
            <a:srgbClr val="FFFA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804672"/>
            <a:ext cx="11430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7C1D2E"/>
                </a:solidFill>
                <a:latin typeface="Calibri"/>
              </a:rPr>
              <a:t>RESEARCH PROPOSAL  ·  Literature Review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02412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214"/>
                </a:solidFill>
                <a:latin typeface="Calibri"/>
              </a:rPr>
              <a:t>Literature Review — Evidence 7 &amp; Evidence 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572768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C4A4E"/>
                </a:solidFill>
                <a:latin typeface="Calibri"/>
              </a:rPr>
              <a:t>Continuation. Evidence 7 &amp; Evidence 8 in the same Evidence template.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0040" y="1993392"/>
            <a:ext cx="5678424" cy="41605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7C1D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" y="2066544"/>
            <a:ext cx="5495544" cy="4014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7C1D2E"/>
                </a:solidFill>
                <a:latin typeface="Calibri"/>
              </a:rPr>
              <a:t>Evidence 7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Author(s): </a:t>
            </a:r>
            <a:r>
              <a:rPr sz="1000">
                <a:solidFill>
                  <a:srgbClr val="1A1214"/>
                </a:solidFill>
                <a:latin typeface="Calibri"/>
              </a:rPr>
              <a:t>Ong, I., Almahairi, A., Wu, V., Chiang, W.-L., Wu, T., Gonzalez, J. E., Kadous, M. W., and Stoica, I.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Year: </a:t>
            </a:r>
            <a:r>
              <a:rPr sz="1000">
                <a:solidFill>
                  <a:srgbClr val="1A1214"/>
                </a:solidFill>
                <a:latin typeface="Calibri"/>
              </a:rPr>
              <a:t>2025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Title: </a:t>
            </a:r>
            <a:r>
              <a:rPr sz="1000">
                <a:solidFill>
                  <a:srgbClr val="1A1214"/>
                </a:solidFill>
                <a:latin typeface="Calibri"/>
              </a:rPr>
              <a:t>RouteLLM: Learning to Route LLMs from Preference Data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Publication: </a:t>
            </a:r>
            <a:r>
              <a:rPr sz="1000">
                <a:solidFill>
                  <a:srgbClr val="1A1214"/>
                </a:solidFill>
                <a:latin typeface="Calibri"/>
              </a:rPr>
              <a:t>ICLR 2025. arXiv:2406.18665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Objective: </a:t>
            </a:r>
            <a:r>
              <a:rPr sz="1000">
                <a:solidFill>
                  <a:srgbClr val="1A1214"/>
                </a:solidFill>
                <a:latin typeface="Calibri"/>
              </a:rPr>
              <a:t>Route each query between a stronger and a weaker LLM from human preference data.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Methodology: </a:t>
            </a:r>
            <a:r>
              <a:rPr sz="1000">
                <a:solidFill>
                  <a:srgbClr val="1A1214"/>
                </a:solidFill>
                <a:latin typeface="Calibri"/>
              </a:rPr>
              <a:t>Trained router plus data augmentation; deployed as a frozen policy at inference.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Findings: </a:t>
            </a:r>
            <a:r>
              <a:rPr sz="1000">
                <a:solidFill>
                  <a:srgbClr val="1A1214"/>
                </a:solidFill>
                <a:latin typeface="Calibri"/>
              </a:rPr>
              <a:t>Preference-trained routers can cut cost while holding response quality on public benchmarks.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Limitations: </a:t>
            </a:r>
            <a:r>
              <a:rPr sz="1000">
                <a:solidFill>
                  <a:srgbClr val="1A1214"/>
                </a:solidFill>
                <a:latin typeface="Calibri"/>
              </a:rPr>
              <a:t>The object of routing is an LLM SKU, not a named Indian-OGD specialist with a training-free posterior.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6" y="1993392"/>
            <a:ext cx="5678424" cy="41605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7C1D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54496" y="2066544"/>
            <a:ext cx="5495544" cy="4014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7C1D2E"/>
                </a:solidFill>
                <a:latin typeface="Calibri"/>
              </a:rPr>
              <a:t>Evidence 8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Author(s): </a:t>
            </a:r>
            <a:r>
              <a:rPr sz="1000">
                <a:solidFill>
                  <a:srgbClr val="1A1214"/>
                </a:solidFill>
                <a:latin typeface="Calibri"/>
              </a:rPr>
              <a:t>Yue, Y., Zhang, G., Liu, B., Wan, G., Wang, K., Cheng, D., and Qi, Y.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Year: </a:t>
            </a:r>
            <a:r>
              <a:rPr sz="1000">
                <a:solidFill>
                  <a:srgbClr val="1A1214"/>
                </a:solidFill>
                <a:latin typeface="Calibri"/>
              </a:rPr>
              <a:t>2025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Title: </a:t>
            </a:r>
            <a:r>
              <a:rPr sz="1000">
                <a:solidFill>
                  <a:srgbClr val="1A1214"/>
                </a:solidFill>
                <a:latin typeface="Calibri"/>
              </a:rPr>
              <a:t>MasRouter: Learning to Route LLMs for Multi-Agent Systems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Publication: </a:t>
            </a:r>
            <a:r>
              <a:rPr sz="1000">
                <a:solidFill>
                  <a:srgbClr val="1A1214"/>
                </a:solidFill>
                <a:latin typeface="Calibri"/>
              </a:rPr>
              <a:t>ACL 2025 (long), pages 15549–15572. doi:10.18653/v1/2025.acl-long.757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Objective: </a:t>
            </a:r>
            <a:r>
              <a:rPr sz="1000">
                <a:solidFill>
                  <a:srgbClr val="1A1214"/>
                </a:solidFill>
                <a:latin typeface="Calibri"/>
              </a:rPr>
              <a:t>Unify collaboration mode, role allocation, and LLM choice as one MAS routing problem.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Methodology: </a:t>
            </a:r>
            <a:r>
              <a:rPr sz="1000">
                <a:solidFill>
                  <a:srgbClr val="1A1214"/>
                </a:solidFill>
                <a:latin typeface="Calibri"/>
              </a:rPr>
              <a:t>Cascaded neural controller trained over multi-agent topologies.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Findings: </a:t>
            </a:r>
            <a:r>
              <a:rPr sz="1000">
                <a:solidFill>
                  <a:srgbClr val="1A1214"/>
                </a:solidFill>
                <a:latin typeface="Calibri"/>
              </a:rPr>
              <a:t>A learned controller can assemble a cheaper MAS than a static multi-agent template.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Limitations: </a:t>
            </a:r>
            <a:r>
              <a:rPr sz="1000">
                <a:solidFill>
                  <a:srgbClr val="1A1214"/>
                </a:solidFill>
                <a:latin typeface="Calibri"/>
              </a:rPr>
              <a:t>Requires training. It does not maintain a Dirichlet–Thompson matrix over mandi / crop / rainfall specialists.</a:t>
            </a:r>
          </a:p>
        </p:txBody>
      </p:sp>
      <p:sp>
        <p:nvSpPr>
          <p:cNvPr id="4008" name="Automatic Date 8"/>
          <p:cNvSpPr txBox="1"/>
          <p:nvPr/>
        </p:nvSpPr>
        <p:spPr>
          <a:xfrm>
            <a:off x="255016" y="6565900"/>
            <a:ext cx="310896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fld id="{4a7f4336-c834-45da-bcac-445ad78e2018}" type="datetime3">
              <a:rPr lang="en-GB" sz="1000" dirty="0">
                <a:solidFill>
                  <a:srgbClr val="C4A35A"/>
                </a:solidFill>
                <a:latin typeface="Calibri"/>
              </a:rPr>
              <a:t>7 September 2026</a:t>
            </a:fld>
            <a:endParaRPr lang="en-GB" sz="1000"/>
          </a:p>
        </p:txBody>
      </p:sp>
      <p:sp>
        <p:nvSpPr>
          <p:cNvPr id="5008" name="Automatic Slide Number 8"/>
          <p:cNvSpPr txBox="1"/>
          <p:nvPr/>
        </p:nvSpPr>
        <p:spPr>
          <a:xfrm>
            <a:off x="9601200" y="6565900"/>
            <a:ext cx="228600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/>
            <a:fld id="{8b8556e0-e5f6-4c89-a02b-d621b4aca23c}" type="slidenum">
              <a:rPr lang="en-GB" sz="1000" dirty="0">
                <a:solidFill>
                  <a:srgbClr val="C4A35A"/>
                </a:solidFill>
                <a:latin typeface="Calibri"/>
              </a:rPr>
              <a:t>8</a:t>
            </a:fld>
            <a:r>
              <a:rPr lang="en-GB" sz="1000">
                <a:solidFill>
                  <a:srgbClr val="C4A35A"/>
                </a:solidFill>
                <a:latin typeface="Calibri"/>
              </a:rPr>
              <a:t> / 35</a:t>
            </a:r>
            <a:endParaRPr lang="en-GB" sz="1000"/>
          </a:p>
        </p:txBody>
      </p:sp>
    </p:spTree>
  </p:cSld>
  <p:clrMapOvr>
    <a:masterClrMapping/>
  </p:clrMapOvr>
  <p:hf sldNum="1" hdr="0" ftr="1" dt="1"/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91695" cy="54864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73152"/>
            <a:ext cx="11521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M. S. RAMAIAH UNIVERSITY OF APPLIED SCIENCES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" y="347472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4A35A"/>
                </a:solidFill>
                <a:latin typeface="Calibri"/>
              </a:rPr>
              <a:t>Faculty of Engineering and Technology  ·  RESEARCH PROPOSAL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6565392"/>
            <a:ext cx="5760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Calibri"/>
              </a:rPr>
              <a:t>Jenisha T  |  24ETRP720001  |  Part Time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713232"/>
            <a:ext cx="12191695" cy="5797296"/>
          </a:xfrm>
          <a:prstGeom prst="rect">
            <a:avLst/>
          </a:prstGeom>
          <a:solidFill>
            <a:srgbClr val="FFFA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804672"/>
            <a:ext cx="11430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7C1D2E"/>
                </a:solidFill>
                <a:latin typeface="Calibri"/>
              </a:rPr>
              <a:t>RESEARCH PROPOSAL  ·  Literature Review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02412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214"/>
                </a:solidFill>
                <a:latin typeface="Calibri"/>
              </a:rPr>
              <a:t>Literature Review — Evidence 9 &amp; Evidence 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572768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C4A4E"/>
                </a:solidFill>
                <a:latin typeface="Calibri"/>
              </a:rPr>
              <a:t>Continuation. Evidence 9 &amp; Evidence 10 in the same Evidence template.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0040" y="1993392"/>
            <a:ext cx="5678424" cy="41605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7C1D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" y="2066544"/>
            <a:ext cx="5495544" cy="4014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7C1D2E"/>
                </a:solidFill>
                <a:latin typeface="Calibri"/>
              </a:rPr>
              <a:t>Evidence 9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Author(s): </a:t>
            </a:r>
            <a:r>
              <a:rPr sz="1000">
                <a:solidFill>
                  <a:srgbClr val="1A1214"/>
                </a:solidFill>
                <a:latin typeface="Calibri"/>
              </a:rPr>
              <a:t>Panda, P., Magazine, R., Devaguptapu, C., Takemori, S., and Sharma, V.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Year: </a:t>
            </a:r>
            <a:r>
              <a:rPr sz="1000">
                <a:solidFill>
                  <a:srgbClr val="1A1214"/>
                </a:solidFill>
                <a:latin typeface="Calibri"/>
              </a:rPr>
              <a:t>2025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Title: </a:t>
            </a:r>
            <a:r>
              <a:rPr sz="1000">
                <a:solidFill>
                  <a:srgbClr val="1A1214"/>
                </a:solidFill>
                <a:latin typeface="Calibri"/>
              </a:rPr>
              <a:t>Adaptive LLM Routing under Budget Constraints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Publication: </a:t>
            </a:r>
            <a:r>
              <a:rPr sz="1000">
                <a:solidFill>
                  <a:srgbClr val="1A1214"/>
                </a:solidFill>
                <a:latin typeface="Calibri"/>
              </a:rPr>
              <a:t>Findings of the Association for Computational Linguistics: EMNLP 2025, pages 23934–23949. doi:10.18653/v1/2025.findings-emnlp.1301. Method name: PILOT (Preference-prior Informed LinUCB).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Objective: </a:t>
            </a:r>
            <a:r>
              <a:rPr sz="1000">
                <a:solidFill>
                  <a:srgbClr val="1A1214"/>
                </a:solidFill>
                <a:latin typeface="Calibri"/>
              </a:rPr>
              <a:t>Treat LLM routing as a contextual bandit under a user budget.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Methodology: </a:t>
            </a:r>
            <a:r>
              <a:rPr sz="1000">
                <a:solidFill>
                  <a:srgbClr val="1A1214"/>
                </a:solidFill>
                <a:latin typeface="Calibri"/>
              </a:rPr>
              <a:t>Preference-prior LinUCB in a shared query–LLM embedding space, plus an online cost policy.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Findings: </a:t>
            </a:r>
            <a:r>
              <a:rPr sz="1000">
                <a:solidFill>
                  <a:srgbClr val="1A1214"/>
                </a:solidFill>
                <a:latin typeface="Calibri"/>
              </a:rPr>
              <a:t>Bandit routing can adapt without exhaustive inference of every LLM on every query.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Limitations: </a:t>
            </a:r>
            <a:r>
              <a:rPr sz="1000">
                <a:solidFill>
                  <a:srgbClr val="1A1214"/>
                </a:solidFill>
                <a:latin typeface="Calibri"/>
              </a:rPr>
              <a:t>Routes foundation-model SKUs under a dollar budget, not tool-specialist agents after a live data.gov.in GET.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6" y="1993392"/>
            <a:ext cx="5678424" cy="41605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7C1D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54496" y="2066544"/>
            <a:ext cx="5495544" cy="4014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7C1D2E"/>
                </a:solidFill>
                <a:latin typeface="Calibri"/>
              </a:rPr>
              <a:t>Evidence 10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Author(s): </a:t>
            </a:r>
            <a:r>
              <a:rPr sz="1000">
                <a:solidFill>
                  <a:srgbClr val="1A1214"/>
                </a:solidFill>
                <a:latin typeface="Calibri"/>
              </a:rPr>
              <a:t>Jiang, H., Wu, Q., Lin, C.-Y., Yang, Y., and Qiu, L.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Year: </a:t>
            </a:r>
            <a:r>
              <a:rPr sz="1000">
                <a:solidFill>
                  <a:srgbClr val="1A1214"/>
                </a:solidFill>
                <a:latin typeface="Calibri"/>
              </a:rPr>
              <a:t>2023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Title: </a:t>
            </a:r>
            <a:r>
              <a:rPr sz="1000">
                <a:solidFill>
                  <a:srgbClr val="1A1214"/>
                </a:solidFill>
                <a:latin typeface="Calibri"/>
              </a:rPr>
              <a:t>LLMLingua: Compressing Prompts for Accelerated Inference of Large Language Models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Publication: </a:t>
            </a:r>
            <a:r>
              <a:rPr sz="1000">
                <a:solidFill>
                  <a:srgbClr val="1A1214"/>
                </a:solidFill>
                <a:latin typeface="Calibri"/>
              </a:rPr>
              <a:t>EMNLP 2023, pages 13358–13376. doi:10.18653/v1/2023.emnlp-main.825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Objective: </a:t>
            </a:r>
            <a:r>
              <a:rPr sz="1000">
                <a:solidFill>
                  <a:srgbClr val="1A1214"/>
                </a:solidFill>
                <a:latin typeface="Calibri"/>
              </a:rPr>
              <a:t>Shorten long prompts while keeping task performance.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Methodology: </a:t>
            </a:r>
            <a:r>
              <a:rPr sz="1000">
                <a:solidFill>
                  <a:srgbClr val="1A1214"/>
                </a:solidFill>
                <a:latin typeface="Calibri"/>
              </a:rPr>
              <a:t>Budget controller plus token-level iterative compression aligned to the target LLM.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Findings: </a:t>
            </a:r>
            <a:r>
              <a:rPr sz="1000">
                <a:solidFill>
                  <a:srgbClr val="1A1214"/>
                </a:solidFill>
                <a:latin typeface="Calibri"/>
              </a:rPr>
              <a:t>Token-importance compression can reduce prompt length with limited quality loss.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Limitations: </a:t>
            </a:r>
            <a:r>
              <a:rPr sz="1000">
                <a:solidFill>
                  <a:srgbClr val="1A1214"/>
                </a:solidFill>
                <a:latin typeface="Calibri"/>
              </a:rPr>
              <a:t>Deletes tokens before the LLM. It does not prune a mesh by conductance or write live citations back into retrieval.</a:t>
            </a:r>
          </a:p>
        </p:txBody>
      </p:sp>
      <p:sp>
        <p:nvSpPr>
          <p:cNvPr id="4009" name="Automatic Date 9"/>
          <p:cNvSpPr txBox="1"/>
          <p:nvPr/>
        </p:nvSpPr>
        <p:spPr>
          <a:xfrm>
            <a:off x="255016" y="6565900"/>
            <a:ext cx="310896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fld id="{74650ad4-f09f-4ee3-a95a-8eba0cbf3f63}" type="datetime3">
              <a:rPr lang="en-GB" sz="1000" dirty="0">
                <a:solidFill>
                  <a:srgbClr val="C4A35A"/>
                </a:solidFill>
                <a:latin typeface="Calibri"/>
              </a:rPr>
              <a:t>7 September 2026</a:t>
            </a:fld>
            <a:endParaRPr lang="en-GB" sz="1000"/>
          </a:p>
        </p:txBody>
      </p:sp>
      <p:sp>
        <p:nvSpPr>
          <p:cNvPr id="5009" name="Automatic Slide Number 9"/>
          <p:cNvSpPr txBox="1"/>
          <p:nvPr/>
        </p:nvSpPr>
        <p:spPr>
          <a:xfrm>
            <a:off x="9601200" y="6565900"/>
            <a:ext cx="228600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/>
            <a:fld id="{19facd15-ebd9-4f88-a580-3358c89a565e}" type="slidenum">
              <a:rPr lang="en-GB" sz="1000" dirty="0">
                <a:solidFill>
                  <a:srgbClr val="C4A35A"/>
                </a:solidFill>
                <a:latin typeface="Calibri"/>
              </a:rPr>
              <a:t>9</a:t>
            </a:fld>
            <a:r>
              <a:rPr lang="en-GB" sz="1000">
                <a:solidFill>
                  <a:srgbClr val="C4A35A"/>
                </a:solidFill>
                <a:latin typeface="Calibri"/>
              </a:rPr>
              <a:t> / 35</a:t>
            </a:r>
            <a:endParaRPr lang="en-GB" sz="1000"/>
          </a:p>
        </p:txBody>
      </p:sp>
    </p:spTree>
  </p:cSld>
  <p:clrMapOvr>
    <a:masterClrMapping/>
  </p:clrMapOvr>
  <p:hf sldNum="1" hdr="0" ftr="1" dt="1"/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91695" cy="54864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73152"/>
            <a:ext cx="11521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M. S. RAMAIAH UNIVERSITY OF APPLIED SCIENCES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" y="347472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4A35A"/>
                </a:solidFill>
                <a:latin typeface="Calibri"/>
              </a:rPr>
              <a:t>Faculty of Engineering and Technology  ·  RESEARCH PROPOSAL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6565392"/>
            <a:ext cx="5760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Calibri"/>
              </a:rPr>
              <a:t>Jenisha T  |  24ETRP720001  |  Part Time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713232"/>
            <a:ext cx="12191695" cy="5797296"/>
          </a:xfrm>
          <a:prstGeom prst="rect">
            <a:avLst/>
          </a:prstGeom>
          <a:solidFill>
            <a:srgbClr val="FFFA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804672"/>
            <a:ext cx="11430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7C1D2E"/>
                </a:solidFill>
                <a:latin typeface="Calibri"/>
              </a:rPr>
              <a:t>RESEARCH PROPOSAL  ·  Literature Review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02412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214"/>
                </a:solidFill>
                <a:latin typeface="Calibri"/>
              </a:rPr>
              <a:t>Literature Review — Evidence 11 &amp; Evidence 12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572768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C4A4E"/>
                </a:solidFill>
                <a:latin typeface="Calibri"/>
              </a:rPr>
              <a:t>Continuation. Evidence 11 &amp; Evidence 12 in the same Evidence template.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0040" y="1993392"/>
            <a:ext cx="5678424" cy="41605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7C1D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" y="2066544"/>
            <a:ext cx="5495544" cy="4014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7C1D2E"/>
                </a:solidFill>
                <a:latin typeface="Calibri"/>
              </a:rPr>
              <a:t>Evidence 11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Author(s): </a:t>
            </a:r>
            <a:r>
              <a:rPr sz="1000">
                <a:solidFill>
                  <a:srgbClr val="1A1214"/>
                </a:solidFill>
                <a:latin typeface="Calibri"/>
              </a:rPr>
              <a:t>Park, J. S., O’Brien, J. C., Cai, C. J., Morris, M. R., Liang, P., and Bernstein, M. S.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Year: </a:t>
            </a:r>
            <a:r>
              <a:rPr sz="1000">
                <a:solidFill>
                  <a:srgbClr val="1A1214"/>
                </a:solidFill>
                <a:latin typeface="Calibri"/>
              </a:rPr>
              <a:t>2023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Title: </a:t>
            </a:r>
            <a:r>
              <a:rPr sz="1000">
                <a:solidFill>
                  <a:srgbClr val="1A1214"/>
                </a:solidFill>
                <a:latin typeface="Calibri"/>
              </a:rPr>
              <a:t>Generative Agents: Interactive Simulacra of Human Behavior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Publication: </a:t>
            </a:r>
            <a:r>
              <a:rPr sz="1000">
                <a:solidFill>
                  <a:srgbClr val="1A1214"/>
                </a:solidFill>
                <a:latin typeface="Calibri"/>
              </a:rPr>
              <a:t>UIST 2023 (Best Paper). doi:10.1145/3586183.3606763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Objective: </a:t>
            </a:r>
            <a:r>
              <a:rPr sz="1000">
                <a:solidFill>
                  <a:srgbClr val="1A1214"/>
                </a:solidFill>
                <a:latin typeface="Calibri"/>
              </a:rPr>
              <a:t>Give LLM agents a long-term memory stream for believable behaviour in a sandbox.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Methodology: </a:t>
            </a:r>
            <a:r>
              <a:rPr sz="1000">
                <a:solidFill>
                  <a:srgbClr val="1A1214"/>
                </a:solidFill>
                <a:latin typeface="Calibri"/>
              </a:rPr>
              <a:t>Natural-language memory, reflection, and retrieval (recency, relevance, importance) inside a Sims-like town.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Findings: </a:t>
            </a:r>
            <a:r>
              <a:rPr sz="1000">
                <a:solidFill>
                  <a:srgbClr val="1A1214"/>
                </a:solidFill>
                <a:latin typeface="Calibri"/>
              </a:rPr>
              <a:t>A memory stream supports individual plans and emergent social coordination among agents.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Limitations: </a:t>
            </a:r>
            <a:r>
              <a:rPr sz="1000">
                <a:solidFill>
                  <a:srgbClr val="1A1214"/>
                </a:solidFill>
                <a:latin typeface="Calibri"/>
              </a:rPr>
              <a:t>Memory lives in a sandbox simulation. It is not written back into a tool retriever over ministry APIs.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6" y="1993392"/>
            <a:ext cx="5678424" cy="41605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7C1D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54496" y="2066544"/>
            <a:ext cx="5495544" cy="4014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7C1D2E"/>
                </a:solidFill>
                <a:latin typeface="Calibri"/>
              </a:rPr>
              <a:t>Evidence 12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Author(s): </a:t>
            </a:r>
            <a:r>
              <a:rPr sz="1000">
                <a:solidFill>
                  <a:srgbClr val="1A1214"/>
                </a:solidFill>
                <a:latin typeface="Calibri"/>
              </a:rPr>
              <a:t>Tero, A., Takagi, S., Saigusa, T., Ito, K., Bebber, D. P., Fricker, M. D., Yumiki, K., Kobayashi, R., and Nakagaki, T.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Year: </a:t>
            </a:r>
            <a:r>
              <a:rPr sz="1000">
                <a:solidFill>
                  <a:srgbClr val="1A1214"/>
                </a:solidFill>
                <a:latin typeface="Calibri"/>
              </a:rPr>
              <a:t>2010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Title: </a:t>
            </a:r>
            <a:r>
              <a:rPr sz="1000">
                <a:solidFill>
                  <a:srgbClr val="1A1214"/>
                </a:solidFill>
                <a:latin typeface="Calibri"/>
              </a:rPr>
              <a:t>Rules for Biologically Inspired Adaptive Network Design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Publication: </a:t>
            </a:r>
            <a:r>
              <a:rPr sz="1000">
                <a:solidFill>
                  <a:srgbClr val="1A1214"/>
                </a:solidFill>
                <a:latin typeface="Calibri"/>
              </a:rPr>
              <a:t>Science 327(5964):439–442. doi:10.1126/science.1177894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Objective: </a:t>
            </a:r>
            <a:r>
              <a:rPr sz="1000">
                <a:solidFill>
                  <a:srgbClr val="1A1214"/>
                </a:solidFill>
                <a:latin typeface="Calibri"/>
              </a:rPr>
              <a:t>Capture how Physarum polycephalum grows efficient, fault-tolerant transport networks.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Methodology: </a:t>
            </a:r>
            <a:r>
              <a:rPr sz="1000">
                <a:solidFill>
                  <a:srgbClr val="1A1214"/>
                </a:solidFill>
                <a:latin typeface="Calibri"/>
              </a:rPr>
              <a:t>Feedback between tube conductance and protoplasmic flux; compared with the Tokyo rail system.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Findings: </a:t>
            </a:r>
            <a:r>
              <a:rPr sz="1000">
                <a:solidFill>
                  <a:srgbClr val="1A1214"/>
                </a:solidFill>
                <a:latin typeface="Calibri"/>
              </a:rPr>
              <a:t>A local conductance update can yield globally efficient adaptive networks without a central planner.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Limitations: </a:t>
            </a:r>
            <a:r>
              <a:rPr sz="1000">
                <a:solidFill>
                  <a:srgbClr val="1A1214"/>
                </a:solidFill>
                <a:latin typeface="Calibri"/>
              </a:rPr>
              <a:t>A biological transport model, not an LLM context pruner. ACRS uses it as a design heuristic, not as a claim that the mesh is an organism.</a:t>
            </a:r>
          </a:p>
        </p:txBody>
      </p:sp>
      <p:sp>
        <p:nvSpPr>
          <p:cNvPr id="4010" name="Automatic Date 10"/>
          <p:cNvSpPr txBox="1"/>
          <p:nvPr/>
        </p:nvSpPr>
        <p:spPr>
          <a:xfrm>
            <a:off x="255016" y="6565900"/>
            <a:ext cx="310896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fld id="{ce068a3b-f7fd-44e7-9125-d8d2e115f582}" type="datetime3">
              <a:rPr lang="en-GB" sz="1000" dirty="0">
                <a:solidFill>
                  <a:srgbClr val="C4A35A"/>
                </a:solidFill>
                <a:latin typeface="Calibri"/>
              </a:rPr>
              <a:t>7 September 2026</a:t>
            </a:fld>
            <a:endParaRPr lang="en-GB" sz="1000"/>
          </a:p>
        </p:txBody>
      </p:sp>
      <p:sp>
        <p:nvSpPr>
          <p:cNvPr id="5010" name="Automatic Slide Number 10"/>
          <p:cNvSpPr txBox="1"/>
          <p:nvPr/>
        </p:nvSpPr>
        <p:spPr>
          <a:xfrm>
            <a:off x="9601200" y="6565900"/>
            <a:ext cx="228600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/>
            <a:fld id="{fa015c52-3a36-4cc0-9614-1ce6379e3691}" type="slidenum">
              <a:rPr lang="en-GB" sz="1000" dirty="0">
                <a:solidFill>
                  <a:srgbClr val="C4A35A"/>
                </a:solidFill>
                <a:latin typeface="Calibri"/>
              </a:rPr>
              <a:t>10</a:t>
            </a:fld>
            <a:r>
              <a:rPr lang="en-GB" sz="1000">
                <a:solidFill>
                  <a:srgbClr val="C4A35A"/>
                </a:solidFill>
                <a:latin typeface="Calibri"/>
              </a:rPr>
              <a:t> / 35</a:t>
            </a:r>
            <a:endParaRPr lang="en-GB" sz="1000"/>
          </a:p>
        </p:txBody>
      </p:sp>
    </p:spTree>
  </p:cSld>
  <p:clrMapOvr>
    <a:masterClrMapping/>
  </p:clrMapOvr>
  <p:hf sldNum="1" hdr="0" ftr="1" dt="1"/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91695" cy="54864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73152"/>
            <a:ext cx="11521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M. S. RAMAIAH UNIVERSITY OF APPLIED SCIENCES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" y="347472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4A35A"/>
                </a:solidFill>
                <a:latin typeface="Calibri"/>
              </a:rPr>
              <a:t>Faculty of Engineering and Technology  ·  RESEARCH PROPOSAL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6565392"/>
            <a:ext cx="5760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Calibri"/>
              </a:rPr>
              <a:t>Jenisha T  |  24ETRP720001  |  Part Time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713232"/>
            <a:ext cx="12191695" cy="5797296"/>
          </a:xfrm>
          <a:prstGeom prst="rect">
            <a:avLst/>
          </a:prstGeom>
          <a:solidFill>
            <a:srgbClr val="FFFA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804672"/>
            <a:ext cx="11430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7C1D2E"/>
                </a:solidFill>
                <a:latin typeface="Calibri"/>
              </a:rPr>
              <a:t>RESEARCH PROPOSAL  ·  Literature Review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02412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214"/>
                </a:solidFill>
                <a:latin typeface="Calibri"/>
              </a:rPr>
              <a:t>Literature Review — Evidence 13 &amp; Evidence 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572768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C4A4E"/>
                </a:solidFill>
                <a:latin typeface="Calibri"/>
              </a:rPr>
              <a:t>Continuation. Evidence 13 &amp; Evidence 14 in the same Evidence template.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0040" y="1993392"/>
            <a:ext cx="5678424" cy="41605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7C1D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" y="2066544"/>
            <a:ext cx="5495544" cy="4014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7C1D2E"/>
                </a:solidFill>
                <a:latin typeface="Calibri"/>
              </a:rPr>
              <a:t>Evidence 13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Author(s): </a:t>
            </a:r>
            <a:r>
              <a:rPr sz="1000">
                <a:solidFill>
                  <a:srgbClr val="1A1214"/>
                </a:solidFill>
                <a:latin typeface="Calibri"/>
              </a:rPr>
              <a:t>Guo, H., Woodruff, A., and Yadav, A.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Year: </a:t>
            </a:r>
            <a:r>
              <a:rPr sz="1000">
                <a:solidFill>
                  <a:srgbClr val="1A1214"/>
                </a:solidFill>
                <a:latin typeface="Calibri"/>
              </a:rPr>
              <a:t>2020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Title: </a:t>
            </a:r>
            <a:r>
              <a:rPr sz="1000">
                <a:solidFill>
                  <a:srgbClr val="1A1214"/>
                </a:solidFill>
                <a:latin typeface="Calibri"/>
              </a:rPr>
              <a:t>Improving Lives of Indebted Farmers Using Deep Learning: Predicting Agricultural Produce Prices Using Convolutional Neural Networks (PECAD)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Publication: </a:t>
            </a:r>
            <a:r>
              <a:rPr sz="1000">
                <a:solidFill>
                  <a:srgbClr val="1A1214"/>
                </a:solidFill>
                <a:latin typeface="Calibri"/>
              </a:rPr>
              <a:t>AAAI 2020. doi:10.1609/aaai.v34i08.7039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Objective: </a:t>
            </a:r>
            <a:r>
              <a:rPr sz="1000">
                <a:solidFill>
                  <a:srgbClr val="1A1214"/>
                </a:solidFill>
                <a:latin typeface="Calibri"/>
              </a:rPr>
              <a:t>Use AGMARKNET price series as decision-support input for indebted farmers.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Methodology: </a:t>
            </a:r>
            <a:r>
              <a:rPr sz="1000">
                <a:solidFill>
                  <a:srgbClr val="1A1214"/>
                </a:solidFill>
                <a:latin typeface="Calibri"/>
              </a:rPr>
              <a:t>Convolutional networks over scraped agricultural produce prices.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Findings: </a:t>
            </a:r>
            <a:r>
              <a:rPr sz="1000">
                <a:solidFill>
                  <a:srgbClr val="1A1214"/>
                </a:solidFill>
                <a:latin typeface="Calibri"/>
              </a:rPr>
              <a:t>AGMARKNET is a real Indian decision-support corpus, not a toy table.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Limitations: </a:t>
            </a:r>
            <a:r>
              <a:rPr sz="1000">
                <a:solidFill>
                  <a:srgbClr val="1A1214"/>
                </a:solidFill>
                <a:latin typeface="Calibri"/>
              </a:rPr>
              <a:t>A crop-price CNN is not a multi-agent live-OGD loop. Cited as domain precedent, not as a baseline to beat.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6" y="1993392"/>
            <a:ext cx="5678424" cy="41605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7C1D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54496" y="2066544"/>
            <a:ext cx="5495544" cy="4014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7C1D2E"/>
                </a:solidFill>
                <a:latin typeface="Calibri"/>
              </a:rPr>
              <a:t>Evidence 14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Author(s): </a:t>
            </a:r>
            <a:r>
              <a:rPr sz="1000">
                <a:solidFill>
                  <a:srgbClr val="1A1214"/>
                </a:solidFill>
                <a:latin typeface="Calibri"/>
              </a:rPr>
              <a:t>Yao, S., Zhao, J., Yu, D., Du, N., Shafran, I., Narasimhan, K., and Cao, Y.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Year: </a:t>
            </a:r>
            <a:r>
              <a:rPr sz="1000">
                <a:solidFill>
                  <a:srgbClr val="1A1214"/>
                </a:solidFill>
                <a:latin typeface="Calibri"/>
              </a:rPr>
              <a:t>2023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Title: </a:t>
            </a:r>
            <a:r>
              <a:rPr sz="1000">
                <a:solidFill>
                  <a:srgbClr val="1A1214"/>
                </a:solidFill>
                <a:latin typeface="Calibri"/>
              </a:rPr>
              <a:t>ReAct: Synergizing Reasoning and Acting in Language Models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Publication: </a:t>
            </a:r>
            <a:r>
              <a:rPr sz="1000">
                <a:solidFill>
                  <a:srgbClr val="1A1214"/>
                </a:solidFill>
                <a:latin typeface="Calibri"/>
              </a:rPr>
              <a:t>ICLR 2023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Objective: </a:t>
            </a:r>
            <a:r>
              <a:rPr sz="1000">
                <a:solidFill>
                  <a:srgbClr val="1A1214"/>
                </a:solidFill>
                <a:latin typeface="Calibri"/>
              </a:rPr>
              <a:t>Interleave reasoning traces with actions so a language model can use tools.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Methodology: </a:t>
            </a:r>
            <a:r>
              <a:rPr sz="1000">
                <a:solidFill>
                  <a:srgbClr val="1A1214"/>
                </a:solidFill>
                <a:latin typeface="Calibri"/>
              </a:rPr>
              <a:t>Thought–action–observation cycles on the already-chosen tool set.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Findings: </a:t>
            </a:r>
            <a:r>
              <a:rPr sz="1000">
                <a:solidFill>
                  <a:srgbClr val="1A1214"/>
                </a:solidFill>
                <a:latin typeface="Calibri"/>
              </a:rPr>
              <a:t>Reasoning-and-acting beats reason-only or act-only prompting on several agent tasks.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7C1D2E"/>
                </a:solidFill>
                <a:latin typeface="Calibri"/>
              </a:rPr>
              <a:t>Limitations: </a:t>
            </a:r>
            <a:r>
              <a:rPr sz="1000">
                <a:solidFill>
                  <a:srgbClr val="1A1214"/>
                </a:solidFill>
                <a:latin typeface="Calibri"/>
              </a:rPr>
              <a:t>Assumes the tool set is already determined. It does not fuse session co-activation into the next rank, nor cite a live data.gov.in UUID.</a:t>
            </a:r>
          </a:p>
        </p:txBody>
      </p:sp>
      <p:sp>
        <p:nvSpPr>
          <p:cNvPr id="4011" name="Automatic Date 11"/>
          <p:cNvSpPr txBox="1"/>
          <p:nvPr/>
        </p:nvSpPr>
        <p:spPr>
          <a:xfrm>
            <a:off x="255016" y="6565900"/>
            <a:ext cx="310896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fld id="{e64e9e07-3ef5-4475-877b-ff1423d6d7a1}" type="datetime3">
              <a:rPr lang="en-GB" sz="1000" dirty="0">
                <a:solidFill>
                  <a:srgbClr val="C4A35A"/>
                </a:solidFill>
                <a:latin typeface="Calibri"/>
              </a:rPr>
              <a:t>7 September 2026</a:t>
            </a:fld>
            <a:endParaRPr lang="en-GB" sz="1000"/>
          </a:p>
        </p:txBody>
      </p:sp>
      <p:sp>
        <p:nvSpPr>
          <p:cNvPr id="5011" name="Automatic Slide Number 11"/>
          <p:cNvSpPr txBox="1"/>
          <p:nvPr/>
        </p:nvSpPr>
        <p:spPr>
          <a:xfrm>
            <a:off x="9601200" y="6565900"/>
            <a:ext cx="228600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/>
            <a:fld id="{13d48605-84cc-4369-9c51-85df095d5af2}" type="slidenum">
              <a:rPr lang="en-GB" sz="1000" dirty="0">
                <a:solidFill>
                  <a:srgbClr val="C4A35A"/>
                </a:solidFill>
                <a:latin typeface="Calibri"/>
              </a:rPr>
              <a:t>11</a:t>
            </a:fld>
            <a:r>
              <a:rPr lang="en-GB" sz="1000">
                <a:solidFill>
                  <a:srgbClr val="C4A35A"/>
                </a:solidFill>
                <a:latin typeface="Calibri"/>
              </a:rPr>
              <a:t> / 35</a:t>
            </a:r>
            <a:endParaRPr lang="en-GB" sz="1000"/>
          </a:p>
        </p:txBody>
      </p:sp>
    </p:spTree>
  </p:cSld>
  <p:clrMapOvr>
    <a:masterClrMapping/>
  </p:clrMapOvr>
  <p:hf sldNum="1" hdr="0" ftr="1" dt="1"/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91695" cy="54864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73152"/>
            <a:ext cx="11521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M. S. RAMAIAH UNIVERSITY OF APPLIED SCIENCES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" y="347472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4A35A"/>
                </a:solidFill>
                <a:latin typeface="Calibri"/>
              </a:rPr>
              <a:t>Faculty of Engineering and Technology  ·  RESEARCH PROPOSAL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6565392"/>
            <a:ext cx="5760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Calibri"/>
              </a:rPr>
              <a:t>Jenisha T  |  24ETRP720001  |  Part Time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713232"/>
            <a:ext cx="12191695" cy="5797296"/>
          </a:xfrm>
          <a:prstGeom prst="rect">
            <a:avLst/>
          </a:prstGeom>
          <a:solidFill>
            <a:srgbClr val="FFFA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804672"/>
            <a:ext cx="11430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7C1D2E"/>
                </a:solidFill>
                <a:latin typeface="Calibri"/>
              </a:rPr>
              <a:t>RESEARCH PROPOSAL  ·  Summary of Literature Review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02412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214"/>
                </a:solidFill>
                <a:latin typeface="Calibri"/>
              </a:rPr>
              <a:t>Summary of Literature Review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572768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C4A4E"/>
                </a:solidFill>
                <a:latin typeface="Calibri"/>
              </a:rPr>
              <a:t>Qualitative map only. This table names the gap each family leaves for ACRS; it does not claim a percentage improvement over any baseline. The next slide is the FET section To Solve the Research Gap.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1993392"/>
          <a:ext cx="11521439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3430"/>
                <a:gridCol w="3917289"/>
                <a:gridCol w="5760720"/>
              </a:tblGrid>
              <a:tr h="670560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  <a:latin typeface="Calibri"/>
                        </a:rPr>
                        <a:t>Literature family</a:t>
                      </a:r>
                    </a:p>
                  </a:txBody>
                  <a:tcPr>
                    <a:solidFill>
                      <a:srgbClr val="7C1D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  <a:latin typeface="Calibri"/>
                        </a:rPr>
                        <a:t>What it already does</a:t>
                      </a:r>
                    </a:p>
                  </a:txBody>
                  <a:tcPr>
                    <a:solidFill>
                      <a:srgbClr val="7C1D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  <a:latin typeface="Calibri"/>
                        </a:rPr>
                        <a:t>What ACRS still has to add</a:t>
                      </a:r>
                    </a:p>
                  </a:txBody>
                  <a:tcPr>
                    <a:solidFill>
                      <a:srgbClr val="7C1D2E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7C1D2E"/>
                          </a:solidFill>
                          <a:latin typeface="Calibri"/>
                        </a:rPr>
                        <a:t>MAS frameworks (AutoGen, MetaGPT, ChatDev, CAMEL)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214"/>
                          </a:solidFill>
                          <a:latin typeface="Calibri"/>
                        </a:rPr>
                        <a:t>Conversation, SOPs, software roles, inception prompting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214"/>
                          </a:solidFill>
                          <a:latin typeface="Calibri"/>
                        </a:rPr>
                        <a:t>A closed session–route–mesh–prune contract, not another chat runtime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7C1D2E"/>
                          </a:solidFill>
                          <a:latin typeface="Calibri"/>
                        </a:rPr>
                        <a:t>Tool learning (ToolLLM / ToolBench / ToolRerank)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214"/>
                          </a:solidFill>
                          <a:latin typeface="Calibri"/>
                        </a:rPr>
                        <a:t>Large-scale tool-use corpus and ToolEval-style ranking protocol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214"/>
                          </a:solidFill>
                          <a:latin typeface="Calibri"/>
                        </a:rPr>
                        <a:t>Session-fused ranking plus live Indian OGD execution (not RapidAPI replay)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7C1D2E"/>
                          </a:solidFill>
                          <a:latin typeface="Calibri"/>
                        </a:rPr>
                        <a:t>Learned routers (RouteLLM, MasRouter, PILOT)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214"/>
                          </a:solidFill>
                          <a:latin typeface="Calibri"/>
                        </a:rPr>
                        <a:t>Train or bandit-route over model SKUs or collaboration modes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214"/>
                          </a:solidFill>
                          <a:latin typeface="Calibri"/>
                        </a:rPr>
                        <a:t>Training-free Dirichlet–Thompson posterior over named specialists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7C1D2E"/>
                          </a:solidFill>
                          <a:latin typeface="Calibri"/>
                        </a:rPr>
                        <a:t>Prompt compression (LLMLingua)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214"/>
                          </a:solidFill>
                          <a:latin typeface="Calibri"/>
                        </a:rPr>
                        <a:t>Shorten tokens before the LLM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214"/>
                          </a:solidFill>
                          <a:latin typeface="Calibri"/>
                        </a:rPr>
                        <a:t>Prune a mesh by conductance and write the residue back into SATR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7C1D2E"/>
                          </a:solidFill>
                          <a:latin typeface="Calibri"/>
                        </a:rPr>
                        <a:t>Indian agriculture DSS (PECAD)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214"/>
                          </a:solidFill>
                          <a:latin typeface="Calibri"/>
                        </a:rPr>
                        <a:t>Shows AGMARKNET as a real decision-support input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214"/>
                          </a:solidFill>
                          <a:latin typeface="Calibri"/>
                        </a:rPr>
                        <a:t>Live, fail-loud OGD inside a multi-agent loop — not a crop-yield model to beat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</a:tr>
            </a:tbl>
          </a:graphicData>
        </a:graphic>
      </p:graphicFrame>
      <p:sp>
        <p:nvSpPr>
          <p:cNvPr id="4012" name="Automatic Date 12"/>
          <p:cNvSpPr txBox="1"/>
          <p:nvPr/>
        </p:nvSpPr>
        <p:spPr>
          <a:xfrm>
            <a:off x="255016" y="6565900"/>
            <a:ext cx="310896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fld id="{26a1c519-33e3-4d13-b9a8-1b7ca1c27f9a}" type="datetime3">
              <a:rPr lang="en-GB" sz="1000" dirty="0">
                <a:solidFill>
                  <a:srgbClr val="C4A35A"/>
                </a:solidFill>
                <a:latin typeface="Calibri"/>
              </a:rPr>
              <a:t>7 September 2026</a:t>
            </a:fld>
            <a:endParaRPr lang="en-GB" sz="1000"/>
          </a:p>
        </p:txBody>
      </p:sp>
      <p:sp>
        <p:nvSpPr>
          <p:cNvPr id="5012" name="Automatic Slide Number 12"/>
          <p:cNvSpPr txBox="1"/>
          <p:nvPr/>
        </p:nvSpPr>
        <p:spPr>
          <a:xfrm>
            <a:off x="9601200" y="6565900"/>
            <a:ext cx="228600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/>
            <a:fld id="{786acd1e-24df-4760-9453-969e47489651}" type="slidenum">
              <a:rPr lang="en-GB" sz="1000" dirty="0">
                <a:solidFill>
                  <a:srgbClr val="C4A35A"/>
                </a:solidFill>
                <a:latin typeface="Calibri"/>
              </a:rPr>
              <a:t>12</a:t>
            </a:fld>
            <a:r>
              <a:rPr lang="en-GB" sz="1000">
                <a:solidFill>
                  <a:srgbClr val="C4A35A"/>
                </a:solidFill>
                <a:latin typeface="Calibri"/>
              </a:rPr>
              <a:t> / 35</a:t>
            </a:r>
            <a:endParaRPr lang="en-GB" sz="1000"/>
          </a:p>
        </p:txBody>
      </p:sp>
    </p:spTree>
  </p:cSld>
  <p:clrMapOvr>
    <a:masterClrMapping/>
  </p:clrMapOvr>
  <p:hf sldNum="1" hdr="0" ftr="1" dt="1"/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91695" cy="54864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73152"/>
            <a:ext cx="11521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M. S. RAMAIAH UNIVERSITY OF APPLIED SCIENCES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" y="347472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4A35A"/>
                </a:solidFill>
                <a:latin typeface="Calibri"/>
              </a:rPr>
              <a:t>Faculty of Engineering and Technology  ·  RESEARCH PROPOSAL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6565392"/>
            <a:ext cx="5760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Calibri"/>
              </a:rPr>
              <a:t>Jenisha T  |  24ETRP720001  |  Part Time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713232"/>
            <a:ext cx="12191695" cy="5797296"/>
          </a:xfrm>
          <a:prstGeom prst="rect">
            <a:avLst/>
          </a:prstGeom>
          <a:solidFill>
            <a:srgbClr val="FFFA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804672"/>
            <a:ext cx="11430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7C1D2E"/>
                </a:solidFill>
                <a:latin typeface="Calibri"/>
              </a:rPr>
              <a:t>RESEARCH PROPOSAL  ·  To Solve the Research Gap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02412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214"/>
                </a:solidFill>
                <a:latin typeface="Calibri"/>
              </a:rPr>
              <a:t>To Solve the Research Gap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572768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C4A4E"/>
                </a:solidFill>
                <a:latin typeface="Calibri"/>
              </a:rPr>
              <a:t>To solve the research gaps identified in Evidence 1–14, the following work is proposed. Closing a gap is a named module on a closed loop, not a promised leaderboard number.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1993392"/>
          <a:ext cx="11521439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95574"/>
                <a:gridCol w="2304288"/>
                <a:gridCol w="6221577"/>
              </a:tblGrid>
              <a:tr h="670560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  <a:latin typeface="Calibri"/>
                        </a:rPr>
                        <a:t>Research gap</a:t>
                      </a:r>
                    </a:p>
                  </a:txBody>
                  <a:tcPr>
                    <a:solidFill>
                      <a:srgbClr val="7C1D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  <a:latin typeface="Calibri"/>
                        </a:rPr>
                        <a:t>Left open by</a:t>
                      </a:r>
                    </a:p>
                  </a:txBody>
                  <a:tcPr>
                    <a:solidFill>
                      <a:srgbClr val="7C1D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  <a:latin typeface="Calibri"/>
                        </a:rPr>
                        <a:t>To solve the research gap</a:t>
                      </a:r>
                    </a:p>
                  </a:txBody>
                  <a:tcPr>
                    <a:solidFill>
                      <a:srgbClr val="7C1D2E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7C1D2E"/>
                          </a:solidFill>
                          <a:latin typeface="Calibri"/>
                        </a:rPr>
                        <a:t>G1 — Turn-amnesic retrieval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214"/>
                          </a:solidFill>
                          <a:latin typeface="Calibri"/>
                        </a:rPr>
                        <a:t>Evidence 5, 6, 14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214"/>
                          </a:solidFill>
                          <a:latin typeface="Calibri"/>
                        </a:rPr>
                        <a:t>O1 SATR. Fuse session co-activation with semantic rank; write FCNP residue into the next prior.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7C1D2E"/>
                          </a:solidFill>
                          <a:latin typeface="Calibri"/>
                        </a:rPr>
                        <a:t>G2 — Model / SOP routers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214"/>
                          </a:solidFill>
                          <a:latin typeface="Calibri"/>
                        </a:rPr>
                        <a:t>Evidence 2, 7, 8, 9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214"/>
                          </a:solidFill>
                          <a:latin typeface="Calibri"/>
                        </a:rPr>
                        <a:t>O2 APRR. Training-free Dirichlet–Thompson posterior over named specialists, not LLM SKUs.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7C1D2E"/>
                          </a:solidFill>
                          <a:latin typeface="Calibri"/>
                        </a:rPr>
                        <a:t>G3 — Chat / star coordination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214"/>
                          </a:solidFill>
                          <a:latin typeface="Calibri"/>
                        </a:rPr>
                        <a:t>Evidence 1, 2, 3, 4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214"/>
                          </a:solidFill>
                          <a:latin typeface="Calibri"/>
                        </a:rPr>
                        <a:t>O3 MNCD. Score-sum over live tool identifiers, then a fail-loud data.gov.in GET.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7C1D2E"/>
                          </a:solidFill>
                          <a:latin typeface="Calibri"/>
                        </a:rPr>
                        <a:t>G4 — Token compression, no write-back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214"/>
                          </a:solidFill>
                          <a:latin typeface="Calibri"/>
                        </a:rPr>
                        <a:t>Evidence 10, 11, 12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214"/>
                          </a:solidFill>
                          <a:latin typeface="Calibri"/>
                        </a:rPr>
                        <a:t>O4 FCNP. Conductance prune of the mesh; pin live citations back into SATR.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7C1D2E"/>
                          </a:solidFill>
                          <a:latin typeface="Calibri"/>
                        </a:rPr>
                        <a:t>G5 — No live Indian OGD loop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214"/>
                          </a:solidFill>
                          <a:latin typeface="Calibri"/>
                        </a:rPr>
                        <a:t>Evidence 5, 13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214"/>
                          </a:solidFill>
                          <a:latin typeface="Calibri"/>
                        </a:rPr>
                        <a:t>Integrated ACRS on verified Agriculture UUIDs. ToolBench is ranking-only; prices are never invented.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</a:tr>
            </a:tbl>
          </a:graphicData>
        </a:graphic>
      </p:graphicFrame>
      <p:sp>
        <p:nvSpPr>
          <p:cNvPr id="4013" name="Automatic Date 13"/>
          <p:cNvSpPr txBox="1"/>
          <p:nvPr/>
        </p:nvSpPr>
        <p:spPr>
          <a:xfrm>
            <a:off x="255016" y="6565900"/>
            <a:ext cx="310896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fld id="{85443837-34f4-44ed-adbb-71f295ebe8a2}" type="datetime3">
              <a:rPr lang="en-GB" sz="1000" dirty="0">
                <a:solidFill>
                  <a:srgbClr val="C4A35A"/>
                </a:solidFill>
                <a:latin typeface="Calibri"/>
              </a:rPr>
              <a:t>7 September 2026</a:t>
            </a:fld>
            <a:endParaRPr lang="en-GB" sz="1000"/>
          </a:p>
        </p:txBody>
      </p:sp>
      <p:sp>
        <p:nvSpPr>
          <p:cNvPr id="5013" name="Automatic Slide Number 13"/>
          <p:cNvSpPr txBox="1"/>
          <p:nvPr/>
        </p:nvSpPr>
        <p:spPr>
          <a:xfrm>
            <a:off x="9601200" y="6565900"/>
            <a:ext cx="228600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/>
            <a:fld id="{781aa607-b344-4401-967e-d1b4431600cc}" type="slidenum">
              <a:rPr lang="en-GB" sz="1000" dirty="0">
                <a:solidFill>
                  <a:srgbClr val="C4A35A"/>
                </a:solidFill>
                <a:latin typeface="Calibri"/>
              </a:rPr>
              <a:t>13</a:t>
            </a:fld>
            <a:r>
              <a:rPr lang="en-GB" sz="1000">
                <a:solidFill>
                  <a:srgbClr val="C4A35A"/>
                </a:solidFill>
                <a:latin typeface="Calibri"/>
              </a:rPr>
              <a:t> / 35</a:t>
            </a:r>
            <a:endParaRPr lang="en-GB" sz="1000"/>
          </a:p>
        </p:txBody>
      </p:sp>
    </p:spTree>
  </p:cSld>
  <p:clrMapOvr>
    <a:masterClrMapping/>
  </p:clrMapOvr>
  <p:hf sldNum="1" hdr="0" ftr="1" dt="1"/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91695" cy="54864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73152"/>
            <a:ext cx="11521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M. S. RAMAIAH UNIVERSITY OF APPLIED SCIENCES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" y="347472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4A35A"/>
                </a:solidFill>
                <a:latin typeface="Calibri"/>
              </a:rPr>
              <a:t>Faculty of Engineering and Technology  ·  RESEARCH PROPOSAL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6565392"/>
            <a:ext cx="5760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Calibri"/>
              </a:rPr>
              <a:t>Jenisha T  |  24ETRP720001  |  Part Time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713232"/>
            <a:ext cx="12191695" cy="5797296"/>
          </a:xfrm>
          <a:prstGeom prst="rect">
            <a:avLst/>
          </a:prstGeom>
          <a:solidFill>
            <a:srgbClr val="FFFA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804672"/>
            <a:ext cx="11430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7C1D2E"/>
                </a:solidFill>
                <a:latin typeface="Calibri"/>
              </a:rPr>
              <a:t>RESEARCH PROPOSAL  ·  Identified Research Problem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02412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214"/>
                </a:solidFill>
                <a:latin typeface="Calibri"/>
              </a:rPr>
              <a:t>Identified Research Problem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572768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C4A4E"/>
                </a:solidFill>
                <a:latin typeface="Calibri"/>
              </a:rPr>
              <a:t>Five architectural gaps. Four named objectives. One integration contract. The previous slide maps each gap onto the module that closes it. Closing a gap is evidenced by a runnable loop and citable equations, not by a promised leaderboard number.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1993392"/>
            <a:ext cx="1143000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G1 — Turn-amnesic retrieval. ToolLLM SBERT (Qin et al., ICLR 2024) and ToolRerank (Zheng et al., LREC-COLING 2024) score each query independently. Session co-activation is unused. → Objective 1 SATR.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G2 — Routers pick models or authored SOPs, not tool-specialist agents with a training-free posterior. RouteLLM / PILOT / MasRouter / MetaGPT. → Objective 2 APRR.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G3 — MAS communication is star, SOP, or chat. No mesh vote whose object is a live tool identifier. AutoGen, MetaGPT, ChatDev, CAMEL. → Objective 3 MNCD.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G4 — Prompt compressors (LLMLingua, EMNLP 2023) do not write live citations back into retrieval. → Objective 4 FCNP.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G5 — No closed four-stage contract executed on journal-publishable Indian OGD (data.gov.in / AGMARKNET / IMD / DES), with ToolBench used only as a ranking library. → Integrated ACRS.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199632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C4A4E"/>
                </a:solidFill>
                <a:latin typeface="Calibri"/>
              </a:rPr>
              <a:t>Gaps are architectural. This deck does not convert them into NDCG, latency, or accuracy targets.</a:t>
            </a:r>
          </a:p>
        </p:txBody>
      </p:sp>
      <p:sp>
        <p:nvSpPr>
          <p:cNvPr id="4014" name="Automatic Date 14"/>
          <p:cNvSpPr txBox="1"/>
          <p:nvPr/>
        </p:nvSpPr>
        <p:spPr>
          <a:xfrm>
            <a:off x="255016" y="6565900"/>
            <a:ext cx="310896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fld id="{5372b5f5-9417-4e1c-85a0-61e973d7a49b}" type="datetime3">
              <a:rPr lang="en-GB" sz="1000" dirty="0">
                <a:solidFill>
                  <a:srgbClr val="C4A35A"/>
                </a:solidFill>
                <a:latin typeface="Calibri"/>
              </a:rPr>
              <a:t>7 September 2026</a:t>
            </a:fld>
            <a:endParaRPr lang="en-GB" sz="1000"/>
          </a:p>
        </p:txBody>
      </p:sp>
      <p:sp>
        <p:nvSpPr>
          <p:cNvPr id="5014" name="Automatic Slide Number 14"/>
          <p:cNvSpPr txBox="1"/>
          <p:nvPr/>
        </p:nvSpPr>
        <p:spPr>
          <a:xfrm>
            <a:off x="9601200" y="6565900"/>
            <a:ext cx="228600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/>
            <a:fld id="{e82186bd-14eb-40e6-ac0e-86b0cfa34915}" type="slidenum">
              <a:rPr lang="en-GB" sz="1000" dirty="0">
                <a:solidFill>
                  <a:srgbClr val="C4A35A"/>
                </a:solidFill>
                <a:latin typeface="Calibri"/>
              </a:rPr>
              <a:t>14</a:t>
            </a:fld>
            <a:r>
              <a:rPr lang="en-GB" sz="1000">
                <a:solidFill>
                  <a:srgbClr val="C4A35A"/>
                </a:solidFill>
                <a:latin typeface="Calibri"/>
              </a:rPr>
              <a:t> / 35</a:t>
            </a:r>
            <a:endParaRPr lang="en-GB" sz="1000"/>
          </a:p>
        </p:txBody>
      </p:sp>
    </p:spTree>
  </p:cSld>
  <p:clrMapOvr>
    <a:masterClrMapping/>
  </p:clrMapOvr>
  <p:hf sldNum="1" hdr="0" ftr="1" dt="1"/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91695" cy="54864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73152"/>
            <a:ext cx="11521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M. S. RAMAIAH UNIVERSITY OF APPLIED SCIENCES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" y="347472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4A35A"/>
                </a:solidFill>
                <a:latin typeface="Calibri"/>
              </a:rPr>
              <a:t>Faculty of Engineering and Technology  ·  RESEARCH PROPOSAL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6565392"/>
            <a:ext cx="5760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Calibri"/>
              </a:rPr>
              <a:t>Jenisha T  |  24ETRP720001  |  Part Time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713232"/>
            <a:ext cx="12191695" cy="5797296"/>
          </a:xfrm>
          <a:prstGeom prst="rect">
            <a:avLst/>
          </a:prstGeom>
          <a:solidFill>
            <a:srgbClr val="FFFA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804672"/>
            <a:ext cx="11430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7C1D2E"/>
                </a:solidFill>
                <a:latin typeface="Calibri"/>
              </a:rPr>
              <a:t>RESEARCH PROPOSAL  ·  Research Title &amp; Aim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02412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214"/>
                </a:solidFill>
                <a:latin typeface="Calibri"/>
              </a:rPr>
              <a:t>Research Title &amp; Aim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572768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C4A4E"/>
                </a:solidFill>
                <a:latin typeface="Calibri"/>
              </a:rPr>
              <a:t>Adaptive Context Reasoning System (ACRS): A Structural Orchestration Layer for Multi-Agent LLM Ecosystems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1993392"/>
            <a:ext cx="1143000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Aim. Design, implement, and critically evaluate ACRS — a structural orchestration layer in which session-aware tool retrieval (SATR), training-free specialist routing (APRR), mesh consensus over tool identifiers (MNCD), and flow-coupled context pruning with write-back (FCNP) form a closed loop on live Indian Open Government Data. The proposal-stage claim is architectural completeness and live-pipeline integrity, not a leaderboard number.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Scope of the title. Adaptive = session-conditioned ranking and routing. Context = fused session memory plus mesh residue. Reasoning = specialist posterior plus score-sum consensus. System = four named modules on one contract.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What the title is not. It is not a new LLM, not a crop-yield model, and not a claim that ACRS already outperforms ToolLLM, MasRouter, or LLMLingua on a published leaderboard.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Domain lock for the live loop. Agriculture on data.gov.in (AGMARKNET and related verified UUIDs). Other sectors stay out of the inference path in this proposal.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Integration order that the aim implies. SATR (memory) → APRR (who acts) → MNCD (live evidence) → FCNP (prune and write back).</a:t>
            </a:r>
          </a:p>
        </p:txBody>
      </p:sp>
      <p:sp>
        <p:nvSpPr>
          <p:cNvPr id="4015" name="Automatic Date 15"/>
          <p:cNvSpPr txBox="1"/>
          <p:nvPr/>
        </p:nvSpPr>
        <p:spPr>
          <a:xfrm>
            <a:off x="255016" y="6565900"/>
            <a:ext cx="310896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fld id="{41d81935-a1bb-41f6-86b4-c80899f28a23}" type="datetime3">
              <a:rPr lang="en-GB" sz="1000" dirty="0">
                <a:solidFill>
                  <a:srgbClr val="C4A35A"/>
                </a:solidFill>
                <a:latin typeface="Calibri"/>
              </a:rPr>
              <a:t>7 September 2026</a:t>
            </a:fld>
            <a:endParaRPr lang="en-GB" sz="1000"/>
          </a:p>
        </p:txBody>
      </p:sp>
      <p:sp>
        <p:nvSpPr>
          <p:cNvPr id="5015" name="Automatic Slide Number 15"/>
          <p:cNvSpPr txBox="1"/>
          <p:nvPr/>
        </p:nvSpPr>
        <p:spPr>
          <a:xfrm>
            <a:off x="9601200" y="6565900"/>
            <a:ext cx="228600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/>
            <a:fld id="{6469575c-ee2f-4162-a5ca-90f98fed8ed0}" type="slidenum">
              <a:rPr lang="en-GB" sz="1000" dirty="0">
                <a:solidFill>
                  <a:srgbClr val="C4A35A"/>
                </a:solidFill>
                <a:latin typeface="Calibri"/>
              </a:rPr>
              <a:t>15</a:t>
            </a:fld>
            <a:r>
              <a:rPr lang="en-GB" sz="1000">
                <a:solidFill>
                  <a:srgbClr val="C4A35A"/>
                </a:solidFill>
                <a:latin typeface="Calibri"/>
              </a:rPr>
              <a:t> / 35</a:t>
            </a:r>
            <a:endParaRPr lang="en-GB" sz="1000"/>
          </a:p>
        </p:txBody>
      </p:sp>
    </p:spTree>
  </p:cSld>
  <p:clrMapOvr>
    <a:masterClrMapping/>
  </p:clrMapOvr>
  <p:hf sldNum="1" hdr="0" ftr="1" dt="1"/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91695" cy="54864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73152"/>
            <a:ext cx="11521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M. S. RAMAIAH UNIVERSITY OF APPLIED SCIENCES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" y="347472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4A35A"/>
                </a:solidFill>
                <a:latin typeface="Calibri"/>
              </a:rPr>
              <a:t>Faculty of Engineering and Technology  ·  RESEARCH PROPOSAL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6565392"/>
            <a:ext cx="5760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Calibri"/>
              </a:rPr>
              <a:t>Jenisha T  |  24ETRP720001  |  Part Time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713232"/>
            <a:ext cx="12191695" cy="5797296"/>
          </a:xfrm>
          <a:prstGeom prst="rect">
            <a:avLst/>
          </a:prstGeom>
          <a:solidFill>
            <a:srgbClr val="FFFA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804672"/>
            <a:ext cx="11430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7C1D2E"/>
                </a:solidFill>
                <a:latin typeface="Calibri"/>
              </a:rPr>
              <a:t>RESEARCH PROPOSAL  ·  Research Objectives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02412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214"/>
                </a:solidFill>
                <a:latin typeface="Calibri"/>
              </a:rPr>
              <a:t>Research Objectives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572768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C4A4E"/>
                </a:solidFill>
                <a:latin typeface="Calibri"/>
              </a:rPr>
              <a:t>To solve the research gap, four named modules are proposed. Each row is a thesis-sized design claim. Metric targets are deferred until a protocol is frozen.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1993392"/>
          <a:ext cx="11521439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3430"/>
                <a:gridCol w="3917289"/>
                <a:gridCol w="5760720"/>
              </a:tblGrid>
              <a:tr h="804672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>
                    <a:solidFill>
                      <a:srgbClr val="7C1D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  <a:latin typeface="Calibri"/>
                        </a:rPr>
                        <a:t>Objective</a:t>
                      </a:r>
                    </a:p>
                  </a:txBody>
                  <a:tcPr>
                    <a:solidFill>
                      <a:srgbClr val="7C1D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  <a:latin typeface="Calibri"/>
                        </a:rPr>
                        <a:t>What will be designed</a:t>
                      </a:r>
                    </a:p>
                  </a:txBody>
                  <a:tcPr>
                    <a:solidFill>
                      <a:srgbClr val="7C1D2E"/>
                    </a:solidFill>
                  </a:tcPr>
                </a:tc>
              </a:tr>
              <a:tr h="804672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7C1D2E"/>
                          </a:solidFill>
                          <a:latin typeface="Calibri"/>
                        </a:rPr>
                        <a:t>O1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214"/>
                          </a:solidFill>
                          <a:latin typeface="Calibri"/>
                        </a:rPr>
                        <a:t>SessionRerank+ (SATR)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214"/>
                          </a:solidFill>
                          <a:latin typeface="Calibri"/>
                        </a:rPr>
                        <a:t>The retrieval chapter of the thesis: given query q and session history H, return a ranked list of ToolBench-schema tools fused with a co-activation cache. The unit of publication is the fusion rule, not an NDCG target.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</a:tr>
              <a:tr h="804672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7C1D2E"/>
                          </a:solidFill>
                          <a:latin typeface="Calibri"/>
                        </a:rPr>
                        <a:t>O2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214"/>
                          </a:solidFill>
                          <a:latin typeface="Calibri"/>
                        </a:rPr>
                        <a:t>Adaptive Probabilistic Routing Reinforcement (APRR)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214"/>
                          </a:solidFill>
                          <a:latin typeface="Calibri"/>
                        </a:rPr>
                        <a:t>The routing chapter: a training-free posterior over tool-specialist agents, updated from SATR scores and from live MNCD observations. The unit of publication is the Bayesian controller, not a Pareto chart.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</a:tr>
              <a:tr h="804672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7C1D2E"/>
                          </a:solidFill>
                          <a:latin typeface="Calibri"/>
                        </a:rPr>
                        <a:t>O3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214"/>
                          </a:solidFill>
                          <a:latin typeface="Calibri"/>
                        </a:rPr>
                        <a:t>Mesh Network Context Diffusion (MNCD)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214"/>
                          </a:solidFill>
                          <a:latin typeface="Calibri"/>
                        </a:rPr>
                        <a:t>The consensus-and-execution chapter: gossip (toolId, score), score-sum consensus, live data.gov.in GET on verified UUIDs. The unit of publication is the protocol plus the citation contract.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</a:tr>
              <a:tr h="804672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7C1D2E"/>
                          </a:solidFill>
                          <a:latin typeface="Calibri"/>
                        </a:rPr>
                        <a:t>O4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214"/>
                          </a:solidFill>
                          <a:latin typeface="Calibri"/>
                        </a:rPr>
                        <a:t>Flow-Coupled Network Pruning (FCNP)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214"/>
                          </a:solidFill>
                          <a:latin typeface="Calibri"/>
                        </a:rPr>
                        <a:t>The memory chapter: Kirchhoff/Physarum conductances prune the mesh trace and write surviving live citations back into SATR. The unit of publication is the coupling, not a token-percentage.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</a:tr>
            </a:tbl>
          </a:graphicData>
        </a:graphic>
      </p:graphicFrame>
      <p:sp>
        <p:nvSpPr>
          <p:cNvPr id="4016" name="Automatic Date 16"/>
          <p:cNvSpPr txBox="1"/>
          <p:nvPr/>
        </p:nvSpPr>
        <p:spPr>
          <a:xfrm>
            <a:off x="255016" y="6565900"/>
            <a:ext cx="310896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fld id="{c773e69a-667a-4e8e-8b00-7215ade6f64c}" type="datetime3">
              <a:rPr lang="en-GB" sz="1000" dirty="0">
                <a:solidFill>
                  <a:srgbClr val="C4A35A"/>
                </a:solidFill>
                <a:latin typeface="Calibri"/>
              </a:rPr>
              <a:t>7 September 2026</a:t>
            </a:fld>
            <a:endParaRPr lang="en-GB" sz="1000"/>
          </a:p>
        </p:txBody>
      </p:sp>
      <p:sp>
        <p:nvSpPr>
          <p:cNvPr id="5016" name="Automatic Slide Number 16"/>
          <p:cNvSpPr txBox="1"/>
          <p:nvPr/>
        </p:nvSpPr>
        <p:spPr>
          <a:xfrm>
            <a:off x="9601200" y="6565900"/>
            <a:ext cx="228600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/>
            <a:fld id="{6355a613-8b8d-437a-98ec-ea7157fc589f}" type="slidenum">
              <a:rPr lang="en-GB" sz="1000" dirty="0">
                <a:solidFill>
                  <a:srgbClr val="C4A35A"/>
                </a:solidFill>
                <a:latin typeface="Calibri"/>
              </a:rPr>
              <a:t>16</a:t>
            </a:fld>
            <a:r>
              <a:rPr lang="en-GB" sz="1000">
                <a:solidFill>
                  <a:srgbClr val="C4A35A"/>
                </a:solidFill>
                <a:latin typeface="Calibri"/>
              </a:rPr>
              <a:t> / 35</a:t>
            </a:r>
            <a:endParaRPr lang="en-GB" sz="1000"/>
          </a:p>
        </p:txBody>
      </p:sp>
    </p:spTree>
  </p:cSld>
  <p:clrMapOvr>
    <a:masterClrMapping/>
  </p:clrMapOvr>
  <p:hf sldNum="1" hdr="0" ftr="1" dt="1"/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91695" cy="54864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73152"/>
            <a:ext cx="11521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M. S. RAMAIAH UNIVERSITY OF APPLIED SCIENCES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" y="347472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4A35A"/>
                </a:solidFill>
                <a:latin typeface="Calibri"/>
              </a:rPr>
              <a:t>Faculty of Engineering and Technology  ·  RESEARCH PROPOSAL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6565392"/>
            <a:ext cx="5760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Calibri"/>
              </a:rPr>
              <a:t>Jenisha T  |  24ETRP720001  |  Part Time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713232"/>
            <a:ext cx="12191695" cy="5797296"/>
          </a:xfrm>
          <a:prstGeom prst="rect">
            <a:avLst/>
          </a:prstGeom>
          <a:solidFill>
            <a:srgbClr val="FFFA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804672"/>
            <a:ext cx="11430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7C1D2E"/>
                </a:solidFill>
                <a:latin typeface="Calibri"/>
              </a:rPr>
              <a:t>RESEARCH PROPOSAL  ·  Research Objectives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02412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214"/>
                </a:solidFill>
                <a:latin typeface="Calibri"/>
              </a:rPr>
              <a:t>Objective 1 — SATR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572768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C4A4E"/>
                </a:solidFill>
                <a:latin typeface="Calibri"/>
              </a:rPr>
              <a:t>The retrieval chapter of the thesis: given query q and session history H, return a ranked list of ToolBench-schema tools fused with a co-activation cache. The unit of publication is the fusion rule, not an NDCG target.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1993392"/>
            <a:ext cx="1143000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SOTA. Qin et al., ToolLLM / ToolBench (ICLR 2024): Sentence-BERT API retriever over 16,464 RapidAPI tools, then ToolLLaMA + DFSDT. Zheng et al., ToolRerank (LREC-COLING 2024): adaptive truncation of seen vs unseen APIs and hierarchy-aware concentration/diversity. Pipeline: instruction → SBERT retrieve top-k APIs → (optional ToolRerank truncate/rerank) → LLM DFSDT/ReAct planner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Gap. SOTA retrievers are turn-amnesic. They do not maintain a success-conditioned co-activation graph or ingest pruned memory from later stages.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Novelty. Session co-activation cache as a first-class prior over tool pairs. Convex fusion of semantic and session scores; λ may grow with session length. ToolRerank-style seen/unseen truncation kept, then applied after session scoring. FCNP memory mixed into the next SATR prior so retrieval is closed-loop.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4434840"/>
            <a:ext cx="11430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C4A4E"/>
                </a:solidFill>
                <a:latin typeface="Calibri"/>
              </a:rPr>
              <a:t>Top: published SOTA. Bottom: this proposal. No numerical targets.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" y="4690872"/>
            <a:ext cx="2775204" cy="438912"/>
          </a:xfrm>
          <a:prstGeom prst="roundRect">
            <a:avLst>
              <a:gd name="adj" fmla="val 10000"/>
            </a:avLst>
          </a:prstGeom>
          <a:solidFill>
            <a:srgbClr val="4A2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Query embed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50692" y="4690872"/>
            <a:ext cx="2775204" cy="438912"/>
          </a:xfrm>
          <a:prstGeom prst="roundRect">
            <a:avLst>
              <a:gd name="adj" fmla="val 10000"/>
            </a:avLst>
          </a:prstGeom>
          <a:solidFill>
            <a:srgbClr val="4A2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SBERT (Qin ICLR 2024)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35624" y="4690872"/>
            <a:ext cx="2775204" cy="438912"/>
          </a:xfrm>
          <a:prstGeom prst="roundRect">
            <a:avLst>
              <a:gd name="adj" fmla="val 10000"/>
            </a:avLst>
          </a:prstGeom>
          <a:solidFill>
            <a:srgbClr val="4A2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ToolRerank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20556" y="4690872"/>
            <a:ext cx="2775204" cy="438912"/>
          </a:xfrm>
          <a:prstGeom prst="roundRect">
            <a:avLst>
              <a:gd name="adj" fmla="val 10000"/>
            </a:avLst>
          </a:prstGeom>
          <a:solidFill>
            <a:srgbClr val="4A2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Planner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5221224"/>
            <a:ext cx="2775204" cy="438912"/>
          </a:xfrm>
          <a:prstGeom prst="roundRect">
            <a:avLst>
              <a:gd name="adj" fmla="val 10000"/>
            </a:avLst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q + H + M_t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250692" y="5221224"/>
            <a:ext cx="2775204" cy="438912"/>
          </a:xfrm>
          <a:prstGeom prst="roundRect">
            <a:avLst>
              <a:gd name="adj" fmla="val 10000"/>
            </a:avLst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Session fusion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35624" y="5221224"/>
            <a:ext cx="2775204" cy="438912"/>
          </a:xfrm>
          <a:prstGeom prst="roundRect">
            <a:avLst>
              <a:gd name="adj" fmla="val 10000"/>
            </a:avLst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Hierarchy cut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20556" y="5221224"/>
            <a:ext cx="2775204" cy="438912"/>
          </a:xfrm>
          <a:prstGeom prst="roundRect">
            <a:avLst>
              <a:gd name="adj" fmla="val 10000"/>
            </a:avLst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Shortlist → APRR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199632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C4A4E"/>
                </a:solidFill>
                <a:latin typeface="Calibri"/>
              </a:rPr>
              <a:t>Repository: github.com/joyjeni/session-aware-toolbench-rerank</a:t>
            </a:r>
          </a:p>
        </p:txBody>
      </p:sp>
      <p:sp>
        <p:nvSpPr>
          <p:cNvPr id="4017" name="Automatic Date 17"/>
          <p:cNvSpPr txBox="1"/>
          <p:nvPr/>
        </p:nvSpPr>
        <p:spPr>
          <a:xfrm>
            <a:off x="255016" y="6565900"/>
            <a:ext cx="310896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fld id="{e29cf978-cc45-40b3-b854-3efb0debf69d}" type="datetime3">
              <a:rPr lang="en-GB" sz="1000" dirty="0">
                <a:solidFill>
                  <a:srgbClr val="C4A35A"/>
                </a:solidFill>
                <a:latin typeface="Calibri"/>
              </a:rPr>
              <a:t>7 September 2026</a:t>
            </a:fld>
            <a:endParaRPr lang="en-GB" sz="1000"/>
          </a:p>
        </p:txBody>
      </p:sp>
      <p:sp>
        <p:nvSpPr>
          <p:cNvPr id="5017" name="Automatic Slide Number 17"/>
          <p:cNvSpPr txBox="1"/>
          <p:nvPr/>
        </p:nvSpPr>
        <p:spPr>
          <a:xfrm>
            <a:off x="9601200" y="6565900"/>
            <a:ext cx="228600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/>
            <a:fld id="{c871c739-0e5b-4d42-82f9-bbdd7c34b61e}" type="slidenum">
              <a:rPr lang="en-GB" sz="1000" dirty="0">
                <a:solidFill>
                  <a:srgbClr val="C4A35A"/>
                </a:solidFill>
                <a:latin typeface="Calibri"/>
              </a:rPr>
              <a:t>17</a:t>
            </a:fld>
            <a:r>
              <a:rPr lang="en-GB" sz="1000">
                <a:solidFill>
                  <a:srgbClr val="C4A35A"/>
                </a:solidFill>
                <a:latin typeface="Calibri"/>
              </a:rPr>
              <a:t> / 35</a:t>
            </a:r>
            <a:endParaRPr lang="en-GB" sz="1000"/>
          </a:p>
        </p:txBody>
      </p:sp>
    </p:spTree>
  </p:cSld>
  <p:clrMapOvr>
    <a:masterClrMapping/>
  </p:clrMapOvr>
  <p:hf sldNum="1" hdr="0" ftr="1" dt="1"/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91695" cy="54864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73152"/>
            <a:ext cx="11521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M. S. RAMAIAH UNIVERSITY OF APPLIED SCIENCES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" y="347472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4A35A"/>
                </a:solidFill>
                <a:latin typeface="Calibri"/>
              </a:rPr>
              <a:t>Faculty of Engineering and Technology  ·  RESEARCH PROPOSAL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6565392"/>
            <a:ext cx="5760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Calibri"/>
              </a:rPr>
              <a:t>Jenisha T  |  24ETRP720001  |  Part Time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713232"/>
            <a:ext cx="12191695" cy="5797296"/>
          </a:xfrm>
          <a:prstGeom prst="rect">
            <a:avLst/>
          </a:prstGeom>
          <a:solidFill>
            <a:srgbClr val="FFFA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804672"/>
            <a:ext cx="11430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7C1D2E"/>
                </a:solidFill>
                <a:latin typeface="Calibri"/>
              </a:rPr>
              <a:t>RESEARCH PROPOSAL  ·  Research Objectives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02412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214"/>
                </a:solidFill>
                <a:latin typeface="Calibri"/>
              </a:rPr>
              <a:t>Objective 2 — APRR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572768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C4A4E"/>
                </a:solidFill>
                <a:latin typeface="Calibri"/>
              </a:rPr>
              <a:t>The routing chapter: a training-free posterior over tool-specialist agents, updated from SATR scores and from live MNCD observations. The unit of publication is the Bayesian controller, not a Pareto chart.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1993392"/>
            <a:ext cx="1143000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SOTA. Yue et al., MasRouter (ACL 2025, doi:10.18653/v1/2025.acl-long.757): trained neural controller over multi-agent topologies. Ong et al., RouteLLM (ICLR 2025, arXiv:2406.18665): routers among LLMs. Panda et al., Adaptive LLM Routing under Budget Constraints (PILOT; Findings of EMNLP 2025, doi:10.18653/v1/2025.findings-emnlp.1301): preference-prior LinUCB for budget-constrained LLM routing. Hong et al., MetaGPT (ICLR 2024): authored SOP workflows. Pipeline: query → trained controller or difficulty model → choose one LLM/agent → execute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Gap. SOTA either trains a neural router, picks a model, or follows an authored SOP. It does not maintain a training-free affinity matrix over Indian OGD tool families.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Novelty. Training-free online W versus MasRouter's learned controller. Implemented update is κ·reward·1/L²·1/lat_norm with negative reward on failure. CTGR and FTDR remain in the GitHub repo; this lab runs core APRR hops. W is session state, so routing can adapt across farmer turns.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4434840"/>
            <a:ext cx="11430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C4A4E"/>
                </a:solidFill>
                <a:latin typeface="Calibri"/>
              </a:rPr>
              <a:t>Top: published SOTA. Bottom: this proposal. No numerical targets.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" y="4690872"/>
            <a:ext cx="3736848" cy="438912"/>
          </a:xfrm>
          <a:prstGeom prst="roundRect">
            <a:avLst>
              <a:gd name="adj" fmla="val 10000"/>
            </a:avLst>
          </a:prstGeom>
          <a:solidFill>
            <a:srgbClr val="4A2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Query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12336" y="4690872"/>
            <a:ext cx="3736848" cy="438912"/>
          </a:xfrm>
          <a:prstGeom prst="roundRect">
            <a:avLst>
              <a:gd name="adj" fmla="val 10000"/>
            </a:avLst>
          </a:prstGeom>
          <a:solidFill>
            <a:srgbClr val="4A2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MasRouter / RouteLLM / SOP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58912" y="4690872"/>
            <a:ext cx="3736848" cy="438912"/>
          </a:xfrm>
          <a:prstGeom prst="roundRect">
            <a:avLst>
              <a:gd name="adj" fmla="val 10000"/>
            </a:avLst>
          </a:prstGeom>
          <a:solidFill>
            <a:srgbClr val="4A2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Pick an LLM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5760" y="5221224"/>
            <a:ext cx="3736848" cy="438912"/>
          </a:xfrm>
          <a:prstGeom prst="roundRect">
            <a:avLst>
              <a:gd name="adj" fmla="val 10000"/>
            </a:avLst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SATR shortlist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12336" y="5221224"/>
            <a:ext cx="3736848" cy="438912"/>
          </a:xfrm>
          <a:prstGeom prst="roundRect">
            <a:avLst>
              <a:gd name="adj" fmla="val 10000"/>
            </a:avLst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Dirichlet–Thompson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58912" y="5221224"/>
            <a:ext cx="3736848" cy="438912"/>
          </a:xfrm>
          <a:prstGeom prst="roundRect">
            <a:avLst>
              <a:gd name="adj" fmla="val 10000"/>
            </a:avLst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Specialist path → MNCD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99632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C4A4E"/>
                </a:solidFill>
                <a:latin typeface="Calibri"/>
              </a:rPr>
              <a:t>Repository: github.com/joyjeni/aprr-multi-agent-routing</a:t>
            </a:r>
          </a:p>
        </p:txBody>
      </p:sp>
      <p:sp>
        <p:nvSpPr>
          <p:cNvPr id="4018" name="Automatic Date 18"/>
          <p:cNvSpPr txBox="1"/>
          <p:nvPr/>
        </p:nvSpPr>
        <p:spPr>
          <a:xfrm>
            <a:off x="255016" y="6565900"/>
            <a:ext cx="310896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fld id="{93ec147d-3cff-4aca-9e70-cf65a3605a43}" type="datetime3">
              <a:rPr lang="en-GB" sz="1000" dirty="0">
                <a:solidFill>
                  <a:srgbClr val="C4A35A"/>
                </a:solidFill>
                <a:latin typeface="Calibri"/>
              </a:rPr>
              <a:t>7 September 2026</a:t>
            </a:fld>
            <a:endParaRPr lang="en-GB" sz="1000"/>
          </a:p>
        </p:txBody>
      </p:sp>
      <p:sp>
        <p:nvSpPr>
          <p:cNvPr id="5018" name="Automatic Slide Number 18"/>
          <p:cNvSpPr txBox="1"/>
          <p:nvPr/>
        </p:nvSpPr>
        <p:spPr>
          <a:xfrm>
            <a:off x="9601200" y="6565900"/>
            <a:ext cx="228600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/>
            <a:fld id="{b098cc0c-bb78-44c3-87a4-16713a385c6e}" type="slidenum">
              <a:rPr lang="en-GB" sz="1000" dirty="0">
                <a:solidFill>
                  <a:srgbClr val="C4A35A"/>
                </a:solidFill>
                <a:latin typeface="Calibri"/>
              </a:rPr>
              <a:t>18</a:t>
            </a:fld>
            <a:r>
              <a:rPr lang="en-GB" sz="1000">
                <a:solidFill>
                  <a:srgbClr val="C4A35A"/>
                </a:solidFill>
                <a:latin typeface="Calibri"/>
              </a:rPr>
              <a:t> / 35</a:t>
            </a:r>
            <a:endParaRPr lang="en-GB" sz="1000"/>
          </a:p>
        </p:txBody>
      </p:sp>
    </p:spTree>
  </p:cSld>
  <p:clrMapOvr>
    <a:masterClrMapping/>
  </p:clrMapOvr>
  <p:hf sldNum="1" hdr="0" ftr="1" dt="1"/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91695" cy="54864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73152"/>
            <a:ext cx="11521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M. S. RAMAIAH UNIVERSITY OF APPLIED SCIENCES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" y="347472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4A35A"/>
                </a:solidFill>
                <a:latin typeface="Calibri"/>
              </a:rPr>
              <a:t>Faculty of Engineering and Technology  ·  RESEARCH PROPOSAL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6565392"/>
            <a:ext cx="5760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Calibri"/>
              </a:rPr>
              <a:t>Jenisha T  |  24ETRP720001  |  Part Time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713232"/>
            <a:ext cx="12191695" cy="5797296"/>
          </a:xfrm>
          <a:prstGeom prst="rect">
            <a:avLst/>
          </a:prstGeom>
          <a:solidFill>
            <a:srgbClr val="FFFA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804672"/>
            <a:ext cx="11430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7C1D2E"/>
                </a:solidFill>
                <a:latin typeface="Calibri"/>
              </a:rPr>
              <a:t>RESEARCH PROPOSAL  ·  Research Objectives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02412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214"/>
                </a:solidFill>
                <a:latin typeface="Calibri"/>
              </a:rPr>
              <a:t>Objective 3 — MNCD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572768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C4A4E"/>
                </a:solidFill>
                <a:latin typeface="Calibri"/>
              </a:rPr>
              <a:t>The consensus-and-execution chapter: gossip (toolId, score), score-sum consensus, live data.gov.in GET on verified UUIDs. The unit of publication is the protocol plus the citation contract.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1993392"/>
            <a:ext cx="1143000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SOTA. Wu et al., AutoGen (COLM 2024; ICLR 2024 LLM Agents Workshop Best Paper, arXiv:2308.08155): multi-agent conversation. Hong et al., MetaGPT (ICLR 2024): SOP pipeline. Qian et al., ChatDev (ACL 2024): organisational chat-chain. Li et al., CAMEL (NeurIPS 2023): communicative role-playing agents. Pipeline: manager LLM → sequential or star-topology agent messages → tool calls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Gap. Star and chat topologies coordinate over natural-language messages. They do not vote over tool identifiers backed by a ministry API.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Novelty. First-class vote object is a tool ID, not a chat utterance. consensus_pick is score-sum; consensus_pick_borda is a non-default variant. Live Indian OGD only. Catalog-only tools stay ranking-only; prices are never invented. HTTP 5xx/429 are retried; empty filters show other live rows from the same resource.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4434840"/>
            <a:ext cx="11430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C4A4E"/>
                </a:solidFill>
                <a:latin typeface="Calibri"/>
              </a:rPr>
              <a:t>Top: published SOTA. Bottom: this proposal. No numerical targets.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" y="4690872"/>
            <a:ext cx="5660136" cy="438912"/>
          </a:xfrm>
          <a:prstGeom prst="roundRect">
            <a:avLst>
              <a:gd name="adj" fmla="val 10000"/>
            </a:avLst>
          </a:prstGeom>
          <a:solidFill>
            <a:srgbClr val="4A2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Manager LLM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35624" y="4690872"/>
            <a:ext cx="5660136" cy="438912"/>
          </a:xfrm>
          <a:prstGeom prst="roundRect">
            <a:avLst>
              <a:gd name="adj" fmla="val 10000"/>
            </a:avLst>
          </a:prstGeom>
          <a:solidFill>
            <a:srgbClr val="4A2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Star / chat messages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" y="5221224"/>
            <a:ext cx="3736848" cy="438912"/>
          </a:xfrm>
          <a:prstGeom prst="roundRect">
            <a:avLst>
              <a:gd name="adj" fmla="val 10000"/>
            </a:avLst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Mesh gossip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12336" y="5221224"/>
            <a:ext cx="3736848" cy="438912"/>
          </a:xfrm>
          <a:prstGeom prst="roundRect">
            <a:avLst>
              <a:gd name="adj" fmla="val 10000"/>
            </a:avLst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Score-sum over tool IDs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58912" y="5221224"/>
            <a:ext cx="3736848" cy="438912"/>
          </a:xfrm>
          <a:prstGeom prst="roundRect">
            <a:avLst>
              <a:gd name="adj" fmla="val 10000"/>
            </a:avLst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Live data.gov.in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199632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C4A4E"/>
                </a:solidFill>
                <a:latin typeface="Calibri"/>
              </a:rPr>
              <a:t>Repository: github.com/joyjeni/mncd-mesh-agents</a:t>
            </a:r>
          </a:p>
        </p:txBody>
      </p:sp>
      <p:sp>
        <p:nvSpPr>
          <p:cNvPr id="4019" name="Automatic Date 19"/>
          <p:cNvSpPr txBox="1"/>
          <p:nvPr/>
        </p:nvSpPr>
        <p:spPr>
          <a:xfrm>
            <a:off x="255016" y="6565900"/>
            <a:ext cx="310896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fld id="{5ab52488-3ad9-40ba-a95e-d6a959d0b182}" type="datetime3">
              <a:rPr lang="en-GB" sz="1000" dirty="0">
                <a:solidFill>
                  <a:srgbClr val="C4A35A"/>
                </a:solidFill>
                <a:latin typeface="Calibri"/>
              </a:rPr>
              <a:t>7 September 2026</a:t>
            </a:fld>
            <a:endParaRPr lang="en-GB" sz="1000"/>
          </a:p>
        </p:txBody>
      </p:sp>
      <p:sp>
        <p:nvSpPr>
          <p:cNvPr id="5019" name="Automatic Slide Number 19"/>
          <p:cNvSpPr txBox="1"/>
          <p:nvPr/>
        </p:nvSpPr>
        <p:spPr>
          <a:xfrm>
            <a:off x="9601200" y="6565900"/>
            <a:ext cx="228600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/>
            <a:fld id="{05daf5e0-a3a5-4f41-a5fd-737424911341}" type="slidenum">
              <a:rPr lang="en-GB" sz="1000" dirty="0">
                <a:solidFill>
                  <a:srgbClr val="C4A35A"/>
                </a:solidFill>
                <a:latin typeface="Calibri"/>
              </a:rPr>
              <a:t>19</a:t>
            </a:fld>
            <a:r>
              <a:rPr lang="en-GB" sz="1000">
                <a:solidFill>
                  <a:srgbClr val="C4A35A"/>
                </a:solidFill>
                <a:latin typeface="Calibri"/>
              </a:rPr>
              <a:t> / 35</a:t>
            </a:r>
            <a:endParaRPr lang="en-GB" sz="1000"/>
          </a:p>
        </p:txBody>
      </p:sp>
    </p:spTree>
  </p:cSld>
  <p:clrMapOvr>
    <a:masterClrMapping/>
  </p:clrMapOvr>
  <p:hf sldNum="1" hdr="0" ftr="1" dt="1"/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91695" cy="54864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73152"/>
            <a:ext cx="11521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M. S. RAMAIAH UNIVERSITY OF APPLIED SCIENCES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" y="347472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4A35A"/>
                </a:solidFill>
                <a:latin typeface="Calibri"/>
              </a:rPr>
              <a:t>Faculty of Engineering and Technology  ·  RESEARCH PROPOSAL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6565392"/>
            <a:ext cx="5760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Calibri"/>
              </a:rPr>
              <a:t>Jenisha T  |  24ETRP720001  |  Part Time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713232"/>
            <a:ext cx="12191695" cy="5797296"/>
          </a:xfrm>
          <a:prstGeom prst="rect">
            <a:avLst/>
          </a:prstGeom>
          <a:solidFill>
            <a:srgbClr val="FFFA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804672"/>
            <a:ext cx="11430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7C1D2E"/>
                </a:solidFill>
                <a:latin typeface="Calibri"/>
              </a:rPr>
              <a:t>RESEARCH PROPOSAL  ·  Research Objectives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02412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214"/>
                </a:solidFill>
                <a:latin typeface="Calibri"/>
              </a:rPr>
              <a:t>Objective 4 — FCNP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572768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C4A4E"/>
                </a:solidFill>
                <a:latin typeface="Calibri"/>
              </a:rPr>
              <a:t>The memory chapter: Kirchhoff/Physarum conductances prune the mesh trace and write surviving live citations back into SATR. The unit of publication is the coupling, not a token-percentage.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1993392"/>
            <a:ext cx="1143000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SOTA. Jiang et al., LLMLingua (EMNLP 2023): token-level prompt compression. Tero et al., Science 2010 (doi:10.1126/science.1177894): Physarum adaptive network. Park et al., Generative Agents (UIST 2023): language memory stream in a sandbox. Pipeline: long prompt → compressor → LLM. Memory is not written back into a tool retriever.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Gap. Token compressors are not current-reinforced over a context graph and do not pin live government citations into the next retrieval turn.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Novelty. Laplacian solve with grounded sink, matching the published Python pruner. Hybrid tiering and persistent high-flow citations. If a requested crop/state has no AGMARKNET rows today, other live rows are shown; nothing is invented. Closed loop: retained spans become SATR session memory.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4434840"/>
            <a:ext cx="11430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C4A4E"/>
                </a:solidFill>
                <a:latin typeface="Calibri"/>
              </a:rPr>
              <a:t>Top: published SOTA. Bottom: this proposal. No numerical targets.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" y="4690872"/>
            <a:ext cx="3736848" cy="438912"/>
          </a:xfrm>
          <a:prstGeom prst="roundRect">
            <a:avLst>
              <a:gd name="adj" fmla="val 10000"/>
            </a:avLst>
          </a:prstGeom>
          <a:solidFill>
            <a:srgbClr val="4A2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Long prompt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12336" y="4690872"/>
            <a:ext cx="3736848" cy="438912"/>
          </a:xfrm>
          <a:prstGeom prst="roundRect">
            <a:avLst>
              <a:gd name="adj" fmla="val 10000"/>
            </a:avLst>
          </a:prstGeom>
          <a:solidFill>
            <a:srgbClr val="4A2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LLMLingua tokens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58912" y="4690872"/>
            <a:ext cx="3736848" cy="438912"/>
          </a:xfrm>
          <a:prstGeom prst="roundRect">
            <a:avLst>
              <a:gd name="adj" fmla="val 10000"/>
            </a:avLst>
          </a:prstGeom>
          <a:solidFill>
            <a:srgbClr val="4A2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No write-back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5760" y="5221224"/>
            <a:ext cx="3736848" cy="438912"/>
          </a:xfrm>
          <a:prstGeom prst="roundRect">
            <a:avLst>
              <a:gd name="adj" fmla="val 10000"/>
            </a:avLst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MNCD citations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12336" y="5221224"/>
            <a:ext cx="3736848" cy="438912"/>
          </a:xfrm>
          <a:prstGeom prst="roundRect">
            <a:avLst>
              <a:gd name="adj" fmla="val 10000"/>
            </a:avLst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Kirchhoff / Physarum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58912" y="5221224"/>
            <a:ext cx="3736848" cy="438912"/>
          </a:xfrm>
          <a:prstGeom prst="roundRect">
            <a:avLst>
              <a:gd name="adj" fmla="val 10000"/>
            </a:avLst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M_t → SATR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99632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C4A4E"/>
                </a:solidFill>
                <a:latin typeface="Calibri"/>
              </a:rPr>
              <a:t>Repository: github.com/joyjeni/fcnp-context-pruning</a:t>
            </a:r>
          </a:p>
        </p:txBody>
      </p:sp>
      <p:sp>
        <p:nvSpPr>
          <p:cNvPr id="4020" name="Automatic Date 20"/>
          <p:cNvSpPr txBox="1"/>
          <p:nvPr/>
        </p:nvSpPr>
        <p:spPr>
          <a:xfrm>
            <a:off x="255016" y="6565900"/>
            <a:ext cx="310896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fld id="{b7b26fba-6d78-4364-b3ef-0a8460a89177}" type="datetime3">
              <a:rPr lang="en-GB" sz="1000" dirty="0">
                <a:solidFill>
                  <a:srgbClr val="C4A35A"/>
                </a:solidFill>
                <a:latin typeface="Calibri"/>
              </a:rPr>
              <a:t>7 September 2026</a:t>
            </a:fld>
            <a:endParaRPr lang="en-GB" sz="1000"/>
          </a:p>
        </p:txBody>
      </p:sp>
      <p:sp>
        <p:nvSpPr>
          <p:cNvPr id="5020" name="Automatic Slide Number 20"/>
          <p:cNvSpPr txBox="1"/>
          <p:nvPr/>
        </p:nvSpPr>
        <p:spPr>
          <a:xfrm>
            <a:off x="9601200" y="6565900"/>
            <a:ext cx="228600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/>
            <a:fld id="{77531f5b-d21b-4735-8473-87f790477140}" type="slidenum">
              <a:rPr lang="en-GB" sz="1000" dirty="0">
                <a:solidFill>
                  <a:srgbClr val="C4A35A"/>
                </a:solidFill>
                <a:latin typeface="Calibri"/>
              </a:rPr>
              <a:t>20</a:t>
            </a:fld>
            <a:r>
              <a:rPr lang="en-GB" sz="1000">
                <a:solidFill>
                  <a:srgbClr val="C4A35A"/>
                </a:solidFill>
                <a:latin typeface="Calibri"/>
              </a:rPr>
              <a:t> / 35</a:t>
            </a:r>
            <a:endParaRPr lang="en-GB" sz="1000"/>
          </a:p>
        </p:txBody>
      </p:sp>
    </p:spTree>
  </p:cSld>
  <p:clrMapOvr>
    <a:masterClrMapping/>
  </p:clrMapOvr>
  <p:hf sldNum="1" hdr="0" ftr="1" dt="1"/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91695" cy="54864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73152"/>
            <a:ext cx="11521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M. S. RAMAIAH UNIVERSITY OF APPLIED SCIENCES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" y="347472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4A35A"/>
                </a:solidFill>
                <a:latin typeface="Calibri"/>
              </a:rPr>
              <a:t>Faculty of Engineering and Technology  ·  RESEARCH PROPOSAL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6565392"/>
            <a:ext cx="5760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Calibri"/>
              </a:rPr>
              <a:t>Jenisha T  |  24ETRP720001  |  Part Time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713232"/>
            <a:ext cx="12191695" cy="5797296"/>
          </a:xfrm>
          <a:prstGeom prst="rect">
            <a:avLst/>
          </a:prstGeom>
          <a:solidFill>
            <a:srgbClr val="FFFA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804672"/>
            <a:ext cx="11430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7C1D2E"/>
                </a:solidFill>
                <a:latin typeface="Calibri"/>
              </a:rPr>
              <a:t>RESEARCH PROPOSAL  ·  Research Questions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02412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214"/>
                </a:solidFill>
                <a:latin typeface="Calibri"/>
              </a:rPr>
              <a:t>Research Questions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572768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C4A4E"/>
                </a:solidFill>
                <a:latin typeface="Calibri"/>
              </a:rPr>
              <a:t>Each question is paired with one objective. Answers will be empirical after a protocol is frozen; this slide does not pre-commit scores.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1993392"/>
            <a:ext cx="1143000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RQ1. Can tool retrieval be conditioned on a co-activation cache and session memory rather than a single query embedding (Qin et al., ToolLLM, ICLR 2024; Zheng et al., ToolRerank, LREC-COLING 2024)?  →  addressed by O1 (SessionRerank+ (SATR)).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RQ2. Can routing sample a training-free posterior over tool-specialist agents instead of a trained neural controller or an authored SOP (Yue et al., MasRouter, ACL 2025; Hong et al., MetaGPT, ICLR 2024; Ong et al., RouteLLM, ICLR 2025)?  →  addressed by O2 (Adaptive Probabilistic Routing Reinforcement (APRR)).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RQ3. Can execution proceed as gossiped (toolId, score) plus score-sum consensus, then a live data.gov.in GET, instead of a central chat orchestrator (Wu et al., AutoGen, COLM 2024)?  →  addressed by O3 (Mesh Network Context Diffusion (MNCD)).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RQ4. Can Kirchhoff/Physarum pruning pin live citations back into retrieval rather than only shortening the prompt (Jiang et al., LLMLingua, EMNLP 2023; Tero et al., Science 2010)?  →  addressed by O4 (Flow-Coupled Network Pruning (FCNP)).</a:t>
            </a:r>
          </a:p>
        </p:txBody>
      </p:sp>
      <p:sp>
        <p:nvSpPr>
          <p:cNvPr id="4021" name="Automatic Date 21"/>
          <p:cNvSpPr txBox="1"/>
          <p:nvPr/>
        </p:nvSpPr>
        <p:spPr>
          <a:xfrm>
            <a:off x="255016" y="6565900"/>
            <a:ext cx="310896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fld id="{76069615-0df4-4b1c-afc0-049b53b69a89}" type="datetime3">
              <a:rPr lang="en-GB" sz="1000" dirty="0">
                <a:solidFill>
                  <a:srgbClr val="C4A35A"/>
                </a:solidFill>
                <a:latin typeface="Calibri"/>
              </a:rPr>
              <a:t>7 September 2026</a:t>
            </a:fld>
            <a:endParaRPr lang="en-GB" sz="1000"/>
          </a:p>
        </p:txBody>
      </p:sp>
      <p:sp>
        <p:nvSpPr>
          <p:cNvPr id="5021" name="Automatic Slide Number 21"/>
          <p:cNvSpPr txBox="1"/>
          <p:nvPr/>
        </p:nvSpPr>
        <p:spPr>
          <a:xfrm>
            <a:off x="9601200" y="6565900"/>
            <a:ext cx="228600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/>
            <a:fld id="{494c4d17-7d98-4380-9cf6-0ed3f03c37d6}" type="slidenum">
              <a:rPr lang="en-GB" sz="1000" dirty="0">
                <a:solidFill>
                  <a:srgbClr val="C4A35A"/>
                </a:solidFill>
                <a:latin typeface="Calibri"/>
              </a:rPr>
              <a:t>21</a:t>
            </a:fld>
            <a:r>
              <a:rPr lang="en-GB" sz="1000">
                <a:solidFill>
                  <a:srgbClr val="C4A35A"/>
                </a:solidFill>
                <a:latin typeface="Calibri"/>
              </a:rPr>
              <a:t> / 35</a:t>
            </a:r>
            <a:endParaRPr lang="en-GB" sz="1000"/>
          </a:p>
        </p:txBody>
      </p:sp>
    </p:spTree>
  </p:cSld>
  <p:clrMapOvr>
    <a:masterClrMapping/>
  </p:clrMapOvr>
  <p:hf sldNum="1" hdr="0" ftr="1" dt="1"/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91695" cy="54864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73152"/>
            <a:ext cx="11521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M. S. RAMAIAH UNIVERSITY OF APPLIED SCIENCES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" y="347472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4A35A"/>
                </a:solidFill>
                <a:latin typeface="Calibri"/>
              </a:rPr>
              <a:t>Faculty of Engineering and Technology  ·  RESEARCH PROPOSAL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6565392"/>
            <a:ext cx="5760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Calibri"/>
              </a:rPr>
              <a:t>Jenisha T  |  24ETRP720001  |  Part Time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713232"/>
            <a:ext cx="12191695" cy="5797296"/>
          </a:xfrm>
          <a:prstGeom prst="rect">
            <a:avLst/>
          </a:prstGeom>
          <a:solidFill>
            <a:srgbClr val="FFFA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804672"/>
            <a:ext cx="11430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7C1D2E"/>
                </a:solidFill>
                <a:latin typeface="Calibri"/>
              </a:rPr>
              <a:t>RESEARCH PROPOSAL  ·  Research Methodology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02412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214"/>
                </a:solidFill>
                <a:latin typeface="Calibri"/>
              </a:rPr>
              <a:t>Research Methodology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572768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C4A4E"/>
                </a:solidFill>
                <a:latin typeface="Calibri"/>
              </a:rPr>
              <a:t>One methodology per objective, then one integrated protocol. Proposal-stage: design the loop and freeze the protocol; do not pre-commit a leaderboard.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1993392"/>
            <a:ext cx="1143000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O1 SATR — fused session ranking against a ToolBench-style library. Live mandi rows are not SATR’s job.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O2 APRR — training-free Dirichlet–Thompson posterior over named specialists. Learned routers are a future bake-off, not the implementation.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O3 MNCD — gossip + score-sum consensus, then live data.gov.in GET on verified Agriculture UUIDs. Fail loud. No dummy prices.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O4 FCNP — Kirchhoff / Physarum-inspired conductance prune with write-back into SATR. Not LLMLingua token deletion.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Integrated contract. SATR → APRR → MNCD → FCNP must run in that order on one user turn. Skipping MNCD or FCNP is an incomplete run.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Implementation. The four modules are the functions in satr.ts, aprr.ts, mncd.ts, fcnp.ts — formulas on the next slides, full traces on /walkthrough.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What will not appear in this proposal. Promised retrieval scores, latency targets, consensus percentages, or token-reduction ratios.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4434840"/>
            <a:ext cx="11430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C4A4E"/>
                </a:solidFill>
                <a:latin typeface="Calibri"/>
              </a:rPr>
              <a:t>ACRS loop (maroon). Green path is the increment, not a metric.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" y="4690872"/>
            <a:ext cx="1813560" cy="438912"/>
          </a:xfrm>
          <a:prstGeom prst="roundRect">
            <a:avLst>
              <a:gd name="adj" fmla="val 10000"/>
            </a:avLst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q + 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289048" y="4690872"/>
            <a:ext cx="1813560" cy="438912"/>
          </a:xfrm>
          <a:prstGeom prst="roundRect">
            <a:avLst>
              <a:gd name="adj" fmla="val 10000"/>
            </a:avLst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SATR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12336" y="4690872"/>
            <a:ext cx="1813560" cy="438912"/>
          </a:xfrm>
          <a:prstGeom prst="roundRect">
            <a:avLst>
              <a:gd name="adj" fmla="val 10000"/>
            </a:avLst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APRR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35624" y="4690872"/>
            <a:ext cx="1813560" cy="438912"/>
          </a:xfrm>
          <a:prstGeom prst="roundRect">
            <a:avLst>
              <a:gd name="adj" fmla="val 10000"/>
            </a:avLst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MNCD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58912" y="4690872"/>
            <a:ext cx="1813560" cy="438912"/>
          </a:xfrm>
          <a:prstGeom prst="roundRect">
            <a:avLst>
              <a:gd name="adj" fmla="val 10000"/>
            </a:avLst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FCNP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982200" y="4690872"/>
            <a:ext cx="1813560" cy="438912"/>
          </a:xfrm>
          <a:prstGeom prst="roundRect">
            <a:avLst>
              <a:gd name="adj" fmla="val 10000"/>
            </a:avLst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a + M</a:t>
            </a:r>
          </a:p>
        </p:txBody>
      </p:sp>
      <p:sp>
        <p:nvSpPr>
          <p:cNvPr id="4022" name="Automatic Date 22"/>
          <p:cNvSpPr txBox="1"/>
          <p:nvPr/>
        </p:nvSpPr>
        <p:spPr>
          <a:xfrm>
            <a:off x="255016" y="6565900"/>
            <a:ext cx="310896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fld id="{b61a22c8-33a4-4aed-b03e-0353973ff374}" type="datetime3">
              <a:rPr lang="en-GB" sz="1000" dirty="0">
                <a:solidFill>
                  <a:srgbClr val="C4A35A"/>
                </a:solidFill>
                <a:latin typeface="Calibri"/>
              </a:rPr>
              <a:t>7 September 2026</a:t>
            </a:fld>
            <a:endParaRPr lang="en-GB" sz="1000"/>
          </a:p>
        </p:txBody>
      </p:sp>
      <p:sp>
        <p:nvSpPr>
          <p:cNvPr id="5022" name="Automatic Slide Number 22"/>
          <p:cNvSpPr txBox="1"/>
          <p:nvPr/>
        </p:nvSpPr>
        <p:spPr>
          <a:xfrm>
            <a:off x="9601200" y="6565900"/>
            <a:ext cx="228600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/>
            <a:fld id="{3a0645bc-fcb6-49ec-a332-ec01c3375020}" type="slidenum">
              <a:rPr lang="en-GB" sz="1000" dirty="0">
                <a:solidFill>
                  <a:srgbClr val="C4A35A"/>
                </a:solidFill>
                <a:latin typeface="Calibri"/>
              </a:rPr>
              <a:t>22</a:t>
            </a:fld>
            <a:r>
              <a:rPr lang="en-GB" sz="1000">
                <a:solidFill>
                  <a:srgbClr val="C4A35A"/>
                </a:solidFill>
                <a:latin typeface="Calibri"/>
              </a:rPr>
              <a:t> / 35</a:t>
            </a:r>
            <a:endParaRPr lang="en-GB" sz="1000"/>
          </a:p>
        </p:txBody>
      </p:sp>
    </p:spTree>
  </p:cSld>
  <p:clrMapOvr>
    <a:masterClrMapping/>
  </p:clrMapOvr>
  <p:hf sldNum="1" hdr="0" ftr="1" dt="1"/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91695" cy="54864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73152"/>
            <a:ext cx="11521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M. S. RAMAIAH UNIVERSITY OF APPLIED SCIENCES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" y="347472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4A35A"/>
                </a:solidFill>
                <a:latin typeface="Calibri"/>
              </a:rPr>
              <a:t>Faculty of Engineering and Technology  ·  RESEARCH PROPOSAL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6565392"/>
            <a:ext cx="5760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Calibri"/>
              </a:rPr>
              <a:t>Jenisha T  |  24ETRP720001  |  Part Time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713232"/>
            <a:ext cx="12191695" cy="5797296"/>
          </a:xfrm>
          <a:prstGeom prst="rect">
            <a:avLst/>
          </a:prstGeom>
          <a:solidFill>
            <a:srgbClr val="FFFA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804672"/>
            <a:ext cx="11430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7C1D2E"/>
                </a:solidFill>
                <a:latin typeface="Calibri"/>
              </a:rPr>
              <a:t>RESEARCH PROPOSAL  ·  Research Methodology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02412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214"/>
                </a:solidFill>
                <a:latin typeface="Calibri"/>
              </a:rPr>
              <a:t>Research Methodology — O1 SATR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572768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C4A4E"/>
                </a:solidFill>
                <a:latin typeface="Calibri"/>
              </a:rPr>
              <a:t>How session-aware ranking will be designed and later evaluated.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1993392"/>
            <a:ext cx="1143000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Design method. Specify a fused session object: query + dialogue turns + last tool traces + co-activation counts. Rank tools with that object, not with the raw utterance alone.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Ranking library (not live prices). Use ToolBench / ToolLLM artefacts as a public tool-ranking library and protocol family. RapidAPI-style traces are ranking evidence only.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Live Indian OGD is out of SATR’s ranking path. Mandi and weather rows enter at MNCD. SATR must not invent or cache dummy AGMARKNET prices.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Implementation path. Persist co-activation in a session store; expose a rank(query, session) API that APRR can call. Fail loud if the session schema is incomplete.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Future evaluation protocol (not a result). When the protocol is frozen, compare session-fused ranking against query-only ranking on the same ToolBench-style split. Report the protocol, not a pre-committed score.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Deliverable for the thesis chapter. Algorithm, schema, and ablation plan (with vs without tool-trace fusion).</a:t>
            </a:r>
          </a:p>
        </p:txBody>
      </p:sp>
      <p:sp>
        <p:nvSpPr>
          <p:cNvPr id="4023" name="Automatic Date 23"/>
          <p:cNvSpPr txBox="1"/>
          <p:nvPr/>
        </p:nvSpPr>
        <p:spPr>
          <a:xfrm>
            <a:off x="255016" y="6565900"/>
            <a:ext cx="310896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fld id="{0407ec71-a3ca-4793-9684-378f21d6070c}" type="datetime3">
              <a:rPr lang="en-GB" sz="1000" dirty="0">
                <a:solidFill>
                  <a:srgbClr val="C4A35A"/>
                </a:solidFill>
                <a:latin typeface="Calibri"/>
              </a:rPr>
              <a:t>7 September 2026</a:t>
            </a:fld>
            <a:endParaRPr lang="en-GB" sz="1000"/>
          </a:p>
        </p:txBody>
      </p:sp>
      <p:sp>
        <p:nvSpPr>
          <p:cNvPr id="5023" name="Automatic Slide Number 23"/>
          <p:cNvSpPr txBox="1"/>
          <p:nvPr/>
        </p:nvSpPr>
        <p:spPr>
          <a:xfrm>
            <a:off x="9601200" y="6565900"/>
            <a:ext cx="228600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/>
            <a:fld id="{8fce417a-32e1-4b40-9130-784f009d6a45}" type="slidenum">
              <a:rPr lang="en-GB" sz="1000" dirty="0">
                <a:solidFill>
                  <a:srgbClr val="C4A35A"/>
                </a:solidFill>
                <a:latin typeface="Calibri"/>
              </a:rPr>
              <a:t>23</a:t>
            </a:fld>
            <a:r>
              <a:rPr lang="en-GB" sz="1000">
                <a:solidFill>
                  <a:srgbClr val="C4A35A"/>
                </a:solidFill>
                <a:latin typeface="Calibri"/>
              </a:rPr>
              <a:t> / 35</a:t>
            </a:r>
            <a:endParaRPr lang="en-GB" sz="1000"/>
          </a:p>
        </p:txBody>
      </p:sp>
    </p:spTree>
  </p:cSld>
  <p:clrMapOvr>
    <a:masterClrMapping/>
  </p:clrMapOvr>
  <p:hf sldNum="1" hdr="0" ftr="1" dt="1"/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91695" cy="54864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73152"/>
            <a:ext cx="11521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M. S. RAMAIAH UNIVERSITY OF APPLIED SCIENCES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" y="347472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4A35A"/>
                </a:solidFill>
                <a:latin typeface="Calibri"/>
              </a:rPr>
              <a:t>Faculty of Engineering and Technology  ·  RESEARCH PROPOSAL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6565392"/>
            <a:ext cx="5760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Calibri"/>
              </a:rPr>
              <a:t>Jenisha T  |  24ETRP720001  |  Part Time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713232"/>
            <a:ext cx="12191695" cy="5797296"/>
          </a:xfrm>
          <a:prstGeom prst="rect">
            <a:avLst/>
          </a:prstGeom>
          <a:solidFill>
            <a:srgbClr val="FFFA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804672"/>
            <a:ext cx="11430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7C1D2E"/>
                </a:solidFill>
                <a:latin typeface="Calibri"/>
              </a:rPr>
              <a:t>RESEARCH PROPOSAL  ·  Research Methodology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02412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214"/>
                </a:solidFill>
                <a:latin typeface="Calibri"/>
              </a:rPr>
              <a:t>Research Methodology — O2 APRR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572768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C4A4E"/>
                </a:solidFill>
                <a:latin typeface="Calibri"/>
              </a:rPr>
              <a:t>How the specialist posterior will be designed. No win-rate or millisecond target is claimed at proposal stage.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1993392"/>
            <a:ext cx="1143000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Design method. Maintain a Dirichlet–Thompson posterior over named specialists. Sample or take the MAP specialist given SATR’s fused session.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Allocation rule (proposal form). P(agent | context) ∝ W^α · η^β · ψ^γ, with W = session-matched specialist weight, η = reliability, ψ = cost/risk. Exponents are design knobs, not fitted claims.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Training-free stance. Do not train a MasRouter- or RouteLLM-style classifier as the primary method. Learned routers remain a future bake-off class, not the implementation.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What is being routed. Specialists in the ACRS mesh — not LLM SKUs (GPT-4 vs Mixtral) and not AutoGen conversation modes as the object of routing.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Update rule. After MNCD returns verified or failed evidence, update η (and optionally W) so the next turn’s posterior is not identical to a cold start.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Future evaluation protocol (not a result). Log specialist choice vs task type on held-out session traces; compare against a static role graph. No pre-committed accuracy.</a:t>
            </a:r>
          </a:p>
        </p:txBody>
      </p:sp>
      <p:sp>
        <p:nvSpPr>
          <p:cNvPr id="4024" name="Automatic Date 24"/>
          <p:cNvSpPr txBox="1"/>
          <p:nvPr/>
        </p:nvSpPr>
        <p:spPr>
          <a:xfrm>
            <a:off x="255016" y="6565900"/>
            <a:ext cx="310896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fld id="{e0d082ce-a9be-4a2a-80a6-e5c2643b9383}" type="datetime3">
              <a:rPr lang="en-GB" sz="1000" dirty="0">
                <a:solidFill>
                  <a:srgbClr val="C4A35A"/>
                </a:solidFill>
                <a:latin typeface="Calibri"/>
              </a:rPr>
              <a:t>7 September 2026</a:t>
            </a:fld>
            <a:endParaRPr lang="en-GB" sz="1000"/>
          </a:p>
        </p:txBody>
      </p:sp>
      <p:sp>
        <p:nvSpPr>
          <p:cNvPr id="5024" name="Automatic Slide Number 24"/>
          <p:cNvSpPr txBox="1"/>
          <p:nvPr/>
        </p:nvSpPr>
        <p:spPr>
          <a:xfrm>
            <a:off x="9601200" y="6565900"/>
            <a:ext cx="228600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/>
            <a:fld id="{8e4b46db-3cad-4d7b-8e88-eb2af2fcc9bb}" type="slidenum">
              <a:rPr lang="en-GB" sz="1000" dirty="0">
                <a:solidFill>
                  <a:srgbClr val="C4A35A"/>
                </a:solidFill>
                <a:latin typeface="Calibri"/>
              </a:rPr>
              <a:t>24</a:t>
            </a:fld>
            <a:r>
              <a:rPr lang="en-GB" sz="1000">
                <a:solidFill>
                  <a:srgbClr val="C4A35A"/>
                </a:solidFill>
                <a:latin typeface="Calibri"/>
              </a:rPr>
              <a:t> / 35</a:t>
            </a:r>
            <a:endParaRPr lang="en-GB" sz="1000"/>
          </a:p>
        </p:txBody>
      </p:sp>
    </p:spTree>
  </p:cSld>
  <p:clrMapOvr>
    <a:masterClrMapping/>
  </p:clrMapOvr>
  <p:hf sldNum="1" hdr="0" ftr="1" dt="1"/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91695" cy="54864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73152"/>
            <a:ext cx="11521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M. S. RAMAIAH UNIVERSITY OF APPLIED SCIENCES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" y="347472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4A35A"/>
                </a:solidFill>
                <a:latin typeface="Calibri"/>
              </a:rPr>
              <a:t>Faculty of Engineering and Technology  ·  RESEARCH PROPOSAL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6565392"/>
            <a:ext cx="5760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Calibri"/>
              </a:rPr>
              <a:t>Jenisha T  |  24ETRP720001  |  Part Time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713232"/>
            <a:ext cx="12191695" cy="5797296"/>
          </a:xfrm>
          <a:prstGeom prst="rect">
            <a:avLst/>
          </a:prstGeom>
          <a:solidFill>
            <a:srgbClr val="FFFA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804672"/>
            <a:ext cx="11430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7C1D2E"/>
                </a:solidFill>
                <a:latin typeface="Calibri"/>
              </a:rPr>
              <a:t>RESEARCH PROPOSAL  ·  Research Methodology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02412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214"/>
                </a:solidFill>
                <a:latin typeface="Calibri"/>
              </a:rPr>
              <a:t>Research Methodology — O3 MNCD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572768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C4A4E"/>
                </a:solidFill>
                <a:latin typeface="Calibri"/>
              </a:rPr>
              <a:t>How live Indian OGD and score-sum consensus will be executed. PECAD is a domain precedent, not a baseline to beat.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1993392"/>
            <a:ext cx="1143000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Design method. Specialists selected by APRR gossip partial beliefs. Aggregate with score-sum (not Borda). Every live claim must cite a verified data.gov.in resource UUID.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Corpus / API. Agriculture-only Open Government Data: AGMARKNET (9ef84268-d588-465a-a308-a864a43d0070) and other UUIDs that pass verification.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Fail-loud contract. HTTP 5xx/429 are retried with backoff; missing API key, unverified UUID, or empty filtered universe hard-fail. No dummy mandi prices.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Platform constraint. data.gov.in Elastic max_result_window is 10 000; limit is capped. Pagination is sequential, not a fabricated parallel harvest.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Related work used correctly. Guo, Woodruff &amp; Yadav, PECAD (AAAI 2020) shows AGMARKNET as a real DSS input. MNCD does not re-implement crop-yield prediction.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Future evaluation protocol (not a result). Measure citation completeness, fail-loud rate on injected faults, and qualitative agreement of score-sum vs majority vote.</a:t>
            </a:r>
          </a:p>
        </p:txBody>
      </p:sp>
      <p:sp>
        <p:nvSpPr>
          <p:cNvPr id="4025" name="Automatic Date 25"/>
          <p:cNvSpPr txBox="1"/>
          <p:nvPr/>
        </p:nvSpPr>
        <p:spPr>
          <a:xfrm>
            <a:off x="255016" y="6565900"/>
            <a:ext cx="310896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fld id="{61132897-fbec-4ef1-9d44-e3639fdd4abb}" type="datetime3">
              <a:rPr lang="en-GB" sz="1000" dirty="0">
                <a:solidFill>
                  <a:srgbClr val="C4A35A"/>
                </a:solidFill>
                <a:latin typeface="Calibri"/>
              </a:rPr>
              <a:t>7 September 2026</a:t>
            </a:fld>
            <a:endParaRPr lang="en-GB" sz="1000"/>
          </a:p>
        </p:txBody>
      </p:sp>
      <p:sp>
        <p:nvSpPr>
          <p:cNvPr id="5025" name="Automatic Slide Number 25"/>
          <p:cNvSpPr txBox="1"/>
          <p:nvPr/>
        </p:nvSpPr>
        <p:spPr>
          <a:xfrm>
            <a:off x="9601200" y="6565900"/>
            <a:ext cx="228600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/>
            <a:fld id="{6c5c5b79-775f-4745-b4fd-0cce63c37f1e}" type="slidenum">
              <a:rPr lang="en-GB" sz="1000" dirty="0">
                <a:solidFill>
                  <a:srgbClr val="C4A35A"/>
                </a:solidFill>
                <a:latin typeface="Calibri"/>
              </a:rPr>
              <a:t>25</a:t>
            </a:fld>
            <a:r>
              <a:rPr lang="en-GB" sz="1000">
                <a:solidFill>
                  <a:srgbClr val="C4A35A"/>
                </a:solidFill>
                <a:latin typeface="Calibri"/>
              </a:rPr>
              <a:t> / 35</a:t>
            </a:r>
            <a:endParaRPr lang="en-GB" sz="1000"/>
          </a:p>
        </p:txBody>
      </p:sp>
    </p:spTree>
  </p:cSld>
  <p:clrMapOvr>
    <a:masterClrMapping/>
  </p:clrMapOvr>
  <p:hf sldNum="1" hdr="0" ftr="1" dt="1"/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91695" cy="54864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73152"/>
            <a:ext cx="11521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M. S. RAMAIAH UNIVERSITY OF APPLIED SCIENCES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" y="347472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4A35A"/>
                </a:solidFill>
                <a:latin typeface="Calibri"/>
              </a:rPr>
              <a:t>Faculty of Engineering and Technology  ·  RESEARCH PROPOSAL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6565392"/>
            <a:ext cx="5760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Calibri"/>
              </a:rPr>
              <a:t>Jenisha T  |  24ETRP720001  |  Part Time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713232"/>
            <a:ext cx="12191695" cy="5797296"/>
          </a:xfrm>
          <a:prstGeom prst="rect">
            <a:avLst/>
          </a:prstGeom>
          <a:solidFill>
            <a:srgbClr val="FFFA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804672"/>
            <a:ext cx="11430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7C1D2E"/>
                </a:solidFill>
                <a:latin typeface="Calibri"/>
              </a:rPr>
              <a:t>RESEARCH PROPOSAL  ·  Research Methodology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02412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214"/>
                </a:solidFill>
                <a:latin typeface="Calibri"/>
              </a:rPr>
              <a:t>Research Methodology — O4 FCNP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572768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C4A4E"/>
                </a:solidFill>
                <a:latin typeface="Calibri"/>
              </a:rPr>
              <a:t>How mesh pruning will be designed. No token-reduction ratio is claimed at proposal stage.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1993392"/>
            <a:ext cx="1143000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Design method. Treat the post-MNCD mesh as a flow network. Apply a Kirchhoff / Physarum-inspired conductance update; drop low-conductance specialist edges; keep a residue.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Write-back (the integration hinge). The residue is written into SATR’s next fused session. Without write-back, FCNP would be prompt compression by another name.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Contrast with LLMLingua. LLMLingua shortens tokens before the LLM. FCNP prunes who remains in the mesh. Tokenisers are not the primary artefact.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Heuristic honesty. Discrete conductance is a design heuristic inspired by Tero et al. (Science, 2010), not a proof that the mesh is a Physarum organism.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Safety. Pruning must not delete the last live-data specialist if MNCD still has an open verified query. Fail loud rather than silently drop evidence.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Future evaluation protocol (not a result). Compare mesh size and downstream SATR rank stability with vs without pruning on the same session traces.</a:t>
            </a:r>
          </a:p>
        </p:txBody>
      </p:sp>
      <p:sp>
        <p:nvSpPr>
          <p:cNvPr id="4026" name="Automatic Date 26"/>
          <p:cNvSpPr txBox="1"/>
          <p:nvPr/>
        </p:nvSpPr>
        <p:spPr>
          <a:xfrm>
            <a:off x="255016" y="6565900"/>
            <a:ext cx="310896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fld id="{6ccc1567-79b5-4443-9009-fcb9ec17a3ba}" type="datetime3">
              <a:rPr lang="en-GB" sz="1000" dirty="0">
                <a:solidFill>
                  <a:srgbClr val="C4A35A"/>
                </a:solidFill>
                <a:latin typeface="Calibri"/>
              </a:rPr>
              <a:t>7 September 2026</a:t>
            </a:fld>
            <a:endParaRPr lang="en-GB" sz="1000"/>
          </a:p>
        </p:txBody>
      </p:sp>
      <p:sp>
        <p:nvSpPr>
          <p:cNvPr id="5026" name="Automatic Slide Number 26"/>
          <p:cNvSpPr txBox="1"/>
          <p:nvPr/>
        </p:nvSpPr>
        <p:spPr>
          <a:xfrm>
            <a:off x="9601200" y="6565900"/>
            <a:ext cx="228600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/>
            <a:fld id="{ca89bc95-6608-43b2-8720-0529f68ddf55}" type="slidenum">
              <a:rPr lang="en-GB" sz="1000" dirty="0">
                <a:solidFill>
                  <a:srgbClr val="C4A35A"/>
                </a:solidFill>
                <a:latin typeface="Calibri"/>
              </a:rPr>
              <a:t>26</a:t>
            </a:fld>
            <a:r>
              <a:rPr lang="en-GB" sz="1000">
                <a:solidFill>
                  <a:srgbClr val="C4A35A"/>
                </a:solidFill>
                <a:latin typeface="Calibri"/>
              </a:rPr>
              <a:t> / 35</a:t>
            </a:r>
            <a:endParaRPr lang="en-GB" sz="1000"/>
          </a:p>
        </p:txBody>
      </p:sp>
    </p:spTree>
  </p:cSld>
  <p:clrMapOvr>
    <a:masterClrMapping/>
  </p:clrMapOvr>
  <p:hf sldNum="1" hdr="0" ftr="1" dt="1"/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91695" cy="54864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73152"/>
            <a:ext cx="11521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M. S. RAMAIAH UNIVERSITY OF APPLIED SCIENCES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" y="347472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4A35A"/>
                </a:solidFill>
                <a:latin typeface="Calibri"/>
              </a:rPr>
              <a:t>Faculty of Engineering and Technology  ·  RESEARCH PROPOSAL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6565392"/>
            <a:ext cx="5760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Calibri"/>
              </a:rPr>
              <a:t>Jenisha T  |  24ETRP720001  |  Part Time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713232"/>
            <a:ext cx="12191695" cy="5797296"/>
          </a:xfrm>
          <a:prstGeom prst="rect">
            <a:avLst/>
          </a:prstGeom>
          <a:solidFill>
            <a:srgbClr val="FFFA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804672"/>
            <a:ext cx="11430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7C1D2E"/>
                </a:solidFill>
                <a:latin typeface="Calibri"/>
              </a:rPr>
              <a:t>RESEARCH PROPOSAL  ·  Research Methodology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02412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214"/>
                </a:solidFill>
                <a:latin typeface="Calibri"/>
              </a:rPr>
              <a:t>Research Methodology — integrated loop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572768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C4A4E"/>
                </a:solidFill>
                <a:latin typeface="Calibri"/>
              </a:rPr>
              <a:t>Closed contract SATR → APRR → MNCD → FCNP → SATR. The novelty is the loop and the data contract, not a claimed accuracy.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1993392"/>
            <a:ext cx="1143000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Closed-loop protocol. One user turn must traverse all four modules in order. Skipping MNCD (no live UUID) or FCNP (no write-back) is treated as an incomplete run, not a successful demo.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Two evidence regimes. (1) ToolBench-style ranking traces for SATR. (2) Live data.gov.in Agriculture rows for MNCD. Do not mix dummy prices into (1) or RapidAPI tools into (2).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Independent variables (future experiments). Session fusion on/off; Dirichlet routing vs static roles; score-sum vs majority; FCNP write-back on/off.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Dependent measures (to be frozen later). Citation completeness, fail-loud correctness, rank stability across turns, qualitative specialist-choice logs.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Domain lock. Agriculture on Indian OGD for the live path. Other sectors are out of scope until a later amendment.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Ethics / data. Public government catalogues only; no personal data; API keys stay in the environment, never in the thesis text.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4434840"/>
            <a:ext cx="11430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C4A4E"/>
                </a:solidFill>
                <a:latin typeface="Calibri"/>
              </a:rPr>
              <a:t>ACRS loop (maroon). Green path is the increment, not a metric.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" y="4690872"/>
            <a:ext cx="1813560" cy="438912"/>
          </a:xfrm>
          <a:prstGeom prst="roundRect">
            <a:avLst>
              <a:gd name="adj" fmla="val 10000"/>
            </a:avLst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q + 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289048" y="4690872"/>
            <a:ext cx="1813560" cy="438912"/>
          </a:xfrm>
          <a:prstGeom prst="roundRect">
            <a:avLst>
              <a:gd name="adj" fmla="val 10000"/>
            </a:avLst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SATR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12336" y="4690872"/>
            <a:ext cx="1813560" cy="438912"/>
          </a:xfrm>
          <a:prstGeom prst="roundRect">
            <a:avLst>
              <a:gd name="adj" fmla="val 10000"/>
            </a:avLst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APRR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35624" y="4690872"/>
            <a:ext cx="1813560" cy="438912"/>
          </a:xfrm>
          <a:prstGeom prst="roundRect">
            <a:avLst>
              <a:gd name="adj" fmla="val 10000"/>
            </a:avLst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MNCD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58912" y="4690872"/>
            <a:ext cx="1813560" cy="438912"/>
          </a:xfrm>
          <a:prstGeom prst="roundRect">
            <a:avLst>
              <a:gd name="adj" fmla="val 10000"/>
            </a:avLst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FCNP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982200" y="4690872"/>
            <a:ext cx="1813560" cy="438912"/>
          </a:xfrm>
          <a:prstGeom prst="roundRect">
            <a:avLst>
              <a:gd name="adj" fmla="val 10000"/>
            </a:avLst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a + 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99632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C4A4E"/>
                </a:solidFill>
                <a:latin typeface="Calibri"/>
              </a:rPr>
              <a:t>Master repository: github.com/joyjeni/phd-agentic-ai-master</a:t>
            </a:r>
          </a:p>
        </p:txBody>
      </p:sp>
      <p:sp>
        <p:nvSpPr>
          <p:cNvPr id="4027" name="Automatic Date 27"/>
          <p:cNvSpPr txBox="1"/>
          <p:nvPr/>
        </p:nvSpPr>
        <p:spPr>
          <a:xfrm>
            <a:off x="255016" y="6565900"/>
            <a:ext cx="310896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fld id="{e9686833-e7ad-45b1-beb9-d1b9542d112e}" type="datetime3">
              <a:rPr lang="en-GB" sz="1000" dirty="0">
                <a:solidFill>
                  <a:srgbClr val="C4A35A"/>
                </a:solidFill>
                <a:latin typeface="Calibri"/>
              </a:rPr>
              <a:t>7 September 2026</a:t>
            </a:fld>
            <a:endParaRPr lang="en-GB" sz="1000"/>
          </a:p>
        </p:txBody>
      </p:sp>
      <p:sp>
        <p:nvSpPr>
          <p:cNvPr id="5027" name="Automatic Slide Number 27"/>
          <p:cNvSpPr txBox="1"/>
          <p:nvPr/>
        </p:nvSpPr>
        <p:spPr>
          <a:xfrm>
            <a:off x="9601200" y="6565900"/>
            <a:ext cx="228600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/>
            <a:fld id="{ac68a6ae-ec49-4750-a458-9cb71ec173a0}" type="slidenum">
              <a:rPr lang="en-GB" sz="1000" dirty="0">
                <a:solidFill>
                  <a:srgbClr val="C4A35A"/>
                </a:solidFill>
                <a:latin typeface="Calibri"/>
              </a:rPr>
              <a:t>27</a:t>
            </a:fld>
            <a:r>
              <a:rPr lang="en-GB" sz="1000">
                <a:solidFill>
                  <a:srgbClr val="C4A35A"/>
                </a:solidFill>
                <a:latin typeface="Calibri"/>
              </a:rPr>
              <a:t> / 35</a:t>
            </a:r>
            <a:endParaRPr lang="en-GB" sz="1000"/>
          </a:p>
        </p:txBody>
      </p:sp>
    </p:spTree>
  </p:cSld>
  <p:clrMapOvr>
    <a:masterClrMapping/>
  </p:clrMapOvr>
  <p:hf sldNum="1" hdr="0" ftr="1" dt="1"/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91695" cy="54864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73152"/>
            <a:ext cx="11521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M. S. RAMAIAH UNIVERSITY OF APPLIED SCIENCES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" y="347472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4A35A"/>
                </a:solidFill>
                <a:latin typeface="Calibri"/>
              </a:rPr>
              <a:t>Faculty of Engineering and Technology  ·  RESEARCH PROPOSAL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6565392"/>
            <a:ext cx="5760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Calibri"/>
              </a:rPr>
              <a:t>Jenisha T  |  24ETRP720001  |  Part Time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713232"/>
            <a:ext cx="12191695" cy="5797296"/>
          </a:xfrm>
          <a:prstGeom prst="rect">
            <a:avLst/>
          </a:prstGeom>
          <a:solidFill>
            <a:srgbClr val="FFFA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804672"/>
            <a:ext cx="11430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7C1D2E"/>
                </a:solidFill>
                <a:latin typeface="Calibri"/>
              </a:rPr>
              <a:t>RESEARCH PROPOSAL  ·  Research Methodology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02412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214"/>
                </a:solidFill>
                <a:latin typeface="Calibri"/>
              </a:rPr>
              <a:t>Research Methodology — implementation formulas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572768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C4A4E"/>
                </a:solidFill>
                <a:latin typeface="Calibri"/>
              </a:rPr>
              <a:t>How the proposal will be implemented: the equations copied from the laboratory, not a promised leaderboard. Constants are the repository defaults.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1993392"/>
          <a:ext cx="11521439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3430"/>
                <a:gridCol w="3917289"/>
                <a:gridCol w="5760720"/>
              </a:tblGrid>
              <a:tr h="804672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  <a:latin typeface="Calibri"/>
                        </a:rPr>
                        <a:t>Module</a:t>
                      </a:r>
                    </a:p>
                  </a:txBody>
                  <a:tcPr>
                    <a:solidFill>
                      <a:srgbClr val="7C1D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  <a:latin typeface="Calibri"/>
                        </a:rPr>
                        <a:t>Formula as coded</a:t>
                      </a:r>
                    </a:p>
                  </a:txBody>
                  <a:tcPr>
                    <a:solidFill>
                      <a:srgbClr val="7C1D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  <a:latin typeface="Calibri"/>
                        </a:rPr>
                        <a:t>Constants</a:t>
                      </a:r>
                    </a:p>
                  </a:txBody>
                  <a:tcPr>
                    <a:solidFill>
                      <a:srgbClr val="7C1D2E"/>
                    </a:solidFill>
                  </a:tcPr>
                </a:tc>
              </a:tr>
              <a:tr h="804672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7C1D2E"/>
                          </a:solidFill>
                          <a:latin typeface="Calibri"/>
                        </a:rPr>
                        <a:t>O1 SATR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214"/>
                          </a:solidFill>
                          <a:latin typeface="Calibri"/>
                        </a:rPr>
                        <a:t>s(a|q,H)=w_base s_base + w_cat cat + w_sch sch + w_ept ept + w_cooc Σ γ^{n-i} log(1+w_{h_i,a}) + w_rec rec − 0.35 fails;  s_base=0.7 BM25+0.3 TFIDF-cos+0.08 mem-cos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214"/>
                          </a:solidFill>
                          <a:latin typeface="Calibri"/>
                        </a:rPr>
                        <a:t>w=(1, 0.45, 0.25, 0.3, 0.35, 0.25); γ=0.7; ρ=0.02; δ=1; decay=0.85; BM25 k1=1.5 b=0.75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</a:tr>
              <a:tr h="804672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7C1D2E"/>
                          </a:solidFill>
                          <a:latin typeface="Calibri"/>
                        </a:rPr>
                        <a:t>O2 APRR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214"/>
                          </a:solidFill>
                          <a:latin typeface="Calibri"/>
                        </a:rPr>
                        <a:t>P(a_j|a_i,q) ∝ W_ij^α η_ij^β ψ_j(q)^γ ;  W←(1-λ)W + κ·reward·1/L²·1/lat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214"/>
                          </a:solidFill>
                          <a:latin typeface="Calibri"/>
                        </a:rPr>
                        <a:t>α=2, β=1, γ=2.5, λ=0.005, κ=5, W0=0.1, ε=0 (lab), maxHops=4; reward +1 / −0.05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</a:tr>
              <a:tr h="804672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7C1D2E"/>
                          </a:solidFill>
                          <a:latin typeface="Calibri"/>
                        </a:rPr>
                        <a:t>O3 MNCD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214"/>
                          </a:solidFill>
                          <a:latin typeface="Calibri"/>
                        </a:rPr>
                        <a:t>s=0.45 score/(|score|+2)+0.35 overlap+liveBoost−0.05 idx;  tally=Σ w_a s_a;  w=success/(1+lat/1000)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214"/>
                          </a:solidFill>
                          <a:latin typeface="Calibri"/>
                        </a:rPr>
                        <a:t>liveBoost 0.25+0.20 preferred; fanout=3; R=2; τ=0.55; score-sum not Borda; live UUID only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</a:tr>
              <a:tr h="804672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7C1D2E"/>
                          </a:solidFill>
                          <a:latin typeface="Calibri"/>
                        </a:rPr>
                        <a:t>O4 FCNP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214"/>
                          </a:solidFill>
                          <a:latin typeface="Calibri"/>
                        </a:rPr>
                        <a:t>D_ij(t+1)=(1-μ)D_ij+α|Q_ij|^γ ;  L p = I ;  Q=|D(p_i-p_j)|;  keep 35% / summarize 20% / drop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214"/>
                          </a:solidFill>
                          <a:latin typeface="Calibri"/>
                        </a:rPr>
                        <a:t>μ=0.1, α=0.5, γ=1.2, sim≥0.12; pinned live citations never evicted; memory→SATR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</a:tr>
            </a:tbl>
          </a:graphicData>
        </a:graphic>
      </p:graphicFrame>
      <p:sp>
        <p:nvSpPr>
          <p:cNvPr id="4028" name="Automatic Date 28"/>
          <p:cNvSpPr txBox="1"/>
          <p:nvPr/>
        </p:nvSpPr>
        <p:spPr>
          <a:xfrm>
            <a:off x="255016" y="6565900"/>
            <a:ext cx="310896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fld id="{e8651a33-27ae-4378-b9fc-531f8c1327f1}" type="datetime3">
              <a:rPr lang="en-GB" sz="1000" dirty="0">
                <a:solidFill>
                  <a:srgbClr val="C4A35A"/>
                </a:solidFill>
                <a:latin typeface="Calibri"/>
              </a:rPr>
              <a:t>7 September 2026</a:t>
            </a:fld>
            <a:endParaRPr lang="en-GB" sz="1000"/>
          </a:p>
        </p:txBody>
      </p:sp>
      <p:sp>
        <p:nvSpPr>
          <p:cNvPr id="5028" name="Automatic Slide Number 28"/>
          <p:cNvSpPr txBox="1"/>
          <p:nvPr/>
        </p:nvSpPr>
        <p:spPr>
          <a:xfrm>
            <a:off x="9601200" y="6565900"/>
            <a:ext cx="228600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/>
            <a:fld id="{f1edd49f-9e4f-4194-a34d-d40fdd5c6aa1}" type="slidenum">
              <a:rPr lang="en-GB" sz="1000" dirty="0">
                <a:solidFill>
                  <a:srgbClr val="C4A35A"/>
                </a:solidFill>
                <a:latin typeface="Calibri"/>
              </a:rPr>
              <a:t>28</a:t>
            </a:fld>
            <a:r>
              <a:rPr lang="en-GB" sz="1000">
                <a:solidFill>
                  <a:srgbClr val="C4A35A"/>
                </a:solidFill>
                <a:latin typeface="Calibri"/>
              </a:rPr>
              <a:t> / 35</a:t>
            </a:r>
            <a:endParaRPr lang="en-GB" sz="1000"/>
          </a:p>
        </p:txBody>
      </p:sp>
    </p:spTree>
  </p:cSld>
  <p:clrMapOvr>
    <a:masterClrMapping/>
  </p:clrMapOvr>
  <p:hf sldNum="1" hdr="0" ftr="1" dt="1"/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91695" cy="54864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73152"/>
            <a:ext cx="11521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M. S. RAMAIAH UNIVERSITY OF APPLIED SCIENCES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" y="347472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4A35A"/>
                </a:solidFill>
                <a:latin typeface="Calibri"/>
              </a:rPr>
              <a:t>Faculty of Engineering and Technology  ·  RESEARCH PROPOSAL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6565392"/>
            <a:ext cx="5760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Calibri"/>
              </a:rPr>
              <a:t>Jenisha T  |  24ETRP720001  |  Part Time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713232"/>
            <a:ext cx="12191695" cy="5797296"/>
          </a:xfrm>
          <a:prstGeom prst="rect">
            <a:avLst/>
          </a:prstGeom>
          <a:solidFill>
            <a:srgbClr val="FFFA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804672"/>
            <a:ext cx="11430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7C1D2E"/>
                </a:solidFill>
                <a:latin typeface="Calibri"/>
              </a:rPr>
              <a:t>RESEARCH PROPOSAL  ·  Research Methodology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02412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214"/>
                </a:solidFill>
                <a:latin typeface="Calibri"/>
              </a:rPr>
              <a:t>Research Methodology — ToolBench walkthrough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572768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C4A4E"/>
                </a:solidFill>
                <a:latin typeface="Calibri"/>
              </a:rPr>
              <a:t>One ToolBench-schema datum, processed by all four objectives. RapidAPI is never GET. Numbers are a 07 September 2026 lab trace, not a metric claim.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1993392"/>
            <a:ext cx="1143000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Intake. Bundled G1 jsonl qid=6491 is a RapidAPI aircraft query (gold docs 4308–4317). Off-sector flights are stripped. The ranking-library analogue walked here is tb.agri.soil_health with q = “What is the soil pH and recommended fertilizer dose for a farm village?”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O1 SATR. Cold start so s=z(s_base). tb.agri.soil_health s_base=18.08 → s=5.40 (rank 1, ranking-only). karnataka::shc_karnataka s=1.40. datagov.fertilizer s=0.60 (live, rank 4).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O2 APRR. Path agriculture_analyst → schema_planner (p=0.73) → retrieval_specialist (p=0.95). Non-Agriculture specialists fall back to SATR #1 = soil_health.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O3 MNCD. Agent score s=0.45 score/(|score|+2)+0.35 overlap. soil_health 0.5995; tally=3·0.7407·0.5995=1.332. Not liveExecutable. preferredLiveToolId matches fertilizer → GET UUID 2e0e6c04-97f2-456b-9309-bf605650cb11 (44 live subsidy rows, e.g. 2002-03 Indigenous Urea 7790 Rs crore).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O4 FCNP. 10 spans → keep 6 / drop 4; pin query + live fertilizer observation + citation. Memory written back to SATR.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199632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C4A4E"/>
                </a:solidFill>
                <a:latin typeface="Calibri"/>
              </a:rPr>
              <a:t>ToolBench = ranking library. Live evidence is always a verified data.gov.in Agriculture UUID.</a:t>
            </a:r>
          </a:p>
        </p:txBody>
      </p:sp>
      <p:sp>
        <p:nvSpPr>
          <p:cNvPr id="4029" name="Automatic Date 29"/>
          <p:cNvSpPr txBox="1"/>
          <p:nvPr/>
        </p:nvSpPr>
        <p:spPr>
          <a:xfrm>
            <a:off x="255016" y="6565900"/>
            <a:ext cx="310896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fld id="{42e20ad7-8f06-4e85-afb0-1c91907862d2}" type="datetime3">
              <a:rPr lang="en-GB" sz="1000" dirty="0">
                <a:solidFill>
                  <a:srgbClr val="C4A35A"/>
                </a:solidFill>
                <a:latin typeface="Calibri"/>
              </a:rPr>
              <a:t>7 September 2026</a:t>
            </a:fld>
            <a:endParaRPr lang="en-GB" sz="1000"/>
          </a:p>
        </p:txBody>
      </p:sp>
      <p:sp>
        <p:nvSpPr>
          <p:cNvPr id="5029" name="Automatic Slide Number 29"/>
          <p:cNvSpPr txBox="1"/>
          <p:nvPr/>
        </p:nvSpPr>
        <p:spPr>
          <a:xfrm>
            <a:off x="9601200" y="6565900"/>
            <a:ext cx="228600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/>
            <a:fld id="{3ceb30f8-bd3a-4710-b02e-891763dfcbf5}" type="slidenum">
              <a:rPr lang="en-GB" sz="1000" dirty="0">
                <a:solidFill>
                  <a:srgbClr val="C4A35A"/>
                </a:solidFill>
                <a:latin typeface="Calibri"/>
              </a:rPr>
              <a:t>29</a:t>
            </a:fld>
            <a:r>
              <a:rPr lang="en-GB" sz="1000">
                <a:solidFill>
                  <a:srgbClr val="C4A35A"/>
                </a:solidFill>
                <a:latin typeface="Calibri"/>
              </a:rPr>
              <a:t> / 35</a:t>
            </a:r>
            <a:endParaRPr lang="en-GB" sz="1000"/>
          </a:p>
        </p:txBody>
      </p:sp>
    </p:spTree>
  </p:cSld>
  <p:clrMapOvr>
    <a:masterClrMapping/>
  </p:clrMapOvr>
  <p:hf sldNum="1" hdr="0" ftr="1" dt="1"/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91695" cy="54864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73152"/>
            <a:ext cx="11521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M. S. RAMAIAH UNIVERSITY OF APPLIED SCIENCES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" y="347472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4A35A"/>
                </a:solidFill>
                <a:latin typeface="Calibri"/>
              </a:rPr>
              <a:t>Faculty of Engineering and Technology  ·  RESEARCH PROPOSAL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6565392"/>
            <a:ext cx="5760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Calibri"/>
              </a:rPr>
              <a:t>Jenisha T  |  24ETRP720001  |  Part Time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713232"/>
            <a:ext cx="12191695" cy="5797296"/>
          </a:xfrm>
          <a:prstGeom prst="rect">
            <a:avLst/>
          </a:prstGeom>
          <a:solidFill>
            <a:srgbClr val="FFFA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804672"/>
            <a:ext cx="11430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7C1D2E"/>
                </a:solidFill>
                <a:latin typeface="Calibri"/>
              </a:rPr>
              <a:t>RESEARCH PROPOSAL  ·  Research Methodology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02412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214"/>
                </a:solidFill>
                <a:latin typeface="Calibri"/>
              </a:rPr>
              <a:t>Research Methodology — data.gov.in walkthrough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572768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C4A4E"/>
                </a:solidFill>
                <a:latin typeface="Calibri"/>
              </a:rPr>
              <a:t>The same four objectives on live AGMARKNET. Query: “What is the current mandi price of wheat in Punjab?” Fail-loud: no invented Punjab-wheat modal.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1993392"/>
            <a:ext cx="1143000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Intake. extractToolArguments → state=Punjab, commodity=Wheat. preferredLiveToolId → datagov.mandi_prices (UUID 9ef84268-d588-465a-a308-a864a43d0070). Limit capped at 10 000.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O1 SATR. karnataka::agmarknet_ka s=3.73 (rank 1, same UUID); datagov.mandi_prices s=3.05 (rank 2, preferred); datagov.msp s=2.31 (ranking-only).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O2 APRR. Path agriculture_analyst → schema_planner (p=0.54) → tool_executor (p=0.66, terminal stop). Hop 0: Karnataka mandi, national mandi, MSP. Hop 2 live leftover: crop_production.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O3 MNCD. mandi_prices agent-score 0.787 (liveBoost 0.45); karnataka 0.7789. Score-sum winner karnataka::agmarknet_ka tally=1.154. Live GET: 10 000 arrivals; 0 Wheat in Punjab today; 479 other live Punjab rows; Wheat in 133 live rows from MP, Rajasthan, UP, Gujarat, Maharashtra, West Bengal, Chhattisgarh. Shown mean modal Rs 2593/quintal (e.g. Bhindi, Dera Baba Nanak APMC, Rs 828, 07/09/2026).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O4 FCNP. 10 spans → keep 7; pin the AGMARKNET citation. W ← (1-λ)W + κ·1/L²/lat on the hop path. Next SATR is session-conditioned.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199632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C4A4E"/>
                </a:solidFill>
                <a:latin typeface="Calibri"/>
              </a:rPr>
              <a:t>Lab trace 07 September 2026. Re-run on /walkthrough; rows change daily. No dummy prices.</a:t>
            </a:r>
          </a:p>
        </p:txBody>
      </p:sp>
      <p:sp>
        <p:nvSpPr>
          <p:cNvPr id="4030" name="Automatic Date 30"/>
          <p:cNvSpPr txBox="1"/>
          <p:nvPr/>
        </p:nvSpPr>
        <p:spPr>
          <a:xfrm>
            <a:off x="255016" y="6565900"/>
            <a:ext cx="310896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fld id="{a63a17a5-25d5-4e97-8762-3fdf0fba6e94}" type="datetime3">
              <a:rPr lang="en-GB" sz="1000" dirty="0">
                <a:solidFill>
                  <a:srgbClr val="C4A35A"/>
                </a:solidFill>
                <a:latin typeface="Calibri"/>
              </a:rPr>
              <a:t>7 September 2026</a:t>
            </a:fld>
            <a:endParaRPr lang="en-GB" sz="1000"/>
          </a:p>
        </p:txBody>
      </p:sp>
      <p:sp>
        <p:nvSpPr>
          <p:cNvPr id="5030" name="Automatic Slide Number 30"/>
          <p:cNvSpPr txBox="1"/>
          <p:nvPr/>
        </p:nvSpPr>
        <p:spPr>
          <a:xfrm>
            <a:off x="9601200" y="6565900"/>
            <a:ext cx="228600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/>
            <a:fld id="{675ae9ba-56c2-49ea-a938-41c1b88d3b5b}" type="slidenum">
              <a:rPr lang="en-GB" sz="1000" dirty="0">
                <a:solidFill>
                  <a:srgbClr val="C4A35A"/>
                </a:solidFill>
                <a:latin typeface="Calibri"/>
              </a:rPr>
              <a:t>30</a:t>
            </a:fld>
            <a:r>
              <a:rPr lang="en-GB" sz="1000">
                <a:solidFill>
                  <a:srgbClr val="C4A35A"/>
                </a:solidFill>
                <a:latin typeface="Calibri"/>
              </a:rPr>
              <a:t> / 35</a:t>
            </a:r>
            <a:endParaRPr lang="en-GB" sz="1000"/>
          </a:p>
        </p:txBody>
      </p:sp>
    </p:spTree>
  </p:cSld>
  <p:clrMapOvr>
    <a:masterClrMapping/>
  </p:clrMapOvr>
  <p:hf sldNum="1" hdr="0" ftr="1" dt="1"/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91695" cy="54864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73152"/>
            <a:ext cx="11521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M. S. RAMAIAH UNIVERSITY OF APPLIED SCIENCES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" y="347472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4A35A"/>
                </a:solidFill>
                <a:latin typeface="Calibri"/>
              </a:rPr>
              <a:t>Faculty of Engineering and Technology  ·  RESEARCH PROPOSAL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6565392"/>
            <a:ext cx="5760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Calibri"/>
              </a:rPr>
              <a:t>Jenisha T  |  24ETRP720001  |  Part Time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713232"/>
            <a:ext cx="12191695" cy="5797296"/>
          </a:xfrm>
          <a:prstGeom prst="rect">
            <a:avLst/>
          </a:prstGeom>
          <a:solidFill>
            <a:srgbClr val="FFFA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804672"/>
            <a:ext cx="11430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7C1D2E"/>
                </a:solidFill>
                <a:latin typeface="Calibri"/>
              </a:rPr>
              <a:t>RESEARCH PROPOSAL  ·  Conclusion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02412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214"/>
                </a:solidFill>
                <a:latin typeface="Calibri"/>
              </a:rPr>
              <a:t>Conclusion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572768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C4A4E"/>
                </a:solidFill>
                <a:latin typeface="Calibri"/>
              </a:rPr>
              <a:t>ACRS is proposed as a structural orchestration layer. The contribution is the closed loop and the four named gaps — not a pre-committed leaderboard.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1993392"/>
            <a:ext cx="1143000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The literature (AutoGen, MetaGPT, ChatDev, CAMEL, ToolLLM, MasRouter, RouteLLM, PILOT, LLMLingua, PECAD) establishes conversation, tools, learned routing, and prompt compression. It does not establish SATR → APRR → MNCD → FCNP as one contract over live Indian OGD.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The identified problem is five gaps: G1 session–tool fusion, G2 training-free specialist posterior, G3 live fail-loud Indian OGD, G4 conductance prune with write-back, G5 missing integration layer.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The aim is to design that layer. Four objectives (SATR, APRR, MNCD, FCNP) and four research questions map onto it.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Methodology is specified per objective: ToolBench as ranking library; Dirichlet–Thompson routing; verified data.gov.in UUIDs with score-sum; Physarum-inspired prune with SATR write-back. Metric numbers are deferred.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Next step after approval. Freeze evaluation protocols, implement the closed loop, and report whatever the measurements show — including negative results.</a:t>
            </a:r>
          </a:p>
        </p:txBody>
      </p:sp>
      <p:sp>
        <p:nvSpPr>
          <p:cNvPr id="4031" name="Automatic Date 31"/>
          <p:cNvSpPr txBox="1"/>
          <p:nvPr/>
        </p:nvSpPr>
        <p:spPr>
          <a:xfrm>
            <a:off x="255016" y="6565900"/>
            <a:ext cx="310896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fld id="{56be0562-10e0-4c31-b0a6-0062a30b3373}" type="datetime3">
              <a:rPr lang="en-GB" sz="1000" dirty="0">
                <a:solidFill>
                  <a:srgbClr val="C4A35A"/>
                </a:solidFill>
                <a:latin typeface="Calibri"/>
              </a:rPr>
              <a:t>7 September 2026</a:t>
            </a:fld>
            <a:endParaRPr lang="en-GB" sz="1000"/>
          </a:p>
        </p:txBody>
      </p:sp>
      <p:sp>
        <p:nvSpPr>
          <p:cNvPr id="5031" name="Automatic Slide Number 31"/>
          <p:cNvSpPr txBox="1"/>
          <p:nvPr/>
        </p:nvSpPr>
        <p:spPr>
          <a:xfrm>
            <a:off x="9601200" y="6565900"/>
            <a:ext cx="228600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/>
            <a:fld id="{b979e46a-fa89-4efe-bdb2-e9eeed422dbc}" type="slidenum">
              <a:rPr lang="en-GB" sz="1000" dirty="0">
                <a:solidFill>
                  <a:srgbClr val="C4A35A"/>
                </a:solidFill>
                <a:latin typeface="Calibri"/>
              </a:rPr>
              <a:t>31</a:t>
            </a:fld>
            <a:r>
              <a:rPr lang="en-GB" sz="1000">
                <a:solidFill>
                  <a:srgbClr val="C4A35A"/>
                </a:solidFill>
                <a:latin typeface="Calibri"/>
              </a:rPr>
              <a:t> / 35</a:t>
            </a:r>
            <a:endParaRPr lang="en-GB" sz="1000"/>
          </a:p>
        </p:txBody>
      </p:sp>
    </p:spTree>
  </p:cSld>
  <p:clrMapOvr>
    <a:masterClrMapping/>
  </p:clrMapOvr>
  <p:hf sldNum="1" hdr="0" ftr="1" dt="1"/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91695" cy="54864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73152"/>
            <a:ext cx="11521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M. S. RAMAIAH UNIVERSITY OF APPLIED SCIENCES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" y="347472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4A35A"/>
                </a:solidFill>
                <a:latin typeface="Calibri"/>
              </a:rPr>
              <a:t>Faculty of Engineering and Technology  ·  RESEARCH PROPOSAL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6565392"/>
            <a:ext cx="5760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Calibri"/>
              </a:rPr>
              <a:t>Jenisha T  |  24ETRP720001  |  Part Time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713232"/>
            <a:ext cx="12191695" cy="5797296"/>
          </a:xfrm>
          <a:prstGeom prst="rect">
            <a:avLst/>
          </a:prstGeom>
          <a:solidFill>
            <a:srgbClr val="FFFA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804672"/>
            <a:ext cx="11430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7C1D2E"/>
                </a:solidFill>
                <a:latin typeface="Calibri"/>
              </a:rPr>
              <a:t>RESEARCH PROPOSAL  ·  References 1/3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02412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214"/>
                </a:solidFill>
                <a:latin typeface="Calibri"/>
              </a:rPr>
              <a:t>References (1/3) — multi-agent systems and tool learning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572768"/>
            <a:ext cx="1143000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Wu, Q., Bansal, G., Zhang, J., Wu, Y., Li, B., Zhu, E., Jiang, L., Zhang, X., Zhang, S., Liu, J., Awadallah, A. H., White, R. W., Burger, D., and Wang, C. AutoGen: Enabling Next-Gen LLM Applications via Multi-Agent Conversations. Conference on Language Modeling (COLM) 2024. Also ICLR 2024 Workshop on Large Language Model (LLM) Agents (Best Paper). arXiv:2308.08155.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Hong, S., Zhuge, M., Chen, J., Zheng, X., Cheng, Y., Wang, J., Zhang, C., Wang, Z., Yau, S. K. S., Lin, Z., Zhou, L., Ran, C., Xiao, L., Wu, C., and Schmidhuber, J. MetaGPT: Meta Programming for A Multi-Agent Collaborative Framework. ICLR 2024.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Li, G., Hammoud, H. A. A. K., Itani, H., Khizbullin, D., and Ghanem, B. CAMEL: Communicative Agents for “Mind” Exploration of Large Language Model Society. NeurIPS 2023.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Qian, C., Liu, W., Liu, H., Chen, N., Dang, Y., Li, J., Yang, C., Chen, W., Su, Y., Cong, X., Xu, J., Li, D., Liu, Z., and Sun, M. ChatDev: Communicative Agents for Software Development. ACL 2024 (long), pages 15174–15186. doi:10.18653/v1/2024.acl-long.810.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Qin, Y., Liang, S., Ye, Y., Zhu, K., Yan, L., Lu, Y., Lin, Y., Cong, X., Tang, X., Qian, B., Zhao, S., Hong, L., Tian, R., Xie, R., Zhou, J., Gerstein, M., Li, D., Liu, Z., and Sun, M. ToolLLM: Facilitating Large Language Models to Master 16000+ Real-world APIs. ICLR 2024.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Zheng, Y., Li, P., Liu, W., Liu, Y., Luan, J., and Wang, B. ToolRerank: Adaptive and Hierarchy-Aware Reranking for Tool Retrieval. LREC-COLING 2024, pages 16263–16273. ACL Anthology 2024.lrec-main.1413.</a:t>
            </a:r>
          </a:p>
        </p:txBody>
      </p:sp>
      <p:sp>
        <p:nvSpPr>
          <p:cNvPr id="4032" name="Automatic Date 32"/>
          <p:cNvSpPr txBox="1"/>
          <p:nvPr/>
        </p:nvSpPr>
        <p:spPr>
          <a:xfrm>
            <a:off x="255016" y="6565900"/>
            <a:ext cx="310896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fld id="{ea889bef-c30d-49ca-9628-5ab55dfea395}" type="datetime3">
              <a:rPr lang="en-GB" sz="1000" dirty="0">
                <a:solidFill>
                  <a:srgbClr val="C4A35A"/>
                </a:solidFill>
                <a:latin typeface="Calibri"/>
              </a:rPr>
              <a:t>7 September 2026</a:t>
            </a:fld>
            <a:endParaRPr lang="en-GB" sz="1000"/>
          </a:p>
        </p:txBody>
      </p:sp>
      <p:sp>
        <p:nvSpPr>
          <p:cNvPr id="5032" name="Automatic Slide Number 32"/>
          <p:cNvSpPr txBox="1"/>
          <p:nvPr/>
        </p:nvSpPr>
        <p:spPr>
          <a:xfrm>
            <a:off x="9601200" y="6565900"/>
            <a:ext cx="228600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/>
            <a:fld id="{b553dc07-6b45-4d1d-a949-dadc9f1a6737}" type="slidenum">
              <a:rPr lang="en-GB" sz="1000" dirty="0">
                <a:solidFill>
                  <a:srgbClr val="C4A35A"/>
                </a:solidFill>
                <a:latin typeface="Calibri"/>
              </a:rPr>
              <a:t>32</a:t>
            </a:fld>
            <a:r>
              <a:rPr lang="en-GB" sz="1000">
                <a:solidFill>
                  <a:srgbClr val="C4A35A"/>
                </a:solidFill>
                <a:latin typeface="Calibri"/>
              </a:rPr>
              <a:t> / 35</a:t>
            </a:r>
            <a:endParaRPr lang="en-GB" sz="1000"/>
          </a:p>
        </p:txBody>
      </p:sp>
    </p:spTree>
  </p:cSld>
  <p:clrMapOvr>
    <a:masterClrMapping/>
  </p:clrMapOvr>
  <p:hf sldNum="1" hdr="0" ftr="1" dt="1"/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91695" cy="54864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73152"/>
            <a:ext cx="11521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M. S. RAMAIAH UNIVERSITY OF APPLIED SCIENCES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" y="347472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4A35A"/>
                </a:solidFill>
                <a:latin typeface="Calibri"/>
              </a:rPr>
              <a:t>Faculty of Engineering and Technology  ·  RESEARCH PROPOSAL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6565392"/>
            <a:ext cx="5760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Calibri"/>
              </a:rPr>
              <a:t>Jenisha T  |  24ETRP720001  |  Part Time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713232"/>
            <a:ext cx="12191695" cy="5797296"/>
          </a:xfrm>
          <a:prstGeom prst="rect">
            <a:avLst/>
          </a:prstGeom>
          <a:solidFill>
            <a:srgbClr val="FFFA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804672"/>
            <a:ext cx="11430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7C1D2E"/>
                </a:solidFill>
                <a:latin typeface="Calibri"/>
              </a:rPr>
              <a:t>RESEARCH PROPOSAL  ·  References 2/3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02412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214"/>
                </a:solidFill>
                <a:latin typeface="Calibri"/>
              </a:rPr>
              <a:t>References (2/3) — routing, compression, reasoning, biology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572768"/>
            <a:ext cx="1143000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Ong, I., Almahairi, A., Wu, V., Chiang, W.-L., Wu, T., Gonzalez, J. E., Kadous, M. W., and Stoica, I. RouteLLM: Learning to Route LLMs from Preference Data. ICLR 2025. arXiv:2406.18665.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Panda, P., Magazine, R., Devaguptapu, C., Takemori, S., and Sharma, V. Adaptive LLM Routing under Budget Constraints. Findings of the Association for Computational Linguistics: EMNLP 2025, pages 23934–23949. doi:10.18653/v1/2025.findings-emnlp.1301.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Yue, Y., Zhang, G., Liu, B., Wan, G., Wang, K., Cheng, D., and Qi, Y. MasRouter: Learning to Route LLMs for Multi-Agent Systems. ACL 2025 (long), pages 15549–15572. doi:10.18653/v1/2025.acl-long.757.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Jiang, H., Wu, Q., Lin, C.-Y., Yang, Y., and Qiu, L. LLMLingua: Compressing Prompts for Accelerated Inference of Large Language Models. EMNLP 2023, pages 13358–13376. doi:10.18653/v1/2023.emnlp-main.825.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Wei, J., Wang, X., Schuurmans, D., Bosma, M., Ichter, B., Xia, F., Chi, E., Le, Q., and Zhou, D. Chain-of-Thought Prompting Elicits Reasoning in Large Language Models. NeurIPS 2022.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Yao, S., Zhao, J., Yu, D., Du, N., Shafran, I., Narasimhan, K., and Cao, Y. ReAct: Synergizing Reasoning and Acting in Language Models. ICLR 2023.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Yao, S., Yu, D., Zhao, J., Shafran, I., Griffiths, T. L., Cao, Y., and Narasimhan, K. Tree of Thoughts: Deliberate Problem Solving with Large Language Models. NeurIPS 2023.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Tero, A., Takagi, S., Saigusa, T., Ito, K., Bebber, D. P., Fricker, M. D., Yumiki, K., Kobayashi, R., and Nakagaki, T. Rules for Biologically Inspired Adaptive Network Design. Science 327(5964):439–442, 2010. doi:10.1126/science.1177894.</a:t>
            </a:r>
          </a:p>
        </p:txBody>
      </p:sp>
      <p:sp>
        <p:nvSpPr>
          <p:cNvPr id="4033" name="Automatic Date 33"/>
          <p:cNvSpPr txBox="1"/>
          <p:nvPr/>
        </p:nvSpPr>
        <p:spPr>
          <a:xfrm>
            <a:off x="255016" y="6565900"/>
            <a:ext cx="310896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fld id="{d87aaa26-533f-4e32-98d5-6fe4c717a3cc}" type="datetime3">
              <a:rPr lang="en-GB" sz="1000" dirty="0">
                <a:solidFill>
                  <a:srgbClr val="C4A35A"/>
                </a:solidFill>
                <a:latin typeface="Calibri"/>
              </a:rPr>
              <a:t>7 September 2026</a:t>
            </a:fld>
            <a:endParaRPr lang="en-GB" sz="1000"/>
          </a:p>
        </p:txBody>
      </p:sp>
      <p:sp>
        <p:nvSpPr>
          <p:cNvPr id="5033" name="Automatic Slide Number 33"/>
          <p:cNvSpPr txBox="1"/>
          <p:nvPr/>
        </p:nvSpPr>
        <p:spPr>
          <a:xfrm>
            <a:off x="9601200" y="6565900"/>
            <a:ext cx="228600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/>
            <a:fld id="{17a5b390-b2b2-410b-a6cc-df6668ed6dc3}" type="slidenum">
              <a:rPr lang="en-GB" sz="1000" dirty="0">
                <a:solidFill>
                  <a:srgbClr val="C4A35A"/>
                </a:solidFill>
                <a:latin typeface="Calibri"/>
              </a:rPr>
              <a:t>33</a:t>
            </a:fld>
            <a:r>
              <a:rPr lang="en-GB" sz="1000">
                <a:solidFill>
                  <a:srgbClr val="C4A35A"/>
                </a:solidFill>
                <a:latin typeface="Calibri"/>
              </a:rPr>
              <a:t> / 35</a:t>
            </a:r>
            <a:endParaRPr lang="en-GB" sz="1000"/>
          </a:p>
        </p:txBody>
      </p:sp>
    </p:spTree>
  </p:cSld>
  <p:clrMapOvr>
    <a:masterClrMapping/>
  </p:clrMapOvr>
  <p:hf sldNum="1" hdr="0" ftr="1" dt="1"/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91695" cy="54864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73152"/>
            <a:ext cx="11521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M. S. RAMAIAH UNIVERSITY OF APPLIED SCIENCES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" y="347472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4A35A"/>
                </a:solidFill>
                <a:latin typeface="Calibri"/>
              </a:rPr>
              <a:t>Faculty of Engineering and Technology  ·  RESEARCH PROPOSAL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6565392"/>
            <a:ext cx="5760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Calibri"/>
              </a:rPr>
              <a:t>Jenisha T  |  24ETRP720001  |  Part Time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713232"/>
            <a:ext cx="12191695" cy="5797296"/>
          </a:xfrm>
          <a:prstGeom prst="rect">
            <a:avLst/>
          </a:prstGeom>
          <a:solidFill>
            <a:srgbClr val="FFFA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804672"/>
            <a:ext cx="11430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7C1D2E"/>
                </a:solidFill>
                <a:latin typeface="Calibri"/>
              </a:rPr>
              <a:t>RESEARCH PROPOSAL  ·  References 3/3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02412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214"/>
                </a:solidFill>
                <a:latin typeface="Calibri"/>
              </a:rPr>
              <a:t>References (3/3) — memory, tools, Indian agricultural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572768"/>
            <a:ext cx="1143000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Park, J. S., O’Brien, J. C., Cai, C. J., Morris, M. R., Liang, P., and Bernstein, M. S. Generative Agents: Interactive Simulacra of Human Behavior. UIST 2023 (Best Paper). doi:10.1145/3586183.3606763.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Shinn, N., Cassano, F., Gopinath, A., Narasimhan, K., and Yao, S. Reflexion: Language Agents with Verbal Reinforcement Learning. NeurIPS 2023.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Shen, Y., Song, K., Tan, X., Li, D., Lu, W., and Zhuang, Y. HuggingGPT: Solving AI Tasks with ChatGPT and its Friends in Hugging Face. NeurIPS 2023.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Schick, T., Dwivedi-Yu, J., Dessì, R., Raileanu, R., Lomeli, M., Hambro, E., Zettlemoyer, L., Cancedda, N., and Scialom, T. Toolformer: Language Models Can Teach Themselves to Use Tools. NeurIPS 2023.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Guo, H., Woodruff, A., and Yadav, A. Improving Lives of Indebted Farmers Using Deep Learning: Predicting Agricultural Produce Prices Using Convolutional Neural Networks (PECAD). AAAI 2020. doi:10.1609/aaai.v34i08.7039. AGMARKNET scrape for price prediction; cited here as Indian OGD precedent, not as a baseline this proposal claims to beat.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Government of India. Open Government Data Platform India (data.gov.in); AGMARKNET resource 9ef84268-d588-465a-a308-a864a43d0070; Directorate of Economics and Statistics crop production; IMD rainfall series; Government Open Data License — India (GODL-India).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199632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C4A4E"/>
                </a:solidFill>
                <a:latin typeface="Calibri"/>
              </a:rPr>
              <a:t>CrewAI is an engineering framework without a flagship peer-reviewed paper in this list; AutoGen and MetaGPT are the MAS citations.</a:t>
            </a:r>
          </a:p>
        </p:txBody>
      </p:sp>
      <p:sp>
        <p:nvSpPr>
          <p:cNvPr id="4034" name="Automatic Date 34"/>
          <p:cNvSpPr txBox="1"/>
          <p:nvPr/>
        </p:nvSpPr>
        <p:spPr>
          <a:xfrm>
            <a:off x="255016" y="6565900"/>
            <a:ext cx="310896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fld id="{7d4c7bb1-9982-48b0-8fa7-d6599b654522}" type="datetime3">
              <a:rPr lang="en-GB" sz="1000" dirty="0">
                <a:solidFill>
                  <a:srgbClr val="C4A35A"/>
                </a:solidFill>
                <a:latin typeface="Calibri"/>
              </a:rPr>
              <a:t>7 September 2026</a:t>
            </a:fld>
            <a:endParaRPr lang="en-GB" sz="1000"/>
          </a:p>
        </p:txBody>
      </p:sp>
      <p:sp>
        <p:nvSpPr>
          <p:cNvPr id="5034" name="Automatic Slide Number 34"/>
          <p:cNvSpPr txBox="1"/>
          <p:nvPr/>
        </p:nvSpPr>
        <p:spPr>
          <a:xfrm>
            <a:off x="9601200" y="6565900"/>
            <a:ext cx="228600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/>
            <a:fld id="{a46db84a-d5d5-4161-8225-b424423773a1}" type="slidenum">
              <a:rPr lang="en-GB" sz="1000" dirty="0">
                <a:solidFill>
                  <a:srgbClr val="C4A35A"/>
                </a:solidFill>
                <a:latin typeface="Calibri"/>
              </a:rPr>
              <a:t>34</a:t>
            </a:fld>
            <a:r>
              <a:rPr lang="en-GB" sz="1000">
                <a:solidFill>
                  <a:srgbClr val="C4A35A"/>
                </a:solidFill>
                <a:latin typeface="Calibri"/>
              </a:rPr>
              <a:t> / 35</a:t>
            </a:r>
            <a:endParaRPr lang="en-GB" sz="1000"/>
          </a:p>
        </p:txBody>
      </p:sp>
    </p:spTree>
  </p:cSld>
  <p:clrMapOvr>
    <a:masterClrMapping/>
  </p:clrMapOvr>
  <p:hf sldNum="1" hdr="0" ftr="1" dt="1"/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91695" cy="54864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73152"/>
            <a:ext cx="11521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M. S. RAMAIAH UNIVERSITY OF APPLIED SCIENCES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" y="347472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4A35A"/>
                </a:solidFill>
                <a:latin typeface="Calibri"/>
              </a:rPr>
              <a:t>Faculty of Engineering and Technology  ·  RESEARCH PROPOSAL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6565392"/>
            <a:ext cx="5760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Calibri"/>
              </a:rPr>
              <a:t>Jenisha T  |  24ETRP720001  |  Part Time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713232"/>
            <a:ext cx="12191695" cy="5797296"/>
          </a:xfrm>
          <a:prstGeom prst="rect">
            <a:avLst/>
          </a:prstGeom>
          <a:solidFill>
            <a:srgbClr val="FFFA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804672"/>
            <a:ext cx="11430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7C1D2E"/>
                </a:solidFill>
                <a:latin typeface="Calibri"/>
              </a:rPr>
              <a:t>RESEARCH PROPOSAL  ·  Thank you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02412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214"/>
                </a:solidFill>
                <a:latin typeface="Calibri"/>
              </a:rPr>
              <a:t>Thank you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572768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C4A4E"/>
                </a:solidFill>
                <a:latin typeface="Calibri"/>
              </a:rPr>
              <a:t>Adaptive Context Reasoning System — a research programme, not a performance number.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1993392"/>
            <a:ext cx="1143000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Presented By: Jenisha T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(Reg. No. 24ETRP720001)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Supervisor: Dr. Jyothi A P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Department of Computer Science and Engineering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Faculty of Engineering and Technology, MSRUAS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jenisha.t@msruas.ac.in</a:t>
            </a:r>
          </a:p>
        </p:txBody>
      </p:sp>
      <p:sp>
        <p:nvSpPr>
          <p:cNvPr id="4035" name="Automatic Date 35"/>
          <p:cNvSpPr txBox="1"/>
          <p:nvPr/>
        </p:nvSpPr>
        <p:spPr>
          <a:xfrm>
            <a:off x="255016" y="6565900"/>
            <a:ext cx="310896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fld id="{436cdb1b-dbc1-40da-b26c-039b45e38da1}" type="datetime3">
              <a:rPr lang="en-GB" sz="1000" dirty="0">
                <a:solidFill>
                  <a:srgbClr val="C4A35A"/>
                </a:solidFill>
                <a:latin typeface="Calibri"/>
              </a:rPr>
              <a:t>7 September 2026</a:t>
            </a:fld>
            <a:endParaRPr lang="en-GB" sz="1000"/>
          </a:p>
        </p:txBody>
      </p:sp>
      <p:sp>
        <p:nvSpPr>
          <p:cNvPr id="5035" name="Automatic Slide Number 35"/>
          <p:cNvSpPr txBox="1"/>
          <p:nvPr/>
        </p:nvSpPr>
        <p:spPr>
          <a:xfrm>
            <a:off x="9601200" y="6565900"/>
            <a:ext cx="228600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/>
            <a:fld id="{2fbdc6bb-d1d2-474e-ac84-7c2daf2cd33f}" type="slidenum">
              <a:rPr lang="en-GB" sz="1000" dirty="0">
                <a:solidFill>
                  <a:srgbClr val="C4A35A"/>
                </a:solidFill>
                <a:latin typeface="Calibri"/>
              </a:rPr>
              <a:t>35</a:t>
            </a:fld>
            <a:r>
              <a:rPr lang="en-GB" sz="1000">
                <a:solidFill>
                  <a:srgbClr val="C4A35A"/>
                </a:solidFill>
                <a:latin typeface="Calibri"/>
              </a:rPr>
              <a:t> / 35</a:t>
            </a:r>
            <a:endParaRPr lang="en-GB" sz="1000"/>
          </a:p>
        </p:txBody>
      </p:sp>
    </p:spTree>
  </p:cSld>
  <p:clrMapOvr>
    <a:masterClrMapping/>
  </p:clrMapOvr>
  <p:hf sldNum="1" hdr="0" ftr="1" dt="1"/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Adaptive Context Reasoning System (ACRS): A Structural Orchestration Layer for Multi-Agent LLM Ecosystems</dc:title>
  <dc:subject>RESEARCH PROPOSAL · Ph.D. in Computer Science and Engineering</dc:subject>
  <dc:creator>Jenisha T</dc:creator>
  <cp:keywords/>
  <dc:description>Automatic date 7 September 2026; slide numbers via PowerPoint slidenum field.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