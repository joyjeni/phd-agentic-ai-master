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hf sldNum="1" hdr="0" ftr="1" dt="1"/>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hf sldNum="1" hdr="0" ftr="1" dt="1"/>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hf sldNum="1" hdr="0" ftr="1" dt="1"/>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6" name="Footer Placeholder 5"/>
          <p:cNvSpPr>
            <a:spLocks noGrp="1"/>
          </p:cNvSpPr>
          <p:nvPr>
            <p:ph type="ftr" sz="quarter" idx="11"/>
          </p:nvPr>
        </p:nvSpPr>
        <p:spPr>
          <a:xfrm>
            <a:off x="3383280" y="6565392"/>
            <a:ext cx="5760720" cy="256032"/>
          </a:xfrm>
        </p:spPr>
        <p:txBody>
          <a:bodyPr wrap="none"/>
          <a:lstStyle/>
          <a:p>
            <a:pPr algn="ctr"/>
            <a:endParaRPr lang="en-US"/>
          </a:p>
        </p:txBody>
      </p:sp>
      <p:sp>
        <p:nvSpPr>
          <p:cNvPr id="7" name="Slide Number Placeholder 6"/>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hf sldNum="1" hdr="0" ftr="1" dt="1"/>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8" name="Footer Placeholder 7"/>
          <p:cNvSpPr>
            <a:spLocks noGrp="1"/>
          </p:cNvSpPr>
          <p:nvPr>
            <p:ph type="ftr" sz="quarter" idx="11"/>
          </p:nvPr>
        </p:nvSpPr>
        <p:spPr>
          <a:xfrm>
            <a:off x="3383280" y="6565392"/>
            <a:ext cx="5760720" cy="256032"/>
          </a:xfrm>
        </p:spPr>
        <p:txBody>
          <a:bodyPr wrap="none"/>
          <a:lstStyle/>
          <a:p>
            <a:pPr algn="ctr"/>
            <a:endParaRPr lang="en-US"/>
          </a:p>
        </p:txBody>
      </p:sp>
      <p:sp>
        <p:nvSpPr>
          <p:cNvPr id="9" name="Slide Number Placeholder 8"/>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hf sldNum="1" hdr="0" ftr="1" dt="1"/>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4" name="Footer Placeholder 3"/>
          <p:cNvSpPr>
            <a:spLocks noGrp="1"/>
          </p:cNvSpPr>
          <p:nvPr>
            <p:ph type="ftr" sz="quarter" idx="11"/>
          </p:nvPr>
        </p:nvSpPr>
        <p:spPr>
          <a:xfrm>
            <a:off x="3383280" y="6565392"/>
            <a:ext cx="5760720" cy="256032"/>
          </a:xfrm>
        </p:spPr>
        <p:txBody>
          <a:bodyPr wrap="none"/>
          <a:lstStyle/>
          <a:p>
            <a:pPr algn="ctr"/>
            <a:endParaRPr lang="en-US"/>
          </a:p>
        </p:txBody>
      </p:sp>
      <p:sp>
        <p:nvSpPr>
          <p:cNvPr id="5" name="Slide Number Placeholder 4"/>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hf sldNum="1" hdr="0" ftr="1" dt="1"/>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3" name="Footer Placeholder 2"/>
          <p:cNvSpPr>
            <a:spLocks noGrp="1"/>
          </p:cNvSpPr>
          <p:nvPr>
            <p:ph type="ftr" sz="quarter" idx="11"/>
          </p:nvPr>
        </p:nvSpPr>
        <p:spPr>
          <a:xfrm>
            <a:off x="3383280" y="6565392"/>
            <a:ext cx="5760720" cy="256032"/>
          </a:xfrm>
        </p:spPr>
        <p:txBody>
          <a:bodyPr wrap="none"/>
          <a:lstStyle/>
          <a:p>
            <a:pPr algn="ctr"/>
            <a:endParaRPr lang="en-US"/>
          </a:p>
        </p:txBody>
      </p:sp>
      <p:sp>
        <p:nvSpPr>
          <p:cNvPr id="4" name="Slide Number Placeholder 3"/>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hf sldNum="1" hdr="0" ftr="1" dt="1"/>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6" name="Footer Placeholder 5"/>
          <p:cNvSpPr>
            <a:spLocks noGrp="1"/>
          </p:cNvSpPr>
          <p:nvPr>
            <p:ph type="ftr" sz="quarter" idx="11"/>
          </p:nvPr>
        </p:nvSpPr>
        <p:spPr>
          <a:xfrm>
            <a:off x="3383280" y="6565392"/>
            <a:ext cx="5760720" cy="256032"/>
          </a:xfrm>
        </p:spPr>
        <p:txBody>
          <a:bodyPr wrap="none"/>
          <a:lstStyle/>
          <a:p>
            <a:pPr algn="ctr"/>
            <a:endParaRPr lang="en-US"/>
          </a:p>
        </p:txBody>
      </p:sp>
      <p:sp>
        <p:nvSpPr>
          <p:cNvPr id="7" name="Slide Number Placeholder 6"/>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hf sldNum="1" hdr="0" ftr="1" dt="1"/>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6" name="Footer Placeholder 5"/>
          <p:cNvSpPr>
            <a:spLocks noGrp="1"/>
          </p:cNvSpPr>
          <p:nvPr>
            <p:ph type="ftr" sz="quarter" idx="11"/>
          </p:nvPr>
        </p:nvSpPr>
        <p:spPr>
          <a:xfrm>
            <a:off x="3383280" y="6565392"/>
            <a:ext cx="5760720" cy="256032"/>
          </a:xfrm>
        </p:spPr>
        <p:txBody>
          <a:bodyPr wrap="none"/>
          <a:lstStyle/>
          <a:p>
            <a:pPr algn="ctr"/>
            <a:endParaRPr lang="en-US"/>
          </a:p>
        </p:txBody>
      </p:sp>
      <p:sp>
        <p:nvSpPr>
          <p:cNvPr id="7" name="Slide Number Placeholder 6"/>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hf sldNum="1" hdr="0" ftr="1" dt="1"/>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hf sldNum="1" hdr="0" ftr="1" dt="1"/>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hf sldNum="1" hdr="0" ftr="1" dt="1"/>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92608" y="6565392"/>
            <a:ext cx="2926080" cy="256032"/>
          </a:xfrm>
          <a:prstGeom prst="rect">
            <a:avLst/>
          </a:prstGeom>
        </p:spPr>
        <p:txBody>
          <a:bodyPr vert="horz" lIns="91440" tIns="45720" rIns="91440" bIns="45720" rtlCol="0" anchor="ctr" wrap="none"/>
          <a:lstStyle>
            <a:lvl1pPr algn="l">
              <a:defRPr sz="1200">
                <a:solidFill>
                  <a:schemeClr val="tx1">
                    <a:tint val="75000"/>
                  </a:schemeClr>
                </a:solidFill>
              </a:defRPr>
            </a:lvl1pPr>
          </a:lstStyle>
          <a:p>
            <a:pPr algn="l"/>
            <a:fld id="{5BCAD085-E8A6-8845-BD4E-CB4CCA059FC4}" type="datetime3">
              <a:rPr lang="en-US" smtClean="0"/>
              <a:t>09/07/2026</a:t>
            </a:fld>
            <a:endParaRPr lang="en-US"/>
          </a:p>
        </p:txBody>
      </p:sp>
      <p:sp>
        <p:nvSpPr>
          <p:cNvPr id="5" name="Footer Placeholder 4"/>
          <p:cNvSpPr>
            <a:spLocks noGrp="1"/>
          </p:cNvSpPr>
          <p:nvPr>
            <p:ph type="ftr" sz="quarter" idx="3"/>
          </p:nvPr>
        </p:nvSpPr>
        <p:spPr>
          <a:xfrm>
            <a:off x="3383280" y="6565392"/>
            <a:ext cx="5760720" cy="256032"/>
          </a:xfrm>
          <a:prstGeom prst="rect">
            <a:avLst/>
          </a:prstGeom>
        </p:spPr>
        <p:txBody>
          <a:bodyPr vert="horz" lIns="91440" tIns="45720" rIns="91440" bIns="45720" rtlCol="0" anchor="ctr" wrap="none"/>
          <a:lstStyle>
            <a:lvl1pPr algn="ctr">
              <a:defRPr sz="1200">
                <a:solidFill>
                  <a:schemeClr val="tx1">
                    <a:tint val="75000"/>
                  </a:schemeClr>
                </a:solidFill>
              </a:defRPr>
            </a:lvl1pPr>
          </a:lstStyle>
          <a:p>
            <a:pPr algn="ctr"/>
            <a:endParaRPr lang="en-US"/>
          </a:p>
        </p:txBody>
      </p:sp>
      <p:sp>
        <p:nvSpPr>
          <p:cNvPr id="6" name="Slide Number Placeholder 5"/>
          <p:cNvSpPr>
            <a:spLocks noGrp="1"/>
          </p:cNvSpPr>
          <p:nvPr>
            <p:ph type="sldNum" sz="quarter" idx="4"/>
          </p:nvPr>
        </p:nvSpPr>
        <p:spPr>
          <a:xfrm>
            <a:off x="11475720" y="6565392"/>
            <a:ext cx="475488" cy="256032"/>
          </a:xfrm>
          <a:prstGeom prst="rect">
            <a:avLst/>
          </a:prstGeom>
        </p:spPr>
        <p:txBody>
          <a:bodyPr vert="horz" lIns="91440" tIns="45720" rIns="91440" bIns="45720" rtlCol="0" anchor="ctr" wrap="none"/>
          <a:lstStyle>
            <a:lvl1pPr algn="r">
              <a:defRPr sz="1200">
                <a:solidFill>
                  <a:schemeClr val="tx1">
                    <a:tint val="75000"/>
                  </a:schemeClr>
                </a:solidFill>
              </a:defRPr>
            </a:lvl1pPr>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hf sldNum="1" hdr="0" ftr="1" dt="1"/>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uas-logo.png"/>
          <p:cNvPicPr>
            <a:picLocks noChangeAspect="1"/>
          </p:cNvPicPr>
          <p:nvPr/>
        </p:nvPicPr>
        <p:blipFill>
          <a:blip r:embed="rId2"/>
          <a:stretch>
            <a:fillRect/>
          </a:stretch>
        </p:blipFill>
        <p:spPr>
          <a:xfrm>
            <a:off x="365760" y="201168"/>
            <a:ext cx="2880360" cy="914400"/>
          </a:xfrm>
          <a:prstGeom prst="rect">
            <a:avLst/>
          </a:prstGeom>
        </p:spPr>
      </p:pic>
      <p:pic>
        <p:nvPicPr>
          <p:cNvPr id="6" name="Picture 5" descr="campus-about.jpg"/>
          <p:cNvPicPr>
            <a:picLocks noChangeAspect="1"/>
          </p:cNvPicPr>
          <p:nvPr/>
        </p:nvPicPr>
        <p:blipFill>
          <a:blip r:embed="rId3"/>
          <a:stretch>
            <a:fillRect/>
          </a:stretch>
        </p:blipFill>
        <p:spPr>
          <a:xfrm>
            <a:off x="7818120" y="201168"/>
            <a:ext cx="4023360" cy="1965960"/>
          </a:xfrm>
          <a:prstGeom prst="rect">
            <a:avLst/>
          </a:prstGeom>
        </p:spPr>
      </p:pic>
      <p:sp>
        <p:nvSpPr>
          <p:cNvPr id="7" name="TextBox 6"/>
          <p:cNvSpPr txBox="1"/>
          <p:nvPr/>
        </p:nvSpPr>
        <p:spPr>
          <a:xfrm>
            <a:off x="365760" y="1170432"/>
            <a:ext cx="7223760" cy="502920"/>
          </a:xfrm>
          <a:prstGeom prst="rect">
            <a:avLst/>
          </a:prstGeom>
          <a:noFill/>
        </p:spPr>
        <p:txBody>
          <a:bodyPr wrap="square">
            <a:spAutoFit/>
          </a:bodyPr>
          <a:lstStyle/>
          <a:p>
            <a:pPr algn="l"/>
            <a:r>
              <a:rPr sz="1000" b="0">
                <a:solidFill>
                  <a:srgbClr val="3A1C64"/>
                </a:solidFill>
                <a:latin typeface="Calibri"/>
              </a:rPr>
              <a:t>[Established as a Private University under an Act of Government of Karnataka vide Notification No. ED103UNE 2013 Dated 30 December 2013]</a:t>
            </a:r>
          </a:p>
        </p:txBody>
      </p:sp>
      <p:sp>
        <p:nvSpPr>
          <p:cNvPr id="8" name="TextBox 7"/>
          <p:cNvSpPr txBox="1"/>
          <p:nvPr/>
        </p:nvSpPr>
        <p:spPr>
          <a:xfrm>
            <a:off x="365760" y="1664208"/>
            <a:ext cx="7223760" cy="658368"/>
          </a:xfrm>
          <a:prstGeom prst="rect">
            <a:avLst/>
          </a:prstGeom>
          <a:noFill/>
        </p:spPr>
        <p:txBody>
          <a:bodyPr wrap="square">
            <a:spAutoFit/>
          </a:bodyPr>
          <a:lstStyle/>
          <a:p>
            <a:pPr algn="l"/>
            <a:r>
              <a:rPr sz="1200" b="1">
                <a:solidFill>
                  <a:srgbClr val="1B1464"/>
                </a:solidFill>
                <a:latin typeface="Calibri"/>
              </a:rPr>
              <a:t>Recognized by UGC U/S 2(f)of the UGC Act, 1956
Gnanagangothri Campus, New BEL Road, MSR Nagar, Bangalore – 560054
Office of Research and Innovations</a:t>
            </a:r>
          </a:p>
        </p:txBody>
      </p:sp>
      <p:sp>
        <p:nvSpPr>
          <p:cNvPr id="9" name="TextBox 8"/>
          <p:cNvSpPr txBox="1"/>
          <p:nvPr/>
        </p:nvSpPr>
        <p:spPr>
          <a:xfrm>
            <a:off x="365760" y="2468880"/>
            <a:ext cx="11430000" cy="347472"/>
          </a:xfrm>
          <a:prstGeom prst="rect">
            <a:avLst/>
          </a:prstGeom>
          <a:noFill/>
        </p:spPr>
        <p:txBody>
          <a:bodyPr wrap="square">
            <a:spAutoFit/>
          </a:bodyPr>
          <a:lstStyle/>
          <a:p>
            <a:pPr algn="ctr"/>
            <a:r>
              <a:rPr sz="1600" b="1">
                <a:solidFill>
                  <a:srgbClr val="3A1C64"/>
                </a:solidFill>
                <a:latin typeface="Calibri"/>
              </a:rPr>
              <a:t>PHD Research Problem Formulation Presentation</a:t>
            </a:r>
          </a:p>
        </p:txBody>
      </p:sp>
      <p:sp>
        <p:nvSpPr>
          <p:cNvPr id="10" name="TextBox 9"/>
          <p:cNvSpPr txBox="1"/>
          <p:nvPr/>
        </p:nvSpPr>
        <p:spPr>
          <a:xfrm>
            <a:off x="457200" y="2852928"/>
            <a:ext cx="11247120" cy="868680"/>
          </a:xfrm>
          <a:prstGeom prst="rect">
            <a:avLst/>
          </a:prstGeom>
          <a:noFill/>
        </p:spPr>
        <p:txBody>
          <a:bodyPr wrap="square">
            <a:spAutoFit/>
          </a:bodyPr>
          <a:lstStyle/>
          <a:p>
            <a:pPr algn="ctr"/>
            <a:r>
              <a:rPr sz="2600" b="1">
                <a:solidFill>
                  <a:srgbClr val="1B1464"/>
                </a:solidFill>
                <a:latin typeface="Calibri"/>
              </a:rPr>
              <a:t>Adaptive Context Reasoning System (ACRS)</a:t>
            </a:r>
          </a:p>
        </p:txBody>
      </p:sp>
      <p:sp>
        <p:nvSpPr>
          <p:cNvPr id="11" name="TextBox 10"/>
          <p:cNvSpPr txBox="1"/>
          <p:nvPr/>
        </p:nvSpPr>
        <p:spPr>
          <a:xfrm>
            <a:off x="731520" y="3730752"/>
            <a:ext cx="10698480" cy="365760"/>
          </a:xfrm>
          <a:prstGeom prst="rect">
            <a:avLst/>
          </a:prstGeom>
          <a:noFill/>
        </p:spPr>
        <p:txBody>
          <a:bodyPr wrap="square">
            <a:spAutoFit/>
          </a:bodyPr>
          <a:lstStyle/>
          <a:p>
            <a:pPr algn="ctr"/>
            <a:r>
              <a:rPr sz="1400" b="0">
                <a:solidFill>
                  <a:srgbClr val="5A5A5A"/>
                </a:solidFill>
                <a:latin typeface="Calibri"/>
              </a:rPr>
              <a:t>A Structural Orchestration Layer for Multi-Agent LLM Ecosystems</a:t>
            </a:r>
          </a:p>
        </p:txBody>
      </p:sp>
      <p:sp>
        <p:nvSpPr>
          <p:cNvPr id="12" name="TextBox 11"/>
          <p:cNvSpPr txBox="1"/>
          <p:nvPr/>
        </p:nvSpPr>
        <p:spPr>
          <a:xfrm>
            <a:off x="731520" y="4133087"/>
            <a:ext cx="10698480" cy="1051560"/>
          </a:xfrm>
          <a:prstGeom prst="rect">
            <a:avLst/>
          </a:prstGeom>
          <a:noFill/>
        </p:spPr>
        <p:txBody>
          <a:bodyPr wrap="square">
            <a:spAutoFit/>
          </a:bodyPr>
          <a:lstStyle/>
          <a:p>
            <a:pPr algn="ctr"/>
            <a:r>
              <a:rPr sz="1400" b="0">
                <a:solidFill>
                  <a:srgbClr val="1A1A1A"/>
                </a:solidFill>
                <a:latin typeface="Calibri"/>
              </a:rPr>
              <a:t>By : Jenisha T
(Reg. No. 24ETRP720001)
Supervisor: Dr. Jyothi A P
Department of Computer Science and Engineering
Faculty of Engineering and Technology, MSRUAS</a:t>
            </a:r>
          </a:p>
        </p:txBody>
      </p:sp>
      <p:sp>
        <p:nvSpPr>
          <p:cNvPr id="13" name="Rectangle 12"/>
          <p:cNvSpPr/>
          <p:nvPr/>
        </p:nvSpPr>
        <p:spPr>
          <a:xfrm>
            <a:off x="4160520" y="5285232"/>
            <a:ext cx="3840480" cy="292608"/>
          </a:xfrm>
          <a:prstGeom prst="rect">
            <a:avLst/>
          </a:prstGeom>
          <a:noFill/>
          <a:ln>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5285232"/>
            <a:ext cx="3840480" cy="292608"/>
          </a:xfrm>
          <a:prstGeom prst="rect">
            <a:avLst/>
          </a:prstGeom>
          <a:noFill/>
        </p:spPr>
        <p:txBody>
          <a:bodyPr wrap="square">
            <a:spAutoFit/>
          </a:bodyPr>
          <a:lstStyle/>
          <a:p>
            <a:pPr algn="ctr"/>
            <a:r>
              <a:rPr sz="1100" b="1">
                <a:solidFill>
                  <a:srgbClr val="3A1C64"/>
                </a:solidFill>
                <a:latin typeface="Calibri"/>
              </a:rPr>
              <a:t>WWW.MSRUAS.AC.IN</a:t>
            </a:r>
          </a:p>
        </p:txBody>
      </p:sp>
      <p:sp>
        <p:nvSpPr>
          <p:cNvPr id="4001" name="Automatic Date 1"/>
          <p:cNvSpPr txBox="1"/>
          <p:nvPr/>
        </p:nvSpPr>
        <p:spPr>
          <a:xfrm>
            <a:off x="255016" y="6565900"/>
            <a:ext cx="3108960" cy="255016"/>
          </a:xfrm>
          <a:prstGeom prst="rect">
            <a:avLst/>
          </a:prstGeom>
          <a:noFill/>
        </p:spPr>
        <p:txBody>
          <a:bodyPr wrap="none" lIns="0" tIns="0" rIns="0" bIns="0" anchor="ctr"/>
          <a:lstStyle/>
          <a:p>
            <a:pPr algn="l"/>
            <a:fld id="{654358f5-caf0-4de5-b717-88ffe6f87151}" type="datetime3">
              <a:rPr lang="en-GB" sz="1000" dirty="0">
                <a:solidFill>
                  <a:srgbClr val="9AA3AE"/>
                </a:solidFill>
                <a:latin typeface="Calibri"/>
              </a:rPr>
              <a:t>09/07/2026</a:t>
            </a:fld>
            <a:endParaRPr lang="en-GB" sz="1000"/>
          </a:p>
        </p:txBody>
      </p:sp>
      <p:sp>
        <p:nvSpPr>
          <p:cNvPr id="5001" name="Automatic Slide Number 1"/>
          <p:cNvSpPr txBox="1"/>
          <p:nvPr/>
        </p:nvSpPr>
        <p:spPr>
          <a:xfrm>
            <a:off x="11475720" y="6510528"/>
            <a:ext cx="475488" cy="256032"/>
          </a:xfrm>
          <a:prstGeom prst="rect">
            <a:avLst/>
          </a:prstGeom>
          <a:noFill/>
        </p:spPr>
        <p:txBody>
          <a:bodyPr wrap="none" lIns="0" tIns="0" rIns="0" bIns="0" anchor="ctr"/>
          <a:lstStyle/>
          <a:p>
            <a:pPr algn="ctr"/>
            <a:fld id="{842b063f-fb15-41c6-9987-3afaf94517f3}" type="slidenum">
              <a:rPr lang="en-GB" sz="1200" b="1" dirty="0">
                <a:solidFill>
                  <a:srgbClr val="FFFFFF"/>
                </a:solidFill>
                <a:latin typeface="Calibri"/>
              </a:rPr>
              <a:t>1</a:t>
            </a:fld>
            <a:endParaRPr lang="en-GB" sz="1200"/>
          </a:p>
        </p:txBody>
      </p:sp>
    </p:spTree>
  </p:cSld>
  <p:clrMapOvr>
    <a:masterClrMapping/>
  </p:clrMapOvr>
  <p:hf sldNum="1" hdr="0" ftr="1" dt="1"/>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32688"/>
            <a:ext cx="8961120" cy="36576"/>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24128"/>
            <a:ext cx="9052560" cy="384048"/>
          </a:xfrm>
          <a:prstGeom prst="rect">
            <a:avLst/>
          </a:prstGeom>
          <a:noFill/>
        </p:spPr>
        <p:txBody>
          <a:bodyPr wrap="square">
            <a:spAutoFit/>
          </a:bodyPr>
          <a:lstStyle/>
          <a:p>
            <a:pPr algn="l"/>
            <a:r>
              <a:rPr sz="1000" b="0">
                <a:solidFill>
                  <a:srgbClr val="3A1C64"/>
                </a:solidFill>
                <a:latin typeface="Calibri"/>
              </a:rPr>
              <a:t>[Established as a Private University under an Act of Government of Karnataka vide Notification No. ED103UNE 2013 Dated 30 December 2013]</a:t>
            </a:r>
          </a:p>
        </p:txBody>
      </p:sp>
      <p:sp>
        <p:nvSpPr>
          <p:cNvPr id="8" name="TextBox 7"/>
          <p:cNvSpPr txBox="1"/>
          <p:nvPr/>
        </p:nvSpPr>
        <p:spPr>
          <a:xfrm>
            <a:off x="320040" y="1389888"/>
            <a:ext cx="9052560" cy="438912"/>
          </a:xfrm>
          <a:prstGeom prst="rect">
            <a:avLst/>
          </a:prstGeom>
          <a:noFill/>
        </p:spPr>
        <p:txBody>
          <a:bodyPr wrap="square">
            <a:spAutoFit/>
          </a:bodyPr>
          <a:lstStyle/>
          <a:p>
            <a:pPr algn="ctr"/>
            <a:r>
              <a:rPr sz="1300" b="1">
                <a:solidFill>
                  <a:srgbClr val="1B1464"/>
                </a:solidFill>
                <a:latin typeface="Calibri"/>
              </a:rPr>
              <a:t>Recognized by UGC U/S 2(f)of the UGC Act, 1956
Office of Research and Innovations</a:t>
            </a:r>
          </a:p>
        </p:txBody>
      </p:sp>
      <p:graphicFrame>
        <p:nvGraphicFramePr>
          <p:cNvPr id="9" name="Table 8"/>
          <p:cNvGraphicFramePr>
            <a:graphicFrameLocks noGrp="1"/>
          </p:cNvGraphicFramePr>
          <p:nvPr/>
        </p:nvGraphicFramePr>
        <p:xfrm>
          <a:off x="320040" y="1920240"/>
          <a:ext cx="11521439" cy="4206240"/>
        </p:xfrm>
        <a:graphic>
          <a:graphicData uri="http://schemas.openxmlformats.org/drawingml/2006/table">
            <a:tbl>
              <a:tblPr firstRow="1" bandRow="1">
                <a:tableStyleId>{5C22544A-7EE6-4342-B048-85BDC9FD1C3A}</a:tableStyleId>
              </a:tblPr>
              <a:tblGrid>
                <a:gridCol w="3686860"/>
                <a:gridCol w="7834579"/>
              </a:tblGrid>
              <a:tr h="382385">
                <a:tc>
                  <a:txBody>
                    <a:bodyPr/>
                    <a:lstStyle/>
                    <a:p>
                      <a:r>
                        <a:rPr b="1" sz="1100">
                          <a:solidFill>
                            <a:srgbClr val="FFFFFF"/>
                          </a:solidFill>
                          <a:latin typeface="Calibri"/>
                        </a:rPr>
                        <a:t>Attribute</a:t>
                      </a:r>
                    </a:p>
                  </a:txBody>
                  <a:tcPr>
                    <a:solidFill>
                      <a:srgbClr val="3A1C64"/>
                    </a:solidFill>
                  </a:tcPr>
                </a:tc>
                <a:tc>
                  <a:txBody>
                    <a:bodyPr/>
                    <a:lstStyle/>
                    <a:p>
                      <a:r>
                        <a:rPr b="1" sz="1100">
                          <a:solidFill>
                            <a:srgbClr val="FFFFFF"/>
                          </a:solidFill>
                          <a:latin typeface="Calibri"/>
                        </a:rPr>
                        <a:t>Details</a:t>
                      </a:r>
                    </a:p>
                  </a:txBody>
                  <a:tcPr>
                    <a:solidFill>
                      <a:srgbClr val="3A1C64"/>
                    </a:solidFill>
                  </a:tcPr>
                </a:tc>
              </a:tr>
              <a:tr h="382385">
                <a:tc>
                  <a:txBody>
                    <a:bodyPr/>
                    <a:lstStyle/>
                    <a:p>
                      <a:r>
                        <a:rPr sz="1000" b="1">
                          <a:solidFill>
                            <a:srgbClr val="3A1C64"/>
                          </a:solidFill>
                          <a:latin typeface="Calibri"/>
                        </a:rPr>
                        <a:t>Full Name</a:t>
                      </a:r>
                    </a:p>
                  </a:txBody>
                  <a:tcPr>
                    <a:solidFill>
                      <a:srgbClr val="E9EFF7"/>
                    </a:solidFill>
                  </a:tcPr>
                </a:tc>
                <a:tc>
                  <a:txBody>
                    <a:bodyPr/>
                    <a:lstStyle/>
                    <a:p>
                      <a:r>
                        <a:rPr sz="1000">
                          <a:solidFill>
                            <a:srgbClr val="1A1A1A"/>
                          </a:solidFill>
                          <a:latin typeface="Calibri"/>
                        </a:rPr>
                        <a:t>Jenisha T</a:t>
                      </a:r>
                    </a:p>
                  </a:txBody>
                  <a:tcPr>
                    <a:solidFill>
                      <a:srgbClr val="E9EFF7"/>
                    </a:solidFill>
                  </a:tcPr>
                </a:tc>
              </a:tr>
              <a:tr h="382385">
                <a:tc>
                  <a:txBody>
                    <a:bodyPr/>
                    <a:lstStyle/>
                    <a:p>
                      <a:r>
                        <a:rPr sz="1000" b="1">
                          <a:solidFill>
                            <a:srgbClr val="3A1C64"/>
                          </a:solidFill>
                          <a:latin typeface="Calibri"/>
                        </a:rPr>
                        <a:t>Registration Number</a:t>
                      </a:r>
                    </a:p>
                  </a:txBody>
                  <a:tcPr>
                    <a:solidFill>
                      <a:srgbClr val="E9EFF7"/>
                    </a:solidFill>
                  </a:tcPr>
                </a:tc>
                <a:tc>
                  <a:txBody>
                    <a:bodyPr/>
                    <a:lstStyle/>
                    <a:p>
                      <a:r>
                        <a:rPr sz="1000">
                          <a:solidFill>
                            <a:srgbClr val="1A1A1A"/>
                          </a:solidFill>
                          <a:latin typeface="Calibri"/>
                        </a:rPr>
                        <a:t>24ETRP720001</a:t>
                      </a:r>
                    </a:p>
                  </a:txBody>
                  <a:tcPr>
                    <a:solidFill>
                      <a:srgbClr val="E9EFF7"/>
                    </a:solidFill>
                  </a:tcPr>
                </a:tc>
              </a:tr>
              <a:tr h="382385">
                <a:tc>
                  <a:txBody>
                    <a:bodyPr/>
                    <a:lstStyle/>
                    <a:p>
                      <a:r>
                        <a:rPr sz="1000" b="1">
                          <a:solidFill>
                            <a:srgbClr val="3A1C64"/>
                          </a:solidFill>
                          <a:latin typeface="Calibri"/>
                        </a:rPr>
                        <a:t>Date of Registration</a:t>
                      </a:r>
                    </a:p>
                  </a:txBody>
                  <a:tcPr>
                    <a:solidFill>
                      <a:srgbClr val="E9EFF7"/>
                    </a:solidFill>
                  </a:tcPr>
                </a:tc>
                <a:tc>
                  <a:txBody>
                    <a:bodyPr/>
                    <a:lstStyle/>
                    <a:p>
                      <a:r>
                        <a:rPr sz="1000">
                          <a:solidFill>
                            <a:srgbClr val="1A1A1A"/>
                          </a:solidFill>
                          <a:latin typeface="Calibri"/>
                        </a:rPr>
                        <a:t>04-Sept-2024</a:t>
                      </a:r>
                    </a:p>
                  </a:txBody>
                  <a:tcPr>
                    <a:solidFill>
                      <a:srgbClr val="E9EFF7"/>
                    </a:solidFill>
                  </a:tcPr>
                </a:tc>
              </a:tr>
              <a:tr h="382385">
                <a:tc>
                  <a:txBody>
                    <a:bodyPr/>
                    <a:lstStyle/>
                    <a:p>
                      <a:r>
                        <a:rPr sz="1000" b="1">
                          <a:solidFill>
                            <a:srgbClr val="3A1C64"/>
                          </a:solidFill>
                          <a:latin typeface="Calibri"/>
                        </a:rPr>
                        <a:t>Department of</a:t>
                      </a:r>
                    </a:p>
                  </a:txBody>
                  <a:tcPr>
                    <a:solidFill>
                      <a:srgbClr val="E9EFF7"/>
                    </a:solidFill>
                  </a:tcPr>
                </a:tc>
                <a:tc>
                  <a:txBody>
                    <a:bodyPr/>
                    <a:lstStyle/>
                    <a:p>
                      <a:r>
                        <a:rPr sz="1000">
                          <a:solidFill>
                            <a:srgbClr val="1A1A1A"/>
                          </a:solidFill>
                          <a:latin typeface="Calibri"/>
                        </a:rPr>
                        <a:t>Computer Science and Engineering</a:t>
                      </a:r>
                    </a:p>
                  </a:txBody>
                  <a:tcPr>
                    <a:solidFill>
                      <a:srgbClr val="E9EFF7"/>
                    </a:solidFill>
                  </a:tcPr>
                </a:tc>
              </a:tr>
              <a:tr h="382385">
                <a:tc>
                  <a:txBody>
                    <a:bodyPr/>
                    <a:lstStyle/>
                    <a:p>
                      <a:r>
                        <a:rPr sz="1000" b="1">
                          <a:solidFill>
                            <a:srgbClr val="3A1C64"/>
                          </a:solidFill>
                          <a:latin typeface="Calibri"/>
                        </a:rPr>
                        <a:t>Faculty/School of</a:t>
                      </a:r>
                    </a:p>
                  </a:txBody>
                  <a:tcPr>
                    <a:solidFill>
                      <a:srgbClr val="E9EFF7"/>
                    </a:solidFill>
                  </a:tcPr>
                </a:tc>
                <a:tc>
                  <a:txBody>
                    <a:bodyPr/>
                    <a:lstStyle/>
                    <a:p>
                      <a:r>
                        <a:rPr sz="1000">
                          <a:solidFill>
                            <a:srgbClr val="1A1A1A"/>
                          </a:solidFill>
                          <a:latin typeface="Calibri"/>
                        </a:rPr>
                        <a:t>FET (Faculty of Engineering and Technology)</a:t>
                      </a:r>
                    </a:p>
                  </a:txBody>
                  <a:tcPr>
                    <a:solidFill>
                      <a:srgbClr val="E9EFF7"/>
                    </a:solidFill>
                  </a:tcPr>
                </a:tc>
              </a:tr>
              <a:tr h="382385">
                <a:tc>
                  <a:txBody>
                    <a:bodyPr/>
                    <a:lstStyle/>
                    <a:p>
                      <a:r>
                        <a:rPr sz="1000" b="1">
                          <a:solidFill>
                            <a:srgbClr val="3A1C64"/>
                          </a:solidFill>
                          <a:latin typeface="Calibri"/>
                        </a:rPr>
                        <a:t>Course Type</a:t>
                      </a:r>
                    </a:p>
                  </a:txBody>
                  <a:tcPr>
                    <a:solidFill>
                      <a:srgbClr val="E9EFF7"/>
                    </a:solidFill>
                  </a:tcPr>
                </a:tc>
                <a:tc>
                  <a:txBody>
                    <a:bodyPr/>
                    <a:lstStyle/>
                    <a:p>
                      <a:r>
                        <a:rPr sz="1000">
                          <a:solidFill>
                            <a:srgbClr val="1A1A1A"/>
                          </a:solidFill>
                          <a:latin typeface="Calibri"/>
                        </a:rPr>
                        <a:t>Part Time</a:t>
                      </a:r>
                    </a:p>
                  </a:txBody>
                  <a:tcPr>
                    <a:solidFill>
                      <a:srgbClr val="E9EFF7"/>
                    </a:solidFill>
                  </a:tcPr>
                </a:tc>
              </a:tr>
              <a:tr h="382385">
                <a:tc>
                  <a:txBody>
                    <a:bodyPr/>
                    <a:lstStyle/>
                    <a:p>
                      <a:r>
                        <a:rPr sz="1000" b="1">
                          <a:solidFill>
                            <a:srgbClr val="3A1C64"/>
                          </a:solidFill>
                          <a:latin typeface="Calibri"/>
                        </a:rPr>
                        <a:t>Contact Address and Phone Numbers</a:t>
                      </a:r>
                    </a:p>
                  </a:txBody>
                  <a:tcPr>
                    <a:solidFill>
                      <a:srgbClr val="E9EFF7"/>
                    </a:solidFill>
                  </a:tcPr>
                </a:tc>
                <a:tc>
                  <a:txBody>
                    <a:bodyPr/>
                    <a:lstStyle/>
                    <a:p>
                      <a:r>
                        <a:rPr sz="1000">
                          <a:solidFill>
                            <a:srgbClr val="1A1A1A"/>
                          </a:solidFill>
                          <a:latin typeface="Calibri"/>
                        </a:rPr>
                        <a:t>#123, MSR Nagar, Bangalore. Phone: +91-XXXXXXXXXX</a:t>
                      </a:r>
                    </a:p>
                  </a:txBody>
                  <a:tcPr>
                    <a:solidFill>
                      <a:srgbClr val="E9EFF7"/>
                    </a:solidFill>
                  </a:tcPr>
                </a:tc>
              </a:tr>
              <a:tr h="382385">
                <a:tc>
                  <a:txBody>
                    <a:bodyPr/>
                    <a:lstStyle/>
                    <a:p>
                      <a:r>
                        <a:rPr sz="1000" b="1">
                          <a:solidFill>
                            <a:srgbClr val="3A1C64"/>
                          </a:solidFill>
                          <a:latin typeface="Calibri"/>
                        </a:rPr>
                        <a:t>Email Address</a:t>
                      </a:r>
                    </a:p>
                  </a:txBody>
                  <a:tcPr>
                    <a:solidFill>
                      <a:srgbClr val="E9EFF7"/>
                    </a:solidFill>
                  </a:tcPr>
                </a:tc>
                <a:tc>
                  <a:txBody>
                    <a:bodyPr/>
                    <a:lstStyle/>
                    <a:p>
                      <a:r>
                        <a:rPr sz="1000">
                          <a:solidFill>
                            <a:srgbClr val="1A1A1A"/>
                          </a:solidFill>
                          <a:latin typeface="Calibri"/>
                        </a:rPr>
                        <a:t>jenisha.t@msruas.ac.in</a:t>
                      </a:r>
                    </a:p>
                  </a:txBody>
                  <a:tcPr>
                    <a:solidFill>
                      <a:srgbClr val="E9EFF7"/>
                    </a:solidFill>
                  </a:tcPr>
                </a:tc>
              </a:tr>
              <a:tr h="382385">
                <a:tc>
                  <a:txBody>
                    <a:bodyPr/>
                    <a:lstStyle/>
                    <a:p>
                      <a:r>
                        <a:rPr sz="1000" b="1">
                          <a:solidFill>
                            <a:srgbClr val="3A1C64"/>
                          </a:solidFill>
                          <a:latin typeface="Calibri"/>
                        </a:rPr>
                        <a:t>Research Topic</a:t>
                      </a:r>
                    </a:p>
                  </a:txBody>
                  <a:tcPr>
                    <a:solidFill>
                      <a:srgbClr val="E9EFF7"/>
                    </a:solidFill>
                  </a:tcPr>
                </a:tc>
                <a:tc>
                  <a:txBody>
                    <a:bodyPr/>
                    <a:lstStyle/>
                    <a:p>
                      <a:r>
                        <a:rPr sz="1000">
                          <a:solidFill>
                            <a:srgbClr val="1A1A1A"/>
                          </a:solidFill>
                          <a:latin typeface="Calibri"/>
                        </a:rPr>
                        <a:t>Adaptive Context Reasoning System (ACRS)</a:t>
                      </a:r>
                    </a:p>
                  </a:txBody>
                  <a:tcPr>
                    <a:solidFill>
                      <a:srgbClr val="E9EFF7"/>
                    </a:solidFill>
                  </a:tcPr>
                </a:tc>
              </a:tr>
              <a:tr h="382390">
                <a:tc>
                  <a:txBody>
                    <a:bodyPr/>
                    <a:lstStyle/>
                    <a:p>
                      <a:r>
                        <a:rPr sz="1000" b="1">
                          <a:solidFill>
                            <a:srgbClr val="3A1C64"/>
                          </a:solidFill>
                          <a:latin typeface="Calibri"/>
                        </a:rPr>
                        <a:t>Supervisors &amp; Advisors</a:t>
                      </a:r>
                    </a:p>
                  </a:txBody>
                  <a:tcPr>
                    <a:solidFill>
                      <a:srgbClr val="E9EFF7"/>
                    </a:solidFill>
                  </a:tcPr>
                </a:tc>
                <a:tc>
                  <a:txBody>
                    <a:bodyPr/>
                    <a:lstStyle/>
                    <a:p>
                      <a:r>
                        <a:rPr sz="1000">
                          <a:solidFill>
                            <a:srgbClr val="1A1A1A"/>
                          </a:solidFill>
                          <a:latin typeface="Calibri"/>
                        </a:rPr>
                        <a:t>Dr. Jyothi A P</a:t>
                      </a:r>
                    </a:p>
                  </a:txBody>
                  <a:tcPr>
                    <a:solidFill>
                      <a:srgbClr val="E9EFF7"/>
                    </a:solidFill>
                  </a:tcPr>
                </a:tc>
              </a:tr>
            </a:tbl>
          </a:graphicData>
        </a:graphic>
      </p:graphicFrame>
      <p:sp>
        <p:nvSpPr>
          <p:cNvPr id="4002" name="Automatic Date 2"/>
          <p:cNvSpPr txBox="1"/>
          <p:nvPr/>
        </p:nvSpPr>
        <p:spPr>
          <a:xfrm>
            <a:off x="255016" y="6565900"/>
            <a:ext cx="3108960" cy="255016"/>
          </a:xfrm>
          <a:prstGeom prst="rect">
            <a:avLst/>
          </a:prstGeom>
          <a:noFill/>
        </p:spPr>
        <p:txBody>
          <a:bodyPr wrap="none" lIns="0" tIns="0" rIns="0" bIns="0" anchor="ctr"/>
          <a:lstStyle/>
          <a:p>
            <a:pPr algn="l"/>
            <a:fld id="{5cebbbd2-6c67-4d00-afb9-6e9b8d063cad}" type="datetime3">
              <a:rPr lang="en-GB" sz="1000" dirty="0">
                <a:solidFill>
                  <a:srgbClr val="9AA3AE"/>
                </a:solidFill>
                <a:latin typeface="Calibri"/>
              </a:rPr>
              <a:t>09/07/2026</a:t>
            </a:fld>
            <a:endParaRPr lang="en-GB" sz="1000"/>
          </a:p>
        </p:txBody>
      </p:sp>
      <p:sp>
        <p:nvSpPr>
          <p:cNvPr id="5002" name="Automatic Slide Number 2"/>
          <p:cNvSpPr txBox="1"/>
          <p:nvPr/>
        </p:nvSpPr>
        <p:spPr>
          <a:xfrm>
            <a:off x="11475720" y="6510528"/>
            <a:ext cx="475488" cy="256032"/>
          </a:xfrm>
          <a:prstGeom prst="rect">
            <a:avLst/>
          </a:prstGeom>
          <a:noFill/>
        </p:spPr>
        <p:txBody>
          <a:bodyPr wrap="none" lIns="0" tIns="0" rIns="0" bIns="0" anchor="ctr"/>
          <a:lstStyle/>
          <a:p>
            <a:pPr algn="ctr"/>
            <a:fld id="{bd686c24-efd6-456a-80d8-c83d630cbac8}" type="slidenum">
              <a:rPr lang="en-GB" sz="1200" b="1" dirty="0">
                <a:solidFill>
                  <a:srgbClr val="FFFFFF"/>
                </a:solidFill>
                <a:latin typeface="Calibri"/>
              </a:rPr>
              <a:t>2</a:t>
            </a:fld>
            <a:endParaRPr lang="en-GB" sz="1200"/>
          </a:p>
        </p:txBody>
      </p:sp>
    </p:spTree>
  </p:cSld>
  <p:clrMapOvr>
    <a:masterClrMapping/>
  </p:clrMapOvr>
  <p:hf sldNum="1" hdr="0" ftr="1" dt="1"/>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Contents of Slides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Main FET sections, then numbered References. Motivation, architecture figures, O1–O4, and methodology detail stay in the deck under these headings. Click 11 References for citations [1]–[24] with DOI links.</a:t>
            </a:r>
          </a:p>
        </p:txBody>
      </p:sp>
      <p:sp>
        <p:nvSpPr>
          <p:cNvPr id="9" name="TextBox 8"/>
          <p:cNvSpPr txBox="1"/>
          <p:nvPr/>
        </p:nvSpPr>
        <p:spPr>
          <a:xfrm>
            <a:off x="411480" y="1572768"/>
            <a:ext cx="11338560" cy="4389120"/>
          </a:xfrm>
          <a:prstGeom prst="rect">
            <a:avLst/>
          </a:prstGeom>
          <a:noFill/>
        </p:spPr>
        <p:txBody>
          <a:bodyPr wrap="square">
            <a:spAutoFit/>
          </a:bodyPr>
          <a:lstStyle/>
          <a:p>
            <a:pPr>
              <a:spcAft>
                <a:spcPts val="600"/>
              </a:spcAft>
              <a:buFont typeface="Arial"/>
              <a:buChar char="•"/>
            </a:pPr>
            <a:r>
              <a:rPr sz="1400">
                <a:solidFill>
                  <a:srgbClr val="1A1A1A"/>
                </a:solidFill>
                <a:latin typeface="Calibri"/>
              </a:rPr>
              <a:t>01   Introduction</a:t>
            </a:r>
          </a:p>
          <a:p>
            <a:pPr>
              <a:spcAft>
                <a:spcPts val="600"/>
              </a:spcAft>
              <a:buFont typeface="Arial"/>
              <a:buChar char="•"/>
            </a:pPr>
            <a:r>
              <a:rPr sz="1400">
                <a:solidFill>
                  <a:srgbClr val="1A1A1A"/>
                </a:solidFill>
                <a:latin typeface="Calibri"/>
              </a:rPr>
              <a:t>02   Literature Review</a:t>
            </a:r>
          </a:p>
          <a:p>
            <a:pPr>
              <a:spcAft>
                <a:spcPts val="600"/>
              </a:spcAft>
              <a:buFont typeface="Arial"/>
              <a:buChar char="•"/>
            </a:pPr>
            <a:r>
              <a:rPr sz="1400">
                <a:solidFill>
                  <a:srgbClr val="1A1A1A"/>
                </a:solidFill>
                <a:latin typeface="Calibri"/>
              </a:rPr>
              <a:t>03   Summary of Literature Review</a:t>
            </a:r>
          </a:p>
          <a:p>
            <a:pPr>
              <a:spcAft>
                <a:spcPts val="600"/>
              </a:spcAft>
              <a:buFont typeface="Arial"/>
              <a:buChar char="•"/>
            </a:pPr>
            <a:r>
              <a:rPr sz="1400">
                <a:solidFill>
                  <a:srgbClr val="1A1A1A"/>
                </a:solidFill>
                <a:latin typeface="Calibri"/>
              </a:rPr>
              <a:t>04   To Solve the Research Gap</a:t>
            </a:r>
          </a:p>
          <a:p>
            <a:pPr>
              <a:spcAft>
                <a:spcPts val="600"/>
              </a:spcAft>
              <a:buFont typeface="Arial"/>
              <a:buChar char="•"/>
            </a:pPr>
            <a:r>
              <a:rPr sz="1400">
                <a:solidFill>
                  <a:srgbClr val="1A1A1A"/>
                </a:solidFill>
                <a:latin typeface="Calibri"/>
              </a:rPr>
              <a:t>05   Identified Research Problem</a:t>
            </a:r>
          </a:p>
          <a:p>
            <a:pPr>
              <a:spcAft>
                <a:spcPts val="600"/>
              </a:spcAft>
              <a:buFont typeface="Arial"/>
              <a:buChar char="•"/>
            </a:pPr>
            <a:r>
              <a:rPr sz="1400">
                <a:solidFill>
                  <a:srgbClr val="1A1A1A"/>
                </a:solidFill>
                <a:latin typeface="Calibri"/>
              </a:rPr>
              <a:t>06   Research Title &amp; Aim</a:t>
            </a:r>
          </a:p>
          <a:p>
            <a:pPr>
              <a:spcAft>
                <a:spcPts val="600"/>
              </a:spcAft>
              <a:buFont typeface="Arial"/>
              <a:buChar char="•"/>
            </a:pPr>
            <a:r>
              <a:rPr sz="1400">
                <a:solidFill>
                  <a:srgbClr val="1A1A1A"/>
                </a:solidFill>
                <a:latin typeface="Calibri"/>
              </a:rPr>
              <a:t>07   Research Objectives</a:t>
            </a:r>
          </a:p>
          <a:p>
            <a:pPr>
              <a:spcAft>
                <a:spcPts val="600"/>
              </a:spcAft>
              <a:buFont typeface="Arial"/>
              <a:buChar char="•"/>
            </a:pPr>
            <a:r>
              <a:rPr sz="1400">
                <a:solidFill>
                  <a:srgbClr val="1A1A1A"/>
                </a:solidFill>
                <a:latin typeface="Calibri"/>
              </a:rPr>
              <a:t>08   Research Questions</a:t>
            </a:r>
          </a:p>
          <a:p>
            <a:pPr>
              <a:spcAft>
                <a:spcPts val="600"/>
              </a:spcAft>
              <a:buFont typeface="Arial"/>
              <a:buChar char="•"/>
            </a:pPr>
            <a:r>
              <a:rPr sz="1400">
                <a:solidFill>
                  <a:srgbClr val="1A1A1A"/>
                </a:solidFill>
                <a:latin typeface="Calibri"/>
              </a:rPr>
              <a:t>09   Research Methodology</a:t>
            </a:r>
          </a:p>
          <a:p>
            <a:pPr>
              <a:spcAft>
                <a:spcPts val="600"/>
              </a:spcAft>
              <a:buFont typeface="Arial"/>
              <a:buChar char="•"/>
            </a:pPr>
            <a:r>
              <a:rPr sz="1400">
                <a:solidFill>
                  <a:srgbClr val="1A1A1A"/>
                </a:solidFill>
                <a:latin typeface="Calibri"/>
              </a:rPr>
              <a:t>10   Conclusion</a:t>
            </a:r>
          </a:p>
          <a:p>
            <a:pPr>
              <a:spcAft>
                <a:spcPts val="600"/>
              </a:spcAft>
              <a:buFont typeface="Arial"/>
              <a:buChar char="•"/>
            </a:pPr>
            <a:r>
              <a:rPr sz="1400">
                <a:solidFill>
                  <a:srgbClr val="1A1A1A"/>
                </a:solidFill>
                <a:latin typeface="Calibri"/>
              </a:rPr>
              <a:t>11   References</a:t>
            </a:r>
          </a:p>
        </p:txBody>
      </p:sp>
      <p:sp>
        <p:nvSpPr>
          <p:cNvPr id="4003" name="Automatic Date 3"/>
          <p:cNvSpPr txBox="1"/>
          <p:nvPr/>
        </p:nvSpPr>
        <p:spPr>
          <a:xfrm>
            <a:off x="255016" y="6565900"/>
            <a:ext cx="3108960" cy="255016"/>
          </a:xfrm>
          <a:prstGeom prst="rect">
            <a:avLst/>
          </a:prstGeom>
          <a:noFill/>
        </p:spPr>
        <p:txBody>
          <a:bodyPr wrap="none" lIns="0" tIns="0" rIns="0" bIns="0" anchor="ctr"/>
          <a:lstStyle/>
          <a:p>
            <a:pPr algn="l"/>
            <a:fld id="{7859b740-a759-4604-b3fb-96a0efd38d18}" type="datetime3">
              <a:rPr lang="en-GB" sz="1000" dirty="0">
                <a:solidFill>
                  <a:srgbClr val="9AA3AE"/>
                </a:solidFill>
                <a:latin typeface="Calibri"/>
              </a:rPr>
              <a:t>09/07/2026</a:t>
            </a:fld>
            <a:endParaRPr lang="en-GB" sz="1000"/>
          </a:p>
        </p:txBody>
      </p:sp>
      <p:sp>
        <p:nvSpPr>
          <p:cNvPr id="5003" name="Automatic Slide Number 3"/>
          <p:cNvSpPr txBox="1"/>
          <p:nvPr/>
        </p:nvSpPr>
        <p:spPr>
          <a:xfrm>
            <a:off x="11475720" y="6510528"/>
            <a:ext cx="475488" cy="256032"/>
          </a:xfrm>
          <a:prstGeom prst="rect">
            <a:avLst/>
          </a:prstGeom>
          <a:noFill/>
        </p:spPr>
        <p:txBody>
          <a:bodyPr wrap="none" lIns="0" tIns="0" rIns="0" bIns="0" anchor="ctr"/>
          <a:lstStyle/>
          <a:p>
            <a:pPr algn="ctr"/>
            <a:fld id="{cdf40f45-aa04-4ac8-98fb-3085c02a8d85}" type="slidenum">
              <a:rPr lang="en-GB" sz="1200" b="1" dirty="0">
                <a:solidFill>
                  <a:srgbClr val="FFFFFF"/>
                </a:solidFill>
                <a:latin typeface="Calibri"/>
              </a:rPr>
              <a:t>3</a:t>
            </a:fld>
            <a:endParaRPr lang="en-GB" sz="1200"/>
          </a:p>
        </p:txBody>
      </p:sp>
    </p:spTree>
  </p:cSld>
  <p:clrMapOvr>
    <a:masterClrMapping/>
  </p:clrMapOvr>
  <p:hf sldNum="1" hdr="0" ftr="1" dt="1"/>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Introduction</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This proposal treats multi-agent LLM systems as a computer-science systems problem: not a new foundation model, but a missing orchestration layer between session memory, specialist routing, live tools, and context growth.</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Wang et al. survey LLM-based autonomous agents as a construction problem in Frontiers of Computer Science (2024, doi:10.1007/s11704-024-40231-1). He, Treude and Lo review LLM-based multi-agent systems for software engineering in ACM TOSEM (2025, doi:10.1145/3712003). Guo et al. survey LLM multi-agent profiling and communication at IJCAI-24 (doi:10.24963/ijcai.2024/890). Chang and Geng give transactional context management for multi-agent LLM planning in PVLDB 2025 (doi:10.14778/3750601.3750611).</a:t>
            </a:r>
          </a:p>
          <a:p>
            <a:pPr>
              <a:spcAft>
                <a:spcPts val="600"/>
              </a:spcAft>
              <a:buFont typeface="Arial"/>
              <a:buChar char="•"/>
            </a:pPr>
            <a:r>
              <a:rPr sz="1300">
                <a:solidFill>
                  <a:srgbClr val="1A1A1A"/>
                </a:solidFill>
                <a:latin typeface="Calibri"/>
              </a:rPr>
              <a:t>Wu et al. introduce AutoGen as a conversation-driven programming framework in which agents exchange messages until a stopping condition (COLM 2024). Hong et al. encode Standard Operating Procedures into MetaGPT so that a software-company metaphor produces structured artefacts (ICLR 2024). Qian et al. organise ChatDev as a chat-chain of organisational roles (ACL 2024). Li et al. study communicative agents in CAMEL (NeurIPS 2023).</a:t>
            </a:r>
          </a:p>
          <a:p>
            <a:pPr>
              <a:spcAft>
                <a:spcPts val="600"/>
              </a:spcAft>
              <a:buFont typeface="Arial"/>
              <a:buChar char="•"/>
            </a:pPr>
            <a:r>
              <a:rPr sz="1300">
                <a:solidFill>
                  <a:srgbClr val="1A1A1A"/>
                </a:solidFill>
                <a:latin typeface="Calibri"/>
              </a:rPr>
              <a:t>Tool use is a parallel line. Qin et al. release ToolLLM / ToolBench: 16k+ REST APIs, a DFSDT planner, and ToolEval (ICLR 2024). Zheng et al. add ToolRerank over ToolLLM candidates (LREC-COLING 2024). Learned routers (RouteLLM, MasRouter, PILOT) pick models or collaboration modes. LLMLingua shortens prompts by token importance (EMNLP 2023).</a:t>
            </a:r>
          </a:p>
          <a:p>
            <a:pPr>
              <a:spcAft>
                <a:spcPts val="600"/>
              </a:spcAft>
              <a:buFont typeface="Arial"/>
              <a:buChar char="•"/>
            </a:pPr>
            <a:r>
              <a:rPr sz="1300">
                <a:solidFill>
                  <a:srgbClr val="1A1A1A"/>
                </a:solidFill>
                <a:latin typeface="Calibri"/>
              </a:rPr>
              <a:t>Those stacks still leave four operational surfaces underspecified as one contract: session–tool fusion, a training-free specialist posterior, fail-loud live Indian Open Government Data, and a mesh prune that writes a residue back into retrieval. The next slides record that literature as Evidence 1, Evidence 2, … in the FET template. Every Evidence block is a journal article or a top international conference paper.</a:t>
            </a:r>
          </a:p>
          <a:p>
            <a:pPr>
              <a:spcAft>
                <a:spcPts val="600"/>
              </a:spcAft>
              <a:buFont typeface="Arial"/>
              <a:buChar char="•"/>
            </a:pPr>
            <a:r>
              <a:rPr sz="1300">
                <a:solidFill>
                  <a:srgbClr val="1A1A1A"/>
                </a:solidFill>
                <a:latin typeface="Calibri"/>
              </a:rPr>
              <a:t>ACRS is proposed as that missing layer. The integration order is SATR → APRR → MNCD → FCNP. The live demonstration corpus is Agriculture on data.gov.in. This deck does not claim a leaderboard number.</a:t>
            </a:r>
          </a:p>
        </p:txBody>
      </p:sp>
      <p:sp>
        <p:nvSpPr>
          <p:cNvPr id="4004" name="Automatic Date 4"/>
          <p:cNvSpPr txBox="1"/>
          <p:nvPr/>
        </p:nvSpPr>
        <p:spPr>
          <a:xfrm>
            <a:off x="255016" y="6565900"/>
            <a:ext cx="3108960" cy="255016"/>
          </a:xfrm>
          <a:prstGeom prst="rect">
            <a:avLst/>
          </a:prstGeom>
          <a:noFill/>
        </p:spPr>
        <p:txBody>
          <a:bodyPr wrap="none" lIns="0" tIns="0" rIns="0" bIns="0" anchor="ctr"/>
          <a:lstStyle/>
          <a:p>
            <a:pPr algn="l"/>
            <a:fld id="{372d5901-2295-4bca-ade1-32613dde5d04}" type="datetime3">
              <a:rPr lang="en-GB" sz="1000" dirty="0">
                <a:solidFill>
                  <a:srgbClr val="9AA3AE"/>
                </a:solidFill>
                <a:latin typeface="Calibri"/>
              </a:rPr>
              <a:t>09/07/2026</a:t>
            </a:fld>
            <a:endParaRPr lang="en-GB" sz="1000"/>
          </a:p>
        </p:txBody>
      </p:sp>
      <p:sp>
        <p:nvSpPr>
          <p:cNvPr id="5004" name="Automatic Slide Number 4"/>
          <p:cNvSpPr txBox="1"/>
          <p:nvPr/>
        </p:nvSpPr>
        <p:spPr>
          <a:xfrm>
            <a:off x="11475720" y="6510528"/>
            <a:ext cx="475488" cy="256032"/>
          </a:xfrm>
          <a:prstGeom prst="rect">
            <a:avLst/>
          </a:prstGeom>
          <a:noFill/>
        </p:spPr>
        <p:txBody>
          <a:bodyPr wrap="none" lIns="0" tIns="0" rIns="0" bIns="0" anchor="ctr"/>
          <a:lstStyle/>
          <a:p>
            <a:pPr algn="ctr"/>
            <a:fld id="{b99bc3cc-ee97-481e-914d-57fa2c1f680c}" type="slidenum">
              <a:rPr lang="en-GB" sz="1200" b="1" dirty="0">
                <a:solidFill>
                  <a:srgbClr val="FFFFFF"/>
                </a:solidFill>
                <a:latin typeface="Calibri"/>
              </a:rPr>
              <a:t>4</a:t>
            </a:fld>
            <a:endParaRPr lang="en-GB" sz="1200"/>
          </a:p>
        </p:txBody>
      </p:sp>
    </p:spTree>
  </p:cSld>
  <p:clrMapOvr>
    <a:masterClrMapping/>
  </p:clrMapOvr>
  <p:hf sldNum="1" hdr="0" ftr="1" dt="1"/>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Motivation</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Large-language-model agents already retrieve tools, choose among models or workflows, coordinate over messages, and shorten prompts. In the published literature those four operations remain four families. A farmer query against Indian Open Government Data needs them as one turn: the next tool list must remember which tools succeeded together; the next hop must be a named specialist rather than a foundation-model SKU; the object that is voted on must be a tool identifier backed by a verified ministry UUID; and whatever is kept after pruning must re-enter retrieval rather than disappear as deleted tokens.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Wang et al. organise LLM agents as Profiling, Memory, Planning, and Action (Frontiers of Computer Science, 2024). That template does not name a session co-activation cache, a training-free hop sampler over tool specialists, a mesh whose consensus object is a live tool ID, or a conductance prune that writes citations back into retrieval. ToolLLM and ToolRerank retrieve from the current query. RouteLLM, PILOT, MasRouter, and MetaGPT pick models or follow authored SOPs. AutoGen, ChatDev, and CAMEL coordinate over chat. LLMLingua shortens the prompt. Taken together, those papers are not a live Agriculture loop on data.gov.in.</a:t>
            </a:r>
          </a:p>
          <a:p>
            <a:pPr>
              <a:spcAft>
                <a:spcPts val="600"/>
              </a:spcAft>
              <a:buFont typeface="Arial"/>
              <a:buChar char="•"/>
            </a:pPr>
            <a:r>
              <a:rPr sz="1300">
                <a:solidFill>
                  <a:srgbClr val="1A1A1A"/>
                </a:solidFill>
                <a:latin typeface="Calibri"/>
              </a:rPr>
              <a:t>This research is therefore motivated to specify Adaptive Context Reasoning System (ACRS) as the missing structural orchestration layer: one fail-loud contract in which session retrieval, specialist routing, live Indian OGD execution, and citation write-back occur in a fixed order. The motivation is architectural completeness — that the four surfaces are named, ordered, and closed — not a leaderboard comparison.</a:t>
            </a:r>
          </a:p>
          <a:p>
            <a:pPr>
              <a:spcAft>
                <a:spcPts val="600"/>
              </a:spcAft>
              <a:buFont typeface="Arial"/>
              <a:buChar char="•"/>
            </a:pPr>
            <a:r>
              <a:rPr sz="1300">
                <a:solidFill>
                  <a:srgbClr val="1A1A1A"/>
                </a:solidFill>
                <a:latin typeface="Calibri"/>
              </a:rPr>
              <a:t>Published stacks retrieve, route, chat, or compress as separate families.</a:t>
            </a:r>
          </a:p>
          <a:p>
            <a:pPr>
              <a:spcAft>
                <a:spcPts val="600"/>
              </a:spcAft>
              <a:buFont typeface="Arial"/>
              <a:buChar char="•"/>
            </a:pPr>
            <a:r>
              <a:rPr sz="1300">
                <a:solidFill>
                  <a:srgbClr val="1A1A1A"/>
                </a:solidFill>
                <a:latin typeface="Calibri"/>
              </a:rPr>
              <a:t>A live Indian OGD turn needs all four as one fail-loud contract, with write-back into retrieval.</a:t>
            </a:r>
          </a:p>
          <a:p>
            <a:pPr>
              <a:spcAft>
                <a:spcPts val="600"/>
              </a:spcAft>
              <a:buFont typeface="Arial"/>
              <a:buChar char="•"/>
            </a:pPr>
            <a:r>
              <a:rPr sz="1300">
                <a:solidFill>
                  <a:srgbClr val="1A1A1A"/>
                </a:solidFill>
                <a:latin typeface="Calibri"/>
              </a:rPr>
              <a:t>The motivation is to specify that contract, not to pre-commit a computational score.</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Source: docs/RESEARCH_OBJECTIVES.md (canonical: lib/research/objectives.ts).</a:t>
            </a:r>
          </a:p>
        </p:txBody>
      </p:sp>
      <p:sp>
        <p:nvSpPr>
          <p:cNvPr id="4005" name="Automatic Date 5"/>
          <p:cNvSpPr txBox="1"/>
          <p:nvPr/>
        </p:nvSpPr>
        <p:spPr>
          <a:xfrm>
            <a:off x="255016" y="6565900"/>
            <a:ext cx="3108960" cy="255016"/>
          </a:xfrm>
          <a:prstGeom prst="rect">
            <a:avLst/>
          </a:prstGeom>
          <a:noFill/>
        </p:spPr>
        <p:txBody>
          <a:bodyPr wrap="none" lIns="0" tIns="0" rIns="0" bIns="0" anchor="ctr"/>
          <a:lstStyle/>
          <a:p>
            <a:pPr algn="l"/>
            <a:fld id="{0278330f-ab27-41a4-9150-024c821febc5}" type="datetime3">
              <a:rPr lang="en-GB" sz="1000" dirty="0">
                <a:solidFill>
                  <a:srgbClr val="9AA3AE"/>
                </a:solidFill>
                <a:latin typeface="Calibri"/>
              </a:rPr>
              <a:t>09/07/2026</a:t>
            </a:fld>
            <a:endParaRPr lang="en-GB" sz="1000"/>
          </a:p>
        </p:txBody>
      </p:sp>
      <p:sp>
        <p:nvSpPr>
          <p:cNvPr id="5005" name="Automatic Slide Number 5"/>
          <p:cNvSpPr txBox="1"/>
          <p:nvPr/>
        </p:nvSpPr>
        <p:spPr>
          <a:xfrm>
            <a:off x="11475720" y="6510528"/>
            <a:ext cx="475488" cy="256032"/>
          </a:xfrm>
          <a:prstGeom prst="rect">
            <a:avLst/>
          </a:prstGeom>
          <a:noFill/>
        </p:spPr>
        <p:txBody>
          <a:bodyPr wrap="none" lIns="0" tIns="0" rIns="0" bIns="0" anchor="ctr"/>
          <a:lstStyle/>
          <a:p>
            <a:pPr algn="ctr"/>
            <a:fld id="{baca6da4-8281-4431-a397-72420e0d3cf8}" type="slidenum">
              <a:rPr lang="en-GB" sz="1200" b="1" dirty="0">
                <a:solidFill>
                  <a:srgbClr val="FFFFFF"/>
                </a:solidFill>
                <a:latin typeface="Calibri"/>
              </a:rPr>
              <a:t>5</a:t>
            </a:fld>
            <a:endParaRPr lang="en-GB" sz="1200"/>
          </a:p>
        </p:txBody>
      </p:sp>
    </p:spTree>
  </p:cSld>
  <p:clrMapOvr>
    <a:masterClrMapping/>
  </p:clrMapOvr>
  <p:hf sldNum="1" hdr="0" ftr="1" dt="1"/>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FET template. Each paper is Evidence n and citation [n]. Fields: Author(s), Year, Title, Publication, DOI (linked at https://doi.org/…), Objective, Methodology, Findings, Limitations, To solve the research gap.</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a:t>
            </a:r>
          </a:p>
          <a:p>
            <a:pPr>
              <a:spcBef>
                <a:spcPts val="400"/>
              </a:spcBef>
              <a:spcAft>
                <a:spcPts val="0"/>
              </a:spcAft>
            </a:pPr>
            <a:r>
              <a:rPr sz="1000" b="1">
                <a:solidFill>
                  <a:srgbClr val="3A1C64"/>
                </a:solidFill>
                <a:latin typeface="Calibri"/>
              </a:rPr>
              <a:t>Author(s): </a:t>
            </a:r>
            <a:r>
              <a:rPr sz="1000">
                <a:solidFill>
                  <a:srgbClr val="1A1A1A"/>
                </a:solidFill>
                <a:latin typeface="Calibri"/>
              </a:rPr>
              <a:t>Wang, L., Ma, C., Feng, X., Zhang, Z., Yang, H., Zhang, J., Chen, Z., Tang, J., Chen, X., Lin, Y., Zhao, W. X., Wei, Z., and Wen, J.</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A survey on large language model based autonomous agents</a:t>
            </a:r>
          </a:p>
          <a:p>
            <a:pPr>
              <a:spcBef>
                <a:spcPts val="400"/>
              </a:spcBef>
              <a:spcAft>
                <a:spcPts val="0"/>
              </a:spcAft>
            </a:pPr>
            <a:r>
              <a:rPr sz="1000" b="1">
                <a:solidFill>
                  <a:srgbClr val="3A1C64"/>
                </a:solidFill>
                <a:latin typeface="Calibri"/>
              </a:rPr>
              <a:t>Publication: </a:t>
            </a:r>
            <a:r>
              <a:rPr sz="1000">
                <a:solidFill>
                  <a:srgbClr val="1A1A1A"/>
                </a:solidFill>
                <a:latin typeface="Calibri"/>
              </a:rPr>
              <a:t>Frontiers of Computer Science, 18, article 186345 (2024). doi:10.1007/s11704-024-40231-1</a:t>
            </a:r>
          </a:p>
          <a:p>
            <a:pPr>
              <a:spcBef>
                <a:spcPts val="400"/>
              </a:spcBef>
              <a:spcAft>
                <a:spcPts val="0"/>
              </a:spcAft>
            </a:pPr>
            <a:r>
              <a:rPr sz="1000" b="1">
                <a:solidFill>
                  <a:srgbClr val="3A1C64"/>
                </a:solidFill>
                <a:latin typeface="Calibri"/>
              </a:rPr>
              <a:t>Objective: </a:t>
            </a:r>
            <a:r>
              <a:rPr sz="1000">
                <a:solidFill>
                  <a:srgbClr val="1A1A1A"/>
                </a:solidFill>
                <a:latin typeface="Calibri"/>
              </a:rPr>
              <a:t>Unify how LLM-based autonomous agents are constructed, applied, and evaluated.</a:t>
            </a:r>
          </a:p>
          <a:p>
            <a:pPr>
              <a:spcBef>
                <a:spcPts val="400"/>
              </a:spcBef>
              <a:spcAft>
                <a:spcPts val="0"/>
              </a:spcAft>
            </a:pPr>
            <a:r>
              <a:rPr sz="1000" b="1">
                <a:solidFill>
                  <a:srgbClr val="3A1C64"/>
                </a:solidFill>
                <a:latin typeface="Calibri"/>
              </a:rPr>
              <a:t>Methodology: </a:t>
            </a:r>
            <a:r>
              <a:rPr sz="1000">
                <a:solidFill>
                  <a:srgbClr val="1A1A1A"/>
                </a:solidFill>
                <a:latin typeface="Calibri"/>
              </a:rPr>
              <a:t>Journal survey of agent construction: a profile–memory–planning–action framework covering social science, natural science, and engineering applications.</a:t>
            </a:r>
          </a:p>
          <a:p>
            <a:pPr>
              <a:spcBef>
                <a:spcPts val="400"/>
              </a:spcBef>
              <a:spcAft>
                <a:spcPts val="0"/>
              </a:spcAft>
            </a:pPr>
            <a:r>
              <a:rPr sz="1000" b="1">
                <a:solidFill>
                  <a:srgbClr val="3A1C64"/>
                </a:solidFill>
                <a:latin typeface="Calibri"/>
              </a:rPr>
              <a:t>Findings: </a:t>
            </a:r>
            <a:r>
              <a:rPr sz="1000">
                <a:solidFill>
                  <a:srgbClr val="1A1A1A"/>
                </a:solidFill>
                <a:latin typeface="Calibri"/>
              </a:rPr>
              <a:t>Most published agents share a construction template, but coordination remains an open systems problem rather than a solved runtime.</a:t>
            </a:r>
          </a:p>
          <a:p>
            <a:pPr>
              <a:spcBef>
                <a:spcPts val="400"/>
              </a:spcBef>
              <a:spcAft>
                <a:spcPts val="0"/>
              </a:spcAft>
            </a:pPr>
            <a:r>
              <a:rPr sz="1000" b="1">
                <a:solidFill>
                  <a:srgbClr val="3A1C64"/>
                </a:solidFill>
                <a:latin typeface="Calibri"/>
              </a:rPr>
              <a:t>Limitations: </a:t>
            </a:r>
            <a:r>
              <a:rPr sz="1000">
                <a:solidFill>
                  <a:srgbClr val="1A1A1A"/>
                </a:solidFill>
                <a:latin typeface="Calibri"/>
              </a:rPr>
              <a:t>The survey organises single- and multi-agent construction. It does not specify a closed SATR → APRR → MNCD → FCNP contract over live Indian Open Government Data.</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2</a:t>
            </a:r>
          </a:p>
          <a:p>
            <a:pPr>
              <a:spcBef>
                <a:spcPts val="400"/>
              </a:spcBef>
              <a:spcAft>
                <a:spcPts val="0"/>
              </a:spcAft>
            </a:pPr>
            <a:r>
              <a:rPr sz="1000" b="1">
                <a:solidFill>
                  <a:srgbClr val="3A1C64"/>
                </a:solidFill>
                <a:latin typeface="Calibri"/>
              </a:rPr>
              <a:t>Author(s): </a:t>
            </a:r>
            <a:r>
              <a:rPr sz="1000">
                <a:solidFill>
                  <a:srgbClr val="1A1A1A"/>
                </a:solidFill>
                <a:latin typeface="Calibri"/>
              </a:rPr>
              <a:t>He, J., Treude, C., and Lo, D.</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LLM-Based Multi-Agent Systems for Software Engineering: Literature Review, Vision, and the Road Ahead</a:t>
            </a:r>
          </a:p>
          <a:p>
            <a:pPr>
              <a:spcBef>
                <a:spcPts val="400"/>
              </a:spcBef>
              <a:spcAft>
                <a:spcPts val="0"/>
              </a:spcAft>
            </a:pPr>
            <a:r>
              <a:rPr sz="1000" b="1">
                <a:solidFill>
                  <a:srgbClr val="3A1C64"/>
                </a:solidFill>
                <a:latin typeface="Calibri"/>
              </a:rPr>
              <a:t>Publication: </a:t>
            </a:r>
            <a:r>
              <a:rPr sz="1000">
                <a:solidFill>
                  <a:srgbClr val="1A1A1A"/>
                </a:solidFill>
                <a:latin typeface="Calibri"/>
              </a:rPr>
              <a:t>ACM Transactions on Software Engineering and Methodology, 34(5), May 2025. doi:10.1145/3712003</a:t>
            </a:r>
          </a:p>
          <a:p>
            <a:pPr>
              <a:spcBef>
                <a:spcPts val="400"/>
              </a:spcBef>
              <a:spcAft>
                <a:spcPts val="0"/>
              </a:spcAft>
            </a:pPr>
            <a:r>
              <a:rPr sz="1000" b="1">
                <a:solidFill>
                  <a:srgbClr val="3A1C64"/>
                </a:solidFill>
                <a:latin typeface="Calibri"/>
              </a:rPr>
              <a:t>Objective: </a:t>
            </a:r>
            <a:r>
              <a:rPr sz="1000">
                <a:solidFill>
                  <a:srgbClr val="1A1A1A"/>
                </a:solidFill>
                <a:latin typeface="Calibri"/>
              </a:rPr>
              <a:t>Map LLM-based multi-agent (LMA) systems across the software development lifecycle.</a:t>
            </a:r>
          </a:p>
          <a:p>
            <a:pPr>
              <a:spcBef>
                <a:spcPts val="400"/>
              </a:spcBef>
              <a:spcAft>
                <a:spcPts val="0"/>
              </a:spcAft>
            </a:pPr>
            <a:r>
              <a:rPr sz="1000" b="1">
                <a:solidFill>
                  <a:srgbClr val="3A1C64"/>
                </a:solidFill>
                <a:latin typeface="Calibri"/>
              </a:rPr>
              <a:t>Methodology: </a:t>
            </a:r>
            <a:r>
              <a:rPr sz="1000">
                <a:solidFill>
                  <a:srgbClr val="1A1A1A"/>
                </a:solidFill>
                <a:latin typeface="Calibri"/>
              </a:rPr>
              <a:t>Systematic review of primary LMA studies in software engineering, plus case studies of current frameworks and a two-phase research agenda.</a:t>
            </a:r>
          </a:p>
          <a:p>
            <a:pPr>
              <a:spcBef>
                <a:spcPts val="400"/>
              </a:spcBef>
              <a:spcAft>
                <a:spcPts val="0"/>
              </a:spcAft>
            </a:pPr>
            <a:r>
              <a:rPr sz="1000" b="1">
                <a:solidFill>
                  <a:srgbClr val="3A1C64"/>
                </a:solidFill>
                <a:latin typeface="Calibri"/>
              </a:rPr>
              <a:t>Findings: </a:t>
            </a:r>
            <a:r>
              <a:rPr sz="1000">
                <a:solidFill>
                  <a:srgbClr val="1A1A1A"/>
                </a:solidFill>
                <a:latin typeface="Calibri"/>
              </a:rPr>
              <a:t>Role-specialised LMA systems can divide software work, but agent synergy and trustworthiness remain research gaps.</a:t>
            </a:r>
          </a:p>
          <a:p>
            <a:pPr>
              <a:spcBef>
                <a:spcPts val="400"/>
              </a:spcBef>
              <a:spcAft>
                <a:spcPts val="0"/>
              </a:spcAft>
            </a:pPr>
            <a:r>
              <a:rPr sz="1000" b="1">
                <a:solidFill>
                  <a:srgbClr val="3A1C64"/>
                </a:solidFill>
                <a:latin typeface="Calibri"/>
              </a:rPr>
              <a:t>Limitations: </a:t>
            </a:r>
            <a:r>
              <a:rPr sz="1000">
                <a:solidFill>
                  <a:srgbClr val="1A1A1A"/>
                </a:solidFill>
                <a:latin typeface="Calibri"/>
              </a:rPr>
              <a:t>The environment is a software project, not a ministry API. Orchestration is reviewed as chat/SOP collaboration, not a live (toolId, score, citation).</a:t>
            </a:r>
          </a:p>
        </p:txBody>
      </p:sp>
      <p:sp>
        <p:nvSpPr>
          <p:cNvPr id="4006" name="Automatic Date 6"/>
          <p:cNvSpPr txBox="1"/>
          <p:nvPr/>
        </p:nvSpPr>
        <p:spPr>
          <a:xfrm>
            <a:off x="255016" y="6565900"/>
            <a:ext cx="3108960" cy="255016"/>
          </a:xfrm>
          <a:prstGeom prst="rect">
            <a:avLst/>
          </a:prstGeom>
          <a:noFill/>
        </p:spPr>
        <p:txBody>
          <a:bodyPr wrap="none" lIns="0" tIns="0" rIns="0" bIns="0" anchor="ctr"/>
          <a:lstStyle/>
          <a:p>
            <a:pPr algn="l"/>
            <a:fld id="{b554e629-8511-45ff-aea0-64e53412a523}" type="datetime3">
              <a:rPr lang="en-GB" sz="1000" dirty="0">
                <a:solidFill>
                  <a:srgbClr val="9AA3AE"/>
                </a:solidFill>
                <a:latin typeface="Calibri"/>
              </a:rPr>
              <a:t>09/07/2026</a:t>
            </a:fld>
            <a:endParaRPr lang="en-GB" sz="1000"/>
          </a:p>
        </p:txBody>
      </p:sp>
      <p:sp>
        <p:nvSpPr>
          <p:cNvPr id="5006" name="Automatic Slide Number 6"/>
          <p:cNvSpPr txBox="1"/>
          <p:nvPr/>
        </p:nvSpPr>
        <p:spPr>
          <a:xfrm>
            <a:off x="11475720" y="6510528"/>
            <a:ext cx="475488" cy="256032"/>
          </a:xfrm>
          <a:prstGeom prst="rect">
            <a:avLst/>
          </a:prstGeom>
          <a:noFill/>
        </p:spPr>
        <p:txBody>
          <a:bodyPr wrap="none" lIns="0" tIns="0" rIns="0" bIns="0" anchor="ctr"/>
          <a:lstStyle/>
          <a:p>
            <a:pPr algn="ctr"/>
            <a:fld id="{9c5a3f78-cb95-459f-9713-37d0fa256a89}" type="slidenum">
              <a:rPr lang="en-GB" sz="1200" b="1" dirty="0">
                <a:solidFill>
                  <a:srgbClr val="FFFFFF"/>
                </a:solidFill>
                <a:latin typeface="Calibri"/>
              </a:rPr>
              <a:t>6</a:t>
            </a:fld>
            <a:endParaRPr lang="en-GB" sz="1200"/>
          </a:p>
        </p:txBody>
      </p:sp>
    </p:spTree>
  </p:cSld>
  <p:clrMapOvr>
    <a:masterClrMapping/>
  </p:clrMapOvr>
  <p:hf sldNum="1" hdr="0" ftr="1" dt="1"/>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3 &amp; Evidence 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3 &amp; Evidence 4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3</a:t>
            </a:r>
          </a:p>
          <a:p>
            <a:pPr>
              <a:spcBef>
                <a:spcPts val="400"/>
              </a:spcBef>
              <a:spcAft>
                <a:spcPts val="0"/>
              </a:spcAft>
            </a:pPr>
            <a:r>
              <a:rPr sz="1000" b="1">
                <a:solidFill>
                  <a:srgbClr val="3A1C64"/>
                </a:solidFill>
                <a:latin typeface="Calibri"/>
              </a:rPr>
              <a:t>Author(s): </a:t>
            </a:r>
            <a:r>
              <a:rPr sz="1000">
                <a:solidFill>
                  <a:srgbClr val="1A1A1A"/>
                </a:solidFill>
                <a:latin typeface="Calibri"/>
              </a:rPr>
              <a:t>Guo, T., Chen, X., Wang, Y., Chang, R., Pei, S., Chawla, N. V., Wiest, O., and Zhang, X.</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Large Language Model based Multi-Agents: A Survey of Progress and Challenges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Thirty-Third International Joint Conference on Artificial Intelligence (IJCAI-24), Survey Track, pages 8048–8057. doi:10.24963/ijcai.2024/890</a:t>
            </a:r>
          </a:p>
          <a:p>
            <a:pPr>
              <a:spcBef>
                <a:spcPts val="400"/>
              </a:spcBef>
              <a:spcAft>
                <a:spcPts val="0"/>
              </a:spcAft>
            </a:pPr>
            <a:r>
              <a:rPr sz="1000" b="1">
                <a:solidFill>
                  <a:srgbClr val="3A1C64"/>
                </a:solidFill>
                <a:latin typeface="Calibri"/>
              </a:rPr>
              <a:t>Objective: </a:t>
            </a:r>
            <a:r>
              <a:rPr sz="1000">
                <a:solidFill>
                  <a:srgbClr val="1A1A1A"/>
                </a:solidFill>
                <a:latin typeface="Calibri"/>
              </a:rPr>
              <a:t>Survey how LLM-based multi-agent systems are profiled, how they communicate, and how their capacities grow.</a:t>
            </a:r>
          </a:p>
          <a:p>
            <a:pPr>
              <a:spcBef>
                <a:spcPts val="400"/>
              </a:spcBef>
              <a:spcAft>
                <a:spcPts val="0"/>
              </a:spcAft>
            </a:pPr>
            <a:r>
              <a:rPr sz="1000" b="1">
                <a:solidFill>
                  <a:srgbClr val="3A1C64"/>
                </a:solidFill>
                <a:latin typeface="Calibri"/>
              </a:rPr>
              <a:t>Methodology: </a:t>
            </a:r>
            <a:r>
              <a:rPr sz="1000">
                <a:solidFill>
                  <a:srgbClr val="1A1A1A"/>
                </a:solidFill>
                <a:latin typeface="Calibri"/>
              </a:rPr>
              <a:t>IJCAI survey track: domains and environments, agent profiling, communication mechanisms, and capacity-growth methods.</a:t>
            </a:r>
          </a:p>
          <a:p>
            <a:pPr>
              <a:spcBef>
                <a:spcPts val="400"/>
              </a:spcBef>
              <a:spcAft>
                <a:spcPts val="0"/>
              </a:spcAft>
            </a:pPr>
            <a:r>
              <a:rPr sz="1000" b="1">
                <a:solidFill>
                  <a:srgbClr val="3A1C64"/>
                </a:solidFill>
                <a:latin typeface="Calibri"/>
              </a:rPr>
              <a:t>Findings: </a:t>
            </a:r>
            <a:r>
              <a:rPr sz="1000">
                <a:solidFill>
                  <a:srgbClr val="1A1A1A"/>
                </a:solidFill>
                <a:latin typeface="Calibri"/>
              </a:rPr>
              <a:t>Published MAS work clusters on conversation, role profiles, and simulated worlds; live tool-identifier consensus is not the unit of analysis.</a:t>
            </a:r>
          </a:p>
          <a:p>
            <a:pPr>
              <a:spcBef>
                <a:spcPts val="400"/>
              </a:spcBef>
              <a:spcAft>
                <a:spcPts val="0"/>
              </a:spcAft>
            </a:pPr>
            <a:r>
              <a:rPr sz="1000" b="1">
                <a:solidFill>
                  <a:srgbClr val="3A1C64"/>
                </a:solidFill>
                <a:latin typeface="Calibri"/>
              </a:rPr>
              <a:t>Limitations: </a:t>
            </a:r>
            <a:r>
              <a:rPr sz="1000">
                <a:solidFill>
                  <a:srgbClr val="1A1A1A"/>
                </a:solidFill>
                <a:latin typeface="Calibri"/>
              </a:rPr>
              <a:t>Communication is reviewed as natural-language exchange. There is no fail-loud live Open Government Data GET as the coordination object.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4</a:t>
            </a:r>
          </a:p>
          <a:p>
            <a:pPr>
              <a:spcBef>
                <a:spcPts val="400"/>
              </a:spcBef>
              <a:spcAft>
                <a:spcPts val="0"/>
              </a:spcAft>
            </a:pPr>
            <a:r>
              <a:rPr sz="1000" b="1">
                <a:solidFill>
                  <a:srgbClr val="3A1C64"/>
                </a:solidFill>
                <a:latin typeface="Calibri"/>
              </a:rPr>
              <a:t>Author(s): </a:t>
            </a:r>
            <a:r>
              <a:rPr sz="1000">
                <a:solidFill>
                  <a:srgbClr val="1A1A1A"/>
                </a:solidFill>
                <a:latin typeface="Calibri"/>
              </a:rPr>
              <a:t>Chang, E. Y., and Geng, L.</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SagaLLM: Context Management, Validation, and Transaction Guarantees for Multi-Agent LLM Planning</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VLDB Endowment (PVLDB), 18(12):4874–4886, 2025. doi:10.14778/3750601.3750611</a:t>
            </a:r>
          </a:p>
          <a:p>
            <a:pPr>
              <a:spcBef>
                <a:spcPts val="400"/>
              </a:spcBef>
              <a:spcAft>
                <a:spcPts val="0"/>
              </a:spcAft>
            </a:pPr>
            <a:r>
              <a:rPr sz="1000" b="1">
                <a:solidFill>
                  <a:srgbClr val="3A1C64"/>
                </a:solidFill>
                <a:latin typeface="Calibri"/>
              </a:rPr>
              <a:t>Objective: </a:t>
            </a:r>
            <a:r>
              <a:rPr sz="1000">
                <a:solidFill>
                  <a:srgbClr val="1A1A1A"/>
                </a:solidFill>
                <a:latin typeface="Calibri"/>
              </a:rPr>
              <a:t>Give multi-agent LLM planners persistent context, validation, and compensable transactions.</a:t>
            </a:r>
          </a:p>
          <a:p>
            <a:pPr>
              <a:spcBef>
                <a:spcPts val="400"/>
              </a:spcBef>
              <a:spcAft>
                <a:spcPts val="0"/>
              </a:spcAft>
            </a:pPr>
            <a:r>
              <a:rPr sz="1000" b="1">
                <a:solidFill>
                  <a:srgbClr val="3A1C64"/>
                </a:solidFill>
                <a:latin typeface="Calibri"/>
              </a:rPr>
              <a:t>Methodology: </a:t>
            </a:r>
            <a:r>
              <a:rPr sz="1000">
                <a:solidFill>
                  <a:srgbClr val="1A1A1A"/>
                </a:solidFill>
                <a:latin typeface="Calibri"/>
              </a:rPr>
              <a:t>Saga-style checkpointing and compensation around multi-LLM planning, with independent validators and state tracking.</a:t>
            </a:r>
          </a:p>
          <a:p>
            <a:pPr>
              <a:spcBef>
                <a:spcPts val="400"/>
              </a:spcBef>
              <a:spcAft>
                <a:spcPts val="0"/>
              </a:spcAft>
            </a:pPr>
            <a:r>
              <a:rPr sz="1000" b="1">
                <a:solidFill>
                  <a:srgbClr val="3A1C64"/>
                </a:solidFill>
                <a:latin typeface="Calibri"/>
              </a:rPr>
              <a:t>Findings: </a:t>
            </a:r>
            <a:r>
              <a:rPr sz="1000">
                <a:solidFill>
                  <a:srgbClr val="1A1A1A"/>
                </a:solidFill>
                <a:latin typeface="Calibri"/>
              </a:rPr>
              <a:t>Transactional context management can recover multi-agent plans from disruption better than unconstrained chat loops.</a:t>
            </a:r>
          </a:p>
          <a:p>
            <a:pPr>
              <a:spcBef>
                <a:spcPts val="400"/>
              </a:spcBef>
              <a:spcAft>
                <a:spcPts val="0"/>
              </a:spcAft>
            </a:pPr>
            <a:r>
              <a:rPr sz="1000" b="1">
                <a:solidFill>
                  <a:srgbClr val="3A1C64"/>
                </a:solidFill>
                <a:latin typeface="Calibri"/>
              </a:rPr>
              <a:t>Limitations: </a:t>
            </a:r>
            <a:r>
              <a:rPr sz="1000">
                <a:solidFill>
                  <a:srgbClr val="1A1A1A"/>
                </a:solidFill>
                <a:latin typeface="Calibri"/>
              </a:rPr>
              <a:t>Orchestration is a planning/transaction runtime. It does not maintain a training-free specialist posterior over Indian OGD tool families, nor cite a ministry UUID.</a:t>
            </a:r>
          </a:p>
        </p:txBody>
      </p:sp>
      <p:sp>
        <p:nvSpPr>
          <p:cNvPr id="4007" name="Automatic Date 7"/>
          <p:cNvSpPr txBox="1"/>
          <p:nvPr/>
        </p:nvSpPr>
        <p:spPr>
          <a:xfrm>
            <a:off x="255016" y="6565900"/>
            <a:ext cx="3108960" cy="255016"/>
          </a:xfrm>
          <a:prstGeom prst="rect">
            <a:avLst/>
          </a:prstGeom>
          <a:noFill/>
        </p:spPr>
        <p:txBody>
          <a:bodyPr wrap="none" lIns="0" tIns="0" rIns="0" bIns="0" anchor="ctr"/>
          <a:lstStyle/>
          <a:p>
            <a:pPr algn="l"/>
            <a:fld id="{cb87eb55-61c4-4790-afba-be5251c9fa23}" type="datetime3">
              <a:rPr lang="en-GB" sz="1000" dirty="0">
                <a:solidFill>
                  <a:srgbClr val="9AA3AE"/>
                </a:solidFill>
                <a:latin typeface="Calibri"/>
              </a:rPr>
              <a:t>09/07/2026</a:t>
            </a:fld>
            <a:endParaRPr lang="en-GB" sz="1000"/>
          </a:p>
        </p:txBody>
      </p:sp>
      <p:sp>
        <p:nvSpPr>
          <p:cNvPr id="5007" name="Automatic Slide Number 7"/>
          <p:cNvSpPr txBox="1"/>
          <p:nvPr/>
        </p:nvSpPr>
        <p:spPr>
          <a:xfrm>
            <a:off x="11475720" y="6510528"/>
            <a:ext cx="475488" cy="256032"/>
          </a:xfrm>
          <a:prstGeom prst="rect">
            <a:avLst/>
          </a:prstGeom>
          <a:noFill/>
        </p:spPr>
        <p:txBody>
          <a:bodyPr wrap="none" lIns="0" tIns="0" rIns="0" bIns="0" anchor="ctr"/>
          <a:lstStyle/>
          <a:p>
            <a:pPr algn="ctr"/>
            <a:fld id="{7291de2e-0fc0-4cdb-9f29-52150cc16ff1}" type="slidenum">
              <a:rPr lang="en-GB" sz="1200" b="1" dirty="0">
                <a:solidFill>
                  <a:srgbClr val="FFFFFF"/>
                </a:solidFill>
                <a:latin typeface="Calibri"/>
              </a:rPr>
              <a:t>7</a:t>
            </a:fld>
            <a:endParaRPr lang="en-GB" sz="1200"/>
          </a:p>
        </p:txBody>
      </p:sp>
    </p:spTree>
  </p:cSld>
  <p:clrMapOvr>
    <a:masterClrMapping/>
  </p:clrMapOvr>
  <p:hf sldNum="1" hdr="0" ftr="1" dt="1"/>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5 &amp; Evidence 6</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5 &amp; Evidence 6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5</a:t>
            </a:r>
          </a:p>
          <a:p>
            <a:pPr>
              <a:spcBef>
                <a:spcPts val="400"/>
              </a:spcBef>
              <a:spcAft>
                <a:spcPts val="0"/>
              </a:spcAft>
            </a:pPr>
            <a:r>
              <a:rPr sz="1000" b="1">
                <a:solidFill>
                  <a:srgbClr val="3A1C64"/>
                </a:solidFill>
                <a:latin typeface="Calibri"/>
              </a:rPr>
              <a:t>Author(s): </a:t>
            </a:r>
            <a:r>
              <a:rPr sz="1000">
                <a:solidFill>
                  <a:srgbClr val="1A1A1A"/>
                </a:solidFill>
                <a:latin typeface="Calibri"/>
              </a:rPr>
              <a:t>Wu, Q., Bansal, G., Zhang, J., Wu, Y., Li, B., Zhu, E., Jiang, L., Zhang, X., Zhang, S., Liu, J., Awadallah, A. H., White, R. W., Burger, D., and Wang, C.</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AutoGen: Enabling Next-Gen LLM Applications via Multi-Agent Conversations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First Conference on Language Modeling (COLM 2024)</a:t>
            </a:r>
          </a:p>
          <a:p>
            <a:pPr>
              <a:spcBef>
                <a:spcPts val="400"/>
              </a:spcBef>
              <a:spcAft>
                <a:spcPts val="0"/>
              </a:spcAft>
            </a:pPr>
            <a:r>
              <a:rPr sz="1000" b="1">
                <a:solidFill>
                  <a:srgbClr val="3A1C64"/>
                </a:solidFill>
                <a:latin typeface="Calibri"/>
              </a:rPr>
              <a:t>Objective: </a:t>
            </a:r>
            <a:r>
              <a:rPr sz="1000">
                <a:solidFill>
                  <a:srgbClr val="1A1A1A"/>
                </a:solidFill>
                <a:latin typeface="Calibri"/>
              </a:rPr>
              <a:t>Program LLM applications by composing multiple conversable agents.</a:t>
            </a:r>
          </a:p>
          <a:p>
            <a:pPr>
              <a:spcBef>
                <a:spcPts val="400"/>
              </a:spcBef>
              <a:spcAft>
                <a:spcPts val="0"/>
              </a:spcAft>
            </a:pPr>
            <a:r>
              <a:rPr sz="1000" b="1">
                <a:solidFill>
                  <a:srgbClr val="3A1C64"/>
                </a:solidFill>
                <a:latin typeface="Calibri"/>
              </a:rPr>
              <a:t>Methodology: </a:t>
            </a:r>
            <a:r>
              <a:rPr sz="1000">
                <a:solidFill>
                  <a:srgbClr val="1A1A1A"/>
                </a:solidFill>
                <a:latin typeface="Calibri"/>
              </a:rPr>
              <a:t>Agents exchange natural-language messages until a stopping condition; modes mix LLMs, humans, and tools.</a:t>
            </a:r>
          </a:p>
          <a:p>
            <a:pPr>
              <a:spcBef>
                <a:spcPts val="400"/>
              </a:spcBef>
              <a:spcAft>
                <a:spcPts val="0"/>
              </a:spcAft>
            </a:pPr>
            <a:r>
              <a:rPr sz="1000" b="1">
                <a:solidFill>
                  <a:srgbClr val="3A1C64"/>
                </a:solidFill>
                <a:latin typeface="Calibri"/>
              </a:rPr>
              <a:t>Findings: </a:t>
            </a:r>
            <a:r>
              <a:rPr sz="1000">
                <a:solidFill>
                  <a:srgbClr val="1A1A1A"/>
                </a:solidFill>
                <a:latin typeface="Calibri"/>
              </a:rPr>
              <a:t>Conversation is a working programming model for multi-agent LLM applications.</a:t>
            </a:r>
          </a:p>
          <a:p>
            <a:pPr>
              <a:spcBef>
                <a:spcPts val="400"/>
              </a:spcBef>
              <a:spcAft>
                <a:spcPts val="0"/>
              </a:spcAft>
            </a:pPr>
            <a:r>
              <a:rPr sz="1000" b="1">
                <a:solidFill>
                  <a:srgbClr val="3A1C64"/>
                </a:solidFill>
                <a:latin typeface="Calibri"/>
              </a:rPr>
              <a:t>Limitations: </a:t>
            </a:r>
            <a:r>
              <a:rPr sz="1000">
                <a:solidFill>
                  <a:srgbClr val="1A1A1A"/>
                </a:solidFill>
                <a:latin typeface="Calibri"/>
              </a:rPr>
              <a:t>The unit of coordination is a chat message, not a live (toolId, score, citation) on Indian Open Government Data.</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6</a:t>
            </a:r>
          </a:p>
          <a:p>
            <a:pPr>
              <a:spcBef>
                <a:spcPts val="400"/>
              </a:spcBef>
              <a:spcAft>
                <a:spcPts val="0"/>
              </a:spcAft>
            </a:pPr>
            <a:r>
              <a:rPr sz="1000" b="1">
                <a:solidFill>
                  <a:srgbClr val="3A1C64"/>
                </a:solidFill>
                <a:latin typeface="Calibri"/>
              </a:rPr>
              <a:t>Author(s): </a:t>
            </a:r>
            <a:r>
              <a:rPr sz="1000">
                <a:solidFill>
                  <a:srgbClr val="1A1A1A"/>
                </a:solidFill>
                <a:latin typeface="Calibri"/>
              </a:rPr>
              <a:t>Hong, S., Zhuge, M., Chen, J., Zheng, X., Cheng, Y., Wang, J., Zhang, C., Wang, Z., Yau, S. K. S., Lin, Z., Zhou, L., Ran, C., Xiao, L., Wu, C., and Schmidhuber, J.</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MetaGPT: Meta Programming for A Multi-Agent Collaborative Framework</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Twelfth International Conference on Learning Representations (ICLR 2024)</a:t>
            </a:r>
          </a:p>
          <a:p>
            <a:pPr>
              <a:spcBef>
                <a:spcPts val="400"/>
              </a:spcBef>
              <a:spcAft>
                <a:spcPts val="0"/>
              </a:spcAft>
            </a:pPr>
            <a:r>
              <a:rPr sz="1000" b="1">
                <a:solidFill>
                  <a:srgbClr val="3A1C64"/>
                </a:solidFill>
                <a:latin typeface="Calibri"/>
              </a:rPr>
              <a:t>Objective: </a:t>
            </a:r>
            <a:r>
              <a:rPr sz="1000">
                <a:solidFill>
                  <a:srgbClr val="1A1A1A"/>
                </a:solidFill>
                <a:latin typeface="Calibri"/>
              </a:rPr>
              <a:t>Reduce role drift in multi-agent software workflows by encoding human SOPs.</a:t>
            </a:r>
          </a:p>
          <a:p>
            <a:pPr>
              <a:spcBef>
                <a:spcPts val="400"/>
              </a:spcBef>
              <a:spcAft>
                <a:spcPts val="0"/>
              </a:spcAft>
            </a:pPr>
            <a:r>
              <a:rPr sz="1000" b="1">
                <a:solidFill>
                  <a:srgbClr val="3A1C64"/>
                </a:solidFill>
                <a:latin typeface="Calibri"/>
              </a:rPr>
              <a:t>Methodology: </a:t>
            </a:r>
            <a:r>
              <a:rPr sz="1000">
                <a:solidFill>
                  <a:srgbClr val="1A1A1A"/>
                </a:solidFill>
                <a:latin typeface="Calibri"/>
              </a:rPr>
              <a:t>Standard Operating Procedures are written into prompt sequences; an assembly-line assigns roles.</a:t>
            </a:r>
          </a:p>
          <a:p>
            <a:pPr>
              <a:spcBef>
                <a:spcPts val="400"/>
              </a:spcBef>
              <a:spcAft>
                <a:spcPts val="0"/>
              </a:spcAft>
            </a:pPr>
            <a:r>
              <a:rPr sz="1000" b="1">
                <a:solidFill>
                  <a:srgbClr val="3A1C64"/>
                </a:solidFill>
                <a:latin typeface="Calibri"/>
              </a:rPr>
              <a:t>Findings: </a:t>
            </a:r>
            <a:r>
              <a:rPr sz="1000">
                <a:solidFill>
                  <a:srgbClr val="1A1A1A"/>
                </a:solidFill>
                <a:latin typeface="Calibri"/>
              </a:rPr>
              <a:t>Authored SOPs produce more coherent software artefacts than unconstrained chat agents.</a:t>
            </a:r>
          </a:p>
          <a:p>
            <a:pPr>
              <a:spcBef>
                <a:spcPts val="400"/>
              </a:spcBef>
              <a:spcAft>
                <a:spcPts val="0"/>
              </a:spcAft>
            </a:pPr>
            <a:r>
              <a:rPr sz="1000" b="1">
                <a:solidFill>
                  <a:srgbClr val="3A1C64"/>
                </a:solidFill>
                <a:latin typeface="Calibri"/>
              </a:rPr>
              <a:t>Limitations: </a:t>
            </a:r>
            <a:r>
              <a:rPr sz="1000">
                <a:solidFill>
                  <a:srgbClr val="1A1A1A"/>
                </a:solidFill>
                <a:latin typeface="Calibri"/>
              </a:rPr>
              <a:t>Who speaks next is designed in advance. The graph is not updated from session-local affinity after a live tool call.</a:t>
            </a:r>
          </a:p>
        </p:txBody>
      </p:sp>
      <p:sp>
        <p:nvSpPr>
          <p:cNvPr id="4008" name="Automatic Date 8"/>
          <p:cNvSpPr txBox="1"/>
          <p:nvPr/>
        </p:nvSpPr>
        <p:spPr>
          <a:xfrm>
            <a:off x="255016" y="6565900"/>
            <a:ext cx="3108960" cy="255016"/>
          </a:xfrm>
          <a:prstGeom prst="rect">
            <a:avLst/>
          </a:prstGeom>
          <a:noFill/>
        </p:spPr>
        <p:txBody>
          <a:bodyPr wrap="none" lIns="0" tIns="0" rIns="0" bIns="0" anchor="ctr"/>
          <a:lstStyle/>
          <a:p>
            <a:pPr algn="l"/>
            <a:fld id="{324b3a64-7e38-4bd4-961a-fb05b16b0ba3}" type="datetime3">
              <a:rPr lang="en-GB" sz="1000" dirty="0">
                <a:solidFill>
                  <a:srgbClr val="9AA3AE"/>
                </a:solidFill>
                <a:latin typeface="Calibri"/>
              </a:rPr>
              <a:t>09/07/2026</a:t>
            </a:fld>
            <a:endParaRPr lang="en-GB" sz="1000"/>
          </a:p>
        </p:txBody>
      </p:sp>
      <p:sp>
        <p:nvSpPr>
          <p:cNvPr id="5008" name="Automatic Slide Number 8"/>
          <p:cNvSpPr txBox="1"/>
          <p:nvPr/>
        </p:nvSpPr>
        <p:spPr>
          <a:xfrm>
            <a:off x="11475720" y="6510528"/>
            <a:ext cx="475488" cy="256032"/>
          </a:xfrm>
          <a:prstGeom prst="rect">
            <a:avLst/>
          </a:prstGeom>
          <a:noFill/>
        </p:spPr>
        <p:txBody>
          <a:bodyPr wrap="none" lIns="0" tIns="0" rIns="0" bIns="0" anchor="ctr"/>
          <a:lstStyle/>
          <a:p>
            <a:pPr algn="ctr"/>
            <a:fld id="{03624ba8-4215-4f5c-a50e-9a5454bb7129}" type="slidenum">
              <a:rPr lang="en-GB" sz="1200" b="1" dirty="0">
                <a:solidFill>
                  <a:srgbClr val="FFFFFF"/>
                </a:solidFill>
                <a:latin typeface="Calibri"/>
              </a:rPr>
              <a:t>8</a:t>
            </a:fld>
            <a:endParaRPr lang="en-GB" sz="1200"/>
          </a:p>
        </p:txBody>
      </p:sp>
    </p:spTree>
  </p:cSld>
  <p:clrMapOvr>
    <a:masterClrMapping/>
  </p:clrMapOvr>
  <p:hf sldNum="1" hdr="0" ftr="1" dt="1"/>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7 &amp; Evidence 8</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7 &amp; Evidence 8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7</a:t>
            </a:r>
          </a:p>
          <a:p>
            <a:pPr>
              <a:spcBef>
                <a:spcPts val="400"/>
              </a:spcBef>
              <a:spcAft>
                <a:spcPts val="0"/>
              </a:spcAft>
            </a:pPr>
            <a:r>
              <a:rPr sz="1000" b="1">
                <a:solidFill>
                  <a:srgbClr val="3A1C64"/>
                </a:solidFill>
                <a:latin typeface="Calibri"/>
              </a:rPr>
              <a:t>Author(s): </a:t>
            </a:r>
            <a:r>
              <a:rPr sz="1000">
                <a:solidFill>
                  <a:srgbClr val="1A1A1A"/>
                </a:solidFill>
                <a:latin typeface="Calibri"/>
              </a:rPr>
              <a:t>Qian, C., Liu, W., Liu, H., Chen, N., Dang, Y., Li, J., Yang, C., Chen, W., Su, Y., Cong, X., Xu, J., Li, D., Liu, Z., and Sun, M.</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ChatDev: Communicative Agents for Software Development</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62nd Annual Meeting of the Association for Computational Linguistics (Volume 1: Long Papers), pages 15174–15186. doi:10.18653/v1/2024.acl-long.810</a:t>
            </a:r>
          </a:p>
          <a:p>
            <a:pPr>
              <a:spcBef>
                <a:spcPts val="400"/>
              </a:spcBef>
              <a:spcAft>
                <a:spcPts val="0"/>
              </a:spcAft>
            </a:pPr>
            <a:r>
              <a:rPr sz="1000" b="1">
                <a:solidFill>
                  <a:srgbClr val="3A1C64"/>
                </a:solidFill>
                <a:latin typeface="Calibri"/>
              </a:rPr>
              <a:t>Objective: </a:t>
            </a:r>
            <a:r>
              <a:rPr sz="1000">
                <a:solidFill>
                  <a:srgbClr val="1A1A1A"/>
                </a:solidFill>
                <a:latin typeface="Calibri"/>
              </a:rPr>
              <a:t>Organise specialised LLM agents as a chat-chain for software design, coding, and testing.</a:t>
            </a:r>
          </a:p>
          <a:p>
            <a:pPr>
              <a:spcBef>
                <a:spcPts val="400"/>
              </a:spcBef>
              <a:spcAft>
                <a:spcPts val="0"/>
              </a:spcAft>
            </a:pPr>
            <a:r>
              <a:rPr sz="1000" b="1">
                <a:solidFill>
                  <a:srgbClr val="3A1C64"/>
                </a:solidFill>
                <a:latin typeface="Calibri"/>
              </a:rPr>
              <a:t>Methodology: </a:t>
            </a:r>
            <a:r>
              <a:rPr sz="1000">
                <a:solidFill>
                  <a:srgbClr val="1A1A1A"/>
                </a:solidFill>
                <a:latin typeface="Calibri"/>
              </a:rPr>
              <a:t>Chat chain (what to communicate) plus communicative dehallucination (how to communicate).</a:t>
            </a:r>
          </a:p>
          <a:p>
            <a:pPr>
              <a:spcBef>
                <a:spcPts val="400"/>
              </a:spcBef>
              <a:spcAft>
                <a:spcPts val="0"/>
              </a:spcAft>
            </a:pPr>
            <a:r>
              <a:rPr sz="1000" b="1">
                <a:solidFill>
                  <a:srgbClr val="3A1C64"/>
                </a:solidFill>
                <a:latin typeface="Calibri"/>
              </a:rPr>
              <a:t>Findings: </a:t>
            </a:r>
            <a:r>
              <a:rPr sz="1000">
                <a:solidFill>
                  <a:srgbClr val="1A1A1A"/>
                </a:solidFill>
                <a:latin typeface="Calibri"/>
              </a:rPr>
              <a:t>Natural-language design talk and code-level debug talk can be unified in one multi-agent loop.</a:t>
            </a:r>
          </a:p>
          <a:p>
            <a:pPr>
              <a:spcBef>
                <a:spcPts val="400"/>
              </a:spcBef>
              <a:spcAft>
                <a:spcPts val="0"/>
              </a:spcAft>
            </a:pPr>
            <a:r>
              <a:rPr sz="1000" b="1">
                <a:solidFill>
                  <a:srgbClr val="3A1C64"/>
                </a:solidFill>
                <a:latin typeface="Calibri"/>
              </a:rPr>
              <a:t>Limitations: </a:t>
            </a:r>
            <a:r>
              <a:rPr sz="1000">
                <a:solidFill>
                  <a:srgbClr val="1A1A1A"/>
                </a:solidFill>
                <a:latin typeface="Calibri"/>
              </a:rPr>
              <a:t>The environment is a codebase, not a ministry API with a fail-loud live GET.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8</a:t>
            </a:r>
          </a:p>
          <a:p>
            <a:pPr>
              <a:spcBef>
                <a:spcPts val="400"/>
              </a:spcBef>
              <a:spcAft>
                <a:spcPts val="0"/>
              </a:spcAft>
            </a:pPr>
            <a:r>
              <a:rPr sz="1000" b="1">
                <a:solidFill>
                  <a:srgbClr val="3A1C64"/>
                </a:solidFill>
                <a:latin typeface="Calibri"/>
              </a:rPr>
              <a:t>Author(s): </a:t>
            </a:r>
            <a:r>
              <a:rPr sz="1000">
                <a:solidFill>
                  <a:srgbClr val="1A1A1A"/>
                </a:solidFill>
                <a:latin typeface="Calibri"/>
              </a:rPr>
              <a:t>Li, G., Hammoud, H. A. A. K., Itani, H., Khizbullin, D., and Ghanem, B.</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CAMEL: Communicative Agents for “Mind” Exploration of Large Language Model Society</a:t>
            </a:r>
          </a:p>
          <a:p>
            <a:pPr>
              <a:spcBef>
                <a:spcPts val="400"/>
              </a:spcBef>
              <a:spcAft>
                <a:spcPts val="0"/>
              </a:spcAft>
            </a:pPr>
            <a:r>
              <a:rPr sz="1000" b="1">
                <a:solidFill>
                  <a:srgbClr val="3A1C64"/>
                </a:solidFill>
                <a:latin typeface="Calibri"/>
              </a:rPr>
              <a:t>Publication: </a:t>
            </a:r>
            <a:r>
              <a:rPr sz="1000">
                <a:solidFill>
                  <a:srgbClr val="1A1A1A"/>
                </a:solidFill>
                <a:latin typeface="Calibri"/>
              </a:rPr>
              <a:t>Advances in Neural Information Processing Systems 36 (NeurIPS 2023)</a:t>
            </a:r>
          </a:p>
          <a:p>
            <a:pPr>
              <a:spcBef>
                <a:spcPts val="400"/>
              </a:spcBef>
              <a:spcAft>
                <a:spcPts val="0"/>
              </a:spcAft>
            </a:pPr>
            <a:r>
              <a:rPr sz="1000" b="1">
                <a:solidFill>
                  <a:srgbClr val="3A1C64"/>
                </a:solidFill>
                <a:latin typeface="Calibri"/>
              </a:rPr>
              <a:t>Objective: </a:t>
            </a:r>
            <a:r>
              <a:rPr sz="1000">
                <a:solidFill>
                  <a:srgbClr val="1A1A1A"/>
                </a:solidFill>
                <a:latin typeface="Calibri"/>
              </a:rPr>
              <a:t>Enable autonomous cooperation among communicative agents with minimal human steering.</a:t>
            </a:r>
          </a:p>
          <a:p>
            <a:pPr>
              <a:spcBef>
                <a:spcPts val="400"/>
              </a:spcBef>
              <a:spcAft>
                <a:spcPts val="0"/>
              </a:spcAft>
            </a:pPr>
            <a:r>
              <a:rPr sz="1000" b="1">
                <a:solidFill>
                  <a:srgbClr val="3A1C64"/>
                </a:solidFill>
                <a:latin typeface="Calibri"/>
              </a:rPr>
              <a:t>Methodology: </a:t>
            </a:r>
            <a:r>
              <a:rPr sz="1000">
                <a:solidFill>
                  <a:srgbClr val="1A1A1A"/>
                </a:solidFill>
                <a:latin typeface="Calibri"/>
              </a:rPr>
              <a:t>Role-playing with inception prompting to keep agents on a human-specified task.</a:t>
            </a:r>
          </a:p>
          <a:p>
            <a:pPr>
              <a:spcBef>
                <a:spcPts val="400"/>
              </a:spcBef>
              <a:spcAft>
                <a:spcPts val="0"/>
              </a:spcAft>
            </a:pPr>
            <a:r>
              <a:rPr sz="1000" b="1">
                <a:solidFill>
                  <a:srgbClr val="3A1C64"/>
                </a:solidFill>
                <a:latin typeface="Calibri"/>
              </a:rPr>
              <a:t>Findings: </a:t>
            </a:r>
            <a:r>
              <a:rPr sz="1000">
                <a:solidFill>
                  <a:srgbClr val="1A1A1A"/>
                </a:solidFill>
                <a:latin typeface="Calibri"/>
              </a:rPr>
              <a:t>Inception prompting yields scalable multi-agent conversational data and cooperative behaviour.</a:t>
            </a:r>
          </a:p>
          <a:p>
            <a:pPr>
              <a:spcBef>
                <a:spcPts val="400"/>
              </a:spcBef>
              <a:spcAft>
                <a:spcPts val="0"/>
              </a:spcAft>
            </a:pPr>
            <a:r>
              <a:rPr sz="1000" b="1">
                <a:solidFill>
                  <a:srgbClr val="3A1C64"/>
                </a:solidFill>
                <a:latin typeface="Calibri"/>
              </a:rPr>
              <a:t>Limitations: </a:t>
            </a:r>
            <a:r>
              <a:rPr sz="1000">
                <a:solidFill>
                  <a:srgbClr val="1A1A1A"/>
                </a:solidFill>
                <a:latin typeface="Calibri"/>
              </a:rPr>
              <a:t>No first-class vote over tool identifiers backed by Open Government Data.</a:t>
            </a:r>
          </a:p>
        </p:txBody>
      </p:sp>
      <p:sp>
        <p:nvSpPr>
          <p:cNvPr id="4009" name="Automatic Date 9"/>
          <p:cNvSpPr txBox="1"/>
          <p:nvPr/>
        </p:nvSpPr>
        <p:spPr>
          <a:xfrm>
            <a:off x="255016" y="6565900"/>
            <a:ext cx="3108960" cy="255016"/>
          </a:xfrm>
          <a:prstGeom prst="rect">
            <a:avLst/>
          </a:prstGeom>
          <a:noFill/>
        </p:spPr>
        <p:txBody>
          <a:bodyPr wrap="none" lIns="0" tIns="0" rIns="0" bIns="0" anchor="ctr"/>
          <a:lstStyle/>
          <a:p>
            <a:pPr algn="l"/>
            <a:fld id="{b8d9af0e-6795-4d62-a15d-04cbfcf47c43}" type="datetime3">
              <a:rPr lang="en-GB" sz="1000" dirty="0">
                <a:solidFill>
                  <a:srgbClr val="9AA3AE"/>
                </a:solidFill>
                <a:latin typeface="Calibri"/>
              </a:rPr>
              <a:t>09/07/2026</a:t>
            </a:fld>
            <a:endParaRPr lang="en-GB" sz="1000"/>
          </a:p>
        </p:txBody>
      </p:sp>
      <p:sp>
        <p:nvSpPr>
          <p:cNvPr id="5009" name="Automatic Slide Number 9"/>
          <p:cNvSpPr txBox="1"/>
          <p:nvPr/>
        </p:nvSpPr>
        <p:spPr>
          <a:xfrm>
            <a:off x="11475720" y="6510528"/>
            <a:ext cx="475488" cy="256032"/>
          </a:xfrm>
          <a:prstGeom prst="rect">
            <a:avLst/>
          </a:prstGeom>
          <a:noFill/>
        </p:spPr>
        <p:txBody>
          <a:bodyPr wrap="none" lIns="0" tIns="0" rIns="0" bIns="0" anchor="ctr"/>
          <a:lstStyle/>
          <a:p>
            <a:pPr algn="ctr"/>
            <a:fld id="{766d859c-fb2c-4347-8b19-cd3f26a2893d}" type="slidenum">
              <a:rPr lang="en-GB" sz="1200" b="1" dirty="0">
                <a:solidFill>
                  <a:srgbClr val="FFFFFF"/>
                </a:solidFill>
                <a:latin typeface="Calibri"/>
              </a:rPr>
              <a:t>9</a:t>
            </a:fld>
            <a:endParaRPr lang="en-GB" sz="1200"/>
          </a:p>
        </p:txBody>
      </p:sp>
    </p:spTree>
  </p:cSld>
  <p:clrMapOvr>
    <a:masterClrMapping/>
  </p:clrMapOvr>
  <p:hf sldNum="1" hdr="0" ftr="1" dt="1"/>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9 &amp; Evidence 10</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9 &amp; Evidence 10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9</a:t>
            </a:r>
          </a:p>
          <a:p>
            <a:pPr>
              <a:spcBef>
                <a:spcPts val="400"/>
              </a:spcBef>
              <a:spcAft>
                <a:spcPts val="0"/>
              </a:spcAft>
            </a:pPr>
            <a:r>
              <a:rPr sz="1000" b="1">
                <a:solidFill>
                  <a:srgbClr val="3A1C64"/>
                </a:solidFill>
                <a:latin typeface="Calibri"/>
              </a:rPr>
              <a:t>Author(s): </a:t>
            </a:r>
            <a:r>
              <a:rPr sz="1000">
                <a:solidFill>
                  <a:srgbClr val="1A1A1A"/>
                </a:solidFill>
                <a:latin typeface="Calibri"/>
              </a:rPr>
              <a:t>Qin, Y., Liang, S., Ye, Y., Zhu, K., Yan, L., Lu, Y., Lin, Y., Cong, X., Tang, X., Qian, B., Zhao, S., Hong, L., Tian, R., Xie, R., Zhou, J., Gerstein, M., Li, D., Liu, Z., and Sun, M.</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ToolLLM: Facilitating Large Language Models to Master 16000+ Real-world APIs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Twelfth International Conference on Learning Representations (ICLR 2024)</a:t>
            </a:r>
          </a:p>
          <a:p>
            <a:pPr>
              <a:spcBef>
                <a:spcPts val="400"/>
              </a:spcBef>
              <a:spcAft>
                <a:spcPts val="0"/>
              </a:spcAft>
            </a:pPr>
            <a:r>
              <a:rPr sz="1000" b="1">
                <a:solidFill>
                  <a:srgbClr val="3A1C64"/>
                </a:solidFill>
                <a:latin typeface="Calibri"/>
              </a:rPr>
              <a:t>Objective: </a:t>
            </a:r>
            <a:r>
              <a:rPr sz="1000">
                <a:solidFill>
                  <a:srgbClr val="1A1A1A"/>
                </a:solidFill>
                <a:latin typeface="Calibri"/>
              </a:rPr>
              <a:t>Give open LLMs general tool-use over a large real-world API catalogue.</a:t>
            </a:r>
          </a:p>
          <a:p>
            <a:pPr>
              <a:spcBef>
                <a:spcPts val="400"/>
              </a:spcBef>
              <a:spcAft>
                <a:spcPts val="0"/>
              </a:spcAft>
            </a:pPr>
            <a:r>
              <a:rPr sz="1000" b="1">
                <a:solidFill>
                  <a:srgbClr val="3A1C64"/>
                </a:solidFill>
                <a:latin typeface="Calibri"/>
              </a:rPr>
              <a:t>Methodology: </a:t>
            </a:r>
            <a:r>
              <a:rPr sz="1000">
                <a:solidFill>
                  <a:srgbClr val="1A1A1A"/>
                </a:solidFill>
                <a:latin typeface="Calibri"/>
              </a:rPr>
              <a:t>ToolBench: 16,464 RapidAPI REST endpoints; SBERT retriever; DFSDT planner; ToolEval protocol.</a:t>
            </a:r>
          </a:p>
          <a:p>
            <a:pPr>
              <a:spcBef>
                <a:spcPts val="400"/>
              </a:spcBef>
              <a:spcAft>
                <a:spcPts val="0"/>
              </a:spcAft>
            </a:pPr>
            <a:r>
              <a:rPr sz="1000" b="1">
                <a:solidFill>
                  <a:srgbClr val="3A1C64"/>
                </a:solidFill>
                <a:latin typeface="Calibri"/>
              </a:rPr>
              <a:t>Findings: </a:t>
            </a:r>
            <a:r>
              <a:rPr sz="1000">
                <a:solidFill>
                  <a:srgbClr val="1A1A1A"/>
                </a:solidFill>
                <a:latin typeface="Calibri"/>
              </a:rPr>
              <a:t>A public ranking library and planner exist for large-scale tool use.</a:t>
            </a:r>
          </a:p>
          <a:p>
            <a:pPr>
              <a:spcBef>
                <a:spcPts val="400"/>
              </a:spcBef>
              <a:spcAft>
                <a:spcPts val="0"/>
              </a:spcAft>
            </a:pPr>
            <a:r>
              <a:rPr sz="1000" b="1">
                <a:solidFill>
                  <a:srgbClr val="3A1C64"/>
                </a:solidFill>
                <a:latin typeface="Calibri"/>
              </a:rPr>
              <a:t>Limitations: </a:t>
            </a:r>
            <a:r>
              <a:rPr sz="1000">
                <a:solidFill>
                  <a:srgbClr val="1A1A1A"/>
                </a:solidFill>
                <a:latin typeface="Calibri"/>
              </a:rPr>
              <a:t>Retrieval is turn-amnesic. RapidAPI keys are not redistributable, so this lab cannot execute ToolBench endpoints live.</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10</a:t>
            </a:r>
          </a:p>
          <a:p>
            <a:pPr>
              <a:spcBef>
                <a:spcPts val="400"/>
              </a:spcBef>
              <a:spcAft>
                <a:spcPts val="0"/>
              </a:spcAft>
            </a:pPr>
            <a:r>
              <a:rPr sz="1000" b="1">
                <a:solidFill>
                  <a:srgbClr val="3A1C64"/>
                </a:solidFill>
                <a:latin typeface="Calibri"/>
              </a:rPr>
              <a:t>Author(s): </a:t>
            </a:r>
            <a:r>
              <a:rPr sz="1000">
                <a:solidFill>
                  <a:srgbClr val="1A1A1A"/>
                </a:solidFill>
                <a:latin typeface="Calibri"/>
              </a:rPr>
              <a:t>Zheng, Y., Li, P., Liu, W., Liu, Y., Luan, J., and Wang, B.</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ToolRerank: Adaptive and Hierarchy-Aware Reranking for Tool Retrieval</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2024 Joint International Conference on Computational Linguistics, Language Resources and Evaluation (LREC-COLING 2024), pages 16263–16273. ACL Anthology 2024.lrec-main.1413</a:t>
            </a:r>
          </a:p>
          <a:p>
            <a:pPr>
              <a:spcBef>
                <a:spcPts val="400"/>
              </a:spcBef>
              <a:spcAft>
                <a:spcPts val="0"/>
              </a:spcAft>
            </a:pPr>
            <a:r>
              <a:rPr sz="1000" b="1">
                <a:solidFill>
                  <a:srgbClr val="3A1C64"/>
                </a:solidFill>
                <a:latin typeface="Calibri"/>
              </a:rPr>
              <a:t>Objective: </a:t>
            </a:r>
            <a:r>
              <a:rPr sz="1000">
                <a:solidFill>
                  <a:srgbClr val="1A1A1A"/>
                </a:solidFill>
                <a:latin typeface="Calibri"/>
              </a:rPr>
              <a:t>Refine ToolLLM-style retrieval for seen versus unseen APIs and for tool-library hierarchy.</a:t>
            </a:r>
          </a:p>
          <a:p>
            <a:pPr>
              <a:spcBef>
                <a:spcPts val="400"/>
              </a:spcBef>
              <a:spcAft>
                <a:spcPts val="0"/>
              </a:spcAft>
            </a:pPr>
            <a:r>
              <a:rPr sz="1000" b="1">
                <a:solidFill>
                  <a:srgbClr val="3A1C64"/>
                </a:solidFill>
                <a:latin typeface="Calibri"/>
              </a:rPr>
              <a:t>Methodology: </a:t>
            </a:r>
            <a:r>
              <a:rPr sz="1000">
                <a:solidFill>
                  <a:srgbClr val="1A1A1A"/>
                </a:solidFill>
                <a:latin typeface="Calibri"/>
              </a:rPr>
              <a:t>Adaptive truncation of seen/unseen APIs plus hierarchy-aware concentration or diversity.</a:t>
            </a:r>
          </a:p>
          <a:p>
            <a:pPr>
              <a:spcBef>
                <a:spcPts val="400"/>
              </a:spcBef>
              <a:spcAft>
                <a:spcPts val="0"/>
              </a:spcAft>
            </a:pPr>
            <a:r>
              <a:rPr sz="1000" b="1">
                <a:solidFill>
                  <a:srgbClr val="3A1C64"/>
                </a:solidFill>
                <a:latin typeface="Calibri"/>
              </a:rPr>
              <a:t>Findings: </a:t>
            </a:r>
            <a:r>
              <a:rPr sz="1000">
                <a:solidFill>
                  <a:srgbClr val="1A1A1A"/>
                </a:solidFill>
                <a:latin typeface="Calibri"/>
              </a:rPr>
              <a:t>Reranking the SBERT shortlist improves downstream tool execution quality.</a:t>
            </a:r>
          </a:p>
          <a:p>
            <a:pPr>
              <a:spcBef>
                <a:spcPts val="400"/>
              </a:spcBef>
              <a:spcAft>
                <a:spcPts val="0"/>
              </a:spcAft>
            </a:pPr>
            <a:r>
              <a:rPr sz="1000" b="1">
                <a:solidFill>
                  <a:srgbClr val="3A1C64"/>
                </a:solidFill>
                <a:latin typeface="Calibri"/>
              </a:rPr>
              <a:t>Limitations: </a:t>
            </a:r>
            <a:r>
              <a:rPr sz="1000">
                <a:solidFill>
                  <a:srgbClr val="1A1A1A"/>
                </a:solidFill>
                <a:latin typeface="Calibri"/>
              </a:rPr>
              <a:t>Still query-only. Session co-activation and later write-back from a pruned mesh are unused.</a:t>
            </a:r>
          </a:p>
        </p:txBody>
      </p:sp>
      <p:sp>
        <p:nvSpPr>
          <p:cNvPr id="4010" name="Automatic Date 10"/>
          <p:cNvSpPr txBox="1"/>
          <p:nvPr/>
        </p:nvSpPr>
        <p:spPr>
          <a:xfrm>
            <a:off x="255016" y="6565900"/>
            <a:ext cx="3108960" cy="255016"/>
          </a:xfrm>
          <a:prstGeom prst="rect">
            <a:avLst/>
          </a:prstGeom>
          <a:noFill/>
        </p:spPr>
        <p:txBody>
          <a:bodyPr wrap="none" lIns="0" tIns="0" rIns="0" bIns="0" anchor="ctr"/>
          <a:lstStyle/>
          <a:p>
            <a:pPr algn="l"/>
            <a:fld id="{efce820b-539a-45fb-b9b8-dc9d778614c7}" type="datetime3">
              <a:rPr lang="en-GB" sz="1000" dirty="0">
                <a:solidFill>
                  <a:srgbClr val="9AA3AE"/>
                </a:solidFill>
                <a:latin typeface="Calibri"/>
              </a:rPr>
              <a:t>09/07/2026</a:t>
            </a:fld>
            <a:endParaRPr lang="en-GB" sz="1000"/>
          </a:p>
        </p:txBody>
      </p:sp>
      <p:sp>
        <p:nvSpPr>
          <p:cNvPr id="5010" name="Automatic Slide Number 10"/>
          <p:cNvSpPr txBox="1"/>
          <p:nvPr/>
        </p:nvSpPr>
        <p:spPr>
          <a:xfrm>
            <a:off x="11475720" y="6510528"/>
            <a:ext cx="475488" cy="256032"/>
          </a:xfrm>
          <a:prstGeom prst="rect">
            <a:avLst/>
          </a:prstGeom>
          <a:noFill/>
        </p:spPr>
        <p:txBody>
          <a:bodyPr wrap="none" lIns="0" tIns="0" rIns="0" bIns="0" anchor="ctr"/>
          <a:lstStyle/>
          <a:p>
            <a:pPr algn="ctr"/>
            <a:fld id="{c060fcbc-7b94-412d-8c6b-aef9ace5044a}" type="slidenum">
              <a:rPr lang="en-GB" sz="1200" b="1" dirty="0">
                <a:solidFill>
                  <a:srgbClr val="FFFFFF"/>
                </a:solidFill>
                <a:latin typeface="Calibri"/>
              </a:rPr>
              <a:t>10</a:t>
            </a:fld>
            <a:endParaRPr lang="en-GB" sz="1200"/>
          </a:p>
        </p:txBody>
      </p:sp>
    </p:spTree>
  </p:cSld>
  <p:clrMapOvr>
    <a:masterClrMapping/>
  </p:clrMapOvr>
  <p:hf sldNum="1" hdr="0" ftr="1" dt="1"/>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11 &amp; Evidence 12</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11 &amp; Evidence 12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11</a:t>
            </a:r>
          </a:p>
          <a:p>
            <a:pPr>
              <a:spcBef>
                <a:spcPts val="400"/>
              </a:spcBef>
              <a:spcAft>
                <a:spcPts val="0"/>
              </a:spcAft>
            </a:pPr>
            <a:r>
              <a:rPr sz="1000" b="1">
                <a:solidFill>
                  <a:srgbClr val="3A1C64"/>
                </a:solidFill>
                <a:latin typeface="Calibri"/>
              </a:rPr>
              <a:t>Author(s): </a:t>
            </a:r>
            <a:r>
              <a:rPr sz="1000">
                <a:solidFill>
                  <a:srgbClr val="1A1A1A"/>
                </a:solidFill>
                <a:latin typeface="Calibri"/>
              </a:rPr>
              <a:t>Ong, I., Almahairi, A., Wu, V., Chiang, W.-L., Wu, T., Gonzalez, J. E., Kadous, M. W., and Stoica, I.</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RouteLLM: Learning to Route LLMs from Preference Data</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Thirteenth International Conference on Learning Representations (ICLR 2025)</a:t>
            </a:r>
          </a:p>
          <a:p>
            <a:pPr>
              <a:spcBef>
                <a:spcPts val="400"/>
              </a:spcBef>
              <a:spcAft>
                <a:spcPts val="0"/>
              </a:spcAft>
            </a:pPr>
            <a:r>
              <a:rPr sz="1000" b="1">
                <a:solidFill>
                  <a:srgbClr val="3A1C64"/>
                </a:solidFill>
                <a:latin typeface="Calibri"/>
              </a:rPr>
              <a:t>Objective: </a:t>
            </a:r>
            <a:r>
              <a:rPr sz="1000">
                <a:solidFill>
                  <a:srgbClr val="1A1A1A"/>
                </a:solidFill>
                <a:latin typeface="Calibri"/>
              </a:rPr>
              <a:t>Route each query between a stronger and a weaker LLM from human preference data.</a:t>
            </a:r>
          </a:p>
          <a:p>
            <a:pPr>
              <a:spcBef>
                <a:spcPts val="400"/>
              </a:spcBef>
              <a:spcAft>
                <a:spcPts val="0"/>
              </a:spcAft>
            </a:pPr>
            <a:r>
              <a:rPr sz="1000" b="1">
                <a:solidFill>
                  <a:srgbClr val="3A1C64"/>
                </a:solidFill>
                <a:latin typeface="Calibri"/>
              </a:rPr>
              <a:t>Methodology: </a:t>
            </a:r>
            <a:r>
              <a:rPr sz="1000">
                <a:solidFill>
                  <a:srgbClr val="1A1A1A"/>
                </a:solidFill>
                <a:latin typeface="Calibri"/>
              </a:rPr>
              <a:t>Trained router plus data augmentation; deployed as a frozen policy at inference.</a:t>
            </a:r>
          </a:p>
          <a:p>
            <a:pPr>
              <a:spcBef>
                <a:spcPts val="400"/>
              </a:spcBef>
              <a:spcAft>
                <a:spcPts val="0"/>
              </a:spcAft>
            </a:pPr>
            <a:r>
              <a:rPr sz="1000" b="1">
                <a:solidFill>
                  <a:srgbClr val="3A1C64"/>
                </a:solidFill>
                <a:latin typeface="Calibri"/>
              </a:rPr>
              <a:t>Findings: </a:t>
            </a:r>
            <a:r>
              <a:rPr sz="1000">
                <a:solidFill>
                  <a:srgbClr val="1A1A1A"/>
                </a:solidFill>
                <a:latin typeface="Calibri"/>
              </a:rPr>
              <a:t>Preference-trained routers can cut cost while holding response quality on public benchmarks.</a:t>
            </a:r>
          </a:p>
          <a:p>
            <a:pPr>
              <a:spcBef>
                <a:spcPts val="400"/>
              </a:spcBef>
              <a:spcAft>
                <a:spcPts val="0"/>
              </a:spcAft>
            </a:pPr>
            <a:r>
              <a:rPr sz="1000" b="1">
                <a:solidFill>
                  <a:srgbClr val="3A1C64"/>
                </a:solidFill>
                <a:latin typeface="Calibri"/>
              </a:rPr>
              <a:t>Limitations: </a:t>
            </a:r>
            <a:r>
              <a:rPr sz="1000">
                <a:solidFill>
                  <a:srgbClr val="1A1A1A"/>
                </a:solidFill>
                <a:latin typeface="Calibri"/>
              </a:rPr>
              <a:t>The object of routing is an LLM SKU, not a named Indian-OGD specialist with a training-free posterior.</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12</a:t>
            </a:r>
          </a:p>
          <a:p>
            <a:pPr>
              <a:spcBef>
                <a:spcPts val="400"/>
              </a:spcBef>
              <a:spcAft>
                <a:spcPts val="0"/>
              </a:spcAft>
            </a:pPr>
            <a:r>
              <a:rPr sz="1000" b="1">
                <a:solidFill>
                  <a:srgbClr val="3A1C64"/>
                </a:solidFill>
                <a:latin typeface="Calibri"/>
              </a:rPr>
              <a:t>Author(s): </a:t>
            </a:r>
            <a:r>
              <a:rPr sz="1000">
                <a:solidFill>
                  <a:srgbClr val="1A1A1A"/>
                </a:solidFill>
                <a:latin typeface="Calibri"/>
              </a:rPr>
              <a:t>Yue, Y., Zhang, G., Liu, B., Wan, G., Wang, K., Cheng, D., and Qi, Y.</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MasRouter: Learning to Route LLMs for Multi-Agent Systems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63rd Annual Meeting of the Association for Computational Linguistics (Volume 1: Long Papers), pages 15549–15572. doi:10.18653/v1/2025.acl-long.757</a:t>
            </a:r>
          </a:p>
          <a:p>
            <a:pPr>
              <a:spcBef>
                <a:spcPts val="400"/>
              </a:spcBef>
              <a:spcAft>
                <a:spcPts val="0"/>
              </a:spcAft>
            </a:pPr>
            <a:r>
              <a:rPr sz="1000" b="1">
                <a:solidFill>
                  <a:srgbClr val="3A1C64"/>
                </a:solidFill>
                <a:latin typeface="Calibri"/>
              </a:rPr>
              <a:t>Objective: </a:t>
            </a:r>
            <a:r>
              <a:rPr sz="1000">
                <a:solidFill>
                  <a:srgbClr val="1A1A1A"/>
                </a:solidFill>
                <a:latin typeface="Calibri"/>
              </a:rPr>
              <a:t>Unify collaboration mode, role allocation, and LLM choice as one MAS routing problem.</a:t>
            </a:r>
          </a:p>
          <a:p>
            <a:pPr>
              <a:spcBef>
                <a:spcPts val="400"/>
              </a:spcBef>
              <a:spcAft>
                <a:spcPts val="0"/>
              </a:spcAft>
            </a:pPr>
            <a:r>
              <a:rPr sz="1000" b="1">
                <a:solidFill>
                  <a:srgbClr val="3A1C64"/>
                </a:solidFill>
                <a:latin typeface="Calibri"/>
              </a:rPr>
              <a:t>Methodology: </a:t>
            </a:r>
            <a:r>
              <a:rPr sz="1000">
                <a:solidFill>
                  <a:srgbClr val="1A1A1A"/>
                </a:solidFill>
                <a:latin typeface="Calibri"/>
              </a:rPr>
              <a:t>Cascaded neural controller trained over multi-agent topologies.</a:t>
            </a:r>
          </a:p>
          <a:p>
            <a:pPr>
              <a:spcBef>
                <a:spcPts val="400"/>
              </a:spcBef>
              <a:spcAft>
                <a:spcPts val="0"/>
              </a:spcAft>
            </a:pPr>
            <a:r>
              <a:rPr sz="1000" b="1">
                <a:solidFill>
                  <a:srgbClr val="3A1C64"/>
                </a:solidFill>
                <a:latin typeface="Calibri"/>
              </a:rPr>
              <a:t>Findings: </a:t>
            </a:r>
            <a:r>
              <a:rPr sz="1000">
                <a:solidFill>
                  <a:srgbClr val="1A1A1A"/>
                </a:solidFill>
                <a:latin typeface="Calibri"/>
              </a:rPr>
              <a:t>A learned controller can assemble a cheaper MAS than a static multi-agent template.</a:t>
            </a:r>
          </a:p>
          <a:p>
            <a:pPr>
              <a:spcBef>
                <a:spcPts val="400"/>
              </a:spcBef>
              <a:spcAft>
                <a:spcPts val="0"/>
              </a:spcAft>
            </a:pPr>
            <a:r>
              <a:rPr sz="1000" b="1">
                <a:solidFill>
                  <a:srgbClr val="3A1C64"/>
                </a:solidFill>
                <a:latin typeface="Calibri"/>
              </a:rPr>
              <a:t>Limitations: </a:t>
            </a:r>
            <a:r>
              <a:rPr sz="1000">
                <a:solidFill>
                  <a:srgbClr val="1A1A1A"/>
                </a:solidFill>
                <a:latin typeface="Calibri"/>
              </a:rPr>
              <a:t>Requires training. It does not maintain a training-free affinity matrix over named tool-specialist agents.</a:t>
            </a:r>
          </a:p>
        </p:txBody>
      </p:sp>
      <p:sp>
        <p:nvSpPr>
          <p:cNvPr id="4011" name="Automatic Date 11"/>
          <p:cNvSpPr txBox="1"/>
          <p:nvPr/>
        </p:nvSpPr>
        <p:spPr>
          <a:xfrm>
            <a:off x="255016" y="6565900"/>
            <a:ext cx="3108960" cy="255016"/>
          </a:xfrm>
          <a:prstGeom prst="rect">
            <a:avLst/>
          </a:prstGeom>
          <a:noFill/>
        </p:spPr>
        <p:txBody>
          <a:bodyPr wrap="none" lIns="0" tIns="0" rIns="0" bIns="0" anchor="ctr"/>
          <a:lstStyle/>
          <a:p>
            <a:pPr algn="l"/>
            <a:fld id="{aab8fbd1-bfde-47c9-b638-7411440db527}" type="datetime3">
              <a:rPr lang="en-GB" sz="1000" dirty="0">
                <a:solidFill>
                  <a:srgbClr val="9AA3AE"/>
                </a:solidFill>
                <a:latin typeface="Calibri"/>
              </a:rPr>
              <a:t>09/07/2026</a:t>
            </a:fld>
            <a:endParaRPr lang="en-GB" sz="1000"/>
          </a:p>
        </p:txBody>
      </p:sp>
      <p:sp>
        <p:nvSpPr>
          <p:cNvPr id="5011" name="Automatic Slide Number 11"/>
          <p:cNvSpPr txBox="1"/>
          <p:nvPr/>
        </p:nvSpPr>
        <p:spPr>
          <a:xfrm>
            <a:off x="11475720" y="6510528"/>
            <a:ext cx="475488" cy="256032"/>
          </a:xfrm>
          <a:prstGeom prst="rect">
            <a:avLst/>
          </a:prstGeom>
          <a:noFill/>
        </p:spPr>
        <p:txBody>
          <a:bodyPr wrap="none" lIns="0" tIns="0" rIns="0" bIns="0" anchor="ctr"/>
          <a:lstStyle/>
          <a:p>
            <a:pPr algn="ctr"/>
            <a:fld id="{201a12ea-9761-4640-a88f-b80086493f30}" type="slidenum">
              <a:rPr lang="en-GB" sz="1200" b="1" dirty="0">
                <a:solidFill>
                  <a:srgbClr val="FFFFFF"/>
                </a:solidFill>
                <a:latin typeface="Calibri"/>
              </a:rPr>
              <a:t>11</a:t>
            </a:fld>
            <a:endParaRPr lang="en-GB" sz="1200"/>
          </a:p>
        </p:txBody>
      </p:sp>
    </p:spTree>
  </p:cSld>
  <p:clrMapOvr>
    <a:masterClrMapping/>
  </p:clrMapOvr>
  <p:hf sldNum="1" hdr="0" ftr="1" dt="1"/>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13 &amp; Evidence 14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13 &amp; Evidence 14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13</a:t>
            </a:r>
          </a:p>
          <a:p>
            <a:pPr>
              <a:spcBef>
                <a:spcPts val="400"/>
              </a:spcBef>
              <a:spcAft>
                <a:spcPts val="0"/>
              </a:spcAft>
            </a:pPr>
            <a:r>
              <a:rPr sz="1000" b="1">
                <a:solidFill>
                  <a:srgbClr val="3A1C64"/>
                </a:solidFill>
                <a:latin typeface="Calibri"/>
              </a:rPr>
              <a:t>Author(s): </a:t>
            </a:r>
            <a:r>
              <a:rPr sz="1000">
                <a:solidFill>
                  <a:srgbClr val="1A1A1A"/>
                </a:solidFill>
                <a:latin typeface="Calibri"/>
              </a:rPr>
              <a:t>Panda, P., Magazine, R., Devaguptapu, C., Takemori, S., and Sharma, V.</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Adaptive LLM Routing under Budget Constraints</a:t>
            </a:r>
          </a:p>
          <a:p>
            <a:pPr>
              <a:spcBef>
                <a:spcPts val="400"/>
              </a:spcBef>
              <a:spcAft>
                <a:spcPts val="0"/>
              </a:spcAft>
            </a:pPr>
            <a:r>
              <a:rPr sz="1000" b="1">
                <a:solidFill>
                  <a:srgbClr val="3A1C64"/>
                </a:solidFill>
                <a:latin typeface="Calibri"/>
              </a:rPr>
              <a:t>Publication: </a:t>
            </a:r>
            <a:r>
              <a:rPr sz="1000">
                <a:solidFill>
                  <a:srgbClr val="1A1A1A"/>
                </a:solidFill>
                <a:latin typeface="Calibri"/>
              </a:rPr>
              <a:t>Findings of the Association for Computational Linguistics: EMNLP 2025, pages 23934–23949. doi:10.18653/v1/2025.findings-emnlp.1301. Method name: PILOT (Preference-prior Informed LinUCB).</a:t>
            </a:r>
          </a:p>
          <a:p>
            <a:pPr>
              <a:spcBef>
                <a:spcPts val="400"/>
              </a:spcBef>
              <a:spcAft>
                <a:spcPts val="0"/>
              </a:spcAft>
            </a:pPr>
            <a:r>
              <a:rPr sz="1000" b="1">
                <a:solidFill>
                  <a:srgbClr val="3A1C64"/>
                </a:solidFill>
                <a:latin typeface="Calibri"/>
              </a:rPr>
              <a:t>Objective: </a:t>
            </a:r>
            <a:r>
              <a:rPr sz="1000">
                <a:solidFill>
                  <a:srgbClr val="1A1A1A"/>
                </a:solidFill>
                <a:latin typeface="Calibri"/>
              </a:rPr>
              <a:t>Treat LLM routing as a contextual bandit under a user budget.</a:t>
            </a:r>
          </a:p>
          <a:p>
            <a:pPr>
              <a:spcBef>
                <a:spcPts val="400"/>
              </a:spcBef>
              <a:spcAft>
                <a:spcPts val="0"/>
              </a:spcAft>
            </a:pPr>
            <a:r>
              <a:rPr sz="1000" b="1">
                <a:solidFill>
                  <a:srgbClr val="3A1C64"/>
                </a:solidFill>
                <a:latin typeface="Calibri"/>
              </a:rPr>
              <a:t>Methodology: </a:t>
            </a:r>
            <a:r>
              <a:rPr sz="1000">
                <a:solidFill>
                  <a:srgbClr val="1A1A1A"/>
                </a:solidFill>
                <a:latin typeface="Calibri"/>
              </a:rPr>
              <a:t>Preference-prior LinUCB in a shared query–LLM embedding space, plus an online cost policy.</a:t>
            </a:r>
          </a:p>
          <a:p>
            <a:pPr>
              <a:spcBef>
                <a:spcPts val="400"/>
              </a:spcBef>
              <a:spcAft>
                <a:spcPts val="0"/>
              </a:spcAft>
            </a:pPr>
            <a:r>
              <a:rPr sz="1000" b="1">
                <a:solidFill>
                  <a:srgbClr val="3A1C64"/>
                </a:solidFill>
                <a:latin typeface="Calibri"/>
              </a:rPr>
              <a:t>Findings: </a:t>
            </a:r>
            <a:r>
              <a:rPr sz="1000">
                <a:solidFill>
                  <a:srgbClr val="1A1A1A"/>
                </a:solidFill>
                <a:latin typeface="Calibri"/>
              </a:rPr>
              <a:t>Bandit routing can adapt without exhaustive inference of every LLM on every query.</a:t>
            </a:r>
          </a:p>
          <a:p>
            <a:pPr>
              <a:spcBef>
                <a:spcPts val="400"/>
              </a:spcBef>
              <a:spcAft>
                <a:spcPts val="0"/>
              </a:spcAft>
            </a:pPr>
            <a:r>
              <a:rPr sz="1000" b="1">
                <a:solidFill>
                  <a:srgbClr val="3A1C64"/>
                </a:solidFill>
                <a:latin typeface="Calibri"/>
              </a:rPr>
              <a:t>Limitations: </a:t>
            </a:r>
            <a:r>
              <a:rPr sz="1000">
                <a:solidFill>
                  <a:srgbClr val="1A1A1A"/>
                </a:solidFill>
                <a:latin typeface="Calibri"/>
              </a:rPr>
              <a:t>Routes foundation-model SKUs under a dollar budget, not tool-specialist agents after a live data.gov.in GET.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14</a:t>
            </a:r>
          </a:p>
          <a:p>
            <a:pPr>
              <a:spcBef>
                <a:spcPts val="400"/>
              </a:spcBef>
              <a:spcAft>
                <a:spcPts val="0"/>
              </a:spcAft>
            </a:pPr>
            <a:r>
              <a:rPr sz="1000" b="1">
                <a:solidFill>
                  <a:srgbClr val="3A1C64"/>
                </a:solidFill>
                <a:latin typeface="Calibri"/>
              </a:rPr>
              <a:t>Author(s): </a:t>
            </a:r>
            <a:r>
              <a:rPr sz="1000">
                <a:solidFill>
                  <a:srgbClr val="1A1A1A"/>
                </a:solidFill>
                <a:latin typeface="Calibri"/>
              </a:rPr>
              <a:t>Jiang, H., Wu, Q., Lin, C.-Y., Yang, Y., and Qiu, L.</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LLMLingua: Compressing Prompts for Accelerated Inference of Large Language Models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2023 Conference on Empirical Methods in Natural Language Processing, pages 13358–13376. doi:10.18653/v1/2023.emnlp-main.825</a:t>
            </a:r>
          </a:p>
          <a:p>
            <a:pPr>
              <a:spcBef>
                <a:spcPts val="400"/>
              </a:spcBef>
              <a:spcAft>
                <a:spcPts val="0"/>
              </a:spcAft>
            </a:pPr>
            <a:r>
              <a:rPr sz="1000" b="1">
                <a:solidFill>
                  <a:srgbClr val="3A1C64"/>
                </a:solidFill>
                <a:latin typeface="Calibri"/>
              </a:rPr>
              <a:t>Objective: </a:t>
            </a:r>
            <a:r>
              <a:rPr sz="1000">
                <a:solidFill>
                  <a:srgbClr val="1A1A1A"/>
                </a:solidFill>
                <a:latin typeface="Calibri"/>
              </a:rPr>
              <a:t>Shorten long prompts while keeping task performance.</a:t>
            </a:r>
          </a:p>
          <a:p>
            <a:pPr>
              <a:spcBef>
                <a:spcPts val="400"/>
              </a:spcBef>
              <a:spcAft>
                <a:spcPts val="0"/>
              </a:spcAft>
            </a:pPr>
            <a:r>
              <a:rPr sz="1000" b="1">
                <a:solidFill>
                  <a:srgbClr val="3A1C64"/>
                </a:solidFill>
                <a:latin typeface="Calibri"/>
              </a:rPr>
              <a:t>Methodology: </a:t>
            </a:r>
            <a:r>
              <a:rPr sz="1000">
                <a:solidFill>
                  <a:srgbClr val="1A1A1A"/>
                </a:solidFill>
                <a:latin typeface="Calibri"/>
              </a:rPr>
              <a:t>Budget controller plus token-level iterative compression aligned to the target LLM.</a:t>
            </a:r>
          </a:p>
          <a:p>
            <a:pPr>
              <a:spcBef>
                <a:spcPts val="400"/>
              </a:spcBef>
              <a:spcAft>
                <a:spcPts val="0"/>
              </a:spcAft>
            </a:pPr>
            <a:r>
              <a:rPr sz="1000" b="1">
                <a:solidFill>
                  <a:srgbClr val="3A1C64"/>
                </a:solidFill>
                <a:latin typeface="Calibri"/>
              </a:rPr>
              <a:t>Findings: </a:t>
            </a:r>
            <a:r>
              <a:rPr sz="1000">
                <a:solidFill>
                  <a:srgbClr val="1A1A1A"/>
                </a:solidFill>
                <a:latin typeface="Calibri"/>
              </a:rPr>
              <a:t>Token-importance compression can reduce prompt length with limited quality loss.</a:t>
            </a:r>
          </a:p>
          <a:p>
            <a:pPr>
              <a:spcBef>
                <a:spcPts val="400"/>
              </a:spcBef>
              <a:spcAft>
                <a:spcPts val="0"/>
              </a:spcAft>
            </a:pPr>
            <a:r>
              <a:rPr sz="1000" b="1">
                <a:solidFill>
                  <a:srgbClr val="3A1C64"/>
                </a:solidFill>
                <a:latin typeface="Calibri"/>
              </a:rPr>
              <a:t>Limitations: </a:t>
            </a:r>
            <a:r>
              <a:rPr sz="1000">
                <a:solidFill>
                  <a:srgbClr val="1A1A1A"/>
                </a:solidFill>
                <a:latin typeface="Calibri"/>
              </a:rPr>
              <a:t>Deletes tokens before the LLM. It does not prune a mesh by conductance or write live citations back into retrieval.</a:t>
            </a:r>
          </a:p>
        </p:txBody>
      </p:sp>
      <p:sp>
        <p:nvSpPr>
          <p:cNvPr id="4012" name="Automatic Date 12"/>
          <p:cNvSpPr txBox="1"/>
          <p:nvPr/>
        </p:nvSpPr>
        <p:spPr>
          <a:xfrm>
            <a:off x="255016" y="6565900"/>
            <a:ext cx="3108960" cy="255016"/>
          </a:xfrm>
          <a:prstGeom prst="rect">
            <a:avLst/>
          </a:prstGeom>
          <a:noFill/>
        </p:spPr>
        <p:txBody>
          <a:bodyPr wrap="none" lIns="0" tIns="0" rIns="0" bIns="0" anchor="ctr"/>
          <a:lstStyle/>
          <a:p>
            <a:pPr algn="l"/>
            <a:fld id="{6805c05c-8356-4e91-9f93-b1add282f55c}" type="datetime3">
              <a:rPr lang="en-GB" sz="1000" dirty="0">
                <a:solidFill>
                  <a:srgbClr val="9AA3AE"/>
                </a:solidFill>
                <a:latin typeface="Calibri"/>
              </a:rPr>
              <a:t>09/07/2026</a:t>
            </a:fld>
            <a:endParaRPr lang="en-GB" sz="1000"/>
          </a:p>
        </p:txBody>
      </p:sp>
      <p:sp>
        <p:nvSpPr>
          <p:cNvPr id="5012" name="Automatic Slide Number 12"/>
          <p:cNvSpPr txBox="1"/>
          <p:nvPr/>
        </p:nvSpPr>
        <p:spPr>
          <a:xfrm>
            <a:off x="11475720" y="6510528"/>
            <a:ext cx="475488" cy="256032"/>
          </a:xfrm>
          <a:prstGeom prst="rect">
            <a:avLst/>
          </a:prstGeom>
          <a:noFill/>
        </p:spPr>
        <p:txBody>
          <a:bodyPr wrap="none" lIns="0" tIns="0" rIns="0" bIns="0" anchor="ctr"/>
          <a:lstStyle/>
          <a:p>
            <a:pPr algn="ctr"/>
            <a:fld id="{7c4f265e-a1c6-4e70-93cb-35b900c3a795}" type="slidenum">
              <a:rPr lang="en-GB" sz="1200" b="1" dirty="0">
                <a:solidFill>
                  <a:srgbClr val="FFFFFF"/>
                </a:solidFill>
                <a:latin typeface="Calibri"/>
              </a:rPr>
              <a:t>12</a:t>
            </a:fld>
            <a:endParaRPr lang="en-GB" sz="1200"/>
          </a:p>
        </p:txBody>
      </p:sp>
    </p:spTree>
  </p:cSld>
  <p:clrMapOvr>
    <a:masterClrMapping/>
  </p:clrMapOvr>
  <p:hf sldNum="1" hdr="0" ftr="1" dt="1"/>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15 &amp; Evidence 16</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15 &amp; Evidence 16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15</a:t>
            </a:r>
          </a:p>
          <a:p>
            <a:pPr>
              <a:spcBef>
                <a:spcPts val="400"/>
              </a:spcBef>
              <a:spcAft>
                <a:spcPts val="0"/>
              </a:spcAft>
            </a:pPr>
            <a:r>
              <a:rPr sz="1000" b="1">
                <a:solidFill>
                  <a:srgbClr val="3A1C64"/>
                </a:solidFill>
                <a:latin typeface="Calibri"/>
              </a:rPr>
              <a:t>Author(s): </a:t>
            </a:r>
            <a:r>
              <a:rPr sz="1000">
                <a:solidFill>
                  <a:srgbClr val="1A1A1A"/>
                </a:solidFill>
                <a:latin typeface="Calibri"/>
              </a:rPr>
              <a:t>Park, J. S., O’Brien, J. C., Cai, C. J., Morris, M. R., Liang, P., and Bernstein, M. S.</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Generative Agents: Interactive Simulacra of Human Behavior</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36th Annual ACM Symposium on User Interface Software and Technology (UIST 2023), Best Paper. doi:10.1145/3586183.3606763</a:t>
            </a:r>
          </a:p>
          <a:p>
            <a:pPr>
              <a:spcBef>
                <a:spcPts val="400"/>
              </a:spcBef>
              <a:spcAft>
                <a:spcPts val="0"/>
              </a:spcAft>
            </a:pPr>
            <a:r>
              <a:rPr sz="1000" b="1">
                <a:solidFill>
                  <a:srgbClr val="3A1C64"/>
                </a:solidFill>
                <a:latin typeface="Calibri"/>
              </a:rPr>
              <a:t>Objective: </a:t>
            </a:r>
            <a:r>
              <a:rPr sz="1000">
                <a:solidFill>
                  <a:srgbClr val="1A1A1A"/>
                </a:solidFill>
                <a:latin typeface="Calibri"/>
              </a:rPr>
              <a:t>Give LLM agents a long-term memory stream for believable behaviour in a sandbox.</a:t>
            </a:r>
          </a:p>
          <a:p>
            <a:pPr>
              <a:spcBef>
                <a:spcPts val="400"/>
              </a:spcBef>
              <a:spcAft>
                <a:spcPts val="0"/>
              </a:spcAft>
            </a:pPr>
            <a:r>
              <a:rPr sz="1000" b="1">
                <a:solidFill>
                  <a:srgbClr val="3A1C64"/>
                </a:solidFill>
                <a:latin typeface="Calibri"/>
              </a:rPr>
              <a:t>Methodology: </a:t>
            </a:r>
            <a:r>
              <a:rPr sz="1000">
                <a:solidFill>
                  <a:srgbClr val="1A1A1A"/>
                </a:solidFill>
                <a:latin typeface="Calibri"/>
              </a:rPr>
              <a:t>Natural-language memory, reflection, and retrieval (recency, relevance, importance) inside a Sims-like town.</a:t>
            </a:r>
          </a:p>
          <a:p>
            <a:pPr>
              <a:spcBef>
                <a:spcPts val="400"/>
              </a:spcBef>
              <a:spcAft>
                <a:spcPts val="0"/>
              </a:spcAft>
            </a:pPr>
            <a:r>
              <a:rPr sz="1000" b="1">
                <a:solidFill>
                  <a:srgbClr val="3A1C64"/>
                </a:solidFill>
                <a:latin typeface="Calibri"/>
              </a:rPr>
              <a:t>Findings: </a:t>
            </a:r>
            <a:r>
              <a:rPr sz="1000">
                <a:solidFill>
                  <a:srgbClr val="1A1A1A"/>
                </a:solidFill>
                <a:latin typeface="Calibri"/>
              </a:rPr>
              <a:t>A memory stream supports individual plans and emergent social coordination among agents.</a:t>
            </a:r>
          </a:p>
          <a:p>
            <a:pPr>
              <a:spcBef>
                <a:spcPts val="400"/>
              </a:spcBef>
              <a:spcAft>
                <a:spcPts val="0"/>
              </a:spcAft>
            </a:pPr>
            <a:r>
              <a:rPr sz="1000" b="1">
                <a:solidFill>
                  <a:srgbClr val="3A1C64"/>
                </a:solidFill>
                <a:latin typeface="Calibri"/>
              </a:rPr>
              <a:t>Limitations: </a:t>
            </a:r>
            <a:r>
              <a:rPr sz="1000">
                <a:solidFill>
                  <a:srgbClr val="1A1A1A"/>
                </a:solidFill>
                <a:latin typeface="Calibri"/>
              </a:rPr>
              <a:t>Memory lives in a sandbox simulation. It is not written back into a tool retriever over ministry APIs.</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16</a:t>
            </a:r>
          </a:p>
          <a:p>
            <a:pPr>
              <a:spcBef>
                <a:spcPts val="400"/>
              </a:spcBef>
              <a:spcAft>
                <a:spcPts val="0"/>
              </a:spcAft>
            </a:pPr>
            <a:r>
              <a:rPr sz="1000" b="1">
                <a:solidFill>
                  <a:srgbClr val="3A1C64"/>
                </a:solidFill>
                <a:latin typeface="Calibri"/>
              </a:rPr>
              <a:t>Author(s): </a:t>
            </a:r>
            <a:r>
              <a:rPr sz="1000">
                <a:solidFill>
                  <a:srgbClr val="1A1A1A"/>
                </a:solidFill>
                <a:latin typeface="Calibri"/>
              </a:rPr>
              <a:t>Tero, A., Takagi, S., Saigusa, T., Ito, K., Bebber, D. P., Fricker, M. D., Yumiki, K., Kobayashi, R., and Nakagaki, T.</a:t>
            </a:r>
          </a:p>
          <a:p>
            <a:pPr>
              <a:spcBef>
                <a:spcPts val="400"/>
              </a:spcBef>
              <a:spcAft>
                <a:spcPts val="0"/>
              </a:spcAft>
            </a:pPr>
            <a:r>
              <a:rPr sz="1000" b="1">
                <a:solidFill>
                  <a:srgbClr val="3A1C64"/>
                </a:solidFill>
                <a:latin typeface="Calibri"/>
              </a:rPr>
              <a:t>Year: </a:t>
            </a:r>
            <a:r>
              <a:rPr sz="1000">
                <a:solidFill>
                  <a:srgbClr val="1A1A1A"/>
                </a:solidFill>
                <a:latin typeface="Calibri"/>
              </a:rPr>
              <a:t>2010</a:t>
            </a:r>
          </a:p>
          <a:p>
            <a:pPr>
              <a:spcBef>
                <a:spcPts val="400"/>
              </a:spcBef>
              <a:spcAft>
                <a:spcPts val="0"/>
              </a:spcAft>
            </a:pPr>
            <a:r>
              <a:rPr sz="1000" b="1">
                <a:solidFill>
                  <a:srgbClr val="3A1C64"/>
                </a:solidFill>
                <a:latin typeface="Calibri"/>
              </a:rPr>
              <a:t>Title: </a:t>
            </a:r>
            <a:r>
              <a:rPr sz="1000">
                <a:solidFill>
                  <a:srgbClr val="1A1A1A"/>
                </a:solidFill>
                <a:latin typeface="Calibri"/>
              </a:rPr>
              <a:t>Rules for Biologically Inspired Adaptive Network Design</a:t>
            </a:r>
          </a:p>
          <a:p>
            <a:pPr>
              <a:spcBef>
                <a:spcPts val="400"/>
              </a:spcBef>
              <a:spcAft>
                <a:spcPts val="0"/>
              </a:spcAft>
            </a:pPr>
            <a:r>
              <a:rPr sz="1000" b="1">
                <a:solidFill>
                  <a:srgbClr val="3A1C64"/>
                </a:solidFill>
                <a:latin typeface="Calibri"/>
              </a:rPr>
              <a:t>Publication: </a:t>
            </a:r>
            <a:r>
              <a:rPr sz="1000">
                <a:solidFill>
                  <a:srgbClr val="1A1A1A"/>
                </a:solidFill>
                <a:latin typeface="Calibri"/>
              </a:rPr>
              <a:t>Science 327(5964):439–442. doi:10.1126/science.1177894</a:t>
            </a:r>
          </a:p>
          <a:p>
            <a:pPr>
              <a:spcBef>
                <a:spcPts val="400"/>
              </a:spcBef>
              <a:spcAft>
                <a:spcPts val="0"/>
              </a:spcAft>
            </a:pPr>
            <a:r>
              <a:rPr sz="1000" b="1">
                <a:solidFill>
                  <a:srgbClr val="3A1C64"/>
                </a:solidFill>
                <a:latin typeface="Calibri"/>
              </a:rPr>
              <a:t>Objective: </a:t>
            </a:r>
            <a:r>
              <a:rPr sz="1000">
                <a:solidFill>
                  <a:srgbClr val="1A1A1A"/>
                </a:solidFill>
                <a:latin typeface="Calibri"/>
              </a:rPr>
              <a:t>Capture how Physarum polycephalum grows efficient, fault-tolerant transport networks.</a:t>
            </a:r>
          </a:p>
          <a:p>
            <a:pPr>
              <a:spcBef>
                <a:spcPts val="400"/>
              </a:spcBef>
              <a:spcAft>
                <a:spcPts val="0"/>
              </a:spcAft>
            </a:pPr>
            <a:r>
              <a:rPr sz="1000" b="1">
                <a:solidFill>
                  <a:srgbClr val="3A1C64"/>
                </a:solidFill>
                <a:latin typeface="Calibri"/>
              </a:rPr>
              <a:t>Methodology: </a:t>
            </a:r>
            <a:r>
              <a:rPr sz="1000">
                <a:solidFill>
                  <a:srgbClr val="1A1A1A"/>
                </a:solidFill>
                <a:latin typeface="Calibri"/>
              </a:rPr>
              <a:t>Feedback between tube conductance and protoplasmic flux; compared with the Tokyo rail system.</a:t>
            </a:r>
          </a:p>
          <a:p>
            <a:pPr>
              <a:spcBef>
                <a:spcPts val="400"/>
              </a:spcBef>
              <a:spcAft>
                <a:spcPts val="0"/>
              </a:spcAft>
            </a:pPr>
            <a:r>
              <a:rPr sz="1000" b="1">
                <a:solidFill>
                  <a:srgbClr val="3A1C64"/>
                </a:solidFill>
                <a:latin typeface="Calibri"/>
              </a:rPr>
              <a:t>Findings: </a:t>
            </a:r>
            <a:r>
              <a:rPr sz="1000">
                <a:solidFill>
                  <a:srgbClr val="1A1A1A"/>
                </a:solidFill>
                <a:latin typeface="Calibri"/>
              </a:rPr>
              <a:t>A local conductance update can yield globally efficient adaptive networks without a central planner.</a:t>
            </a:r>
          </a:p>
          <a:p>
            <a:pPr>
              <a:spcBef>
                <a:spcPts val="400"/>
              </a:spcBef>
              <a:spcAft>
                <a:spcPts val="0"/>
              </a:spcAft>
            </a:pPr>
            <a:r>
              <a:rPr sz="1000" b="1">
                <a:solidFill>
                  <a:srgbClr val="3A1C64"/>
                </a:solidFill>
                <a:latin typeface="Calibri"/>
              </a:rPr>
              <a:t>Limitations: </a:t>
            </a:r>
            <a:r>
              <a:rPr sz="1000">
                <a:solidFill>
                  <a:srgbClr val="1A1A1A"/>
                </a:solidFill>
                <a:latin typeface="Calibri"/>
              </a:rPr>
              <a:t>A biological transport model, not an LLM context pruner. ACRS uses it as a design heuristic, not as a claim that the mesh is an organism.</a:t>
            </a:r>
          </a:p>
        </p:txBody>
      </p:sp>
      <p:sp>
        <p:nvSpPr>
          <p:cNvPr id="4013" name="Automatic Date 13"/>
          <p:cNvSpPr txBox="1"/>
          <p:nvPr/>
        </p:nvSpPr>
        <p:spPr>
          <a:xfrm>
            <a:off x="255016" y="6565900"/>
            <a:ext cx="3108960" cy="255016"/>
          </a:xfrm>
          <a:prstGeom prst="rect">
            <a:avLst/>
          </a:prstGeom>
          <a:noFill/>
        </p:spPr>
        <p:txBody>
          <a:bodyPr wrap="none" lIns="0" tIns="0" rIns="0" bIns="0" anchor="ctr"/>
          <a:lstStyle/>
          <a:p>
            <a:pPr algn="l"/>
            <a:fld id="{858c5eee-216e-4933-95b9-425d93cb2369}" type="datetime3">
              <a:rPr lang="en-GB" sz="1000" dirty="0">
                <a:solidFill>
                  <a:srgbClr val="9AA3AE"/>
                </a:solidFill>
                <a:latin typeface="Calibri"/>
              </a:rPr>
              <a:t>09/07/2026</a:t>
            </a:fld>
            <a:endParaRPr lang="en-GB" sz="1000"/>
          </a:p>
        </p:txBody>
      </p:sp>
      <p:sp>
        <p:nvSpPr>
          <p:cNvPr id="5013" name="Automatic Slide Number 13"/>
          <p:cNvSpPr txBox="1"/>
          <p:nvPr/>
        </p:nvSpPr>
        <p:spPr>
          <a:xfrm>
            <a:off x="11475720" y="6510528"/>
            <a:ext cx="475488" cy="256032"/>
          </a:xfrm>
          <a:prstGeom prst="rect">
            <a:avLst/>
          </a:prstGeom>
          <a:noFill/>
        </p:spPr>
        <p:txBody>
          <a:bodyPr wrap="none" lIns="0" tIns="0" rIns="0" bIns="0" anchor="ctr"/>
          <a:lstStyle/>
          <a:p>
            <a:pPr algn="ctr"/>
            <a:fld id="{67870495-24d6-4fd3-a022-dc5624eb1d95}" type="slidenum">
              <a:rPr lang="en-GB" sz="1200" b="1" dirty="0">
                <a:solidFill>
                  <a:srgbClr val="FFFFFF"/>
                </a:solidFill>
                <a:latin typeface="Calibri"/>
              </a:rPr>
              <a:t>13</a:t>
            </a:fld>
            <a:endParaRPr lang="en-GB" sz="1200"/>
          </a:p>
        </p:txBody>
      </p:sp>
    </p:spTree>
  </p:cSld>
  <p:clrMapOvr>
    <a:masterClrMapping/>
  </p:clrMapOvr>
  <p:hf sldNum="1" hdr="0" ftr="1" dt="1"/>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17 &amp; Evidence 18</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17 &amp; Evidence 18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17</a:t>
            </a:r>
          </a:p>
          <a:p>
            <a:pPr>
              <a:spcBef>
                <a:spcPts val="400"/>
              </a:spcBef>
              <a:spcAft>
                <a:spcPts val="0"/>
              </a:spcAft>
            </a:pPr>
            <a:r>
              <a:rPr sz="1000" b="1">
                <a:solidFill>
                  <a:srgbClr val="3A1C64"/>
                </a:solidFill>
                <a:latin typeface="Calibri"/>
              </a:rPr>
              <a:t>Author(s): </a:t>
            </a:r>
            <a:r>
              <a:rPr sz="1000">
                <a:solidFill>
                  <a:srgbClr val="1A1A1A"/>
                </a:solidFill>
                <a:latin typeface="Calibri"/>
              </a:rPr>
              <a:t>Guo, H., Woodruff, A., and Yadav, A.</a:t>
            </a:r>
          </a:p>
          <a:p>
            <a:pPr>
              <a:spcBef>
                <a:spcPts val="400"/>
              </a:spcBef>
              <a:spcAft>
                <a:spcPts val="0"/>
              </a:spcAft>
            </a:pPr>
            <a:r>
              <a:rPr sz="1000" b="1">
                <a:solidFill>
                  <a:srgbClr val="3A1C64"/>
                </a:solidFill>
                <a:latin typeface="Calibri"/>
              </a:rPr>
              <a:t>Year: </a:t>
            </a:r>
            <a:r>
              <a:rPr sz="1000">
                <a:solidFill>
                  <a:srgbClr val="1A1A1A"/>
                </a:solidFill>
                <a:latin typeface="Calibri"/>
              </a:rPr>
              <a:t>2020</a:t>
            </a:r>
          </a:p>
          <a:p>
            <a:pPr>
              <a:spcBef>
                <a:spcPts val="400"/>
              </a:spcBef>
              <a:spcAft>
                <a:spcPts val="0"/>
              </a:spcAft>
            </a:pPr>
            <a:r>
              <a:rPr sz="1000" b="1">
                <a:solidFill>
                  <a:srgbClr val="3A1C64"/>
                </a:solidFill>
                <a:latin typeface="Calibri"/>
              </a:rPr>
              <a:t>Title: </a:t>
            </a:r>
            <a:r>
              <a:rPr sz="1000">
                <a:solidFill>
                  <a:srgbClr val="1A1A1A"/>
                </a:solidFill>
                <a:latin typeface="Calibri"/>
              </a:rPr>
              <a:t>Improving Lives of Indebted Farmers Using Deep Learning: Predicting Agricultural Produce Prices Using Convolutional Neural Networks (PECAD)</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AAAI Conference on Artificial Intelligence, 34(08):13294–13299. doi:10.1609/aaai.v34i08.7039</a:t>
            </a:r>
          </a:p>
          <a:p>
            <a:pPr>
              <a:spcBef>
                <a:spcPts val="400"/>
              </a:spcBef>
              <a:spcAft>
                <a:spcPts val="0"/>
              </a:spcAft>
            </a:pPr>
            <a:r>
              <a:rPr sz="1000" b="1">
                <a:solidFill>
                  <a:srgbClr val="3A1C64"/>
                </a:solidFill>
                <a:latin typeface="Calibri"/>
              </a:rPr>
              <a:t>Objective: </a:t>
            </a:r>
            <a:r>
              <a:rPr sz="1000">
                <a:solidFill>
                  <a:srgbClr val="1A1A1A"/>
                </a:solidFill>
                <a:latin typeface="Calibri"/>
              </a:rPr>
              <a:t>Use AGMARKNET price series as decision-support input for indebted farmers.</a:t>
            </a:r>
          </a:p>
          <a:p>
            <a:pPr>
              <a:spcBef>
                <a:spcPts val="400"/>
              </a:spcBef>
              <a:spcAft>
                <a:spcPts val="0"/>
              </a:spcAft>
            </a:pPr>
            <a:r>
              <a:rPr sz="1000" b="1">
                <a:solidFill>
                  <a:srgbClr val="3A1C64"/>
                </a:solidFill>
                <a:latin typeface="Calibri"/>
              </a:rPr>
              <a:t>Methodology: </a:t>
            </a:r>
            <a:r>
              <a:rPr sz="1000">
                <a:solidFill>
                  <a:srgbClr val="1A1A1A"/>
                </a:solidFill>
                <a:latin typeface="Calibri"/>
              </a:rPr>
              <a:t>Convolutional networks over scraped agricultural produce prices.</a:t>
            </a:r>
          </a:p>
          <a:p>
            <a:pPr>
              <a:spcBef>
                <a:spcPts val="400"/>
              </a:spcBef>
              <a:spcAft>
                <a:spcPts val="0"/>
              </a:spcAft>
            </a:pPr>
            <a:r>
              <a:rPr sz="1000" b="1">
                <a:solidFill>
                  <a:srgbClr val="3A1C64"/>
                </a:solidFill>
                <a:latin typeface="Calibri"/>
              </a:rPr>
              <a:t>Findings: </a:t>
            </a:r>
            <a:r>
              <a:rPr sz="1000">
                <a:solidFill>
                  <a:srgbClr val="1A1A1A"/>
                </a:solidFill>
                <a:latin typeface="Calibri"/>
              </a:rPr>
              <a:t>AGMARKNET is a real Indian decision-support corpus, not a toy table.</a:t>
            </a:r>
          </a:p>
          <a:p>
            <a:pPr>
              <a:spcBef>
                <a:spcPts val="400"/>
              </a:spcBef>
              <a:spcAft>
                <a:spcPts val="0"/>
              </a:spcAft>
            </a:pPr>
            <a:r>
              <a:rPr sz="1000" b="1">
                <a:solidFill>
                  <a:srgbClr val="3A1C64"/>
                </a:solidFill>
                <a:latin typeface="Calibri"/>
              </a:rPr>
              <a:t>Limitations: </a:t>
            </a:r>
            <a:r>
              <a:rPr sz="1000">
                <a:solidFill>
                  <a:srgbClr val="1A1A1A"/>
                </a:solidFill>
                <a:latin typeface="Calibri"/>
              </a:rPr>
              <a:t>A crop-price CNN is not a multi-agent live-OGD loop. Cited as domain precedent, not as a baseline to beat.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18</a:t>
            </a:r>
          </a:p>
          <a:p>
            <a:pPr>
              <a:spcBef>
                <a:spcPts val="400"/>
              </a:spcBef>
              <a:spcAft>
                <a:spcPts val="0"/>
              </a:spcAft>
            </a:pPr>
            <a:r>
              <a:rPr sz="1000" b="1">
                <a:solidFill>
                  <a:srgbClr val="3A1C64"/>
                </a:solidFill>
                <a:latin typeface="Calibri"/>
              </a:rPr>
              <a:t>Author(s): </a:t>
            </a:r>
            <a:r>
              <a:rPr sz="1000">
                <a:solidFill>
                  <a:srgbClr val="1A1A1A"/>
                </a:solidFill>
                <a:latin typeface="Calibri"/>
              </a:rPr>
              <a:t>Yao, S., Zhao, J., Yu, D., Du, N., Shafran, I., Narasimhan, K., and Cao, Y.</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ReAct: Synergizing Reasoning and Acting in Language Models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Eleventh International Conference on Learning Representations (ICLR 2023)</a:t>
            </a:r>
          </a:p>
          <a:p>
            <a:pPr>
              <a:spcBef>
                <a:spcPts val="400"/>
              </a:spcBef>
              <a:spcAft>
                <a:spcPts val="0"/>
              </a:spcAft>
            </a:pPr>
            <a:r>
              <a:rPr sz="1000" b="1">
                <a:solidFill>
                  <a:srgbClr val="3A1C64"/>
                </a:solidFill>
                <a:latin typeface="Calibri"/>
              </a:rPr>
              <a:t>Objective: </a:t>
            </a:r>
            <a:r>
              <a:rPr sz="1000">
                <a:solidFill>
                  <a:srgbClr val="1A1A1A"/>
                </a:solidFill>
                <a:latin typeface="Calibri"/>
              </a:rPr>
              <a:t>Interleave reasoning traces with actions so a language model can use tools.</a:t>
            </a:r>
          </a:p>
          <a:p>
            <a:pPr>
              <a:spcBef>
                <a:spcPts val="400"/>
              </a:spcBef>
              <a:spcAft>
                <a:spcPts val="0"/>
              </a:spcAft>
            </a:pPr>
            <a:r>
              <a:rPr sz="1000" b="1">
                <a:solidFill>
                  <a:srgbClr val="3A1C64"/>
                </a:solidFill>
                <a:latin typeface="Calibri"/>
              </a:rPr>
              <a:t>Methodology: </a:t>
            </a:r>
            <a:r>
              <a:rPr sz="1000">
                <a:solidFill>
                  <a:srgbClr val="1A1A1A"/>
                </a:solidFill>
                <a:latin typeface="Calibri"/>
              </a:rPr>
              <a:t>Thought–action–observation cycles on the already-chosen tool set.</a:t>
            </a:r>
          </a:p>
          <a:p>
            <a:pPr>
              <a:spcBef>
                <a:spcPts val="400"/>
              </a:spcBef>
              <a:spcAft>
                <a:spcPts val="0"/>
              </a:spcAft>
            </a:pPr>
            <a:r>
              <a:rPr sz="1000" b="1">
                <a:solidFill>
                  <a:srgbClr val="3A1C64"/>
                </a:solidFill>
                <a:latin typeface="Calibri"/>
              </a:rPr>
              <a:t>Findings: </a:t>
            </a:r>
            <a:r>
              <a:rPr sz="1000">
                <a:solidFill>
                  <a:srgbClr val="1A1A1A"/>
                </a:solidFill>
                <a:latin typeface="Calibri"/>
              </a:rPr>
              <a:t>Reasoning-and-acting beats reason-only or act-only prompting on several agent tasks.</a:t>
            </a:r>
          </a:p>
          <a:p>
            <a:pPr>
              <a:spcBef>
                <a:spcPts val="400"/>
              </a:spcBef>
              <a:spcAft>
                <a:spcPts val="0"/>
              </a:spcAft>
            </a:pPr>
            <a:r>
              <a:rPr sz="1000" b="1">
                <a:solidFill>
                  <a:srgbClr val="3A1C64"/>
                </a:solidFill>
                <a:latin typeface="Calibri"/>
              </a:rPr>
              <a:t>Limitations: </a:t>
            </a:r>
            <a:r>
              <a:rPr sz="1000">
                <a:solidFill>
                  <a:srgbClr val="1A1A1A"/>
                </a:solidFill>
                <a:latin typeface="Calibri"/>
              </a:rPr>
              <a:t>Assumes the tool set is already determined. It does not fuse session co-activation into the next rank, nor cite a live data.gov.in UUID.</a:t>
            </a:r>
          </a:p>
        </p:txBody>
      </p:sp>
      <p:sp>
        <p:nvSpPr>
          <p:cNvPr id="4014" name="Automatic Date 14"/>
          <p:cNvSpPr txBox="1"/>
          <p:nvPr/>
        </p:nvSpPr>
        <p:spPr>
          <a:xfrm>
            <a:off x="255016" y="6565900"/>
            <a:ext cx="3108960" cy="255016"/>
          </a:xfrm>
          <a:prstGeom prst="rect">
            <a:avLst/>
          </a:prstGeom>
          <a:noFill/>
        </p:spPr>
        <p:txBody>
          <a:bodyPr wrap="none" lIns="0" tIns="0" rIns="0" bIns="0" anchor="ctr"/>
          <a:lstStyle/>
          <a:p>
            <a:pPr algn="l"/>
            <a:fld id="{092f85d5-a198-4b9e-b88d-fe748299f529}" type="datetime3">
              <a:rPr lang="en-GB" sz="1000" dirty="0">
                <a:solidFill>
                  <a:srgbClr val="9AA3AE"/>
                </a:solidFill>
                <a:latin typeface="Calibri"/>
              </a:rPr>
              <a:t>09/07/2026</a:t>
            </a:fld>
            <a:endParaRPr lang="en-GB" sz="1000"/>
          </a:p>
        </p:txBody>
      </p:sp>
      <p:sp>
        <p:nvSpPr>
          <p:cNvPr id="5014" name="Automatic Slide Number 14"/>
          <p:cNvSpPr txBox="1"/>
          <p:nvPr/>
        </p:nvSpPr>
        <p:spPr>
          <a:xfrm>
            <a:off x="11475720" y="6510528"/>
            <a:ext cx="475488" cy="256032"/>
          </a:xfrm>
          <a:prstGeom prst="rect">
            <a:avLst/>
          </a:prstGeom>
          <a:noFill/>
        </p:spPr>
        <p:txBody>
          <a:bodyPr wrap="none" lIns="0" tIns="0" rIns="0" bIns="0" anchor="ctr"/>
          <a:lstStyle/>
          <a:p>
            <a:pPr algn="ctr"/>
            <a:fld id="{5d0c0902-0676-48ed-87be-7af188518854}" type="slidenum">
              <a:rPr lang="en-GB" sz="1200" b="1" dirty="0">
                <a:solidFill>
                  <a:srgbClr val="FFFFFF"/>
                </a:solidFill>
                <a:latin typeface="Calibri"/>
              </a:rPr>
              <a:t>14</a:t>
            </a:fld>
            <a:endParaRPr lang="en-GB" sz="1200"/>
          </a:p>
        </p:txBody>
      </p:sp>
    </p:spTree>
  </p:cSld>
  <p:clrMapOvr>
    <a:masterClrMapping/>
  </p:clrMapOvr>
  <p:hf sldNum="1" hdr="0" ftr="1" dt="1"/>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Summary of Literature Review</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Qualitative map only. This table names the gap each family leaves for ACRS; it does not claim a percentage improvement over any baseline. The next slide is the FET section To Solve the Research Gap.</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1843430"/>
                <a:gridCol w="3917289"/>
                <a:gridCol w="5760720"/>
              </a:tblGrid>
              <a:tr h="600891">
                <a:tc>
                  <a:txBody>
                    <a:bodyPr/>
                    <a:lstStyle/>
                    <a:p>
                      <a:r>
                        <a:rPr b="1" sz="1100">
                          <a:solidFill>
                            <a:srgbClr val="FFFFFF"/>
                          </a:solidFill>
                          <a:latin typeface="Calibri"/>
                        </a:rPr>
                        <a:t>Literature family</a:t>
                      </a:r>
                    </a:p>
                  </a:txBody>
                  <a:tcPr>
                    <a:solidFill>
                      <a:srgbClr val="3A1C64"/>
                    </a:solidFill>
                  </a:tcPr>
                </a:tc>
                <a:tc>
                  <a:txBody>
                    <a:bodyPr/>
                    <a:lstStyle/>
                    <a:p>
                      <a:r>
                        <a:rPr b="1" sz="1100">
                          <a:solidFill>
                            <a:srgbClr val="FFFFFF"/>
                          </a:solidFill>
                          <a:latin typeface="Calibri"/>
                        </a:rPr>
                        <a:t>What it already does</a:t>
                      </a:r>
                    </a:p>
                  </a:txBody>
                  <a:tcPr>
                    <a:solidFill>
                      <a:srgbClr val="3A1C64"/>
                    </a:solidFill>
                  </a:tcPr>
                </a:tc>
                <a:tc>
                  <a:txBody>
                    <a:bodyPr/>
                    <a:lstStyle/>
                    <a:p>
                      <a:r>
                        <a:rPr b="1" sz="1100">
                          <a:solidFill>
                            <a:srgbClr val="FFFFFF"/>
                          </a:solidFill>
                          <a:latin typeface="Calibri"/>
                        </a:rPr>
                        <a:t>What ACRS still has to add</a:t>
                      </a:r>
                    </a:p>
                  </a:txBody>
                  <a:tcPr>
                    <a:solidFill>
                      <a:srgbClr val="3A1C64"/>
                    </a:solidFill>
                  </a:tcPr>
                </a:tc>
              </a:tr>
              <a:tr h="600891">
                <a:tc>
                  <a:txBody>
                    <a:bodyPr/>
                    <a:lstStyle/>
                    <a:p>
                      <a:r>
                        <a:rPr sz="1000" b="1">
                          <a:solidFill>
                            <a:srgbClr val="3A1C64"/>
                          </a:solidFill>
                          <a:latin typeface="Calibri"/>
                        </a:rPr>
                        <a:t>MAS frameworks (AutoGen, MetaGPT, ChatDev, CAMEL)</a:t>
                      </a:r>
                    </a:p>
                  </a:txBody>
                  <a:tcPr>
                    <a:solidFill>
                      <a:srgbClr val="E9EFF7"/>
                    </a:solidFill>
                  </a:tcPr>
                </a:tc>
                <a:tc>
                  <a:txBody>
                    <a:bodyPr/>
                    <a:lstStyle/>
                    <a:p>
                      <a:r>
                        <a:rPr sz="1000">
                          <a:solidFill>
                            <a:srgbClr val="1A1A1A"/>
                          </a:solidFill>
                          <a:latin typeface="Calibri"/>
                        </a:rPr>
                        <a:t>Conversation, SOPs, software roles, inception prompting</a:t>
                      </a:r>
                    </a:p>
                  </a:txBody>
                  <a:tcPr>
                    <a:solidFill>
                      <a:srgbClr val="E9EFF7"/>
                    </a:solidFill>
                  </a:tcPr>
                </a:tc>
                <a:tc>
                  <a:txBody>
                    <a:bodyPr/>
                    <a:lstStyle/>
                    <a:p>
                      <a:r>
                        <a:rPr sz="1000">
                          <a:solidFill>
                            <a:srgbClr val="1A1A1A"/>
                          </a:solidFill>
                          <a:latin typeface="Calibri"/>
                        </a:rPr>
                        <a:t>A closed session–route–mesh–prune contract, not another chat runtime</a:t>
                      </a:r>
                    </a:p>
                  </a:txBody>
                  <a:tcPr>
                    <a:solidFill>
                      <a:srgbClr val="E9EFF7"/>
                    </a:solidFill>
                  </a:tcPr>
                </a:tc>
              </a:tr>
              <a:tr h="600891">
                <a:tc>
                  <a:txBody>
                    <a:bodyPr/>
                    <a:lstStyle/>
                    <a:p>
                      <a:r>
                        <a:rPr sz="1000" b="1">
                          <a:solidFill>
                            <a:srgbClr val="3A1C64"/>
                          </a:solidFill>
                          <a:latin typeface="Calibri"/>
                        </a:rPr>
                        <a:t>MAS surveys and orchestration (Wang et al. FCS 2024; He et al. TOSEM 2025; Guo et al. IJCAI-24; SagaLLM PVLDB 2025)</a:t>
                      </a:r>
                    </a:p>
                  </a:txBody>
                  <a:tcPr>
                    <a:solidFill>
                      <a:srgbClr val="E9EFF7"/>
                    </a:solidFill>
                  </a:tcPr>
                </a:tc>
                <a:tc>
                  <a:txBody>
                    <a:bodyPr/>
                    <a:lstStyle/>
                    <a:p>
                      <a:r>
                        <a:rPr sz="1000">
                          <a:solidFill>
                            <a:srgbClr val="1A1A1A"/>
                          </a:solidFill>
                          <a:latin typeface="Calibri"/>
                        </a:rPr>
                        <a:t>Journal and flagship-conference accounts of how LLM agents are built, profiled, and given transactional context</a:t>
                      </a:r>
                    </a:p>
                  </a:txBody>
                  <a:tcPr>
                    <a:solidFill>
                      <a:srgbClr val="E9EFF7"/>
                    </a:solidFill>
                  </a:tcPr>
                </a:tc>
                <a:tc>
                  <a:txBody>
                    <a:bodyPr/>
                    <a:lstStyle/>
                    <a:p>
                      <a:r>
                        <a:rPr sz="1000">
                          <a:solidFill>
                            <a:srgbClr val="1A1A1A"/>
                          </a:solidFill>
                          <a:latin typeface="Calibri"/>
                        </a:rPr>
                        <a:t>A live Indian-OGD loop whose vote object is a tool identifier, not a software SDLC or a saga log</a:t>
                      </a:r>
                    </a:p>
                  </a:txBody>
                  <a:tcPr>
                    <a:solidFill>
                      <a:srgbClr val="E9EFF7"/>
                    </a:solidFill>
                  </a:tcPr>
                </a:tc>
              </a:tr>
              <a:tr h="600891">
                <a:tc>
                  <a:txBody>
                    <a:bodyPr/>
                    <a:lstStyle/>
                    <a:p>
                      <a:r>
                        <a:rPr sz="1000" b="1">
                          <a:solidFill>
                            <a:srgbClr val="3A1C64"/>
                          </a:solidFill>
                          <a:latin typeface="Calibri"/>
                        </a:rPr>
                        <a:t>Tool learning (ToolLLM / ToolBench / ToolRerank)</a:t>
                      </a:r>
                    </a:p>
                  </a:txBody>
                  <a:tcPr>
                    <a:solidFill>
                      <a:srgbClr val="E9EFF7"/>
                    </a:solidFill>
                  </a:tcPr>
                </a:tc>
                <a:tc>
                  <a:txBody>
                    <a:bodyPr/>
                    <a:lstStyle/>
                    <a:p>
                      <a:r>
                        <a:rPr sz="1000">
                          <a:solidFill>
                            <a:srgbClr val="1A1A1A"/>
                          </a:solidFill>
                          <a:latin typeface="Calibri"/>
                        </a:rPr>
                        <a:t>Large-scale tool-use corpus and ToolEval-style ranking protocol</a:t>
                      </a:r>
                    </a:p>
                  </a:txBody>
                  <a:tcPr>
                    <a:solidFill>
                      <a:srgbClr val="E9EFF7"/>
                    </a:solidFill>
                  </a:tcPr>
                </a:tc>
                <a:tc>
                  <a:txBody>
                    <a:bodyPr/>
                    <a:lstStyle/>
                    <a:p>
                      <a:r>
                        <a:rPr sz="1000">
                          <a:solidFill>
                            <a:srgbClr val="1A1A1A"/>
                          </a:solidFill>
                          <a:latin typeface="Calibri"/>
                        </a:rPr>
                        <a:t>Session-fused ranking plus live Indian OGD execution (not RapidAPI replay)</a:t>
                      </a:r>
                    </a:p>
                  </a:txBody>
                  <a:tcPr>
                    <a:solidFill>
                      <a:srgbClr val="E9EFF7"/>
                    </a:solidFill>
                  </a:tcPr>
                </a:tc>
              </a:tr>
              <a:tr h="600891">
                <a:tc>
                  <a:txBody>
                    <a:bodyPr/>
                    <a:lstStyle/>
                    <a:p>
                      <a:r>
                        <a:rPr sz="1000" b="1">
                          <a:solidFill>
                            <a:srgbClr val="3A1C64"/>
                          </a:solidFill>
                          <a:latin typeface="Calibri"/>
                        </a:rPr>
                        <a:t>Learned routers (RouteLLM, MasRouter, PILOT)</a:t>
                      </a:r>
                    </a:p>
                  </a:txBody>
                  <a:tcPr>
                    <a:solidFill>
                      <a:srgbClr val="E9EFF7"/>
                    </a:solidFill>
                  </a:tcPr>
                </a:tc>
                <a:tc>
                  <a:txBody>
                    <a:bodyPr/>
                    <a:lstStyle/>
                    <a:p>
                      <a:r>
                        <a:rPr sz="1000">
                          <a:solidFill>
                            <a:srgbClr val="1A1A1A"/>
                          </a:solidFill>
                          <a:latin typeface="Calibri"/>
                        </a:rPr>
                        <a:t>Train or bandit-route over model SKUs or collaboration modes</a:t>
                      </a:r>
                    </a:p>
                  </a:txBody>
                  <a:tcPr>
                    <a:solidFill>
                      <a:srgbClr val="E9EFF7"/>
                    </a:solidFill>
                  </a:tcPr>
                </a:tc>
                <a:tc>
                  <a:txBody>
                    <a:bodyPr/>
                    <a:lstStyle/>
                    <a:p>
                      <a:r>
                        <a:rPr sz="1000">
                          <a:solidFill>
                            <a:srgbClr val="1A1A1A"/>
                          </a:solidFill>
                          <a:latin typeface="Calibri"/>
                        </a:rPr>
                        <a:t>Training-free hop sampling over named tool-specialist agents</a:t>
                      </a:r>
                    </a:p>
                  </a:txBody>
                  <a:tcPr>
                    <a:solidFill>
                      <a:srgbClr val="E9EFF7"/>
                    </a:solidFill>
                  </a:tcPr>
                </a:tc>
              </a:tr>
              <a:tr h="600891">
                <a:tc>
                  <a:txBody>
                    <a:bodyPr/>
                    <a:lstStyle/>
                    <a:p>
                      <a:r>
                        <a:rPr sz="1000" b="1">
                          <a:solidFill>
                            <a:srgbClr val="3A1C64"/>
                          </a:solidFill>
                          <a:latin typeface="Calibri"/>
                        </a:rPr>
                        <a:t>Prompt compression (LLMLingua)</a:t>
                      </a:r>
                    </a:p>
                  </a:txBody>
                  <a:tcPr>
                    <a:solidFill>
                      <a:srgbClr val="E9EFF7"/>
                    </a:solidFill>
                  </a:tcPr>
                </a:tc>
                <a:tc>
                  <a:txBody>
                    <a:bodyPr/>
                    <a:lstStyle/>
                    <a:p>
                      <a:r>
                        <a:rPr sz="1000">
                          <a:solidFill>
                            <a:srgbClr val="1A1A1A"/>
                          </a:solidFill>
                          <a:latin typeface="Calibri"/>
                        </a:rPr>
                        <a:t>Shorten tokens before the LLM</a:t>
                      </a:r>
                    </a:p>
                  </a:txBody>
                  <a:tcPr>
                    <a:solidFill>
                      <a:srgbClr val="E9EFF7"/>
                    </a:solidFill>
                  </a:tcPr>
                </a:tc>
                <a:tc>
                  <a:txBody>
                    <a:bodyPr/>
                    <a:lstStyle/>
                    <a:p>
                      <a:r>
                        <a:rPr sz="1000">
                          <a:solidFill>
                            <a:srgbClr val="1A1A1A"/>
                          </a:solidFill>
                          <a:latin typeface="Calibri"/>
                        </a:rPr>
                        <a:t>Prune a mesh by conductance and write the residue back into SATR</a:t>
                      </a:r>
                    </a:p>
                  </a:txBody>
                  <a:tcPr>
                    <a:solidFill>
                      <a:srgbClr val="E9EFF7"/>
                    </a:solidFill>
                  </a:tcPr>
                </a:tc>
              </a:tr>
              <a:tr h="600894">
                <a:tc>
                  <a:txBody>
                    <a:bodyPr/>
                    <a:lstStyle/>
                    <a:p>
                      <a:r>
                        <a:rPr sz="1000" b="1">
                          <a:solidFill>
                            <a:srgbClr val="3A1C64"/>
                          </a:solidFill>
                          <a:latin typeface="Calibri"/>
                        </a:rPr>
                        <a:t>Indian agriculture DSS (PECAD)</a:t>
                      </a:r>
                    </a:p>
                  </a:txBody>
                  <a:tcPr>
                    <a:solidFill>
                      <a:srgbClr val="E9EFF7"/>
                    </a:solidFill>
                  </a:tcPr>
                </a:tc>
                <a:tc>
                  <a:txBody>
                    <a:bodyPr/>
                    <a:lstStyle/>
                    <a:p>
                      <a:r>
                        <a:rPr sz="1000">
                          <a:solidFill>
                            <a:srgbClr val="1A1A1A"/>
                          </a:solidFill>
                          <a:latin typeface="Calibri"/>
                        </a:rPr>
                        <a:t>Shows AGMARKNET as a real decision-support input</a:t>
                      </a:r>
                    </a:p>
                  </a:txBody>
                  <a:tcPr>
                    <a:solidFill>
                      <a:srgbClr val="E9EFF7"/>
                    </a:solidFill>
                  </a:tcPr>
                </a:tc>
                <a:tc>
                  <a:txBody>
                    <a:bodyPr/>
                    <a:lstStyle/>
                    <a:p>
                      <a:r>
                        <a:rPr sz="1000">
                          <a:solidFill>
                            <a:srgbClr val="1A1A1A"/>
                          </a:solidFill>
                          <a:latin typeface="Calibri"/>
                        </a:rPr>
                        <a:t>Live, fail-loud OGD inside a multi-agent loop — not a crop-yield model to beat</a:t>
                      </a:r>
                    </a:p>
                  </a:txBody>
                  <a:tcPr>
                    <a:solidFill>
                      <a:srgbClr val="E9EFF7"/>
                    </a:solidFill>
                  </a:tcPr>
                </a:tc>
              </a:tr>
            </a:tbl>
          </a:graphicData>
        </a:graphic>
      </p:graphicFrame>
      <p:sp>
        <p:nvSpPr>
          <p:cNvPr id="4015" name="Automatic Date 15"/>
          <p:cNvSpPr txBox="1"/>
          <p:nvPr/>
        </p:nvSpPr>
        <p:spPr>
          <a:xfrm>
            <a:off x="255016" y="6565900"/>
            <a:ext cx="3108960" cy="255016"/>
          </a:xfrm>
          <a:prstGeom prst="rect">
            <a:avLst/>
          </a:prstGeom>
          <a:noFill/>
        </p:spPr>
        <p:txBody>
          <a:bodyPr wrap="none" lIns="0" tIns="0" rIns="0" bIns="0" anchor="ctr"/>
          <a:lstStyle/>
          <a:p>
            <a:pPr algn="l"/>
            <a:fld id="{9c57c411-0883-4a3e-8186-427fbb0e5e11}" type="datetime3">
              <a:rPr lang="en-GB" sz="1000" dirty="0">
                <a:solidFill>
                  <a:srgbClr val="9AA3AE"/>
                </a:solidFill>
                <a:latin typeface="Calibri"/>
              </a:rPr>
              <a:t>09/07/2026</a:t>
            </a:fld>
            <a:endParaRPr lang="en-GB" sz="1000"/>
          </a:p>
        </p:txBody>
      </p:sp>
      <p:sp>
        <p:nvSpPr>
          <p:cNvPr id="5015" name="Automatic Slide Number 15"/>
          <p:cNvSpPr txBox="1"/>
          <p:nvPr/>
        </p:nvSpPr>
        <p:spPr>
          <a:xfrm>
            <a:off x="11475720" y="6510528"/>
            <a:ext cx="475488" cy="256032"/>
          </a:xfrm>
          <a:prstGeom prst="rect">
            <a:avLst/>
          </a:prstGeom>
          <a:noFill/>
        </p:spPr>
        <p:txBody>
          <a:bodyPr wrap="none" lIns="0" tIns="0" rIns="0" bIns="0" anchor="ctr"/>
          <a:lstStyle/>
          <a:p>
            <a:pPr algn="ctr"/>
            <a:fld id="{45475850-6966-4d0f-ad09-acf9ef68d1b4}" type="slidenum">
              <a:rPr lang="en-GB" sz="1200" b="1" dirty="0">
                <a:solidFill>
                  <a:srgbClr val="FFFFFF"/>
                </a:solidFill>
                <a:latin typeface="Calibri"/>
              </a:rPr>
              <a:t>15</a:t>
            </a:fld>
            <a:endParaRPr lang="en-GB" sz="1200"/>
          </a:p>
        </p:txBody>
      </p:sp>
    </p:spTree>
  </p:cSld>
  <p:clrMapOvr>
    <a:masterClrMapping/>
  </p:clrMapOvr>
  <p:hf sldNum="1" hdr="0" ftr="1" dt="1"/>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To Solve the Research Gap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solve the research gaps identified in Evidence 1–18, the following work is proposed. Closing a gap is a named module on a closed loop, not a promised leaderboard number.</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2995574"/>
                <a:gridCol w="2304288"/>
                <a:gridCol w="6221577"/>
              </a:tblGrid>
              <a:tr h="701040">
                <a:tc>
                  <a:txBody>
                    <a:bodyPr/>
                    <a:lstStyle/>
                    <a:p>
                      <a:r>
                        <a:rPr b="1" sz="1100">
                          <a:solidFill>
                            <a:srgbClr val="FFFFFF"/>
                          </a:solidFill>
                          <a:latin typeface="Calibri"/>
                        </a:rPr>
                        <a:t>Research gap</a:t>
                      </a:r>
                    </a:p>
                  </a:txBody>
                  <a:tcPr>
                    <a:solidFill>
                      <a:srgbClr val="3A1C64"/>
                    </a:solidFill>
                  </a:tcPr>
                </a:tc>
                <a:tc>
                  <a:txBody>
                    <a:bodyPr/>
                    <a:lstStyle/>
                    <a:p>
                      <a:r>
                        <a:rPr b="1" sz="1100">
                          <a:solidFill>
                            <a:srgbClr val="FFFFFF"/>
                          </a:solidFill>
                          <a:latin typeface="Calibri"/>
                        </a:rPr>
                        <a:t>Left open by</a:t>
                      </a:r>
                    </a:p>
                  </a:txBody>
                  <a:tcPr>
                    <a:solidFill>
                      <a:srgbClr val="3A1C64"/>
                    </a:solidFill>
                  </a:tcPr>
                </a:tc>
                <a:tc>
                  <a:txBody>
                    <a:bodyPr/>
                    <a:lstStyle/>
                    <a:p>
                      <a:r>
                        <a:rPr b="1" sz="1100">
                          <a:solidFill>
                            <a:srgbClr val="FFFFFF"/>
                          </a:solidFill>
                          <a:latin typeface="Calibri"/>
                        </a:rPr>
                        <a:t>To solve the research gap</a:t>
                      </a:r>
                    </a:p>
                  </a:txBody>
                  <a:tcPr>
                    <a:solidFill>
                      <a:srgbClr val="3A1C64"/>
                    </a:solidFill>
                  </a:tcPr>
                </a:tc>
              </a:tr>
              <a:tr h="701040">
                <a:tc>
                  <a:txBody>
                    <a:bodyPr/>
                    <a:lstStyle/>
                    <a:p>
                      <a:r>
                        <a:rPr sz="1000" b="1">
                          <a:solidFill>
                            <a:srgbClr val="3A1C64"/>
                          </a:solidFill>
                          <a:latin typeface="Calibri"/>
                        </a:rPr>
                        <a:t>G1 — Turn-amnesic retrieval</a:t>
                      </a:r>
                    </a:p>
                  </a:txBody>
                  <a:tcPr>
                    <a:solidFill>
                      <a:srgbClr val="E9EFF7"/>
                    </a:solidFill>
                  </a:tcPr>
                </a:tc>
                <a:tc>
                  <a:txBody>
                    <a:bodyPr/>
                    <a:lstStyle/>
                    <a:p>
                      <a:r>
                        <a:rPr sz="1000">
                          <a:solidFill>
                            <a:srgbClr val="1A1A1A"/>
                          </a:solidFill>
                          <a:latin typeface="Calibri"/>
                        </a:rPr>
                        <a:t>Evidence 9, 10, 18</a:t>
                      </a:r>
                    </a:p>
                  </a:txBody>
                  <a:tcPr>
                    <a:solidFill>
                      <a:srgbClr val="E9EFF7"/>
                    </a:solidFill>
                  </a:tcPr>
                </a:tc>
                <a:tc>
                  <a:txBody>
                    <a:bodyPr/>
                    <a:lstStyle/>
                    <a:p>
                      <a:r>
                        <a:rPr sz="1000">
                          <a:solidFill>
                            <a:srgbClr val="1A1A1A"/>
                          </a:solidFill>
                          <a:latin typeface="Calibri"/>
                        </a:rPr>
                        <a:t>O1 SATR. Fuse session co-activation with semantic rank; write FCNP residue into the next prior.</a:t>
                      </a:r>
                    </a:p>
                  </a:txBody>
                  <a:tcPr>
                    <a:solidFill>
                      <a:srgbClr val="E9EFF7"/>
                    </a:solidFill>
                  </a:tcPr>
                </a:tc>
              </a:tr>
              <a:tr h="701040">
                <a:tc>
                  <a:txBody>
                    <a:bodyPr/>
                    <a:lstStyle/>
                    <a:p>
                      <a:r>
                        <a:rPr sz="1000" b="1">
                          <a:solidFill>
                            <a:srgbClr val="3A1C64"/>
                          </a:solidFill>
                          <a:latin typeface="Calibri"/>
                        </a:rPr>
                        <a:t>G2 — Model / SOP routers</a:t>
                      </a:r>
                    </a:p>
                  </a:txBody>
                  <a:tcPr>
                    <a:solidFill>
                      <a:srgbClr val="E9EFF7"/>
                    </a:solidFill>
                  </a:tcPr>
                </a:tc>
                <a:tc>
                  <a:txBody>
                    <a:bodyPr/>
                    <a:lstStyle/>
                    <a:p>
                      <a:r>
                        <a:rPr sz="1000">
                          <a:solidFill>
                            <a:srgbClr val="1A1A1A"/>
                          </a:solidFill>
                          <a:latin typeface="Calibri"/>
                        </a:rPr>
                        <a:t>Evidence 6, 11, 12, 13</a:t>
                      </a:r>
                    </a:p>
                  </a:txBody>
                  <a:tcPr>
                    <a:solidFill>
                      <a:srgbClr val="E9EFF7"/>
                    </a:solidFill>
                  </a:tcPr>
                </a:tc>
                <a:tc>
                  <a:txBody>
                    <a:bodyPr/>
                    <a:lstStyle/>
                    <a:p>
                      <a:r>
                        <a:rPr sz="1000">
                          <a:solidFill>
                            <a:srgbClr val="1A1A1A"/>
                          </a:solidFill>
                          <a:latin typeface="Calibri"/>
                        </a:rPr>
                        <a:t>O2 APRR. Training-free hop sampling over named tool-specialist agents, not LLM SKUs.</a:t>
                      </a:r>
                    </a:p>
                  </a:txBody>
                  <a:tcPr>
                    <a:solidFill>
                      <a:srgbClr val="E9EFF7"/>
                    </a:solidFill>
                  </a:tcPr>
                </a:tc>
              </a:tr>
              <a:tr h="701040">
                <a:tc>
                  <a:txBody>
                    <a:bodyPr/>
                    <a:lstStyle/>
                    <a:p>
                      <a:r>
                        <a:rPr sz="1000" b="1">
                          <a:solidFill>
                            <a:srgbClr val="3A1C64"/>
                          </a:solidFill>
                          <a:latin typeface="Calibri"/>
                        </a:rPr>
                        <a:t>G3 — Chat / star coordination</a:t>
                      </a:r>
                    </a:p>
                  </a:txBody>
                  <a:tcPr>
                    <a:solidFill>
                      <a:srgbClr val="E9EFF7"/>
                    </a:solidFill>
                  </a:tcPr>
                </a:tc>
                <a:tc>
                  <a:txBody>
                    <a:bodyPr/>
                    <a:lstStyle/>
                    <a:p>
                      <a:r>
                        <a:rPr sz="1000">
                          <a:solidFill>
                            <a:srgbClr val="1A1A1A"/>
                          </a:solidFill>
                          <a:latin typeface="Calibri"/>
                        </a:rPr>
                        <a:t>Evidence 1–5, 7, 8</a:t>
                      </a:r>
                    </a:p>
                  </a:txBody>
                  <a:tcPr>
                    <a:solidFill>
                      <a:srgbClr val="E9EFF7"/>
                    </a:solidFill>
                  </a:tcPr>
                </a:tc>
                <a:tc>
                  <a:txBody>
                    <a:bodyPr/>
                    <a:lstStyle/>
                    <a:p>
                      <a:r>
                        <a:rPr sz="1000">
                          <a:solidFill>
                            <a:srgbClr val="1A1A1A"/>
                          </a:solidFill>
                          <a:latin typeface="Calibri"/>
                        </a:rPr>
                        <a:t>O3 MNCD. Score-sum over live tool identifiers, then a fail-loud data.gov.in GET.</a:t>
                      </a:r>
                    </a:p>
                  </a:txBody>
                  <a:tcPr>
                    <a:solidFill>
                      <a:srgbClr val="E9EFF7"/>
                    </a:solidFill>
                  </a:tcPr>
                </a:tc>
              </a:tr>
              <a:tr h="701040">
                <a:tc>
                  <a:txBody>
                    <a:bodyPr/>
                    <a:lstStyle/>
                    <a:p>
                      <a:r>
                        <a:rPr sz="1000" b="1">
                          <a:solidFill>
                            <a:srgbClr val="3A1C64"/>
                          </a:solidFill>
                          <a:latin typeface="Calibri"/>
                        </a:rPr>
                        <a:t>G4 — Token compression, no write-back</a:t>
                      </a:r>
                    </a:p>
                  </a:txBody>
                  <a:tcPr>
                    <a:solidFill>
                      <a:srgbClr val="E9EFF7"/>
                    </a:solidFill>
                  </a:tcPr>
                </a:tc>
                <a:tc>
                  <a:txBody>
                    <a:bodyPr/>
                    <a:lstStyle/>
                    <a:p>
                      <a:r>
                        <a:rPr sz="1000">
                          <a:solidFill>
                            <a:srgbClr val="1A1A1A"/>
                          </a:solidFill>
                          <a:latin typeface="Calibri"/>
                        </a:rPr>
                        <a:t>Evidence 14, 15, 16</a:t>
                      </a:r>
                    </a:p>
                  </a:txBody>
                  <a:tcPr>
                    <a:solidFill>
                      <a:srgbClr val="E9EFF7"/>
                    </a:solidFill>
                  </a:tcPr>
                </a:tc>
                <a:tc>
                  <a:txBody>
                    <a:bodyPr/>
                    <a:lstStyle/>
                    <a:p>
                      <a:r>
                        <a:rPr sz="1000">
                          <a:solidFill>
                            <a:srgbClr val="1A1A1A"/>
                          </a:solidFill>
                          <a:latin typeface="Calibri"/>
                        </a:rPr>
                        <a:t>O4 FCNP. Conductance prune of the mesh; pin live citations back into SATR.</a:t>
                      </a:r>
                    </a:p>
                  </a:txBody>
                  <a:tcPr>
                    <a:solidFill>
                      <a:srgbClr val="E9EFF7"/>
                    </a:solidFill>
                  </a:tcPr>
                </a:tc>
              </a:tr>
              <a:tr h="701040">
                <a:tc>
                  <a:txBody>
                    <a:bodyPr/>
                    <a:lstStyle/>
                    <a:p>
                      <a:r>
                        <a:rPr sz="1000" b="1">
                          <a:solidFill>
                            <a:srgbClr val="3A1C64"/>
                          </a:solidFill>
                          <a:latin typeface="Calibri"/>
                        </a:rPr>
                        <a:t>G5 — No live Indian OGD loop</a:t>
                      </a:r>
                    </a:p>
                  </a:txBody>
                  <a:tcPr>
                    <a:solidFill>
                      <a:srgbClr val="E9EFF7"/>
                    </a:solidFill>
                  </a:tcPr>
                </a:tc>
                <a:tc>
                  <a:txBody>
                    <a:bodyPr/>
                    <a:lstStyle/>
                    <a:p>
                      <a:r>
                        <a:rPr sz="1000">
                          <a:solidFill>
                            <a:srgbClr val="1A1A1A"/>
                          </a:solidFill>
                          <a:latin typeface="Calibri"/>
                        </a:rPr>
                        <a:t>Evidence 9, 17</a:t>
                      </a:r>
                    </a:p>
                  </a:txBody>
                  <a:tcPr>
                    <a:solidFill>
                      <a:srgbClr val="E9EFF7"/>
                    </a:solidFill>
                  </a:tcPr>
                </a:tc>
                <a:tc>
                  <a:txBody>
                    <a:bodyPr/>
                    <a:lstStyle/>
                    <a:p>
                      <a:r>
                        <a:rPr sz="1000">
                          <a:solidFill>
                            <a:srgbClr val="1A1A1A"/>
                          </a:solidFill>
                          <a:latin typeface="Calibri"/>
                        </a:rPr>
                        <a:t>Integrated ACRS on verified Agriculture UUIDs. ToolBench is ranking-only; prices are never invented.</a:t>
                      </a:r>
                    </a:p>
                  </a:txBody>
                  <a:tcPr>
                    <a:solidFill>
                      <a:srgbClr val="E9EFF7"/>
                    </a:solidFill>
                  </a:tcPr>
                </a:tc>
              </a:tr>
            </a:tbl>
          </a:graphicData>
        </a:graphic>
      </p:graphicFrame>
      <p:sp>
        <p:nvSpPr>
          <p:cNvPr id="4016" name="Automatic Date 16"/>
          <p:cNvSpPr txBox="1"/>
          <p:nvPr/>
        </p:nvSpPr>
        <p:spPr>
          <a:xfrm>
            <a:off x="255016" y="6565900"/>
            <a:ext cx="3108960" cy="255016"/>
          </a:xfrm>
          <a:prstGeom prst="rect">
            <a:avLst/>
          </a:prstGeom>
          <a:noFill/>
        </p:spPr>
        <p:txBody>
          <a:bodyPr wrap="none" lIns="0" tIns="0" rIns="0" bIns="0" anchor="ctr"/>
          <a:lstStyle/>
          <a:p>
            <a:pPr algn="l"/>
            <a:fld id="{97385b77-8060-439c-b2ab-a421c9ea7f2a}" type="datetime3">
              <a:rPr lang="en-GB" sz="1000" dirty="0">
                <a:solidFill>
                  <a:srgbClr val="9AA3AE"/>
                </a:solidFill>
                <a:latin typeface="Calibri"/>
              </a:rPr>
              <a:t>09/07/2026</a:t>
            </a:fld>
            <a:endParaRPr lang="en-GB" sz="1000"/>
          </a:p>
        </p:txBody>
      </p:sp>
      <p:sp>
        <p:nvSpPr>
          <p:cNvPr id="5016" name="Automatic Slide Number 16"/>
          <p:cNvSpPr txBox="1"/>
          <p:nvPr/>
        </p:nvSpPr>
        <p:spPr>
          <a:xfrm>
            <a:off x="11475720" y="6510528"/>
            <a:ext cx="475488" cy="256032"/>
          </a:xfrm>
          <a:prstGeom prst="rect">
            <a:avLst/>
          </a:prstGeom>
          <a:noFill/>
        </p:spPr>
        <p:txBody>
          <a:bodyPr wrap="none" lIns="0" tIns="0" rIns="0" bIns="0" anchor="ctr"/>
          <a:lstStyle/>
          <a:p>
            <a:pPr algn="ctr"/>
            <a:fld id="{528a2512-f73e-45d2-9697-f314c3662cd7}" type="slidenum">
              <a:rPr lang="en-GB" sz="1200" b="1" dirty="0">
                <a:solidFill>
                  <a:srgbClr val="FFFFFF"/>
                </a:solidFill>
                <a:latin typeface="Calibri"/>
              </a:rPr>
              <a:t>16</a:t>
            </a:fld>
            <a:endParaRPr lang="en-GB" sz="1200"/>
          </a:p>
        </p:txBody>
      </p:sp>
    </p:spTree>
  </p:cSld>
  <p:clrMapOvr>
    <a:masterClrMapping/>
  </p:clrMapOvr>
  <p:hf sldNum="1" hdr="0" ftr="1" dt="1"/>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SOTA architecture (Wang et al., 2024)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Figure 1 after Wang et al., Frontiers of Computer Science 18:186345 (2024), doi:10.1007/s11704-024-40231-1. Four modules: Profiling, Memory, Planning, Action. Tool instantiation: Qin ToolLLM + Zheng ToolRerank (query only).</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Journal source of Figure 1. Wang et al., Front. Comput. Sci. 18:186345 (2024). Four modules: Profiling, Memory, Planning, Action.</a:t>
            </a:r>
          </a:p>
          <a:p>
            <a:pPr>
              <a:spcAft>
                <a:spcPts val="600"/>
              </a:spcAft>
              <a:buFont typeface="Arial"/>
              <a:buChar char="•"/>
            </a:pPr>
            <a:r>
              <a:rPr sz="1300">
                <a:solidFill>
                  <a:srgbClr val="1A1A1A"/>
                </a:solidFill>
                <a:latin typeface="Calibri"/>
              </a:rPr>
              <a:t>Related surveys. He, Treude and Lo, ACM TOSEM 34(5) (2025); Guo et al., IJCAI-24, 8048–8057.</a:t>
            </a:r>
          </a:p>
          <a:p>
            <a:pPr>
              <a:spcAft>
                <a:spcPts val="600"/>
              </a:spcAft>
              <a:buFont typeface="Arial"/>
              <a:buChar char="•"/>
            </a:pPr>
            <a:r>
              <a:rPr sz="1300">
                <a:solidFill>
                  <a:srgbClr val="1A1A1A"/>
                </a:solidFill>
                <a:latin typeface="Calibri"/>
              </a:rPr>
              <a:t>Tool instantiation. Qin/Zheng: turn-amnesic API retrieval. That is the grey path under Figure 1.</a:t>
            </a:r>
          </a:p>
          <a:p>
            <a:pPr>
              <a:spcAft>
                <a:spcPts val="600"/>
              </a:spcAft>
              <a:buFont typeface="Arial"/>
              <a:buChar char="•"/>
            </a:pPr>
            <a:r>
              <a:rPr sz="1300">
                <a:solidFill>
                  <a:srgbClr val="1A1A1A"/>
                </a:solidFill>
                <a:latin typeface="Calibri"/>
              </a:rPr>
              <a:t>What SOTA does not draw. A co-activation cache, a specialist posterior, a live data.gov.in GET, or write-back into retrieval.</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1 SOTA after Wang et al., Front. Comput. Sci. 2024: Profiling–Memory–Planning–Action; ToolLLM+ToolRerank instantiation.</a:t>
            </a:r>
          </a:p>
        </p:txBody>
      </p:sp>
      <p:sp>
        <p:nvSpPr>
          <p:cNvPr id="11" name="Rounded Rectangle 10"/>
          <p:cNvSpPr/>
          <p:nvPr/>
        </p:nvSpPr>
        <p:spPr>
          <a:xfrm>
            <a:off x="365760"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Profiling</a:t>
            </a:r>
          </a:p>
        </p:txBody>
      </p:sp>
      <p:sp>
        <p:nvSpPr>
          <p:cNvPr id="12" name="Rounded Rectangle 11"/>
          <p:cNvSpPr/>
          <p:nvPr/>
        </p:nvSpPr>
        <p:spPr>
          <a:xfrm>
            <a:off x="3250692"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Memory</a:t>
            </a:r>
          </a:p>
        </p:txBody>
      </p:sp>
      <p:sp>
        <p:nvSpPr>
          <p:cNvPr id="13" name="Rounded Rectangle 12"/>
          <p:cNvSpPr/>
          <p:nvPr/>
        </p:nvSpPr>
        <p:spPr>
          <a:xfrm>
            <a:off x="6135624"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Planning</a:t>
            </a:r>
          </a:p>
        </p:txBody>
      </p:sp>
      <p:sp>
        <p:nvSpPr>
          <p:cNvPr id="14" name="Rounded Rectangle 13"/>
          <p:cNvSpPr/>
          <p:nvPr/>
        </p:nvSpPr>
        <p:spPr>
          <a:xfrm>
            <a:off x="9020556"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Action (tools)</a:t>
            </a:r>
          </a:p>
        </p:txBody>
      </p:sp>
      <p:sp>
        <p:nvSpPr>
          <p:cNvPr id="15" name="TextBox 14"/>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Wang L. et al. Front. Comput. Sci. 18:186345 (2024). Figure 1 is redrawn for this proposal; it is not a scanned publisher PDF.</a:t>
            </a:r>
          </a:p>
        </p:txBody>
      </p:sp>
      <p:sp>
        <p:nvSpPr>
          <p:cNvPr id="4017" name="Automatic Date 17"/>
          <p:cNvSpPr txBox="1"/>
          <p:nvPr/>
        </p:nvSpPr>
        <p:spPr>
          <a:xfrm>
            <a:off x="255016" y="6565900"/>
            <a:ext cx="3108960" cy="255016"/>
          </a:xfrm>
          <a:prstGeom prst="rect">
            <a:avLst/>
          </a:prstGeom>
          <a:noFill/>
        </p:spPr>
        <p:txBody>
          <a:bodyPr wrap="none" lIns="0" tIns="0" rIns="0" bIns="0" anchor="ctr"/>
          <a:lstStyle/>
          <a:p>
            <a:pPr algn="l"/>
            <a:fld id="{15551e35-2fb6-444e-8fc7-a95714db58a4}" type="datetime3">
              <a:rPr lang="en-GB" sz="1000" dirty="0">
                <a:solidFill>
                  <a:srgbClr val="9AA3AE"/>
                </a:solidFill>
                <a:latin typeface="Calibri"/>
              </a:rPr>
              <a:t>09/07/2026</a:t>
            </a:fld>
            <a:endParaRPr lang="en-GB" sz="1000"/>
          </a:p>
        </p:txBody>
      </p:sp>
      <p:sp>
        <p:nvSpPr>
          <p:cNvPr id="5017" name="Automatic Slide Number 17"/>
          <p:cNvSpPr txBox="1"/>
          <p:nvPr/>
        </p:nvSpPr>
        <p:spPr>
          <a:xfrm>
            <a:off x="11475720" y="6510528"/>
            <a:ext cx="475488" cy="256032"/>
          </a:xfrm>
          <a:prstGeom prst="rect">
            <a:avLst/>
          </a:prstGeom>
          <a:noFill/>
        </p:spPr>
        <p:txBody>
          <a:bodyPr wrap="none" lIns="0" tIns="0" rIns="0" bIns="0" anchor="ctr"/>
          <a:lstStyle/>
          <a:p>
            <a:pPr algn="ctr"/>
            <a:fld id="{8be17b33-8142-46e8-987a-38cec05b34d2}" type="slidenum">
              <a:rPr lang="en-GB" sz="1200" b="1" dirty="0">
                <a:solidFill>
                  <a:srgbClr val="FFFFFF"/>
                </a:solidFill>
                <a:latin typeface="Calibri"/>
              </a:rPr>
              <a:t>17</a:t>
            </a:fld>
            <a:endParaRPr lang="en-GB" sz="1200"/>
          </a:p>
        </p:txBody>
      </p:sp>
    </p:spTree>
  </p:cSld>
  <p:clrMapOvr>
    <a:masterClrMapping/>
  </p:clrMapOvr>
  <p:hf sldNum="1" hdr="0" ftr="1" dt="1"/>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Proposed ACRS architecture</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Figure 2 is drawn for this proposal. SATR means Session-Aware Tool Retrieval — not a new LLM and not a live price cache.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SATR (Session-Aware Tool Retrieval) ranks tools from q + session memory H + FCNP residue M, then hands a shortlist to APRR.</a:t>
            </a:r>
          </a:p>
          <a:p>
            <a:pPr>
              <a:spcAft>
                <a:spcPts val="600"/>
              </a:spcAft>
              <a:buFont typeface="Arial"/>
              <a:buChar char="•"/>
            </a:pPr>
            <a:r>
              <a:rPr sz="1300">
                <a:solidFill>
                  <a:srgbClr val="1A1A1A"/>
                </a:solidFill>
                <a:latin typeface="Calibri"/>
              </a:rPr>
              <a:t>APRR samples a specialist hop path from that shortlist (training-free P ∝ W^α η^β ψ^γ).</a:t>
            </a:r>
          </a:p>
          <a:p>
            <a:pPr>
              <a:spcAft>
                <a:spcPts val="600"/>
              </a:spcAft>
              <a:buFont typeface="Arial"/>
              <a:buChar char="•"/>
            </a:pPr>
            <a:r>
              <a:rPr sz="1300">
                <a:solidFill>
                  <a:srgbClr val="1A1A1A"/>
                </a:solidFill>
                <a:latin typeface="Calibri"/>
              </a:rPr>
              <a:t>MNCD score-sums tool IDs and GETs a live data.gov.in UUID. Fail loud. No dummy prices.</a:t>
            </a:r>
          </a:p>
          <a:p>
            <a:pPr>
              <a:spcAft>
                <a:spcPts val="600"/>
              </a:spcAft>
              <a:buFont typeface="Arial"/>
              <a:buChar char="•"/>
            </a:pPr>
            <a:r>
              <a:rPr sz="1300">
                <a:solidFill>
                  <a:srgbClr val="1A1A1A"/>
                </a:solidFill>
                <a:latin typeface="Calibri"/>
              </a:rPr>
              <a:t>FCNP prunes the mesh by conductance and writes M_t back into SATR — that is the closed loop drawn in Figure 2.</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Figure 2 is drawn for this proposal. Contrast with Figure 1 (Wang et al., FCS 2024). No NDCG is drawn.</a:t>
            </a:r>
          </a:p>
        </p:txBody>
      </p:sp>
      <p:sp>
        <p:nvSpPr>
          <p:cNvPr id="4018" name="Automatic Date 18"/>
          <p:cNvSpPr txBox="1"/>
          <p:nvPr/>
        </p:nvSpPr>
        <p:spPr>
          <a:xfrm>
            <a:off x="255016" y="6565900"/>
            <a:ext cx="3108960" cy="255016"/>
          </a:xfrm>
          <a:prstGeom prst="rect">
            <a:avLst/>
          </a:prstGeom>
          <a:noFill/>
        </p:spPr>
        <p:txBody>
          <a:bodyPr wrap="none" lIns="0" tIns="0" rIns="0" bIns="0" anchor="ctr"/>
          <a:lstStyle/>
          <a:p>
            <a:pPr algn="l"/>
            <a:fld id="{b9d4b552-97ea-4070-88c0-f31d3be54d5d}" type="datetime3">
              <a:rPr lang="en-GB" sz="1000" dirty="0">
                <a:solidFill>
                  <a:srgbClr val="9AA3AE"/>
                </a:solidFill>
                <a:latin typeface="Calibri"/>
              </a:rPr>
              <a:t>09/07/2026</a:t>
            </a:fld>
            <a:endParaRPr lang="en-GB" sz="1000"/>
          </a:p>
        </p:txBody>
      </p:sp>
      <p:sp>
        <p:nvSpPr>
          <p:cNvPr id="5018" name="Automatic Slide Number 18"/>
          <p:cNvSpPr txBox="1"/>
          <p:nvPr/>
        </p:nvSpPr>
        <p:spPr>
          <a:xfrm>
            <a:off x="11475720" y="6510528"/>
            <a:ext cx="475488" cy="256032"/>
          </a:xfrm>
          <a:prstGeom prst="rect">
            <a:avLst/>
          </a:prstGeom>
          <a:noFill/>
        </p:spPr>
        <p:txBody>
          <a:bodyPr wrap="none" lIns="0" tIns="0" rIns="0" bIns="0" anchor="ctr"/>
          <a:lstStyle/>
          <a:p>
            <a:pPr algn="ctr"/>
            <a:fld id="{c2f18ce8-5aa8-4221-ab1b-12cc89bf0f73}" type="slidenum">
              <a:rPr lang="en-GB" sz="1200" b="1" dirty="0">
                <a:solidFill>
                  <a:srgbClr val="FFFFFF"/>
                </a:solidFill>
                <a:latin typeface="Calibri"/>
              </a:rPr>
              <a:t>18</a:t>
            </a:fld>
            <a:endParaRPr lang="en-GB" sz="1200"/>
          </a:p>
        </p:txBody>
      </p:sp>
    </p:spTree>
  </p:cSld>
  <p:clrMapOvr>
    <a:masterClrMapping/>
  </p:clrMapOvr>
  <p:hf sldNum="1" hdr="0" ftr="1" dt="1"/>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Identified Research Problem</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Five architectural gaps. Four named objectives. One integration contract. The previous slide maps each gap onto the module that closes it. Closing a gap is evidenced by a runnable loop and citable equations, not by a promised leaderboard number.</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G1 — Turn-amnesic retrieval. ToolLLM SBERT (Qin et al., ICLR 2024) and ToolRerank (Zheng et al., LREC-COLING 2024) score each query independently. Session co-activation is unused. → Objective 1 SATR.</a:t>
            </a:r>
          </a:p>
          <a:p>
            <a:pPr>
              <a:spcAft>
                <a:spcPts val="600"/>
              </a:spcAft>
              <a:buFont typeface="Arial"/>
              <a:buChar char="•"/>
            </a:pPr>
            <a:r>
              <a:rPr sz="1300">
                <a:solidFill>
                  <a:srgbClr val="1A1A1A"/>
                </a:solidFill>
                <a:latin typeface="Calibri"/>
              </a:rPr>
              <a:t>G2 — Routers pick models or authored SOPs, not tool-specialist agents with a training-free posterior. RouteLLM / PILOT / MasRouter / MetaGPT. → Objective 2 APRR.</a:t>
            </a:r>
          </a:p>
          <a:p>
            <a:pPr>
              <a:spcAft>
                <a:spcPts val="600"/>
              </a:spcAft>
              <a:buFont typeface="Arial"/>
              <a:buChar char="•"/>
            </a:pPr>
            <a:r>
              <a:rPr sz="1300">
                <a:solidFill>
                  <a:srgbClr val="1A1A1A"/>
                </a:solidFill>
                <a:latin typeface="Calibri"/>
              </a:rPr>
              <a:t>G3 — MAS communication is star, SOP, or chat. No mesh vote whose object is a live tool identifier. AutoGen, MetaGPT, ChatDev, CAMEL. → Objective 3 MNCD.</a:t>
            </a:r>
          </a:p>
          <a:p>
            <a:pPr>
              <a:spcAft>
                <a:spcPts val="600"/>
              </a:spcAft>
              <a:buFont typeface="Arial"/>
              <a:buChar char="•"/>
            </a:pPr>
            <a:r>
              <a:rPr sz="1300">
                <a:solidFill>
                  <a:srgbClr val="1A1A1A"/>
                </a:solidFill>
                <a:latin typeface="Calibri"/>
              </a:rPr>
              <a:t>G4 — Prompt compressors (LLMLingua, EMNLP 2023) do not write live citations back into retrieval. → Objective 4 FCNP.</a:t>
            </a:r>
          </a:p>
          <a:p>
            <a:pPr>
              <a:spcAft>
                <a:spcPts val="600"/>
              </a:spcAft>
              <a:buFont typeface="Arial"/>
              <a:buChar char="•"/>
            </a:pPr>
            <a:r>
              <a:rPr sz="1300">
                <a:solidFill>
                  <a:srgbClr val="1A1A1A"/>
                </a:solidFill>
                <a:latin typeface="Calibri"/>
              </a:rPr>
              <a:t>G5 — No closed four-stage contract executed on journal-publishable Indian OGD (data.gov.in / AGMARKNET / IMD / DES), with ToolBench used only as a ranking library. → Integrated ACRS.</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Gaps are architectural. This deck does not convert them into NDCG, latency, or accuracy targets.</a:t>
            </a:r>
          </a:p>
        </p:txBody>
      </p:sp>
      <p:sp>
        <p:nvSpPr>
          <p:cNvPr id="4019" name="Automatic Date 19"/>
          <p:cNvSpPr txBox="1"/>
          <p:nvPr/>
        </p:nvSpPr>
        <p:spPr>
          <a:xfrm>
            <a:off x="255016" y="6565900"/>
            <a:ext cx="3108960" cy="255016"/>
          </a:xfrm>
          <a:prstGeom prst="rect">
            <a:avLst/>
          </a:prstGeom>
          <a:noFill/>
        </p:spPr>
        <p:txBody>
          <a:bodyPr wrap="none" lIns="0" tIns="0" rIns="0" bIns="0" anchor="ctr"/>
          <a:lstStyle/>
          <a:p>
            <a:pPr algn="l"/>
            <a:fld id="{c7a068e7-d6d0-4e60-b057-a929e422c05a}" type="datetime3">
              <a:rPr lang="en-GB" sz="1000" dirty="0">
                <a:solidFill>
                  <a:srgbClr val="9AA3AE"/>
                </a:solidFill>
                <a:latin typeface="Calibri"/>
              </a:rPr>
              <a:t>09/07/2026</a:t>
            </a:fld>
            <a:endParaRPr lang="en-GB" sz="1000"/>
          </a:p>
        </p:txBody>
      </p:sp>
      <p:sp>
        <p:nvSpPr>
          <p:cNvPr id="5019" name="Automatic Slide Number 19"/>
          <p:cNvSpPr txBox="1"/>
          <p:nvPr/>
        </p:nvSpPr>
        <p:spPr>
          <a:xfrm>
            <a:off x="11475720" y="6510528"/>
            <a:ext cx="475488" cy="256032"/>
          </a:xfrm>
          <a:prstGeom prst="rect">
            <a:avLst/>
          </a:prstGeom>
          <a:noFill/>
        </p:spPr>
        <p:txBody>
          <a:bodyPr wrap="none" lIns="0" tIns="0" rIns="0" bIns="0" anchor="ctr"/>
          <a:lstStyle/>
          <a:p>
            <a:pPr algn="ctr"/>
            <a:fld id="{fc964bca-1c64-4292-af05-f907f1da1a16}" type="slidenum">
              <a:rPr lang="en-GB" sz="1200" b="1" dirty="0">
                <a:solidFill>
                  <a:srgbClr val="FFFFFF"/>
                </a:solidFill>
                <a:latin typeface="Calibri"/>
              </a:rPr>
              <a:t>19</a:t>
            </a:fld>
            <a:endParaRPr lang="en-GB" sz="1200"/>
          </a:p>
        </p:txBody>
      </p:sp>
    </p:spTree>
  </p:cSld>
  <p:clrMapOvr>
    <a:masterClrMapping/>
  </p:clrMapOvr>
  <p:hf sldNum="1" hdr="0" ftr="1" dt="1"/>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Title &amp; Aim</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Adaptive Context Reasoning System (ACRS): A Structural Orchestration Layer for Multi-Agent LLM Ecosystems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Aim. The next slide states the overall research objective in full.</a:t>
            </a:r>
          </a:p>
          <a:p>
            <a:pPr>
              <a:spcAft>
                <a:spcPts val="600"/>
              </a:spcAft>
              <a:buFont typeface="Arial"/>
              <a:buChar char="•"/>
            </a:pPr>
            <a:r>
              <a:rPr sz="1300">
                <a:solidFill>
                  <a:srgbClr val="1A1A1A"/>
                </a:solidFill>
                <a:latin typeface="Calibri"/>
              </a:rPr>
              <a:t>Scope of the title. Adaptive = SATR (Session-Aware Tool Retrieval) and APRR. Context = fused session memory plus mesh residue. Reasoning = specialist posterior plus score-sum consensus. System = four named modules on one contract.</a:t>
            </a:r>
          </a:p>
          <a:p>
            <a:pPr>
              <a:spcAft>
                <a:spcPts val="600"/>
              </a:spcAft>
              <a:buFont typeface="Arial"/>
              <a:buChar char="•"/>
            </a:pPr>
            <a:r>
              <a:rPr sz="1300">
                <a:solidFill>
                  <a:srgbClr val="1A1A1A"/>
                </a:solidFill>
                <a:latin typeface="Calibri"/>
              </a:rPr>
              <a:t>What the title is not. It is not a new LLM, not a crop-yield model, and not a claim that ACRS already outperforms ToolLLM, MasRouter, or LLMLingua on a published leaderboard.</a:t>
            </a:r>
          </a:p>
          <a:p>
            <a:pPr>
              <a:spcAft>
                <a:spcPts val="600"/>
              </a:spcAft>
              <a:buFont typeface="Arial"/>
              <a:buChar char="•"/>
            </a:pPr>
            <a:r>
              <a:rPr sz="1300">
                <a:solidFill>
                  <a:srgbClr val="1A1A1A"/>
                </a:solidFill>
                <a:latin typeface="Calibri"/>
              </a:rPr>
              <a:t>Domain lock for the live loop. Agriculture on data.gov.in (AGMARKNET and related verified UUIDs). Other sectors stay out of the inference path in this proposal.</a:t>
            </a:r>
          </a:p>
          <a:p>
            <a:pPr>
              <a:spcAft>
                <a:spcPts val="600"/>
              </a:spcAft>
              <a:buFont typeface="Arial"/>
              <a:buChar char="•"/>
            </a:pPr>
            <a:r>
              <a:rPr sz="1300">
                <a:solidFill>
                  <a:srgbClr val="1A1A1A"/>
                </a:solidFill>
                <a:latin typeface="Calibri"/>
              </a:rPr>
              <a:t>Integration order that the aim implies. SATR (memory) → APRR (who acts) → MNCD (live evidence) → FCNP (prune and write back).</a:t>
            </a:r>
          </a:p>
        </p:txBody>
      </p:sp>
      <p:sp>
        <p:nvSpPr>
          <p:cNvPr id="4020" name="Automatic Date 20"/>
          <p:cNvSpPr txBox="1"/>
          <p:nvPr/>
        </p:nvSpPr>
        <p:spPr>
          <a:xfrm>
            <a:off x="255016" y="6565900"/>
            <a:ext cx="3108960" cy="255016"/>
          </a:xfrm>
          <a:prstGeom prst="rect">
            <a:avLst/>
          </a:prstGeom>
          <a:noFill/>
        </p:spPr>
        <p:txBody>
          <a:bodyPr wrap="none" lIns="0" tIns="0" rIns="0" bIns="0" anchor="ctr"/>
          <a:lstStyle/>
          <a:p>
            <a:pPr algn="l"/>
            <a:fld id="{18166bff-3499-4efc-b65c-d6787322171d}" type="datetime3">
              <a:rPr lang="en-GB" sz="1000" dirty="0">
                <a:solidFill>
                  <a:srgbClr val="9AA3AE"/>
                </a:solidFill>
                <a:latin typeface="Calibri"/>
              </a:rPr>
              <a:t>09/07/2026</a:t>
            </a:fld>
            <a:endParaRPr lang="en-GB" sz="1000"/>
          </a:p>
        </p:txBody>
      </p:sp>
      <p:sp>
        <p:nvSpPr>
          <p:cNvPr id="5020" name="Automatic Slide Number 20"/>
          <p:cNvSpPr txBox="1"/>
          <p:nvPr/>
        </p:nvSpPr>
        <p:spPr>
          <a:xfrm>
            <a:off x="11475720" y="6510528"/>
            <a:ext cx="475488" cy="256032"/>
          </a:xfrm>
          <a:prstGeom prst="rect">
            <a:avLst/>
          </a:prstGeom>
          <a:noFill/>
        </p:spPr>
        <p:txBody>
          <a:bodyPr wrap="none" lIns="0" tIns="0" rIns="0" bIns="0" anchor="ctr"/>
          <a:lstStyle/>
          <a:p>
            <a:pPr algn="ctr"/>
            <a:fld id="{bd00e1bf-8e84-4fcd-a05d-f797eeb1fccb}" type="slidenum">
              <a:rPr lang="en-GB" sz="1200" b="1" dirty="0">
                <a:solidFill>
                  <a:srgbClr val="FFFFFF"/>
                </a:solidFill>
                <a:latin typeface="Calibri"/>
              </a:rPr>
              <a:t>20</a:t>
            </a:fld>
            <a:endParaRPr lang="en-GB" sz="1200"/>
          </a:p>
        </p:txBody>
      </p:sp>
    </p:spTree>
  </p:cSld>
  <p:clrMapOvr>
    <a:masterClrMapping/>
  </p:clrMapOvr>
  <p:hf sldNum="1" hdr="0" ftr="1" dt="1"/>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Objectives — overall</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and implement Adaptive Context Reasoning System (ACRS) as a closed structural orchestration layer in which SATR (Session-Aware Tool Retrieval), training-free specialist routing (APRR), mesh consensus over tool identifiers (MNCD), and flow-coupled context pruning with write-back (FCNP) execute in that order on one user turn, using live Indian Open Government Data as the only execution corpus. The proposal-stage claim is architectural completeness and live-pipeline integrity — that the four modules form one fail-loud loop — not a retrieval, routing, consensus, or compression score.</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Live execution is Agriculture on verified data.gov.in resource UUIDs only.</a:t>
            </a:r>
          </a:p>
          <a:p>
            <a:pPr>
              <a:spcAft>
                <a:spcPts val="600"/>
              </a:spcAft>
              <a:buFont typeface="Arial"/>
              <a:buChar char="•"/>
            </a:pPr>
            <a:r>
              <a:rPr sz="1300">
                <a:solidFill>
                  <a:srgbClr val="1A1A1A"/>
                </a:solidFill>
                <a:latin typeface="Calibri"/>
              </a:rPr>
              <a:t>ToolBench / ToolLLM artefacts are a ranking library and protocol family, not an execution corpus. RapidAPI endpoints are never GET.</a:t>
            </a:r>
          </a:p>
          <a:p>
            <a:pPr>
              <a:spcAft>
                <a:spcPts val="600"/>
              </a:spcAft>
              <a:buFont typeface="Arial"/>
              <a:buChar char="•"/>
            </a:pPr>
            <a:r>
              <a:rPr sz="1300">
                <a:solidFill>
                  <a:srgbClr val="1A1A1A"/>
                </a:solidFill>
                <a:latin typeface="Calibri"/>
              </a:rPr>
              <a:t>SATR is not a new language model. MNCD is not a crop-yield predictor. FCNP is not a tokeniser.</a:t>
            </a:r>
          </a:p>
          <a:p>
            <a:pPr>
              <a:spcAft>
                <a:spcPts val="600"/>
              </a:spcAft>
              <a:buFont typeface="Arial"/>
              <a:buChar char="•"/>
            </a:pPr>
            <a:r>
              <a:rPr sz="1300">
                <a:solidFill>
                  <a:srgbClr val="1A1A1A"/>
                </a:solidFill>
                <a:latin typeface="Calibri"/>
              </a:rPr>
              <a:t>Skipping MNCD (no live UUID) or FCNP (no write-back) is an incomplete run, not a successful demonstration.</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Source: docs/RESEARCH_OBJECTIVES.md (canonical: lib/research/objectives.ts).</a:t>
            </a:r>
          </a:p>
        </p:txBody>
      </p:sp>
      <p:sp>
        <p:nvSpPr>
          <p:cNvPr id="4021" name="Automatic Date 21"/>
          <p:cNvSpPr txBox="1"/>
          <p:nvPr/>
        </p:nvSpPr>
        <p:spPr>
          <a:xfrm>
            <a:off x="255016" y="6565900"/>
            <a:ext cx="3108960" cy="255016"/>
          </a:xfrm>
          <a:prstGeom prst="rect">
            <a:avLst/>
          </a:prstGeom>
          <a:noFill/>
        </p:spPr>
        <p:txBody>
          <a:bodyPr wrap="none" lIns="0" tIns="0" rIns="0" bIns="0" anchor="ctr"/>
          <a:lstStyle/>
          <a:p>
            <a:pPr algn="l"/>
            <a:fld id="{ea69f39e-f29b-4c3f-8cbc-62e9e82b7399}" type="datetime3">
              <a:rPr lang="en-GB" sz="1000" dirty="0">
                <a:solidFill>
                  <a:srgbClr val="9AA3AE"/>
                </a:solidFill>
                <a:latin typeface="Calibri"/>
              </a:rPr>
              <a:t>09/07/2026</a:t>
            </a:fld>
            <a:endParaRPr lang="en-GB" sz="1000"/>
          </a:p>
        </p:txBody>
      </p:sp>
      <p:sp>
        <p:nvSpPr>
          <p:cNvPr id="5021" name="Automatic Slide Number 21"/>
          <p:cNvSpPr txBox="1"/>
          <p:nvPr/>
        </p:nvSpPr>
        <p:spPr>
          <a:xfrm>
            <a:off x="11475720" y="6510528"/>
            <a:ext cx="475488" cy="256032"/>
          </a:xfrm>
          <a:prstGeom prst="rect">
            <a:avLst/>
          </a:prstGeom>
          <a:noFill/>
        </p:spPr>
        <p:txBody>
          <a:bodyPr wrap="none" lIns="0" tIns="0" rIns="0" bIns="0" anchor="ctr"/>
          <a:lstStyle/>
          <a:p>
            <a:pPr algn="ctr"/>
            <a:fld id="{7dacb714-e7f8-427b-a399-e7080fe911c3}" type="slidenum">
              <a:rPr lang="en-GB" sz="1200" b="1" dirty="0">
                <a:solidFill>
                  <a:srgbClr val="FFFFFF"/>
                </a:solidFill>
                <a:latin typeface="Calibri"/>
              </a:rPr>
              <a:t>21</a:t>
            </a:fld>
            <a:endParaRPr lang="en-GB" sz="1200"/>
          </a:p>
        </p:txBody>
      </p:sp>
    </p:spTree>
  </p:cSld>
  <p:clrMapOvr>
    <a:masterClrMapping/>
  </p:clrMapOvr>
  <p:hf sldNum="1" hdr="0" ftr="1" dt="1"/>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Objectives — individual</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Four thesis-sized design objectives follow from the overall aim. Each is a To-design statement. Computational scores are not part of these objectives.</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1843430"/>
                <a:gridCol w="3917289"/>
                <a:gridCol w="5760720"/>
              </a:tblGrid>
              <a:tr h="841248">
                <a:tc>
                  <a:txBody>
                    <a:bodyPr/>
                    <a:lstStyle/>
                    <a:p>
                      <a:r>
                        <a:rPr b="1" sz="1100">
                          <a:solidFill>
                            <a:srgbClr val="FFFFFF"/>
                          </a:solidFill>
                          <a:latin typeface="Calibri"/>
                        </a:rPr>
                        <a:t>ID</a:t>
                      </a:r>
                    </a:p>
                  </a:txBody>
                  <a:tcPr>
                    <a:solidFill>
                      <a:srgbClr val="3A1C64"/>
                    </a:solidFill>
                  </a:tcPr>
                </a:tc>
                <a:tc>
                  <a:txBody>
                    <a:bodyPr/>
                    <a:lstStyle/>
                    <a:p>
                      <a:r>
                        <a:rPr b="1" sz="1100">
                          <a:solidFill>
                            <a:srgbClr val="FFFFFF"/>
                          </a:solidFill>
                          <a:latin typeface="Calibri"/>
                        </a:rPr>
                        <a:t>Name</a:t>
                      </a:r>
                    </a:p>
                  </a:txBody>
                  <a:tcPr>
                    <a:solidFill>
                      <a:srgbClr val="3A1C64"/>
                    </a:solidFill>
                  </a:tcPr>
                </a:tc>
                <a:tc>
                  <a:txBody>
                    <a:bodyPr/>
                    <a:lstStyle/>
                    <a:p>
                      <a:r>
                        <a:rPr b="1" sz="1100">
                          <a:solidFill>
                            <a:srgbClr val="FFFFFF"/>
                          </a:solidFill>
                          <a:latin typeface="Calibri"/>
                        </a:rPr>
                        <a:t>Design objective</a:t>
                      </a:r>
                    </a:p>
                  </a:txBody>
                  <a:tcPr>
                    <a:solidFill>
                      <a:srgbClr val="3A1C64"/>
                    </a:solidFill>
                  </a:tcPr>
                </a:tc>
              </a:tr>
              <a:tr h="841248">
                <a:tc>
                  <a:txBody>
                    <a:bodyPr/>
                    <a:lstStyle/>
                    <a:p>
                      <a:r>
                        <a:rPr sz="1000" b="1">
                          <a:solidFill>
                            <a:srgbClr val="3A1C64"/>
                          </a:solidFill>
                          <a:latin typeface="Calibri"/>
                        </a:rPr>
                        <a:t>O1</a:t>
                      </a:r>
                    </a:p>
                  </a:txBody>
                  <a:tcPr>
                    <a:solidFill>
                      <a:srgbClr val="E9EFF7"/>
                    </a:solidFill>
                  </a:tcPr>
                </a:tc>
                <a:tc>
                  <a:txBody>
                    <a:bodyPr/>
                    <a:lstStyle/>
                    <a:p>
                      <a:r>
                        <a:rPr sz="1000">
                          <a:solidFill>
                            <a:srgbClr val="1A1A1A"/>
                          </a:solidFill>
                          <a:latin typeface="Calibri"/>
                        </a:rPr>
                        <a:t>SATR (Session-Aware Tool Retrieval)</a:t>
                      </a:r>
                    </a:p>
                  </a:txBody>
                  <a:tcPr>
                    <a:solidFill>
                      <a:srgbClr val="E9EFF7"/>
                    </a:solidFill>
                  </a:tcPr>
                </a:tc>
                <a:tc>
                  <a:txBody>
                    <a:bodyPr/>
                    <a:lstStyle/>
                    <a:p>
                      <a:r>
                        <a:rPr sz="1000">
                          <a:solidFill>
                            <a:srgbClr val="1A1A1A"/>
                          </a:solidFill>
                          <a:latin typeface="Calibri"/>
                        </a:rPr>
                        <a:t>To design SATR so that tool ranking is conditioned on the current query together with session history and a co-activation cache of tools that succeeded together, and so that SATR never executes live ministry APIs.</a:t>
                      </a:r>
                    </a:p>
                  </a:txBody>
                  <a:tcPr>
                    <a:solidFill>
                      <a:srgbClr val="E9EFF7"/>
                    </a:solidFill>
                  </a:tcPr>
                </a:tc>
              </a:tr>
              <a:tr h="841248">
                <a:tc>
                  <a:txBody>
                    <a:bodyPr/>
                    <a:lstStyle/>
                    <a:p>
                      <a:r>
                        <a:rPr sz="1000" b="1">
                          <a:solidFill>
                            <a:srgbClr val="3A1C64"/>
                          </a:solidFill>
                          <a:latin typeface="Calibri"/>
                        </a:rPr>
                        <a:t>O2</a:t>
                      </a:r>
                    </a:p>
                  </a:txBody>
                  <a:tcPr>
                    <a:solidFill>
                      <a:srgbClr val="E9EFF7"/>
                    </a:solidFill>
                  </a:tcPr>
                </a:tc>
                <a:tc>
                  <a:txBody>
                    <a:bodyPr/>
                    <a:lstStyle/>
                    <a:p>
                      <a:r>
                        <a:rPr sz="1000">
                          <a:solidFill>
                            <a:srgbClr val="1A1A1A"/>
                          </a:solidFill>
                          <a:latin typeface="Calibri"/>
                        </a:rPr>
                        <a:t>Adaptive Probabilistic Routing Reinforcement (APRR)</a:t>
                      </a:r>
                    </a:p>
                  </a:txBody>
                  <a:tcPr>
                    <a:solidFill>
                      <a:srgbClr val="E9EFF7"/>
                    </a:solidFill>
                  </a:tcPr>
                </a:tc>
                <a:tc>
                  <a:txBody>
                    <a:bodyPr/>
                    <a:lstStyle/>
                    <a:p>
                      <a:r>
                        <a:rPr sz="1000">
                          <a:solidFill>
                            <a:srgbClr val="1A1A1A"/>
                          </a:solidFill>
                          <a:latin typeface="Calibri"/>
                        </a:rPr>
                        <a:t>To design APRR so that routing samples a training-free path among tool-specialist agents (agriculture_analyst, schema_planner, tool_executor, mesh_critic, retrieval_specialist) rather than choosing a foundation-model SKU or following an authored SOP.</a:t>
                      </a:r>
                    </a:p>
                  </a:txBody>
                  <a:tcPr>
                    <a:solidFill>
                      <a:srgbClr val="E9EFF7"/>
                    </a:solidFill>
                  </a:tcPr>
                </a:tc>
              </a:tr>
              <a:tr h="841248">
                <a:tc>
                  <a:txBody>
                    <a:bodyPr/>
                    <a:lstStyle/>
                    <a:p>
                      <a:r>
                        <a:rPr sz="1000" b="1">
                          <a:solidFill>
                            <a:srgbClr val="3A1C64"/>
                          </a:solidFill>
                          <a:latin typeface="Calibri"/>
                        </a:rPr>
                        <a:t>O3</a:t>
                      </a:r>
                    </a:p>
                  </a:txBody>
                  <a:tcPr>
                    <a:solidFill>
                      <a:srgbClr val="E9EFF7"/>
                    </a:solidFill>
                  </a:tcPr>
                </a:tc>
                <a:tc>
                  <a:txBody>
                    <a:bodyPr/>
                    <a:lstStyle/>
                    <a:p>
                      <a:r>
                        <a:rPr sz="1000">
                          <a:solidFill>
                            <a:srgbClr val="1A1A1A"/>
                          </a:solidFill>
                          <a:latin typeface="Calibri"/>
                        </a:rPr>
                        <a:t>Mesh Network Context Diffusion (MNCD)</a:t>
                      </a:r>
                    </a:p>
                  </a:txBody>
                  <a:tcPr>
                    <a:solidFill>
                      <a:srgbClr val="E9EFF7"/>
                    </a:solidFill>
                  </a:tcPr>
                </a:tc>
                <a:tc>
                  <a:txBody>
                    <a:bodyPr/>
                    <a:lstStyle/>
                    <a:p>
                      <a:r>
                        <a:rPr sz="1000">
                          <a:solidFill>
                            <a:srgbClr val="1A1A1A"/>
                          </a:solidFill>
                          <a:latin typeface="Calibri"/>
                        </a:rPr>
                        <a:t>To design MNCD so that APRR agents publish (toolId, score), aggregate by score-sum rather than by chat, and execute only liveExecutable Agriculture resources on data.gov.in, failing loud when the live call cannot be completed.</a:t>
                      </a:r>
                    </a:p>
                  </a:txBody>
                  <a:tcPr>
                    <a:solidFill>
                      <a:srgbClr val="E9EFF7"/>
                    </a:solidFill>
                  </a:tcPr>
                </a:tc>
              </a:tr>
              <a:tr h="841248">
                <a:tc>
                  <a:txBody>
                    <a:bodyPr/>
                    <a:lstStyle/>
                    <a:p>
                      <a:r>
                        <a:rPr sz="1000" b="1">
                          <a:solidFill>
                            <a:srgbClr val="3A1C64"/>
                          </a:solidFill>
                          <a:latin typeface="Calibri"/>
                        </a:rPr>
                        <a:t>O4</a:t>
                      </a:r>
                    </a:p>
                  </a:txBody>
                  <a:tcPr>
                    <a:solidFill>
                      <a:srgbClr val="E9EFF7"/>
                    </a:solidFill>
                  </a:tcPr>
                </a:tc>
                <a:tc>
                  <a:txBody>
                    <a:bodyPr/>
                    <a:lstStyle/>
                    <a:p>
                      <a:r>
                        <a:rPr sz="1000">
                          <a:solidFill>
                            <a:srgbClr val="1A1A1A"/>
                          </a:solidFill>
                          <a:latin typeface="Calibri"/>
                        </a:rPr>
                        <a:t>Flow-Coupled Network Pruning (FCNP)</a:t>
                      </a:r>
                    </a:p>
                  </a:txBody>
                  <a:tcPr>
                    <a:solidFill>
                      <a:srgbClr val="E9EFF7"/>
                    </a:solidFill>
                  </a:tcPr>
                </a:tc>
                <a:tc>
                  <a:txBody>
                    <a:bodyPr/>
                    <a:lstStyle/>
                    <a:p>
                      <a:r>
                        <a:rPr sz="1000">
                          <a:solidFill>
                            <a:srgbClr val="1A1A1A"/>
                          </a:solidFill>
                          <a:latin typeface="Calibri"/>
                        </a:rPr>
                        <a:t>To design FCNP so that the post-MNCD context graph is pruned by a grounded conductance update, live citations and the user query are never evicted, and the retained residue is written back as the next SATR prior.</a:t>
                      </a:r>
                    </a:p>
                  </a:txBody>
                  <a:tcPr>
                    <a:solidFill>
                      <a:srgbClr val="E9EFF7"/>
                    </a:solidFill>
                  </a:tcPr>
                </a:tc>
              </a:tr>
            </a:tbl>
          </a:graphicData>
        </a:graphic>
      </p:graphicFrame>
      <p:sp>
        <p:nvSpPr>
          <p:cNvPr id="4022" name="Automatic Date 22"/>
          <p:cNvSpPr txBox="1"/>
          <p:nvPr/>
        </p:nvSpPr>
        <p:spPr>
          <a:xfrm>
            <a:off x="255016" y="6565900"/>
            <a:ext cx="3108960" cy="255016"/>
          </a:xfrm>
          <a:prstGeom prst="rect">
            <a:avLst/>
          </a:prstGeom>
          <a:noFill/>
        </p:spPr>
        <p:txBody>
          <a:bodyPr wrap="none" lIns="0" tIns="0" rIns="0" bIns="0" anchor="ctr"/>
          <a:lstStyle/>
          <a:p>
            <a:pPr algn="l"/>
            <a:fld id="{eec7e33d-013b-49c6-94b4-338431b5f90b}" type="datetime3">
              <a:rPr lang="en-GB" sz="1000" dirty="0">
                <a:solidFill>
                  <a:srgbClr val="9AA3AE"/>
                </a:solidFill>
                <a:latin typeface="Calibri"/>
              </a:rPr>
              <a:t>09/07/2026</a:t>
            </a:fld>
            <a:endParaRPr lang="en-GB" sz="1000"/>
          </a:p>
        </p:txBody>
      </p:sp>
      <p:sp>
        <p:nvSpPr>
          <p:cNvPr id="5022" name="Automatic Slide Number 22"/>
          <p:cNvSpPr txBox="1"/>
          <p:nvPr/>
        </p:nvSpPr>
        <p:spPr>
          <a:xfrm>
            <a:off x="11475720" y="6510528"/>
            <a:ext cx="475488" cy="256032"/>
          </a:xfrm>
          <a:prstGeom prst="rect">
            <a:avLst/>
          </a:prstGeom>
          <a:noFill/>
        </p:spPr>
        <p:txBody>
          <a:bodyPr wrap="none" lIns="0" tIns="0" rIns="0" bIns="0" anchor="ctr"/>
          <a:lstStyle/>
          <a:p>
            <a:pPr algn="ctr"/>
            <a:fld id="{a4243361-14c3-4ae7-8b84-8558713ea92c}" type="slidenum">
              <a:rPr lang="en-GB" sz="1200" b="1" dirty="0">
                <a:solidFill>
                  <a:srgbClr val="FFFFFF"/>
                </a:solidFill>
                <a:latin typeface="Calibri"/>
              </a:rPr>
              <a:t>22</a:t>
            </a:fld>
            <a:endParaRPr lang="en-GB" sz="1200"/>
          </a:p>
        </p:txBody>
      </p:sp>
    </p:spTree>
  </p:cSld>
  <p:clrMapOvr>
    <a:masterClrMapping/>
  </p:clrMapOvr>
  <p:hf sldNum="1" hdr="0" ftr="1" dt="1"/>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1 — SATR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SATR so that tool ranking is conditioned on the current query together with session history and a co-activation cache of tools that succeeded together, and so that SATR never executes live ministry APIs.</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Truncated RankedTool shortlist consumed by APRR.</a:t>
            </a:r>
          </a:p>
          <a:p>
            <a:pPr>
              <a:spcAft>
                <a:spcPts val="600"/>
              </a:spcAft>
              <a:buFont typeface="Arial"/>
              <a:buChar char="•"/>
            </a:pPr>
            <a:r>
              <a:rPr sz="1300">
                <a:solidFill>
                  <a:srgbClr val="1A1A1A"/>
                </a:solidFill>
                <a:latin typeface="Calibri"/>
              </a:rPr>
              <a:t>What will be designed. To design Session-Aware Tool Retrieval: a fused ranker that, given query q, session history H, co-activation cache W_cooc, FCNP memory M, and an Agriculture catalog C, returns a truncated ToolBench-schema shortlist for APRR.</a:t>
            </a:r>
          </a:p>
          <a:p>
            <a:pPr>
              <a:spcAft>
                <a:spcPts val="600"/>
              </a:spcAft>
              <a:buFont typeface="Arial"/>
              <a:buChar char="•"/>
            </a:pPr>
            <a:r>
              <a:rPr sz="1300">
                <a:solidFill>
                  <a:srgbClr val="1A1A1A"/>
                </a:solidFill>
                <a:latin typeface="Calibri"/>
              </a:rPr>
              <a:t>Gap. SOTA retrievers are turn-amnesic. They do not maintain a success-conditioned co-activation graph or ingest pruned memory from later stages.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 embed</a:t>
            </a:r>
          </a:p>
        </p:txBody>
      </p:sp>
      <p:sp>
        <p:nvSpPr>
          <p:cNvPr id="12" name="Rounded Rectangle 11"/>
          <p:cNvSpPr/>
          <p:nvPr/>
        </p:nvSpPr>
        <p:spPr>
          <a:xfrm>
            <a:off x="3250692"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SBERT (Qin ICLR 2024)</a:t>
            </a:r>
          </a:p>
        </p:txBody>
      </p:sp>
      <p:sp>
        <p:nvSpPr>
          <p:cNvPr id="13" name="Rounded Rectangle 12"/>
          <p:cNvSpPr/>
          <p:nvPr/>
        </p:nvSpPr>
        <p:spPr>
          <a:xfrm>
            <a:off x="6135624"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ToolRerank</a:t>
            </a:r>
          </a:p>
        </p:txBody>
      </p:sp>
      <p:sp>
        <p:nvSpPr>
          <p:cNvPr id="14" name="Rounded Rectangle 13"/>
          <p:cNvSpPr/>
          <p:nvPr/>
        </p:nvSpPr>
        <p:spPr>
          <a:xfrm>
            <a:off x="9020556"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Planner</a:t>
            </a:r>
          </a:p>
        </p:txBody>
      </p:sp>
      <p:sp>
        <p:nvSpPr>
          <p:cNvPr id="15" name="Rounded Rectangle 14"/>
          <p:cNvSpPr/>
          <p:nvPr/>
        </p:nvSpPr>
        <p:spPr>
          <a:xfrm>
            <a:off x="365760"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H + M_t</a:t>
            </a:r>
          </a:p>
        </p:txBody>
      </p:sp>
      <p:sp>
        <p:nvSpPr>
          <p:cNvPr id="16" name="Rounded Rectangle 15"/>
          <p:cNvSpPr/>
          <p:nvPr/>
        </p:nvSpPr>
        <p:spPr>
          <a:xfrm>
            <a:off x="3250692"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Session fusion</a:t>
            </a:r>
          </a:p>
        </p:txBody>
      </p:sp>
      <p:sp>
        <p:nvSpPr>
          <p:cNvPr id="17" name="Rounded Rectangle 16"/>
          <p:cNvSpPr/>
          <p:nvPr/>
        </p:nvSpPr>
        <p:spPr>
          <a:xfrm>
            <a:off x="6135624"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Hierarchy cut</a:t>
            </a:r>
          </a:p>
        </p:txBody>
      </p:sp>
      <p:sp>
        <p:nvSpPr>
          <p:cNvPr id="18" name="Rounded Rectangle 17"/>
          <p:cNvSpPr/>
          <p:nvPr/>
        </p:nvSpPr>
        <p:spPr>
          <a:xfrm>
            <a:off x="9020556"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Shortlist → APRR</a:t>
            </a:r>
          </a:p>
        </p:txBody>
      </p:sp>
      <p:sp>
        <p:nvSpPr>
          <p:cNvPr id="19" name="TextBox 18"/>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github.com/joyjeni/session-aware-toolbench-rerank</a:t>
            </a:r>
          </a:p>
        </p:txBody>
      </p:sp>
      <p:sp>
        <p:nvSpPr>
          <p:cNvPr id="4023" name="Automatic Date 23"/>
          <p:cNvSpPr txBox="1"/>
          <p:nvPr/>
        </p:nvSpPr>
        <p:spPr>
          <a:xfrm>
            <a:off x="255016" y="6565900"/>
            <a:ext cx="3108960" cy="255016"/>
          </a:xfrm>
          <a:prstGeom prst="rect">
            <a:avLst/>
          </a:prstGeom>
          <a:noFill/>
        </p:spPr>
        <p:txBody>
          <a:bodyPr wrap="none" lIns="0" tIns="0" rIns="0" bIns="0" anchor="ctr"/>
          <a:lstStyle/>
          <a:p>
            <a:pPr algn="l"/>
            <a:fld id="{2e3a5bb4-04d9-4ad6-ad5b-6ddef876a285}" type="datetime3">
              <a:rPr lang="en-GB" sz="1000" dirty="0">
                <a:solidFill>
                  <a:srgbClr val="9AA3AE"/>
                </a:solidFill>
                <a:latin typeface="Calibri"/>
              </a:rPr>
              <a:t>09/07/2026</a:t>
            </a:fld>
            <a:endParaRPr lang="en-GB" sz="1000"/>
          </a:p>
        </p:txBody>
      </p:sp>
      <p:sp>
        <p:nvSpPr>
          <p:cNvPr id="5023" name="Automatic Slide Number 23"/>
          <p:cNvSpPr txBox="1"/>
          <p:nvPr/>
        </p:nvSpPr>
        <p:spPr>
          <a:xfrm>
            <a:off x="11475720" y="6510528"/>
            <a:ext cx="475488" cy="256032"/>
          </a:xfrm>
          <a:prstGeom prst="rect">
            <a:avLst/>
          </a:prstGeom>
          <a:noFill/>
        </p:spPr>
        <p:txBody>
          <a:bodyPr wrap="none" lIns="0" tIns="0" rIns="0" bIns="0" anchor="ctr"/>
          <a:lstStyle/>
          <a:p>
            <a:pPr algn="ctr"/>
            <a:fld id="{73be9799-60e9-41f7-9fbc-676c491ba1ad}" type="slidenum">
              <a:rPr lang="en-GB" sz="1200" b="1" dirty="0">
                <a:solidFill>
                  <a:srgbClr val="FFFFFF"/>
                </a:solidFill>
                <a:latin typeface="Calibri"/>
              </a:rPr>
              <a:t>23</a:t>
            </a:fld>
            <a:endParaRPr lang="en-GB" sz="1200"/>
          </a:p>
        </p:txBody>
      </p:sp>
    </p:spTree>
  </p:cSld>
  <p:clrMapOvr>
    <a:masterClrMapping/>
  </p:clrMapOvr>
  <p:hf sldNum="1" hdr="0" ftr="1" dt="1"/>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2 — APRR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APRR so that routing samples a training-free path among tool-specialist agents (agriculture_analyst, schema_planner, tool_executor, mesh_critic, retrieval_specialist) rather than choosing a foundation-model SKU or following an authored SOP.</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Hop path A_t and per-hop tool assignments consumed by MNCD.</a:t>
            </a:r>
          </a:p>
          <a:p>
            <a:pPr>
              <a:spcAft>
                <a:spcPts val="600"/>
              </a:spcAft>
              <a:buFont typeface="Arial"/>
              <a:buChar char="•"/>
            </a:pPr>
            <a:r>
              <a:rPr sz="1300">
                <a:solidFill>
                  <a:srgbClr val="1A1A1A"/>
                </a:solidFill>
                <a:latin typeface="Calibri"/>
              </a:rPr>
              <a:t>What will be designed. To design training-free hop sampling over named tool-specialist agents that takes the SATR shortlist and produces a hop path and per-hop tool assignments for MNCD.</a:t>
            </a:r>
          </a:p>
          <a:p>
            <a:pPr>
              <a:spcAft>
                <a:spcPts val="600"/>
              </a:spcAft>
              <a:buFont typeface="Arial"/>
              <a:buChar char="•"/>
            </a:pPr>
            <a:r>
              <a:rPr sz="1300">
                <a:solidFill>
                  <a:srgbClr val="1A1A1A"/>
                </a:solidFill>
                <a:latin typeface="Calibri"/>
              </a:rPr>
              <a:t>Gap. SOTA either trains a neural router, picks a model, or follows an authored SOP. It does not maintain a training-free affinity matrix over Indian OGD tool families.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MasRouter / RouteLLM / SOP</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Pick an LLM</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 shortlist</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Dirichlet–Thompson</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Specialist path → MNCD</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github.com/joyjeni/aprr-multi-agent-routing</a:t>
            </a:r>
          </a:p>
        </p:txBody>
      </p:sp>
      <p:sp>
        <p:nvSpPr>
          <p:cNvPr id="4024" name="Automatic Date 24"/>
          <p:cNvSpPr txBox="1"/>
          <p:nvPr/>
        </p:nvSpPr>
        <p:spPr>
          <a:xfrm>
            <a:off x="255016" y="6565900"/>
            <a:ext cx="3108960" cy="255016"/>
          </a:xfrm>
          <a:prstGeom prst="rect">
            <a:avLst/>
          </a:prstGeom>
          <a:noFill/>
        </p:spPr>
        <p:txBody>
          <a:bodyPr wrap="none" lIns="0" tIns="0" rIns="0" bIns="0" anchor="ctr"/>
          <a:lstStyle/>
          <a:p>
            <a:pPr algn="l"/>
            <a:fld id="{a1ccffb8-84f5-4789-a02b-fe1e8f203126}" type="datetime3">
              <a:rPr lang="en-GB" sz="1000" dirty="0">
                <a:solidFill>
                  <a:srgbClr val="9AA3AE"/>
                </a:solidFill>
                <a:latin typeface="Calibri"/>
              </a:rPr>
              <a:t>09/07/2026</a:t>
            </a:fld>
            <a:endParaRPr lang="en-GB" sz="1000"/>
          </a:p>
        </p:txBody>
      </p:sp>
      <p:sp>
        <p:nvSpPr>
          <p:cNvPr id="5024" name="Automatic Slide Number 24"/>
          <p:cNvSpPr txBox="1"/>
          <p:nvPr/>
        </p:nvSpPr>
        <p:spPr>
          <a:xfrm>
            <a:off x="11475720" y="6510528"/>
            <a:ext cx="475488" cy="256032"/>
          </a:xfrm>
          <a:prstGeom prst="rect">
            <a:avLst/>
          </a:prstGeom>
          <a:noFill/>
        </p:spPr>
        <p:txBody>
          <a:bodyPr wrap="none" lIns="0" tIns="0" rIns="0" bIns="0" anchor="ctr"/>
          <a:lstStyle/>
          <a:p>
            <a:pPr algn="ctr"/>
            <a:fld id="{37b7d82a-5b9a-431c-bf7d-48e2dfd428fe}" type="slidenum">
              <a:rPr lang="en-GB" sz="1200" b="1" dirty="0">
                <a:solidFill>
                  <a:srgbClr val="FFFFFF"/>
                </a:solidFill>
                <a:latin typeface="Calibri"/>
              </a:rPr>
              <a:t>24</a:t>
            </a:fld>
            <a:endParaRPr lang="en-GB" sz="1200"/>
          </a:p>
        </p:txBody>
      </p:sp>
    </p:spTree>
  </p:cSld>
  <p:clrMapOvr>
    <a:masterClrMapping/>
  </p:clrMapOvr>
  <p:hf sldNum="1" hdr="0" ftr="1" dt="1"/>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3 — MNCD</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MNCD so that APRR agents publish (toolId, score), aggregate by score-sum rather than by chat, and execute only liveExecutable Agriculture resources on data.gov.in, failing loud when the live call cannot be completed.</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Consensus tally plus live observations consumed by FCNP.</a:t>
            </a:r>
          </a:p>
          <a:p>
            <a:pPr>
              <a:spcAft>
                <a:spcPts val="600"/>
              </a:spcAft>
              <a:buFont typeface="Arial"/>
              <a:buChar char="•"/>
            </a:pPr>
            <a:r>
              <a:rPr sz="1300">
                <a:solidFill>
                  <a:srgbClr val="1A1A1A"/>
                </a:solidFill>
                <a:latin typeface="Calibri"/>
              </a:rPr>
              <a:t>What will be designed. To design a gossip mesh whose vote object is a tool identifier, whose consensus is score-sum, and whose execution is a GET of a verified data.gov.in Agriculture UUID.</a:t>
            </a:r>
          </a:p>
          <a:p>
            <a:pPr>
              <a:spcAft>
                <a:spcPts val="600"/>
              </a:spcAft>
              <a:buFont typeface="Arial"/>
              <a:buChar char="•"/>
            </a:pPr>
            <a:r>
              <a:rPr sz="1300">
                <a:solidFill>
                  <a:srgbClr val="1A1A1A"/>
                </a:solidFill>
                <a:latin typeface="Calibri"/>
              </a:rPr>
              <a:t>Gap. Star and chat topologies coordinate over natural-language messages. They do not vote over tool identifiers backed by a ministry API.</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Manager LLM</a:t>
            </a:r>
          </a:p>
        </p:txBody>
      </p:sp>
      <p:sp>
        <p:nvSpPr>
          <p:cNvPr id="12" name="Rounded Rectangle 11"/>
          <p:cNvSpPr/>
          <p:nvPr/>
        </p:nvSpPr>
        <p:spPr>
          <a:xfrm>
            <a:off x="6135624"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Star / chat messages</a:t>
            </a:r>
          </a:p>
        </p:txBody>
      </p:sp>
      <p:sp>
        <p:nvSpPr>
          <p:cNvPr id="13" name="Rounded Rectangle 12"/>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Mesh gossip</a:t>
            </a:r>
          </a:p>
        </p:txBody>
      </p:sp>
      <p:sp>
        <p:nvSpPr>
          <p:cNvPr id="14" name="Rounded Rectangle 13"/>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Score-sum over tool IDs</a:t>
            </a:r>
          </a:p>
        </p:txBody>
      </p:sp>
      <p:sp>
        <p:nvSpPr>
          <p:cNvPr id="15" name="Rounded Rectangle 14"/>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Live data.gov.in</a:t>
            </a:r>
          </a:p>
        </p:txBody>
      </p:sp>
      <p:sp>
        <p:nvSpPr>
          <p:cNvPr id="16" name="TextBox 15"/>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github.com/joyjeni/mncd-mesh-agents</a:t>
            </a:r>
          </a:p>
        </p:txBody>
      </p:sp>
      <p:sp>
        <p:nvSpPr>
          <p:cNvPr id="4025" name="Automatic Date 25"/>
          <p:cNvSpPr txBox="1"/>
          <p:nvPr/>
        </p:nvSpPr>
        <p:spPr>
          <a:xfrm>
            <a:off x="255016" y="6565900"/>
            <a:ext cx="3108960" cy="255016"/>
          </a:xfrm>
          <a:prstGeom prst="rect">
            <a:avLst/>
          </a:prstGeom>
          <a:noFill/>
        </p:spPr>
        <p:txBody>
          <a:bodyPr wrap="none" lIns="0" tIns="0" rIns="0" bIns="0" anchor="ctr"/>
          <a:lstStyle/>
          <a:p>
            <a:pPr algn="l"/>
            <a:fld id="{ef65ddd9-b05a-4ea9-a9c0-493c5a39d286}" type="datetime3">
              <a:rPr lang="en-GB" sz="1000" dirty="0">
                <a:solidFill>
                  <a:srgbClr val="9AA3AE"/>
                </a:solidFill>
                <a:latin typeface="Calibri"/>
              </a:rPr>
              <a:t>09/07/2026</a:t>
            </a:fld>
            <a:endParaRPr lang="en-GB" sz="1000"/>
          </a:p>
        </p:txBody>
      </p:sp>
      <p:sp>
        <p:nvSpPr>
          <p:cNvPr id="5025" name="Automatic Slide Number 25"/>
          <p:cNvSpPr txBox="1"/>
          <p:nvPr/>
        </p:nvSpPr>
        <p:spPr>
          <a:xfrm>
            <a:off x="11475720" y="6510528"/>
            <a:ext cx="475488" cy="256032"/>
          </a:xfrm>
          <a:prstGeom prst="rect">
            <a:avLst/>
          </a:prstGeom>
          <a:noFill/>
        </p:spPr>
        <p:txBody>
          <a:bodyPr wrap="none" lIns="0" tIns="0" rIns="0" bIns="0" anchor="ctr"/>
          <a:lstStyle/>
          <a:p>
            <a:pPr algn="ctr"/>
            <a:fld id="{f2d3b9b3-2822-44b7-a399-a0f3c1997c71}" type="slidenum">
              <a:rPr lang="en-GB" sz="1200" b="1" dirty="0">
                <a:solidFill>
                  <a:srgbClr val="FFFFFF"/>
                </a:solidFill>
                <a:latin typeface="Calibri"/>
              </a:rPr>
              <a:t>25</a:t>
            </a:fld>
            <a:endParaRPr lang="en-GB" sz="1200"/>
          </a:p>
        </p:txBody>
      </p:sp>
    </p:spTree>
  </p:cSld>
  <p:clrMapOvr>
    <a:masterClrMapping/>
  </p:clrMapOvr>
  <p:hf sldNum="1" hdr="0" ftr="1" dt="1"/>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4 — FCNP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FCNP so that the post-MNCD context graph is pruned by a grounded conductance update, live citations and the user query are never evicted, and the retained residue is written back as the next SATR prior.</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Retained session memory M_t written into SATR at turn t+1.</a:t>
            </a:r>
          </a:p>
          <a:p>
            <a:pPr>
              <a:spcAft>
                <a:spcPts val="600"/>
              </a:spcAft>
              <a:buFont typeface="Arial"/>
              <a:buChar char="•"/>
            </a:pPr>
            <a:r>
              <a:rPr sz="1300">
                <a:solidFill>
                  <a:srgbClr val="1A1A1A"/>
                </a:solidFill>
                <a:latin typeface="Calibri"/>
              </a:rPr>
              <a:t>What will be designed. To design Kirchhoff/Physarum pruning of the MNCD trace so that a residue of pinned live citations is written back into SATR as session memory.</a:t>
            </a:r>
          </a:p>
          <a:p>
            <a:pPr>
              <a:spcAft>
                <a:spcPts val="600"/>
              </a:spcAft>
              <a:buFont typeface="Arial"/>
              <a:buChar char="•"/>
            </a:pPr>
            <a:r>
              <a:rPr sz="1300">
                <a:solidFill>
                  <a:srgbClr val="1A1A1A"/>
                </a:solidFill>
                <a:latin typeface="Calibri"/>
              </a:rPr>
              <a:t>Gap. Token compressors are not current-reinforced over a context graph and do not pin live government citations into the next retrieval turn.</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Long prompt</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LLMLingua tokens</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No write-back</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 citations</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Kirchhoff / Physarum</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M_t → SATR</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github.com/joyjeni/fcnp-context-pruning</a:t>
            </a:r>
          </a:p>
        </p:txBody>
      </p:sp>
      <p:sp>
        <p:nvSpPr>
          <p:cNvPr id="4026" name="Automatic Date 26"/>
          <p:cNvSpPr txBox="1"/>
          <p:nvPr/>
        </p:nvSpPr>
        <p:spPr>
          <a:xfrm>
            <a:off x="255016" y="6565900"/>
            <a:ext cx="3108960" cy="255016"/>
          </a:xfrm>
          <a:prstGeom prst="rect">
            <a:avLst/>
          </a:prstGeom>
          <a:noFill/>
        </p:spPr>
        <p:txBody>
          <a:bodyPr wrap="none" lIns="0" tIns="0" rIns="0" bIns="0" anchor="ctr"/>
          <a:lstStyle/>
          <a:p>
            <a:pPr algn="l"/>
            <a:fld id="{4b54cf07-d71f-4a24-a03b-2f0ff9fad3f1}" type="datetime3">
              <a:rPr lang="en-GB" sz="1000" dirty="0">
                <a:solidFill>
                  <a:srgbClr val="9AA3AE"/>
                </a:solidFill>
                <a:latin typeface="Calibri"/>
              </a:rPr>
              <a:t>09/07/2026</a:t>
            </a:fld>
            <a:endParaRPr lang="en-GB" sz="1000"/>
          </a:p>
        </p:txBody>
      </p:sp>
      <p:sp>
        <p:nvSpPr>
          <p:cNvPr id="5026" name="Automatic Slide Number 26"/>
          <p:cNvSpPr txBox="1"/>
          <p:nvPr/>
        </p:nvSpPr>
        <p:spPr>
          <a:xfrm>
            <a:off x="11475720" y="6510528"/>
            <a:ext cx="475488" cy="256032"/>
          </a:xfrm>
          <a:prstGeom prst="rect">
            <a:avLst/>
          </a:prstGeom>
          <a:noFill/>
        </p:spPr>
        <p:txBody>
          <a:bodyPr wrap="none" lIns="0" tIns="0" rIns="0" bIns="0" anchor="ctr"/>
          <a:lstStyle/>
          <a:p>
            <a:pPr algn="ctr"/>
            <a:fld id="{2efa6f34-bc09-4d7e-b20b-26e441f4285e}" type="slidenum">
              <a:rPr lang="en-GB" sz="1200" b="1" dirty="0">
                <a:solidFill>
                  <a:srgbClr val="FFFFFF"/>
                </a:solidFill>
                <a:latin typeface="Calibri"/>
              </a:rPr>
              <a:t>26</a:t>
            </a:fld>
            <a:endParaRPr lang="en-GB" sz="1200"/>
          </a:p>
        </p:txBody>
      </p:sp>
    </p:spTree>
  </p:cSld>
  <p:clrMapOvr>
    <a:masterClrMapping/>
  </p:clrMapOvr>
  <p:hf sldNum="1" hdr="0" ftr="1" dt="1"/>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What these objectives do not claim</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Motivation and objectives in this proposal are design statements. They specify what will be built, in what order, on which corpus, and with which fail-loud rules. They do not commit a retrieval score, a routing win-rate, a consensus percentage, a latency bound, a token-reduction ratio, or any other computational metric. Later experimental chapters may name a protocol; that protocol is outside these objectives.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The objectives name what will be built, in what order, on which corpus, and with which fail-loud rules.</a:t>
            </a:r>
          </a:p>
          <a:p>
            <a:pPr>
              <a:spcAft>
                <a:spcPts val="600"/>
              </a:spcAft>
              <a:buFont typeface="Arial"/>
              <a:buChar char="•"/>
            </a:pPr>
            <a:r>
              <a:rPr sz="1300">
                <a:solidFill>
                  <a:srgbClr val="1A1A1A"/>
                </a:solidFill>
                <a:latin typeface="Calibri"/>
              </a:rPr>
              <a:t>They do not commit a retrieval score, a routing win-rate, a consensus percentage, a latency bound, or a token-reduction ratio.</a:t>
            </a:r>
          </a:p>
          <a:p>
            <a:pPr>
              <a:spcAft>
                <a:spcPts val="600"/>
              </a:spcAft>
              <a:buFont typeface="Arial"/>
              <a:buChar char="•"/>
            </a:pPr>
            <a:r>
              <a:rPr sz="1300">
                <a:solidFill>
                  <a:srgbClr val="1A1A1A"/>
                </a:solidFill>
                <a:latin typeface="Calibri"/>
              </a:rPr>
              <a:t>Later experimental chapters may name a protocol; that protocol is outside these objectives.</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Same text as docs/RESEARCH_OBJECTIVES.md. Story so far: motivation → overall aim → O1–O4 → this non-claim → research questions.</a:t>
            </a:r>
          </a:p>
        </p:txBody>
      </p:sp>
      <p:sp>
        <p:nvSpPr>
          <p:cNvPr id="4027" name="Automatic Date 27"/>
          <p:cNvSpPr txBox="1"/>
          <p:nvPr/>
        </p:nvSpPr>
        <p:spPr>
          <a:xfrm>
            <a:off x="255016" y="6565900"/>
            <a:ext cx="3108960" cy="255016"/>
          </a:xfrm>
          <a:prstGeom prst="rect">
            <a:avLst/>
          </a:prstGeom>
          <a:noFill/>
        </p:spPr>
        <p:txBody>
          <a:bodyPr wrap="none" lIns="0" tIns="0" rIns="0" bIns="0" anchor="ctr"/>
          <a:lstStyle/>
          <a:p>
            <a:pPr algn="l"/>
            <a:fld id="{f9b91bfa-44d3-41c6-9167-766f59736625}" type="datetime3">
              <a:rPr lang="en-GB" sz="1000" dirty="0">
                <a:solidFill>
                  <a:srgbClr val="9AA3AE"/>
                </a:solidFill>
                <a:latin typeface="Calibri"/>
              </a:rPr>
              <a:t>09/07/2026</a:t>
            </a:fld>
            <a:endParaRPr lang="en-GB" sz="1000"/>
          </a:p>
        </p:txBody>
      </p:sp>
      <p:sp>
        <p:nvSpPr>
          <p:cNvPr id="5027" name="Automatic Slide Number 27"/>
          <p:cNvSpPr txBox="1"/>
          <p:nvPr/>
        </p:nvSpPr>
        <p:spPr>
          <a:xfrm>
            <a:off x="11475720" y="6510528"/>
            <a:ext cx="475488" cy="256032"/>
          </a:xfrm>
          <a:prstGeom prst="rect">
            <a:avLst/>
          </a:prstGeom>
          <a:noFill/>
        </p:spPr>
        <p:txBody>
          <a:bodyPr wrap="none" lIns="0" tIns="0" rIns="0" bIns="0" anchor="ctr"/>
          <a:lstStyle/>
          <a:p>
            <a:pPr algn="ctr"/>
            <a:fld id="{c2ec321e-a8fa-4e7a-8151-787e8a0beb7f}" type="slidenum">
              <a:rPr lang="en-GB" sz="1200" b="1" dirty="0">
                <a:solidFill>
                  <a:srgbClr val="FFFFFF"/>
                </a:solidFill>
                <a:latin typeface="Calibri"/>
              </a:rPr>
              <a:t>27</a:t>
            </a:fld>
            <a:endParaRPr lang="en-GB" sz="1200"/>
          </a:p>
        </p:txBody>
      </p:sp>
    </p:spTree>
  </p:cSld>
  <p:clrMapOvr>
    <a:masterClrMapping/>
  </p:clrMapOvr>
  <p:hf sldNum="1" hdr="0" ftr="1" dt="1"/>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Questions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Each question is paired with one objective. Answers will be empirical after a protocol is frozen; this slide does not pre-commit scores.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RQ1. Can tool retrieval be conditioned on a co-activation cache and session memory rather than a single query embedding (Qin et al., ToolLLM, ICLR 2024; Zheng et al., ToolRerank, LREC-COLING 2024)?  →  addressed by O1 (SATR (Session-Aware Tool Retrieval)).</a:t>
            </a:r>
          </a:p>
          <a:p>
            <a:pPr>
              <a:spcAft>
                <a:spcPts val="600"/>
              </a:spcAft>
              <a:buFont typeface="Arial"/>
              <a:buChar char="•"/>
            </a:pPr>
            <a:r>
              <a:rPr sz="1300">
                <a:solidFill>
                  <a:srgbClr val="1A1A1A"/>
                </a:solidFill>
                <a:latin typeface="Calibri"/>
              </a:rPr>
              <a:t>RQ2. Can routing sample a training-free posterior over tool-specialist agents instead of a trained neural controller or an authored SOP (Yue et al., MasRouter, ACL 2025; Hong et al., MetaGPT, ICLR 2024; Ong et al., RouteLLM, ICLR 2025)?  →  addressed by O2 (Adaptive Probabilistic Routing Reinforcement (APRR)).</a:t>
            </a:r>
          </a:p>
          <a:p>
            <a:pPr>
              <a:spcAft>
                <a:spcPts val="600"/>
              </a:spcAft>
              <a:buFont typeface="Arial"/>
              <a:buChar char="•"/>
            </a:pPr>
            <a:r>
              <a:rPr sz="1300">
                <a:solidFill>
                  <a:srgbClr val="1A1A1A"/>
                </a:solidFill>
                <a:latin typeface="Calibri"/>
              </a:rPr>
              <a:t>RQ3. Can execution proceed as gossiped (toolId, score) plus score-sum consensus, then a live data.gov.in GET, instead of a central chat orchestrator (Wu et al., AutoGen, COLM 2024)?  →  addressed by O3 (Mesh Network Context Diffusion (MNCD)).</a:t>
            </a:r>
          </a:p>
          <a:p>
            <a:pPr>
              <a:spcAft>
                <a:spcPts val="600"/>
              </a:spcAft>
              <a:buFont typeface="Arial"/>
              <a:buChar char="•"/>
            </a:pPr>
            <a:r>
              <a:rPr sz="1300">
                <a:solidFill>
                  <a:srgbClr val="1A1A1A"/>
                </a:solidFill>
                <a:latin typeface="Calibri"/>
              </a:rPr>
              <a:t>RQ4. Can Kirchhoff/Physarum pruning pin live citations back into retrieval rather than only shortening the prompt (Jiang et al., LLMLingua, EMNLP 2023; Tero et al., Science 2010)?  →  addressed by O4 (Flow-Coupled Network Pruning (FCNP)).</a:t>
            </a:r>
          </a:p>
        </p:txBody>
      </p:sp>
      <p:sp>
        <p:nvSpPr>
          <p:cNvPr id="4028" name="Automatic Date 28"/>
          <p:cNvSpPr txBox="1"/>
          <p:nvPr/>
        </p:nvSpPr>
        <p:spPr>
          <a:xfrm>
            <a:off x="255016" y="6565900"/>
            <a:ext cx="3108960" cy="255016"/>
          </a:xfrm>
          <a:prstGeom prst="rect">
            <a:avLst/>
          </a:prstGeom>
          <a:noFill/>
        </p:spPr>
        <p:txBody>
          <a:bodyPr wrap="none" lIns="0" tIns="0" rIns="0" bIns="0" anchor="ctr"/>
          <a:lstStyle/>
          <a:p>
            <a:pPr algn="l"/>
            <a:fld id="{6fb1371d-b2b8-4877-a6cc-a7a7796aa15a}" type="datetime3">
              <a:rPr lang="en-GB" sz="1000" dirty="0">
                <a:solidFill>
                  <a:srgbClr val="9AA3AE"/>
                </a:solidFill>
                <a:latin typeface="Calibri"/>
              </a:rPr>
              <a:t>09/07/2026</a:t>
            </a:fld>
            <a:endParaRPr lang="en-GB" sz="1000"/>
          </a:p>
        </p:txBody>
      </p:sp>
      <p:sp>
        <p:nvSpPr>
          <p:cNvPr id="5028" name="Automatic Slide Number 28"/>
          <p:cNvSpPr txBox="1"/>
          <p:nvPr/>
        </p:nvSpPr>
        <p:spPr>
          <a:xfrm>
            <a:off x="11475720" y="6510528"/>
            <a:ext cx="475488" cy="256032"/>
          </a:xfrm>
          <a:prstGeom prst="rect">
            <a:avLst/>
          </a:prstGeom>
          <a:noFill/>
        </p:spPr>
        <p:txBody>
          <a:bodyPr wrap="none" lIns="0" tIns="0" rIns="0" bIns="0" anchor="ctr"/>
          <a:lstStyle/>
          <a:p>
            <a:pPr algn="ctr"/>
            <a:fld id="{b702aaa2-489e-46cd-a1c0-88cd8b81bb6e}" type="slidenum">
              <a:rPr lang="en-GB" sz="1200" b="1" dirty="0">
                <a:solidFill>
                  <a:srgbClr val="FFFFFF"/>
                </a:solidFill>
                <a:latin typeface="Calibri"/>
              </a:rPr>
              <a:t>28</a:t>
            </a:fld>
            <a:endParaRPr lang="en-GB" sz="1200"/>
          </a:p>
        </p:txBody>
      </p:sp>
    </p:spTree>
  </p:cSld>
  <p:clrMapOvr>
    <a:masterClrMapping/>
  </p:clrMapOvr>
  <p:hf sldNum="1" hdr="0" ftr="1" dt="1"/>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One methodology per objective, then one integrated protocol. Proposal-stage: design the loop and freeze the protocol; do not pre-commit a leaderboard.</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O1 SATR — fused session ranking against a ToolBench-style library. Live mandi rows are not SATR’s job.</a:t>
            </a:r>
          </a:p>
          <a:p>
            <a:pPr>
              <a:spcAft>
                <a:spcPts val="600"/>
              </a:spcAft>
              <a:buFont typeface="Arial"/>
              <a:buChar char="•"/>
            </a:pPr>
            <a:r>
              <a:rPr sz="1300">
                <a:solidFill>
                  <a:srgbClr val="1A1A1A"/>
                </a:solidFill>
                <a:latin typeface="Calibri"/>
              </a:rPr>
              <a:t>O2 APRR — training-free hop sampling over named tool-specialist agents. Learned routers are a later comparison class, not this objective.</a:t>
            </a:r>
          </a:p>
          <a:p>
            <a:pPr>
              <a:spcAft>
                <a:spcPts val="600"/>
              </a:spcAft>
              <a:buFont typeface="Arial"/>
              <a:buChar char="•"/>
            </a:pPr>
            <a:r>
              <a:rPr sz="1300">
                <a:solidFill>
                  <a:srgbClr val="1A1A1A"/>
                </a:solidFill>
                <a:latin typeface="Calibri"/>
              </a:rPr>
              <a:t>O3 MNCD — gossip + score-sum consensus, then live data.gov.in GET on verified Agriculture UUIDs. Fail loud. No dummy prices.</a:t>
            </a:r>
          </a:p>
          <a:p>
            <a:pPr>
              <a:spcAft>
                <a:spcPts val="600"/>
              </a:spcAft>
              <a:buFont typeface="Arial"/>
              <a:buChar char="•"/>
            </a:pPr>
            <a:r>
              <a:rPr sz="1300">
                <a:solidFill>
                  <a:srgbClr val="1A1A1A"/>
                </a:solidFill>
                <a:latin typeface="Calibri"/>
              </a:rPr>
              <a:t>O4 FCNP — Kirchhoff / Physarum-inspired conductance prune with write-back into SATR. Not LLMLingua token deletion.</a:t>
            </a:r>
          </a:p>
          <a:p>
            <a:pPr>
              <a:spcAft>
                <a:spcPts val="600"/>
              </a:spcAft>
              <a:buFont typeface="Arial"/>
              <a:buChar char="•"/>
            </a:pPr>
            <a:r>
              <a:rPr sz="1300">
                <a:solidFill>
                  <a:srgbClr val="1A1A1A"/>
                </a:solidFill>
                <a:latin typeface="Calibri"/>
              </a:rPr>
              <a:t>Integrated contract. SATR → APRR → MNCD → FCNP must run in that order on one user turn. Skipping MNCD or FCNP is an incomplete run.</a:t>
            </a:r>
          </a:p>
          <a:p>
            <a:pPr>
              <a:spcAft>
                <a:spcPts val="600"/>
              </a:spcAft>
              <a:buFont typeface="Arial"/>
              <a:buChar char="•"/>
            </a:pPr>
            <a:r>
              <a:rPr sz="1300">
                <a:solidFill>
                  <a:srgbClr val="1A1A1A"/>
                </a:solidFill>
                <a:latin typeface="Calibri"/>
              </a:rPr>
              <a:t>Implementation. The four modules are the functions in satr.ts, aprr.ts, mncd.ts, fcnp.ts — formulas on the next slides, full traces on /walkthrough.</a:t>
            </a:r>
          </a:p>
          <a:p>
            <a:pPr>
              <a:spcAft>
                <a:spcPts val="600"/>
              </a:spcAft>
              <a:buFont typeface="Arial"/>
              <a:buChar char="•"/>
            </a:pPr>
            <a:r>
              <a:rPr sz="1300">
                <a:solidFill>
                  <a:srgbClr val="1A1A1A"/>
                </a:solidFill>
                <a:latin typeface="Calibri"/>
              </a:rPr>
              <a:t>What will not appear in this proposal. Promised retrieval scores, latency targets, consensus percentages, or token-reduction ratios.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4029" name="Automatic Date 29"/>
          <p:cNvSpPr txBox="1"/>
          <p:nvPr/>
        </p:nvSpPr>
        <p:spPr>
          <a:xfrm>
            <a:off x="255016" y="6565900"/>
            <a:ext cx="3108960" cy="255016"/>
          </a:xfrm>
          <a:prstGeom prst="rect">
            <a:avLst/>
          </a:prstGeom>
          <a:noFill/>
        </p:spPr>
        <p:txBody>
          <a:bodyPr wrap="none" lIns="0" tIns="0" rIns="0" bIns="0" anchor="ctr"/>
          <a:lstStyle/>
          <a:p>
            <a:pPr algn="l"/>
            <a:fld id="{71fbee0f-f2c1-430d-bc69-7811a8b3ed8d}" type="datetime3">
              <a:rPr lang="en-GB" sz="1000" dirty="0">
                <a:solidFill>
                  <a:srgbClr val="9AA3AE"/>
                </a:solidFill>
                <a:latin typeface="Calibri"/>
              </a:rPr>
              <a:t>09/07/2026</a:t>
            </a:fld>
            <a:endParaRPr lang="en-GB" sz="1000"/>
          </a:p>
        </p:txBody>
      </p:sp>
      <p:sp>
        <p:nvSpPr>
          <p:cNvPr id="5029" name="Automatic Slide Number 29"/>
          <p:cNvSpPr txBox="1"/>
          <p:nvPr/>
        </p:nvSpPr>
        <p:spPr>
          <a:xfrm>
            <a:off x="11475720" y="6510528"/>
            <a:ext cx="475488" cy="256032"/>
          </a:xfrm>
          <a:prstGeom prst="rect">
            <a:avLst/>
          </a:prstGeom>
          <a:noFill/>
        </p:spPr>
        <p:txBody>
          <a:bodyPr wrap="none" lIns="0" tIns="0" rIns="0" bIns="0" anchor="ctr"/>
          <a:lstStyle/>
          <a:p>
            <a:pPr algn="ctr"/>
            <a:fld id="{b65170d4-0886-49bb-8108-19a0887fc549}" type="slidenum">
              <a:rPr lang="en-GB" sz="1200" b="1" dirty="0">
                <a:solidFill>
                  <a:srgbClr val="FFFFFF"/>
                </a:solidFill>
                <a:latin typeface="Calibri"/>
              </a:rPr>
              <a:t>29</a:t>
            </a:fld>
            <a:endParaRPr lang="en-GB" sz="1200"/>
          </a:p>
        </p:txBody>
      </p:sp>
    </p:spTree>
  </p:cSld>
  <p:clrMapOvr>
    <a:masterClrMapping/>
  </p:clrMapOvr>
  <p:hf sldNum="1" hdr="0" ftr="1" dt="1"/>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O1 SATR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session-aware ranking will be designed. Computational retrieval scores are not part of this objective.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Specify a fused session object: query + dialogue turns + last successful tool traces + co-activation counts. Rank tools with that object, not with the raw utterance alone.</a:t>
            </a:r>
          </a:p>
          <a:p>
            <a:pPr>
              <a:spcAft>
                <a:spcPts val="600"/>
              </a:spcAft>
              <a:buFont typeface="Arial"/>
              <a:buChar char="•"/>
            </a:pPr>
            <a:r>
              <a:rPr sz="1300">
                <a:solidFill>
                  <a:srgbClr val="1A1A1A"/>
                </a:solidFill>
                <a:latin typeface="Calibri"/>
              </a:rPr>
              <a:t>Ranking library. Use ToolBench / ToolLLM artefacts as a public tool-ranking library. RapidAPI-style traces are ranking evidence only and are never GET.</a:t>
            </a:r>
          </a:p>
          <a:p>
            <a:pPr>
              <a:spcAft>
                <a:spcPts val="600"/>
              </a:spcAft>
              <a:buFont typeface="Arial"/>
              <a:buChar char="•"/>
            </a:pPr>
            <a:r>
              <a:rPr sz="1300">
                <a:solidFill>
                  <a:srgbClr val="1A1A1A"/>
                </a:solidFill>
                <a:latin typeface="Calibri"/>
              </a:rPr>
              <a:t>Live Indian OGD is out of SATR’s path. Mandi and weather rows enter at MNCD. SATR must not invent or cache dummy AGMARKNET prices.</a:t>
            </a:r>
          </a:p>
          <a:p>
            <a:pPr>
              <a:spcAft>
                <a:spcPts val="600"/>
              </a:spcAft>
              <a:buFont typeface="Arial"/>
              <a:buChar char="•"/>
            </a:pPr>
            <a:r>
              <a:rPr sz="1300">
                <a:solidFill>
                  <a:srgbClr val="1A1A1A"/>
                </a:solidFill>
                <a:latin typeface="Calibri"/>
              </a:rPr>
              <a:t>Implementation path. Persist co-activation in a session store; expose a rank(query, session) API that APRR can call. Fail loud if the session schema is incomplete.</a:t>
            </a:r>
          </a:p>
          <a:p>
            <a:pPr>
              <a:spcAft>
                <a:spcPts val="600"/>
              </a:spcAft>
              <a:buFont typeface="Arial"/>
              <a:buChar char="•"/>
            </a:pPr>
            <a:r>
              <a:rPr sz="1300">
                <a:solidFill>
                  <a:srgbClr val="1A1A1A"/>
                </a:solidFill>
                <a:latin typeface="Calibri"/>
              </a:rPr>
              <a:t>Deliverable for the thesis chapter. Algorithm, schema, and the fusion rule. Comparison protocols, if any, are named later and are not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 embed</a:t>
            </a:r>
          </a:p>
        </p:txBody>
      </p:sp>
      <p:sp>
        <p:nvSpPr>
          <p:cNvPr id="12" name="Rounded Rectangle 11"/>
          <p:cNvSpPr/>
          <p:nvPr/>
        </p:nvSpPr>
        <p:spPr>
          <a:xfrm>
            <a:off x="3250692"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SBERT (Qin ICLR 2024)</a:t>
            </a:r>
          </a:p>
        </p:txBody>
      </p:sp>
      <p:sp>
        <p:nvSpPr>
          <p:cNvPr id="13" name="Rounded Rectangle 12"/>
          <p:cNvSpPr/>
          <p:nvPr/>
        </p:nvSpPr>
        <p:spPr>
          <a:xfrm>
            <a:off x="6135624"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ToolRerank</a:t>
            </a:r>
          </a:p>
        </p:txBody>
      </p:sp>
      <p:sp>
        <p:nvSpPr>
          <p:cNvPr id="14" name="Rounded Rectangle 13"/>
          <p:cNvSpPr/>
          <p:nvPr/>
        </p:nvSpPr>
        <p:spPr>
          <a:xfrm>
            <a:off x="9020556"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Planner</a:t>
            </a:r>
          </a:p>
        </p:txBody>
      </p:sp>
      <p:sp>
        <p:nvSpPr>
          <p:cNvPr id="15" name="Rounded Rectangle 14"/>
          <p:cNvSpPr/>
          <p:nvPr/>
        </p:nvSpPr>
        <p:spPr>
          <a:xfrm>
            <a:off x="365760"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H + M_t</a:t>
            </a:r>
          </a:p>
        </p:txBody>
      </p:sp>
      <p:sp>
        <p:nvSpPr>
          <p:cNvPr id="16" name="Rounded Rectangle 15"/>
          <p:cNvSpPr/>
          <p:nvPr/>
        </p:nvSpPr>
        <p:spPr>
          <a:xfrm>
            <a:off x="3250692"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Session fusion</a:t>
            </a:r>
          </a:p>
        </p:txBody>
      </p:sp>
      <p:sp>
        <p:nvSpPr>
          <p:cNvPr id="17" name="Rounded Rectangle 16"/>
          <p:cNvSpPr/>
          <p:nvPr/>
        </p:nvSpPr>
        <p:spPr>
          <a:xfrm>
            <a:off x="6135624"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Hierarchy cut</a:t>
            </a:r>
          </a:p>
        </p:txBody>
      </p:sp>
      <p:sp>
        <p:nvSpPr>
          <p:cNvPr id="18" name="Rounded Rectangle 17"/>
          <p:cNvSpPr/>
          <p:nvPr/>
        </p:nvSpPr>
        <p:spPr>
          <a:xfrm>
            <a:off x="9020556"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Shortlist → APRR</a:t>
            </a:r>
          </a:p>
        </p:txBody>
      </p:sp>
      <p:sp>
        <p:nvSpPr>
          <p:cNvPr id="4030" name="Automatic Date 30"/>
          <p:cNvSpPr txBox="1"/>
          <p:nvPr/>
        </p:nvSpPr>
        <p:spPr>
          <a:xfrm>
            <a:off x="255016" y="6565900"/>
            <a:ext cx="3108960" cy="255016"/>
          </a:xfrm>
          <a:prstGeom prst="rect">
            <a:avLst/>
          </a:prstGeom>
          <a:noFill/>
        </p:spPr>
        <p:txBody>
          <a:bodyPr wrap="none" lIns="0" tIns="0" rIns="0" bIns="0" anchor="ctr"/>
          <a:lstStyle/>
          <a:p>
            <a:pPr algn="l"/>
            <a:fld id="{2591b51b-1791-48c5-bbd0-02bfd535df53}" type="datetime3">
              <a:rPr lang="en-GB" sz="1000" dirty="0">
                <a:solidFill>
                  <a:srgbClr val="9AA3AE"/>
                </a:solidFill>
                <a:latin typeface="Calibri"/>
              </a:rPr>
              <a:t>09/07/2026</a:t>
            </a:fld>
            <a:endParaRPr lang="en-GB" sz="1000"/>
          </a:p>
        </p:txBody>
      </p:sp>
      <p:sp>
        <p:nvSpPr>
          <p:cNvPr id="5030" name="Automatic Slide Number 30"/>
          <p:cNvSpPr txBox="1"/>
          <p:nvPr/>
        </p:nvSpPr>
        <p:spPr>
          <a:xfrm>
            <a:off x="11475720" y="6510528"/>
            <a:ext cx="475488" cy="256032"/>
          </a:xfrm>
          <a:prstGeom prst="rect">
            <a:avLst/>
          </a:prstGeom>
          <a:noFill/>
        </p:spPr>
        <p:txBody>
          <a:bodyPr wrap="none" lIns="0" tIns="0" rIns="0" bIns="0" anchor="ctr"/>
          <a:lstStyle/>
          <a:p>
            <a:pPr algn="ctr"/>
            <a:fld id="{d1598ad5-973e-4db3-912a-1d5ac5bff2dd}" type="slidenum">
              <a:rPr lang="en-GB" sz="1200" b="1" dirty="0">
                <a:solidFill>
                  <a:srgbClr val="FFFFFF"/>
                </a:solidFill>
                <a:latin typeface="Calibri"/>
              </a:rPr>
              <a:t>30</a:t>
            </a:fld>
            <a:endParaRPr lang="en-GB" sz="1200"/>
          </a:p>
        </p:txBody>
      </p:sp>
    </p:spTree>
  </p:cSld>
  <p:clrMapOvr>
    <a:masterClrMapping/>
  </p:clrMapOvr>
  <p:hf sldNum="1" hdr="0" ftr="1" dt="1"/>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O2 APRR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specialist hops will be designed. Computational routing scores are not part of this objective.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Maintain an affinity matrix W over named specialists. Sample the next hop from the normalised product of affinity, pairwise similarity, and query fit.</a:t>
            </a:r>
          </a:p>
          <a:p>
            <a:pPr>
              <a:spcAft>
                <a:spcPts val="600"/>
              </a:spcAft>
              <a:buFont typeface="Arial"/>
              <a:buChar char="•"/>
            </a:pPr>
            <a:r>
              <a:rPr sz="1300">
                <a:solidFill>
                  <a:srgbClr val="1A1A1A"/>
                </a:solidFill>
                <a:latin typeface="Calibri"/>
              </a:rPr>
              <a:t>Allocation rule. P(a_j | a_i, q) ∝ W_ij^α · η_ij^β · ψ_j(q)^γ. Exponents are design knobs, not fitted claims.</a:t>
            </a:r>
          </a:p>
          <a:p>
            <a:pPr>
              <a:spcAft>
                <a:spcPts val="600"/>
              </a:spcAft>
              <a:buFont typeface="Arial"/>
              <a:buChar char="•"/>
            </a:pPr>
            <a:r>
              <a:rPr sz="1300">
                <a:solidFill>
                  <a:srgbClr val="1A1A1A"/>
                </a:solidFill>
                <a:latin typeface="Calibri"/>
              </a:rPr>
              <a:t>Training-free stance. Do not train a MasRouter- or RouteLLM-style classifier as the primary method. Learned routers remain a later comparison class, not this objective.</a:t>
            </a:r>
          </a:p>
          <a:p>
            <a:pPr>
              <a:spcAft>
                <a:spcPts val="600"/>
              </a:spcAft>
              <a:buFont typeface="Arial"/>
              <a:buChar char="•"/>
            </a:pPr>
            <a:r>
              <a:rPr sz="1300">
                <a:solidFill>
                  <a:srgbClr val="1A1A1A"/>
                </a:solidFill>
                <a:latin typeface="Calibri"/>
              </a:rPr>
              <a:t>What is being routed. Specialists in the ACRS mesh — not LLM SKUs and not AutoGen conversation modes.</a:t>
            </a:r>
          </a:p>
          <a:p>
            <a:pPr>
              <a:spcAft>
                <a:spcPts val="600"/>
              </a:spcAft>
              <a:buFont typeface="Arial"/>
              <a:buChar char="•"/>
            </a:pPr>
            <a:r>
              <a:rPr sz="1300">
                <a:solidFill>
                  <a:srgbClr val="1A1A1A"/>
                </a:solidFill>
                <a:latin typeface="Calibri"/>
              </a:rPr>
              <a:t>Update rule. After MNCD returns verified or failed evidence, update W so the next turn’s path is not identical to a cold start.</a:t>
            </a:r>
          </a:p>
          <a:p>
            <a:pPr>
              <a:spcAft>
                <a:spcPts val="600"/>
              </a:spcAft>
              <a:buFont typeface="Arial"/>
              <a:buChar char="•"/>
            </a:pPr>
            <a:r>
              <a:rPr sz="1300">
                <a:solidFill>
                  <a:srgbClr val="1A1A1A"/>
                </a:solidFill>
                <a:latin typeface="Calibri"/>
              </a:rPr>
              <a:t>Deliverable for the thesis chapter. Sampling rule, agent set, assignment gate, and the delayed W update. No routing score is part of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MasRouter / RouteLLM / SOP</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Pick an LLM</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 shortlist</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Dirichlet–Thompson</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Specialist path → MNCD</a:t>
            </a:r>
          </a:p>
        </p:txBody>
      </p:sp>
      <p:sp>
        <p:nvSpPr>
          <p:cNvPr id="4031" name="Automatic Date 31"/>
          <p:cNvSpPr txBox="1"/>
          <p:nvPr/>
        </p:nvSpPr>
        <p:spPr>
          <a:xfrm>
            <a:off x="255016" y="6565900"/>
            <a:ext cx="3108960" cy="255016"/>
          </a:xfrm>
          <a:prstGeom prst="rect">
            <a:avLst/>
          </a:prstGeom>
          <a:noFill/>
        </p:spPr>
        <p:txBody>
          <a:bodyPr wrap="none" lIns="0" tIns="0" rIns="0" bIns="0" anchor="ctr"/>
          <a:lstStyle/>
          <a:p>
            <a:pPr algn="l"/>
            <a:fld id="{8ae7e35e-e16d-4576-94c0-e04b4d110eff}" type="datetime3">
              <a:rPr lang="en-GB" sz="1000" dirty="0">
                <a:solidFill>
                  <a:srgbClr val="9AA3AE"/>
                </a:solidFill>
                <a:latin typeface="Calibri"/>
              </a:rPr>
              <a:t>09/07/2026</a:t>
            </a:fld>
            <a:endParaRPr lang="en-GB" sz="1000"/>
          </a:p>
        </p:txBody>
      </p:sp>
      <p:sp>
        <p:nvSpPr>
          <p:cNvPr id="5031" name="Automatic Slide Number 31"/>
          <p:cNvSpPr txBox="1"/>
          <p:nvPr/>
        </p:nvSpPr>
        <p:spPr>
          <a:xfrm>
            <a:off x="11475720" y="6510528"/>
            <a:ext cx="475488" cy="256032"/>
          </a:xfrm>
          <a:prstGeom prst="rect">
            <a:avLst/>
          </a:prstGeom>
          <a:noFill/>
        </p:spPr>
        <p:txBody>
          <a:bodyPr wrap="none" lIns="0" tIns="0" rIns="0" bIns="0" anchor="ctr"/>
          <a:lstStyle/>
          <a:p>
            <a:pPr algn="ctr"/>
            <a:fld id="{87861bc8-be9a-4c81-8a21-8bf6328ba936}" type="slidenum">
              <a:rPr lang="en-GB" sz="1200" b="1" dirty="0">
                <a:solidFill>
                  <a:srgbClr val="FFFFFF"/>
                </a:solidFill>
                <a:latin typeface="Calibri"/>
              </a:rPr>
              <a:t>31</a:t>
            </a:fld>
            <a:endParaRPr lang="en-GB" sz="1200"/>
          </a:p>
        </p:txBody>
      </p:sp>
    </p:spTree>
  </p:cSld>
  <p:clrMapOvr>
    <a:masterClrMapping/>
  </p:clrMapOvr>
  <p:hf sldNum="1" hdr="0" ftr="1" dt="1"/>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O3 MNCD</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live Indian OGD and score-sum consensus will be executed. PECAD is a domain precedent, not a baseline to beat.</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Specialists selected by APRR gossip partial beliefs. Aggregate with score-sum. Every live claim must cite a verified data.gov.in resource UUID.</a:t>
            </a:r>
          </a:p>
          <a:p>
            <a:pPr>
              <a:spcAft>
                <a:spcPts val="600"/>
              </a:spcAft>
              <a:buFont typeface="Arial"/>
              <a:buChar char="•"/>
            </a:pPr>
            <a:r>
              <a:rPr sz="1300">
                <a:solidFill>
                  <a:srgbClr val="1A1A1A"/>
                </a:solidFill>
                <a:latin typeface="Calibri"/>
              </a:rPr>
              <a:t>Corpus / API. Agriculture-only Open Government Data, including AGMARKNET 9ef84268-d588-465a-a308-a864a43d0070 and other UUIDs that pass verification.</a:t>
            </a:r>
          </a:p>
          <a:p>
            <a:pPr>
              <a:spcAft>
                <a:spcPts val="600"/>
              </a:spcAft>
              <a:buFont typeface="Arial"/>
              <a:buChar char="•"/>
            </a:pPr>
            <a:r>
              <a:rPr sz="1300">
                <a:solidFill>
                  <a:srgbClr val="1A1A1A"/>
                </a:solidFill>
                <a:latin typeface="Calibri"/>
              </a:rPr>
              <a:t>Fail-loud contract. HTTP 5xx/429 are retried with backoff. Missing API key, unverified UUID, or empty filtered universe hard-fail. No dummy mandi prices.</a:t>
            </a:r>
          </a:p>
          <a:p>
            <a:pPr>
              <a:spcAft>
                <a:spcPts val="600"/>
              </a:spcAft>
              <a:buFont typeface="Arial"/>
              <a:buChar char="•"/>
            </a:pPr>
            <a:r>
              <a:rPr sz="1300">
                <a:solidFill>
                  <a:srgbClr val="1A1A1A"/>
                </a:solidFill>
                <a:latin typeface="Calibri"/>
              </a:rPr>
              <a:t>Platform constraint. data.gov.in Elastic max_result_window is 10 000; limit is capped. Pagination is sequential.</a:t>
            </a:r>
          </a:p>
          <a:p>
            <a:pPr>
              <a:spcAft>
                <a:spcPts val="600"/>
              </a:spcAft>
              <a:buFont typeface="Arial"/>
              <a:buChar char="•"/>
            </a:pPr>
            <a:r>
              <a:rPr sz="1300">
                <a:solidFill>
                  <a:srgbClr val="1A1A1A"/>
                </a:solidFill>
                <a:latin typeface="Calibri"/>
              </a:rPr>
              <a:t>Related work used correctly. Guo, Woodruff &amp; Yadav, PECAD (AAAI 2020) shows AGMARKNET as a real DSS input. MNCD does not re-implement crop-yield prediction.</a:t>
            </a:r>
          </a:p>
          <a:p>
            <a:pPr>
              <a:spcAft>
                <a:spcPts val="600"/>
              </a:spcAft>
              <a:buFont typeface="Arial"/>
              <a:buChar char="•"/>
            </a:pPr>
            <a:r>
              <a:rPr sz="1300">
                <a:solidFill>
                  <a:srgbClr val="1A1A1A"/>
                </a:solidFill>
                <a:latin typeface="Calibri"/>
              </a:rPr>
              <a:t>Deliverable for the thesis chapter. Gossip, score-sum, live gate, and the citation contract. No consensus percentage is part of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Manager LLM</a:t>
            </a:r>
          </a:p>
        </p:txBody>
      </p:sp>
      <p:sp>
        <p:nvSpPr>
          <p:cNvPr id="12" name="Rounded Rectangle 11"/>
          <p:cNvSpPr/>
          <p:nvPr/>
        </p:nvSpPr>
        <p:spPr>
          <a:xfrm>
            <a:off x="6135624"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Star / chat messages</a:t>
            </a:r>
          </a:p>
        </p:txBody>
      </p:sp>
      <p:sp>
        <p:nvSpPr>
          <p:cNvPr id="13" name="Rounded Rectangle 12"/>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Mesh gossip</a:t>
            </a:r>
          </a:p>
        </p:txBody>
      </p:sp>
      <p:sp>
        <p:nvSpPr>
          <p:cNvPr id="14" name="Rounded Rectangle 13"/>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Score-sum over tool IDs</a:t>
            </a:r>
          </a:p>
        </p:txBody>
      </p:sp>
      <p:sp>
        <p:nvSpPr>
          <p:cNvPr id="15" name="Rounded Rectangle 14"/>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Live data.gov.in</a:t>
            </a:r>
          </a:p>
        </p:txBody>
      </p:sp>
      <p:sp>
        <p:nvSpPr>
          <p:cNvPr id="4032" name="Automatic Date 32"/>
          <p:cNvSpPr txBox="1"/>
          <p:nvPr/>
        </p:nvSpPr>
        <p:spPr>
          <a:xfrm>
            <a:off x="255016" y="6565900"/>
            <a:ext cx="3108960" cy="255016"/>
          </a:xfrm>
          <a:prstGeom prst="rect">
            <a:avLst/>
          </a:prstGeom>
          <a:noFill/>
        </p:spPr>
        <p:txBody>
          <a:bodyPr wrap="none" lIns="0" tIns="0" rIns="0" bIns="0" anchor="ctr"/>
          <a:lstStyle/>
          <a:p>
            <a:pPr algn="l"/>
            <a:fld id="{13204ec2-ee1b-489e-896a-9b4cc96b7428}" type="datetime3">
              <a:rPr lang="en-GB" sz="1000" dirty="0">
                <a:solidFill>
                  <a:srgbClr val="9AA3AE"/>
                </a:solidFill>
                <a:latin typeface="Calibri"/>
              </a:rPr>
              <a:t>09/07/2026</a:t>
            </a:fld>
            <a:endParaRPr lang="en-GB" sz="1000"/>
          </a:p>
        </p:txBody>
      </p:sp>
      <p:sp>
        <p:nvSpPr>
          <p:cNvPr id="5032" name="Automatic Slide Number 32"/>
          <p:cNvSpPr txBox="1"/>
          <p:nvPr/>
        </p:nvSpPr>
        <p:spPr>
          <a:xfrm>
            <a:off x="11475720" y="6510528"/>
            <a:ext cx="475488" cy="256032"/>
          </a:xfrm>
          <a:prstGeom prst="rect">
            <a:avLst/>
          </a:prstGeom>
          <a:noFill/>
        </p:spPr>
        <p:txBody>
          <a:bodyPr wrap="none" lIns="0" tIns="0" rIns="0" bIns="0" anchor="ctr"/>
          <a:lstStyle/>
          <a:p>
            <a:pPr algn="ctr"/>
            <a:fld id="{b9d6b2ec-2735-401e-b886-4638b2472131}" type="slidenum">
              <a:rPr lang="en-GB" sz="1200" b="1" dirty="0">
                <a:solidFill>
                  <a:srgbClr val="FFFFFF"/>
                </a:solidFill>
                <a:latin typeface="Calibri"/>
              </a:rPr>
              <a:t>32</a:t>
            </a:fld>
            <a:endParaRPr lang="en-GB" sz="1200"/>
          </a:p>
        </p:txBody>
      </p:sp>
    </p:spTree>
  </p:cSld>
  <p:clrMapOvr>
    <a:masterClrMapping/>
  </p:clrMapOvr>
  <p:hf sldNum="1" hdr="0" ftr="1" dt="1"/>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O4 FCNP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mesh pruning will be designed. Computational compression ratios are not part of this objective.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Treat the post-MNCD mesh as a flow network. Apply a Kirchhoff / Physarum-inspired conductance update; drop low-conductance nodes; keep a residue.</a:t>
            </a:r>
          </a:p>
          <a:p>
            <a:pPr>
              <a:spcAft>
                <a:spcPts val="600"/>
              </a:spcAft>
              <a:buFont typeface="Arial"/>
              <a:buChar char="•"/>
            </a:pPr>
            <a:r>
              <a:rPr sz="1300">
                <a:solidFill>
                  <a:srgbClr val="1A1A1A"/>
                </a:solidFill>
                <a:latin typeface="Calibri"/>
              </a:rPr>
              <a:t>Write-back. The residue is written into SATR’s next fused session. That coupling is the integration hinge of Objective 4.</a:t>
            </a:r>
          </a:p>
          <a:p>
            <a:pPr>
              <a:spcAft>
                <a:spcPts val="600"/>
              </a:spcAft>
              <a:buFont typeface="Arial"/>
              <a:buChar char="•"/>
            </a:pPr>
            <a:r>
              <a:rPr sz="1300">
                <a:solidFill>
                  <a:srgbClr val="1A1A1A"/>
                </a:solidFill>
                <a:latin typeface="Calibri"/>
              </a:rPr>
              <a:t>Contrast with LLMLingua. LLMLingua shortens tokens before the LLM. FCNP prunes who remains in the mesh.</a:t>
            </a:r>
          </a:p>
          <a:p>
            <a:pPr>
              <a:spcAft>
                <a:spcPts val="600"/>
              </a:spcAft>
              <a:buFont typeface="Arial"/>
              <a:buChar char="•"/>
            </a:pPr>
            <a:r>
              <a:rPr sz="1300">
                <a:solidFill>
                  <a:srgbClr val="1A1A1A"/>
                </a:solidFill>
                <a:latin typeface="Calibri"/>
              </a:rPr>
              <a:t>Heuristic honesty. Discrete conductance is a design heuristic inspired by Tero et al. (Science, 2010), not a claim that the mesh is a Physarum organism.</a:t>
            </a:r>
          </a:p>
          <a:p>
            <a:pPr>
              <a:spcAft>
                <a:spcPts val="600"/>
              </a:spcAft>
              <a:buFont typeface="Arial"/>
              <a:buChar char="•"/>
            </a:pPr>
            <a:r>
              <a:rPr sz="1300">
                <a:solidFill>
                  <a:srgbClr val="1A1A1A"/>
                </a:solidFill>
                <a:latin typeface="Calibri"/>
              </a:rPr>
              <a:t>Safety. Pruning must not delete the last pinned live citation. Fail loud rather than silently drop ministry evidence.</a:t>
            </a:r>
          </a:p>
          <a:p>
            <a:pPr>
              <a:spcAft>
                <a:spcPts val="600"/>
              </a:spcAft>
              <a:buFont typeface="Arial"/>
              <a:buChar char="•"/>
            </a:pPr>
            <a:r>
              <a:rPr sz="1300">
                <a:solidFill>
                  <a:srgbClr val="1A1A1A"/>
                </a:solidFill>
                <a:latin typeface="Calibri"/>
              </a:rPr>
              <a:t>Deliverable for the thesis chapter. Graph construction, conductance update, pinning rule, and write-back. No compression ratio is part of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Long prompt</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LLMLingua tokens</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No write-back</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 citations</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Kirchhoff / Physarum</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M_t → SATR</a:t>
            </a:r>
          </a:p>
        </p:txBody>
      </p:sp>
      <p:sp>
        <p:nvSpPr>
          <p:cNvPr id="4033" name="Automatic Date 33"/>
          <p:cNvSpPr txBox="1"/>
          <p:nvPr/>
        </p:nvSpPr>
        <p:spPr>
          <a:xfrm>
            <a:off x="255016" y="6565900"/>
            <a:ext cx="3108960" cy="255016"/>
          </a:xfrm>
          <a:prstGeom prst="rect">
            <a:avLst/>
          </a:prstGeom>
          <a:noFill/>
        </p:spPr>
        <p:txBody>
          <a:bodyPr wrap="none" lIns="0" tIns="0" rIns="0" bIns="0" anchor="ctr"/>
          <a:lstStyle/>
          <a:p>
            <a:pPr algn="l"/>
            <a:fld id="{a3bbff6e-1344-4b9c-9a77-f6a19aea3b29}" type="datetime3">
              <a:rPr lang="en-GB" sz="1000" dirty="0">
                <a:solidFill>
                  <a:srgbClr val="9AA3AE"/>
                </a:solidFill>
                <a:latin typeface="Calibri"/>
              </a:rPr>
              <a:t>09/07/2026</a:t>
            </a:fld>
            <a:endParaRPr lang="en-GB" sz="1000"/>
          </a:p>
        </p:txBody>
      </p:sp>
      <p:sp>
        <p:nvSpPr>
          <p:cNvPr id="5033" name="Automatic Slide Number 33"/>
          <p:cNvSpPr txBox="1"/>
          <p:nvPr/>
        </p:nvSpPr>
        <p:spPr>
          <a:xfrm>
            <a:off x="11475720" y="6510528"/>
            <a:ext cx="475488" cy="256032"/>
          </a:xfrm>
          <a:prstGeom prst="rect">
            <a:avLst/>
          </a:prstGeom>
          <a:noFill/>
        </p:spPr>
        <p:txBody>
          <a:bodyPr wrap="none" lIns="0" tIns="0" rIns="0" bIns="0" anchor="ctr"/>
          <a:lstStyle/>
          <a:p>
            <a:pPr algn="ctr"/>
            <a:fld id="{319f7a6c-9f71-4841-951f-dad096e313fb}" type="slidenum">
              <a:rPr lang="en-GB" sz="1200" b="1" dirty="0">
                <a:solidFill>
                  <a:srgbClr val="FFFFFF"/>
                </a:solidFill>
                <a:latin typeface="Calibri"/>
              </a:rPr>
              <a:t>33</a:t>
            </a:fld>
            <a:endParaRPr lang="en-GB" sz="1200"/>
          </a:p>
        </p:txBody>
      </p:sp>
    </p:spTree>
  </p:cSld>
  <p:clrMapOvr>
    <a:masterClrMapping/>
  </p:clrMapOvr>
  <p:hf sldNum="1" hdr="0" ftr="1" dt="1"/>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integrated loop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Closed contract SATR → APRR → MNCD → FCNP → SATR. The novelty is the loop and the data contract, not a claimed accuracy.</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Closed-loop protocol. One user turn must traverse SATR → APRR → MNCD → FCNP in that order.</a:t>
            </a:r>
          </a:p>
          <a:p>
            <a:pPr>
              <a:spcAft>
                <a:spcPts val="600"/>
              </a:spcAft>
              <a:buFont typeface="Arial"/>
              <a:buChar char="•"/>
            </a:pPr>
            <a:r>
              <a:rPr sz="1300">
                <a:solidFill>
                  <a:srgbClr val="1A1A1A"/>
                </a:solidFill>
                <a:latin typeface="Calibri"/>
              </a:rPr>
              <a:t>Two evidence regimes. (1) ToolBench-style ranking traces for SATR. (2) Live data.gov.in Agriculture rows for MNCD. Do not mix dummy prices into (1) or RapidAPI tools into (2).</a:t>
            </a:r>
          </a:p>
          <a:p>
            <a:pPr>
              <a:spcAft>
                <a:spcPts val="600"/>
              </a:spcAft>
              <a:buFont typeface="Arial"/>
              <a:buChar char="•"/>
            </a:pPr>
            <a:r>
              <a:rPr sz="1300">
                <a:solidFill>
                  <a:srgbClr val="1A1A1A"/>
                </a:solidFill>
                <a:latin typeface="Calibri"/>
              </a:rPr>
              <a:t>Independent design switches (for later experiments, not for these objectives). Session fusion on/off; sampled hops vs a static role graph; score-sum vs majority; FCNP write-back on/off.</a:t>
            </a:r>
          </a:p>
          <a:p>
            <a:pPr>
              <a:spcAft>
                <a:spcPts val="600"/>
              </a:spcAft>
              <a:buFont typeface="Arial"/>
              <a:buChar char="•"/>
            </a:pPr>
            <a:r>
              <a:rPr sz="1300">
                <a:solidFill>
                  <a:srgbClr val="1A1A1A"/>
                </a:solidFill>
                <a:latin typeface="Calibri"/>
              </a:rPr>
              <a:t>Domain lock. Agriculture on Indian OGD for the live path. Other sectors are out of scope until a later amendment.</a:t>
            </a:r>
          </a:p>
          <a:p>
            <a:pPr>
              <a:spcAft>
                <a:spcPts val="600"/>
              </a:spcAft>
              <a:buFont typeface="Arial"/>
              <a:buChar char="•"/>
            </a:pPr>
            <a:r>
              <a:rPr sz="1300">
                <a:solidFill>
                  <a:srgbClr val="1A1A1A"/>
                </a:solidFill>
                <a:latin typeface="Calibri"/>
              </a:rPr>
              <a:t>Ethics / data. Public government catalogues only; no personal data; API keys stay in the environment, never in the thesis text.</a:t>
            </a:r>
          </a:p>
          <a:p>
            <a:pPr>
              <a:spcAft>
                <a:spcPts val="600"/>
              </a:spcAft>
              <a:buFont typeface="Arial"/>
              <a:buChar char="•"/>
            </a:pPr>
            <a:r>
              <a:rPr sz="1300">
                <a:solidFill>
                  <a:srgbClr val="1A1A1A"/>
                </a:solidFill>
                <a:latin typeface="Calibri"/>
              </a:rPr>
              <a:t>Proposal-stage claim. Architectural completeness and live-pipeline integrity. Computational scores are not objectives.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Master repository: github.com/joyjeni/phd-agentic-ai-master</a:t>
            </a:r>
          </a:p>
        </p:txBody>
      </p:sp>
      <p:sp>
        <p:nvSpPr>
          <p:cNvPr id="4034" name="Automatic Date 34"/>
          <p:cNvSpPr txBox="1"/>
          <p:nvPr/>
        </p:nvSpPr>
        <p:spPr>
          <a:xfrm>
            <a:off x="255016" y="6565900"/>
            <a:ext cx="3108960" cy="255016"/>
          </a:xfrm>
          <a:prstGeom prst="rect">
            <a:avLst/>
          </a:prstGeom>
          <a:noFill/>
        </p:spPr>
        <p:txBody>
          <a:bodyPr wrap="none" lIns="0" tIns="0" rIns="0" bIns="0" anchor="ctr"/>
          <a:lstStyle/>
          <a:p>
            <a:pPr algn="l"/>
            <a:fld id="{8f20f1f2-bea4-4c65-a8a7-9be1dc71db9c}" type="datetime3">
              <a:rPr lang="en-GB" sz="1000" dirty="0">
                <a:solidFill>
                  <a:srgbClr val="9AA3AE"/>
                </a:solidFill>
                <a:latin typeface="Calibri"/>
              </a:rPr>
              <a:t>09/07/2026</a:t>
            </a:fld>
            <a:endParaRPr lang="en-GB" sz="1000"/>
          </a:p>
        </p:txBody>
      </p:sp>
      <p:sp>
        <p:nvSpPr>
          <p:cNvPr id="5034" name="Automatic Slide Number 34"/>
          <p:cNvSpPr txBox="1"/>
          <p:nvPr/>
        </p:nvSpPr>
        <p:spPr>
          <a:xfrm>
            <a:off x="11475720" y="6510528"/>
            <a:ext cx="475488" cy="256032"/>
          </a:xfrm>
          <a:prstGeom prst="rect">
            <a:avLst/>
          </a:prstGeom>
          <a:noFill/>
        </p:spPr>
        <p:txBody>
          <a:bodyPr wrap="none" lIns="0" tIns="0" rIns="0" bIns="0" anchor="ctr"/>
          <a:lstStyle/>
          <a:p>
            <a:pPr algn="ctr"/>
            <a:fld id="{7e854e8e-ae93-425c-8af1-3ae78dde2f51}" type="slidenum">
              <a:rPr lang="en-GB" sz="1200" b="1" dirty="0">
                <a:solidFill>
                  <a:srgbClr val="FFFFFF"/>
                </a:solidFill>
                <a:latin typeface="Calibri"/>
              </a:rPr>
              <a:t>34</a:t>
            </a:fld>
            <a:endParaRPr lang="en-GB" sz="1200"/>
          </a:p>
        </p:txBody>
      </p:sp>
    </p:spTree>
  </p:cSld>
  <p:clrMapOvr>
    <a:masterClrMapping/>
  </p:clrMapOvr>
  <p:hf sldNum="1" hdr="0" ftr="1" dt="1"/>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implementation formulas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the proposal will be implemented: the equations copied from the laboratory, not a promised leaderboard. Constants are the repository defaults.</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1843430"/>
                <a:gridCol w="3917289"/>
                <a:gridCol w="5760720"/>
              </a:tblGrid>
              <a:tr h="841248">
                <a:tc>
                  <a:txBody>
                    <a:bodyPr/>
                    <a:lstStyle/>
                    <a:p>
                      <a:r>
                        <a:rPr b="1" sz="1100">
                          <a:solidFill>
                            <a:srgbClr val="FFFFFF"/>
                          </a:solidFill>
                          <a:latin typeface="Calibri"/>
                        </a:rPr>
                        <a:t>Module</a:t>
                      </a:r>
                    </a:p>
                  </a:txBody>
                  <a:tcPr>
                    <a:solidFill>
                      <a:srgbClr val="3A1C64"/>
                    </a:solidFill>
                  </a:tcPr>
                </a:tc>
                <a:tc>
                  <a:txBody>
                    <a:bodyPr/>
                    <a:lstStyle/>
                    <a:p>
                      <a:r>
                        <a:rPr b="1" sz="1100">
                          <a:solidFill>
                            <a:srgbClr val="FFFFFF"/>
                          </a:solidFill>
                          <a:latin typeface="Calibri"/>
                        </a:rPr>
                        <a:t>Formula as coded</a:t>
                      </a:r>
                    </a:p>
                  </a:txBody>
                  <a:tcPr>
                    <a:solidFill>
                      <a:srgbClr val="3A1C64"/>
                    </a:solidFill>
                  </a:tcPr>
                </a:tc>
                <a:tc>
                  <a:txBody>
                    <a:bodyPr/>
                    <a:lstStyle/>
                    <a:p>
                      <a:r>
                        <a:rPr b="1" sz="1100">
                          <a:solidFill>
                            <a:srgbClr val="FFFFFF"/>
                          </a:solidFill>
                          <a:latin typeface="Calibri"/>
                        </a:rPr>
                        <a:t>Constants</a:t>
                      </a:r>
                    </a:p>
                  </a:txBody>
                  <a:tcPr>
                    <a:solidFill>
                      <a:srgbClr val="3A1C64"/>
                    </a:solidFill>
                  </a:tcPr>
                </a:tc>
              </a:tr>
              <a:tr h="841248">
                <a:tc>
                  <a:txBody>
                    <a:bodyPr/>
                    <a:lstStyle/>
                    <a:p>
                      <a:r>
                        <a:rPr sz="1000" b="1">
                          <a:solidFill>
                            <a:srgbClr val="3A1C64"/>
                          </a:solidFill>
                          <a:latin typeface="Calibri"/>
                        </a:rPr>
                        <a:t>O1 SATR</a:t>
                      </a:r>
                    </a:p>
                  </a:txBody>
                  <a:tcPr>
                    <a:solidFill>
                      <a:srgbClr val="E9EFF7"/>
                    </a:solidFill>
                  </a:tcPr>
                </a:tc>
                <a:tc>
                  <a:txBody>
                    <a:bodyPr/>
                    <a:lstStyle/>
                    <a:p>
                      <a:r>
                        <a:rPr sz="1000">
                          <a:solidFill>
                            <a:srgbClr val="1A1A1A"/>
                          </a:solidFill>
                          <a:latin typeface="Calibri"/>
                        </a:rPr>
                        <a:t>s(a|q,H)=w_base s_base + w_cat cat + w_sch sch + w_ept ept + w_cooc Σ γ^{n-i} log(1+w_{h_i,a}) + w_rec rec − 0.35 fails;  s_base=0.7 BM25+0.3 TFIDF-cos+0.08 mem-cos</a:t>
                      </a:r>
                    </a:p>
                  </a:txBody>
                  <a:tcPr>
                    <a:solidFill>
                      <a:srgbClr val="E9EFF7"/>
                    </a:solidFill>
                  </a:tcPr>
                </a:tc>
                <a:tc>
                  <a:txBody>
                    <a:bodyPr/>
                    <a:lstStyle/>
                    <a:p>
                      <a:r>
                        <a:rPr sz="1000">
                          <a:solidFill>
                            <a:srgbClr val="1A1A1A"/>
                          </a:solidFill>
                          <a:latin typeface="Calibri"/>
                        </a:rPr>
                        <a:t>w=(1, 0.45, 0.25, 0.3, 0.35, 0.25); γ=0.7; ρ=0.02; δ=1; decay=0.85; BM25 k1=1.5 b=0.75</a:t>
                      </a:r>
                    </a:p>
                  </a:txBody>
                  <a:tcPr>
                    <a:solidFill>
                      <a:srgbClr val="E9EFF7"/>
                    </a:solidFill>
                  </a:tcPr>
                </a:tc>
              </a:tr>
              <a:tr h="841248">
                <a:tc>
                  <a:txBody>
                    <a:bodyPr/>
                    <a:lstStyle/>
                    <a:p>
                      <a:r>
                        <a:rPr sz="1000" b="1">
                          <a:solidFill>
                            <a:srgbClr val="3A1C64"/>
                          </a:solidFill>
                          <a:latin typeface="Calibri"/>
                        </a:rPr>
                        <a:t>O2 APRR</a:t>
                      </a:r>
                    </a:p>
                  </a:txBody>
                  <a:tcPr>
                    <a:solidFill>
                      <a:srgbClr val="E9EFF7"/>
                    </a:solidFill>
                  </a:tcPr>
                </a:tc>
                <a:tc>
                  <a:txBody>
                    <a:bodyPr/>
                    <a:lstStyle/>
                    <a:p>
                      <a:r>
                        <a:rPr sz="1000">
                          <a:solidFill>
                            <a:srgbClr val="1A1A1A"/>
                          </a:solidFill>
                          <a:latin typeface="Calibri"/>
                        </a:rPr>
                        <a:t>P(a_j|a_i,q) ∝ W_ij^α η_ij^β ψ_j(q)^γ ;  W←(1-λ)W + κ·reward·1/L²·1/lat</a:t>
                      </a:r>
                    </a:p>
                  </a:txBody>
                  <a:tcPr>
                    <a:solidFill>
                      <a:srgbClr val="E9EFF7"/>
                    </a:solidFill>
                  </a:tcPr>
                </a:tc>
                <a:tc>
                  <a:txBody>
                    <a:bodyPr/>
                    <a:lstStyle/>
                    <a:p>
                      <a:r>
                        <a:rPr sz="1000">
                          <a:solidFill>
                            <a:srgbClr val="1A1A1A"/>
                          </a:solidFill>
                          <a:latin typeface="Calibri"/>
                        </a:rPr>
                        <a:t>α=2, β=1, γ=2.5, λ=0.005, κ=5, W0=0.1, ε=0 (lab), maxHops=4; reward +1 / −0.05</a:t>
                      </a:r>
                    </a:p>
                  </a:txBody>
                  <a:tcPr>
                    <a:solidFill>
                      <a:srgbClr val="E9EFF7"/>
                    </a:solidFill>
                  </a:tcPr>
                </a:tc>
              </a:tr>
              <a:tr h="841248">
                <a:tc>
                  <a:txBody>
                    <a:bodyPr/>
                    <a:lstStyle/>
                    <a:p>
                      <a:r>
                        <a:rPr sz="1000" b="1">
                          <a:solidFill>
                            <a:srgbClr val="3A1C64"/>
                          </a:solidFill>
                          <a:latin typeface="Calibri"/>
                        </a:rPr>
                        <a:t>O3 MNCD</a:t>
                      </a:r>
                    </a:p>
                  </a:txBody>
                  <a:tcPr>
                    <a:solidFill>
                      <a:srgbClr val="E9EFF7"/>
                    </a:solidFill>
                  </a:tcPr>
                </a:tc>
                <a:tc>
                  <a:txBody>
                    <a:bodyPr/>
                    <a:lstStyle/>
                    <a:p>
                      <a:r>
                        <a:rPr sz="1000">
                          <a:solidFill>
                            <a:srgbClr val="1A1A1A"/>
                          </a:solidFill>
                          <a:latin typeface="Calibri"/>
                        </a:rPr>
                        <a:t>s=0.45 score/(|score|+2)+0.35 overlap+liveBoost−0.05 idx;  tally=Σ w_a s_a;  w=success/(1+lat/1000)</a:t>
                      </a:r>
                    </a:p>
                  </a:txBody>
                  <a:tcPr>
                    <a:solidFill>
                      <a:srgbClr val="E9EFF7"/>
                    </a:solidFill>
                  </a:tcPr>
                </a:tc>
                <a:tc>
                  <a:txBody>
                    <a:bodyPr/>
                    <a:lstStyle/>
                    <a:p>
                      <a:r>
                        <a:rPr sz="1000">
                          <a:solidFill>
                            <a:srgbClr val="1A1A1A"/>
                          </a:solidFill>
                          <a:latin typeface="Calibri"/>
                        </a:rPr>
                        <a:t>liveBoost 0.25+0.20 preferred; fanout=3; R=2; τ=0.55; score-sum not Borda; live UUID only</a:t>
                      </a:r>
                    </a:p>
                  </a:txBody>
                  <a:tcPr>
                    <a:solidFill>
                      <a:srgbClr val="E9EFF7"/>
                    </a:solidFill>
                  </a:tcPr>
                </a:tc>
              </a:tr>
              <a:tr h="841248">
                <a:tc>
                  <a:txBody>
                    <a:bodyPr/>
                    <a:lstStyle/>
                    <a:p>
                      <a:r>
                        <a:rPr sz="1000" b="1">
                          <a:solidFill>
                            <a:srgbClr val="3A1C64"/>
                          </a:solidFill>
                          <a:latin typeface="Calibri"/>
                        </a:rPr>
                        <a:t>O4 FCNP</a:t>
                      </a:r>
                    </a:p>
                  </a:txBody>
                  <a:tcPr>
                    <a:solidFill>
                      <a:srgbClr val="E9EFF7"/>
                    </a:solidFill>
                  </a:tcPr>
                </a:tc>
                <a:tc>
                  <a:txBody>
                    <a:bodyPr/>
                    <a:lstStyle/>
                    <a:p>
                      <a:r>
                        <a:rPr sz="1000">
                          <a:solidFill>
                            <a:srgbClr val="1A1A1A"/>
                          </a:solidFill>
                          <a:latin typeface="Calibri"/>
                        </a:rPr>
                        <a:t>D_ij(t+1)=(1-μ)D_ij+α|Q_ij|^γ ;  L p = I ;  Q=|D(p_i-p_j)|;  keep 35% / summarize 20% / drop</a:t>
                      </a:r>
                    </a:p>
                  </a:txBody>
                  <a:tcPr>
                    <a:solidFill>
                      <a:srgbClr val="E9EFF7"/>
                    </a:solidFill>
                  </a:tcPr>
                </a:tc>
                <a:tc>
                  <a:txBody>
                    <a:bodyPr/>
                    <a:lstStyle/>
                    <a:p>
                      <a:r>
                        <a:rPr sz="1000">
                          <a:solidFill>
                            <a:srgbClr val="1A1A1A"/>
                          </a:solidFill>
                          <a:latin typeface="Calibri"/>
                        </a:rPr>
                        <a:t>μ=0.1, α=0.5, γ=1.2, sim≥0.12; pinned live citations never evicted; memory→SATR</a:t>
                      </a:r>
                    </a:p>
                  </a:txBody>
                  <a:tcPr>
                    <a:solidFill>
                      <a:srgbClr val="E9EFF7"/>
                    </a:solidFill>
                  </a:tcPr>
                </a:tc>
              </a:tr>
            </a:tbl>
          </a:graphicData>
        </a:graphic>
      </p:graphicFrame>
      <p:sp>
        <p:nvSpPr>
          <p:cNvPr id="4035" name="Automatic Date 35"/>
          <p:cNvSpPr txBox="1"/>
          <p:nvPr/>
        </p:nvSpPr>
        <p:spPr>
          <a:xfrm>
            <a:off x="255016" y="6565900"/>
            <a:ext cx="3108960" cy="255016"/>
          </a:xfrm>
          <a:prstGeom prst="rect">
            <a:avLst/>
          </a:prstGeom>
          <a:noFill/>
        </p:spPr>
        <p:txBody>
          <a:bodyPr wrap="none" lIns="0" tIns="0" rIns="0" bIns="0" anchor="ctr"/>
          <a:lstStyle/>
          <a:p>
            <a:pPr algn="l"/>
            <a:fld id="{24d44e44-41d5-4890-802c-1c0d5ee70455}" type="datetime3">
              <a:rPr lang="en-GB" sz="1000" dirty="0">
                <a:solidFill>
                  <a:srgbClr val="9AA3AE"/>
                </a:solidFill>
                <a:latin typeface="Calibri"/>
              </a:rPr>
              <a:t>09/07/2026</a:t>
            </a:fld>
            <a:endParaRPr lang="en-GB" sz="1000"/>
          </a:p>
        </p:txBody>
      </p:sp>
      <p:sp>
        <p:nvSpPr>
          <p:cNvPr id="5035" name="Automatic Slide Number 35"/>
          <p:cNvSpPr txBox="1"/>
          <p:nvPr/>
        </p:nvSpPr>
        <p:spPr>
          <a:xfrm>
            <a:off x="11475720" y="6510528"/>
            <a:ext cx="475488" cy="256032"/>
          </a:xfrm>
          <a:prstGeom prst="rect">
            <a:avLst/>
          </a:prstGeom>
          <a:noFill/>
        </p:spPr>
        <p:txBody>
          <a:bodyPr wrap="none" lIns="0" tIns="0" rIns="0" bIns="0" anchor="ctr"/>
          <a:lstStyle/>
          <a:p>
            <a:pPr algn="ctr"/>
            <a:fld id="{637a9b8e-9a95-48de-bf8b-293dd81a845e}" type="slidenum">
              <a:rPr lang="en-GB" sz="1200" b="1" dirty="0">
                <a:solidFill>
                  <a:srgbClr val="FFFFFF"/>
                </a:solidFill>
                <a:latin typeface="Calibri"/>
              </a:rPr>
              <a:t>35</a:t>
            </a:fld>
            <a:endParaRPr lang="en-GB" sz="1200"/>
          </a:p>
        </p:txBody>
      </p:sp>
    </p:spTree>
  </p:cSld>
  <p:clrMapOvr>
    <a:masterClrMapping/>
  </p:clrMapOvr>
  <p:hf sldNum="1" hdr="0" ftr="1" dt="1"/>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implemented algorithms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Pseudocode is the laboratory functions. Full listings are on /algorithms. Journal mermaid redraws of every archived GitHub diagrams/ PNG are on /diagrams. Constants are repository defaults, not claimed results.</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O1 SATR. s(a|q,H)=w_base s_base + session priors + co-activation − fail penalty. Truncate seen/unseen. Do not GET RapidAPI or data.gov.in.</a:t>
            </a:r>
          </a:p>
          <a:p>
            <a:pPr>
              <a:spcAft>
                <a:spcPts val="600"/>
              </a:spcAft>
              <a:buFont typeface="Arial"/>
              <a:buChar char="•"/>
            </a:pPr>
            <a:r>
              <a:rPr sz="1300">
                <a:solidFill>
                  <a:srgbClr val="1A1A1A"/>
                </a:solidFill>
                <a:latin typeface="Calibri"/>
              </a:rPr>
              <a:t>O2 APRR. Sample P(a_j|a_i,q) ∝ W^α η^β ψ^γ from agriculture_analyst. assignTools by category. Update W after MNCD.</a:t>
            </a:r>
          </a:p>
          <a:p>
            <a:pPr>
              <a:spcAft>
                <a:spcPts val="600"/>
              </a:spcAft>
              <a:buFont typeface="Arial"/>
              <a:buChar char="•"/>
            </a:pPr>
            <a:r>
              <a:rPr sz="1300">
                <a:solidFill>
                  <a:srgbClr val="1A1A1A"/>
                </a:solidFill>
                <a:latin typeface="Calibri"/>
              </a:rPr>
              <a:t>O3 MNCD. Gossip (toolId, score). Score-sum. Execute only liveExecutable UUIDs; else force preferredLiveToolId. Fail loud.</a:t>
            </a:r>
          </a:p>
          <a:p>
            <a:pPr>
              <a:spcAft>
                <a:spcPts val="600"/>
              </a:spcAft>
              <a:buFont typeface="Arial"/>
              <a:buChar char="•"/>
            </a:pPr>
            <a:r>
              <a:rPr sz="1300">
                <a:solidFill>
                  <a:srgbClr val="1A1A1A"/>
                </a:solidFill>
                <a:latin typeface="Calibri"/>
              </a:rPr>
              <a:t>O4 FCNP. D←(1−μ)D+α|Q|^γ after L p = I. Keep / summarize / drop. Pin live citations. Write M_t into SATR.</a:t>
            </a:r>
          </a:p>
          <a:p>
            <a:pPr>
              <a:spcAft>
                <a:spcPts val="600"/>
              </a:spcAft>
              <a:buFont typeface="Arial"/>
              <a:buChar char="•"/>
            </a:pPr>
            <a:r>
              <a:rPr sz="1300">
                <a:solidFill>
                  <a:srgbClr val="1A1A1A"/>
                </a:solidFill>
                <a:latin typeface="Calibri"/>
              </a:rPr>
              <a:t>Integration. One turn must traverse all four. ToolBench-schema ranking and live OGD are two evidence regimes, not two mixed corpora.</a:t>
            </a:r>
          </a:p>
          <a:p>
            <a:pPr>
              <a:spcAft>
                <a:spcPts val="600"/>
              </a:spcAft>
              <a:buFont typeface="Arial"/>
              <a:buChar char="•"/>
            </a:pPr>
            <a:r>
              <a:rPr sz="1300">
                <a:solidFill>
                  <a:srgbClr val="1A1A1A"/>
                </a:solidFill>
                <a:latin typeface="Calibri"/>
              </a:rPr>
              <a:t>What this slide does not contain. NDCG, latency, consensus accuracy, or token-reduction targets.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4036" name="Automatic Date 36"/>
          <p:cNvSpPr txBox="1"/>
          <p:nvPr/>
        </p:nvSpPr>
        <p:spPr>
          <a:xfrm>
            <a:off x="255016" y="6565900"/>
            <a:ext cx="3108960" cy="255016"/>
          </a:xfrm>
          <a:prstGeom prst="rect">
            <a:avLst/>
          </a:prstGeom>
          <a:noFill/>
        </p:spPr>
        <p:txBody>
          <a:bodyPr wrap="none" lIns="0" tIns="0" rIns="0" bIns="0" anchor="ctr"/>
          <a:lstStyle/>
          <a:p>
            <a:pPr algn="l"/>
            <a:fld id="{d0f58af1-fb50-44d3-91e3-1718154a66d5}" type="datetime3">
              <a:rPr lang="en-GB" sz="1000" dirty="0">
                <a:solidFill>
                  <a:srgbClr val="9AA3AE"/>
                </a:solidFill>
                <a:latin typeface="Calibri"/>
              </a:rPr>
              <a:t>09/07/2026</a:t>
            </a:fld>
            <a:endParaRPr lang="en-GB" sz="1000"/>
          </a:p>
        </p:txBody>
      </p:sp>
      <p:sp>
        <p:nvSpPr>
          <p:cNvPr id="5036" name="Automatic Slide Number 36"/>
          <p:cNvSpPr txBox="1"/>
          <p:nvPr/>
        </p:nvSpPr>
        <p:spPr>
          <a:xfrm>
            <a:off x="11475720" y="6510528"/>
            <a:ext cx="475488" cy="256032"/>
          </a:xfrm>
          <a:prstGeom prst="rect">
            <a:avLst/>
          </a:prstGeom>
          <a:noFill/>
        </p:spPr>
        <p:txBody>
          <a:bodyPr wrap="none" lIns="0" tIns="0" rIns="0" bIns="0" anchor="ctr"/>
          <a:lstStyle/>
          <a:p>
            <a:pPr algn="ctr"/>
            <a:fld id="{9739bd2b-8084-4e55-8078-3180baba6750}" type="slidenum">
              <a:rPr lang="en-GB" sz="1200" b="1" dirty="0">
                <a:solidFill>
                  <a:srgbClr val="FFFFFF"/>
                </a:solidFill>
                <a:latin typeface="Calibri"/>
              </a:rPr>
              <a:t>36</a:t>
            </a:fld>
            <a:endParaRPr lang="en-GB" sz="1200"/>
          </a:p>
        </p:txBody>
      </p:sp>
    </p:spTree>
  </p:cSld>
  <p:clrMapOvr>
    <a:masterClrMapping/>
  </p:clrMapOvr>
  <p:hf sldNum="1" hdr="0" ftr="1" dt="1"/>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ToolBench walkthrough</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One ToolBench-schema datum, processed by all four objectives. RapidAPI is never GET. Numbers are a 07 September 2026 lab trace, not a metric claim.</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Intake. Bundled G1 jsonl qid=6491 is a RapidAPI aircraft query (gold docs 4308–4317). Off-sector flights are stripped. The ranking-library analogue walked here is tb.agri.soil_health with q = “What is the soil pH and recommended fertilizer dose for a farm village?”</a:t>
            </a:r>
          </a:p>
          <a:p>
            <a:pPr>
              <a:spcAft>
                <a:spcPts val="600"/>
              </a:spcAft>
              <a:buFont typeface="Arial"/>
              <a:buChar char="•"/>
            </a:pPr>
            <a:r>
              <a:rPr sz="1300">
                <a:solidFill>
                  <a:srgbClr val="1A1A1A"/>
                </a:solidFill>
                <a:latin typeface="Calibri"/>
              </a:rPr>
              <a:t>O1 SATR. Cold start so s=z(s_base). tb.agri.soil_health s_base=18.08 → s=5.40 (rank 1, ranking-only). karnataka::shc_karnataka s=1.40. datagov.fertilizer s=0.60 (live, rank 4).</a:t>
            </a:r>
          </a:p>
          <a:p>
            <a:pPr>
              <a:spcAft>
                <a:spcPts val="600"/>
              </a:spcAft>
              <a:buFont typeface="Arial"/>
              <a:buChar char="•"/>
            </a:pPr>
            <a:r>
              <a:rPr sz="1300">
                <a:solidFill>
                  <a:srgbClr val="1A1A1A"/>
                </a:solidFill>
                <a:latin typeface="Calibri"/>
              </a:rPr>
              <a:t>O2 APRR. Path agriculture_analyst → schema_planner (p=0.73) → retrieval_specialist (p=0.95). Non-Agriculture specialists fall back to SATR #1 = soil_health.</a:t>
            </a:r>
          </a:p>
          <a:p>
            <a:pPr>
              <a:spcAft>
                <a:spcPts val="600"/>
              </a:spcAft>
              <a:buFont typeface="Arial"/>
              <a:buChar char="•"/>
            </a:pPr>
            <a:r>
              <a:rPr sz="1300">
                <a:solidFill>
                  <a:srgbClr val="1A1A1A"/>
                </a:solidFill>
                <a:latin typeface="Calibri"/>
              </a:rPr>
              <a:t>O3 MNCD. Agent score s=0.45 score/(|score|+2)+0.35 overlap. soil_health 0.5995; tally=3·0.7407·0.5995=1.332. Not liveExecutable. preferredLiveToolId matches fertilizer → GET UUID 2e0e6c04-97f2-456b-9309-bf605650cb11 (44 live subsidy rows, e.g. 2002-03 Indigenous Urea 7790 Rs crore).</a:t>
            </a:r>
          </a:p>
          <a:p>
            <a:pPr>
              <a:spcAft>
                <a:spcPts val="600"/>
              </a:spcAft>
              <a:buFont typeface="Arial"/>
              <a:buChar char="•"/>
            </a:pPr>
            <a:r>
              <a:rPr sz="1300">
                <a:solidFill>
                  <a:srgbClr val="1A1A1A"/>
                </a:solidFill>
                <a:latin typeface="Calibri"/>
              </a:rPr>
              <a:t>O4 FCNP. 10 spans → keep 6 / drop 4; pin query + live fertilizer observation + citation. Memory written back to SATR.</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ToolBench = ranking library. Live evidence is always a verified data.gov.in Agriculture UUID.</a:t>
            </a:r>
          </a:p>
        </p:txBody>
      </p:sp>
      <p:sp>
        <p:nvSpPr>
          <p:cNvPr id="4037" name="Automatic Date 37"/>
          <p:cNvSpPr txBox="1"/>
          <p:nvPr/>
        </p:nvSpPr>
        <p:spPr>
          <a:xfrm>
            <a:off x="255016" y="6565900"/>
            <a:ext cx="3108960" cy="255016"/>
          </a:xfrm>
          <a:prstGeom prst="rect">
            <a:avLst/>
          </a:prstGeom>
          <a:noFill/>
        </p:spPr>
        <p:txBody>
          <a:bodyPr wrap="none" lIns="0" tIns="0" rIns="0" bIns="0" anchor="ctr"/>
          <a:lstStyle/>
          <a:p>
            <a:pPr algn="l"/>
            <a:fld id="{d7cd5aed-027e-49c0-9a8a-9607d70ff275}" type="datetime3">
              <a:rPr lang="en-GB" sz="1000" dirty="0">
                <a:solidFill>
                  <a:srgbClr val="9AA3AE"/>
                </a:solidFill>
                <a:latin typeface="Calibri"/>
              </a:rPr>
              <a:t>09/07/2026</a:t>
            </a:fld>
            <a:endParaRPr lang="en-GB" sz="1000"/>
          </a:p>
        </p:txBody>
      </p:sp>
      <p:sp>
        <p:nvSpPr>
          <p:cNvPr id="5037" name="Automatic Slide Number 37"/>
          <p:cNvSpPr txBox="1"/>
          <p:nvPr/>
        </p:nvSpPr>
        <p:spPr>
          <a:xfrm>
            <a:off x="11475720" y="6510528"/>
            <a:ext cx="475488" cy="256032"/>
          </a:xfrm>
          <a:prstGeom prst="rect">
            <a:avLst/>
          </a:prstGeom>
          <a:noFill/>
        </p:spPr>
        <p:txBody>
          <a:bodyPr wrap="none" lIns="0" tIns="0" rIns="0" bIns="0" anchor="ctr"/>
          <a:lstStyle/>
          <a:p>
            <a:pPr algn="ctr"/>
            <a:fld id="{86400a96-0f23-4c67-96f1-052ea3d591d9}" type="slidenum">
              <a:rPr lang="en-GB" sz="1200" b="1" dirty="0">
                <a:solidFill>
                  <a:srgbClr val="FFFFFF"/>
                </a:solidFill>
                <a:latin typeface="Calibri"/>
              </a:rPr>
              <a:t>37</a:t>
            </a:fld>
            <a:endParaRPr lang="en-GB" sz="1200"/>
          </a:p>
        </p:txBody>
      </p:sp>
    </p:spTree>
  </p:cSld>
  <p:clrMapOvr>
    <a:masterClrMapping/>
  </p:clrMapOvr>
  <p:hf sldNum="1" hdr="0" ftr="1" dt="1"/>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data.gov.in walkthrough</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The same four objectives on live AGMARKNET. Query: “What is the current mandi price of wheat in Punjab?” Fail-loud: no invented Punjab-wheat modal.</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Intake. extractToolArguments → state=Punjab, commodity=Wheat. preferredLiveToolId → datagov.mandi_prices (UUID 9ef84268-d588-465a-a308-a864a43d0070). Limit capped at 10 000.</a:t>
            </a:r>
          </a:p>
          <a:p>
            <a:pPr>
              <a:spcAft>
                <a:spcPts val="600"/>
              </a:spcAft>
              <a:buFont typeface="Arial"/>
              <a:buChar char="•"/>
            </a:pPr>
            <a:r>
              <a:rPr sz="1300">
                <a:solidFill>
                  <a:srgbClr val="1A1A1A"/>
                </a:solidFill>
                <a:latin typeface="Calibri"/>
              </a:rPr>
              <a:t>O1 SATR. karnataka::agmarknet_ka s=3.73 (rank 1, same UUID); datagov.mandi_prices s=3.05 (rank 2, preferred); datagov.msp s=2.31 (ranking-only).</a:t>
            </a:r>
          </a:p>
          <a:p>
            <a:pPr>
              <a:spcAft>
                <a:spcPts val="600"/>
              </a:spcAft>
              <a:buFont typeface="Arial"/>
              <a:buChar char="•"/>
            </a:pPr>
            <a:r>
              <a:rPr sz="1300">
                <a:solidFill>
                  <a:srgbClr val="1A1A1A"/>
                </a:solidFill>
                <a:latin typeface="Calibri"/>
              </a:rPr>
              <a:t>O2 APRR. Path agriculture_analyst → schema_planner (p=0.54) → tool_executor (p=0.66, terminal stop). Hop 0: Karnataka mandi, national mandi, MSP. Hop 2 live leftover: crop_production.</a:t>
            </a:r>
          </a:p>
          <a:p>
            <a:pPr>
              <a:spcAft>
                <a:spcPts val="600"/>
              </a:spcAft>
              <a:buFont typeface="Arial"/>
              <a:buChar char="•"/>
            </a:pPr>
            <a:r>
              <a:rPr sz="1300">
                <a:solidFill>
                  <a:srgbClr val="1A1A1A"/>
                </a:solidFill>
                <a:latin typeface="Calibri"/>
              </a:rPr>
              <a:t>O3 MNCD. mandi_prices agent-score 0.787 (liveBoost 0.45); karnataka 0.7789. Score-sum winner karnataka::agmarknet_ka tally=1.154. Live GET: 10 000 arrivals; 0 Wheat in Punjab today; 479 other live Punjab rows; Wheat in 133 live rows from MP, Rajasthan, UP, Gujarat, Maharashtra, West Bengal, Chhattisgarh. Shown mean modal Rs 2593/quintal (e.g. Bhindi, Dera Baba Nanak APMC, Rs 828, 07/09/2026).</a:t>
            </a:r>
          </a:p>
          <a:p>
            <a:pPr>
              <a:spcAft>
                <a:spcPts val="600"/>
              </a:spcAft>
              <a:buFont typeface="Arial"/>
              <a:buChar char="•"/>
            </a:pPr>
            <a:r>
              <a:rPr sz="1300">
                <a:solidFill>
                  <a:srgbClr val="1A1A1A"/>
                </a:solidFill>
                <a:latin typeface="Calibri"/>
              </a:rPr>
              <a:t>O4 FCNP. 10 spans → keep 7; pin the AGMARKNET citation. W ← (1-λ)W + κ·1/L²/lat on the hop path. Next SATR is session-conditioned.</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Lab trace 07 September 2026. Re-run on /walkthrough; rows change daily. No dummy prices.</a:t>
            </a:r>
          </a:p>
        </p:txBody>
      </p:sp>
      <p:sp>
        <p:nvSpPr>
          <p:cNvPr id="4038" name="Automatic Date 38"/>
          <p:cNvSpPr txBox="1"/>
          <p:nvPr/>
        </p:nvSpPr>
        <p:spPr>
          <a:xfrm>
            <a:off x="255016" y="6565900"/>
            <a:ext cx="3108960" cy="255016"/>
          </a:xfrm>
          <a:prstGeom prst="rect">
            <a:avLst/>
          </a:prstGeom>
          <a:noFill/>
        </p:spPr>
        <p:txBody>
          <a:bodyPr wrap="none" lIns="0" tIns="0" rIns="0" bIns="0" anchor="ctr"/>
          <a:lstStyle/>
          <a:p>
            <a:pPr algn="l"/>
            <a:fld id="{71dc09de-9c00-4119-b05d-64b58418ff07}" type="datetime3">
              <a:rPr lang="en-GB" sz="1000" dirty="0">
                <a:solidFill>
                  <a:srgbClr val="9AA3AE"/>
                </a:solidFill>
                <a:latin typeface="Calibri"/>
              </a:rPr>
              <a:t>09/07/2026</a:t>
            </a:fld>
            <a:endParaRPr lang="en-GB" sz="1000"/>
          </a:p>
        </p:txBody>
      </p:sp>
      <p:sp>
        <p:nvSpPr>
          <p:cNvPr id="5038" name="Automatic Slide Number 38"/>
          <p:cNvSpPr txBox="1"/>
          <p:nvPr/>
        </p:nvSpPr>
        <p:spPr>
          <a:xfrm>
            <a:off x="11475720" y="6510528"/>
            <a:ext cx="475488" cy="256032"/>
          </a:xfrm>
          <a:prstGeom prst="rect">
            <a:avLst/>
          </a:prstGeom>
          <a:noFill/>
        </p:spPr>
        <p:txBody>
          <a:bodyPr wrap="none" lIns="0" tIns="0" rIns="0" bIns="0" anchor="ctr"/>
          <a:lstStyle/>
          <a:p>
            <a:pPr algn="ctr"/>
            <a:fld id="{900bef93-1106-4e85-9d71-610a5e86cf73}" type="slidenum">
              <a:rPr lang="en-GB" sz="1200" b="1" dirty="0">
                <a:solidFill>
                  <a:srgbClr val="FFFFFF"/>
                </a:solidFill>
                <a:latin typeface="Calibri"/>
              </a:rPr>
              <a:t>38</a:t>
            </a:fld>
            <a:endParaRPr lang="en-GB" sz="1200"/>
          </a:p>
        </p:txBody>
      </p:sp>
    </p:spTree>
  </p:cSld>
  <p:clrMapOvr>
    <a:masterClrMapping/>
  </p:clrMapOvr>
  <p:hf sldNum="1" hdr="0" ftr="1" dt="1"/>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Conclusion</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ACRS is proposed as a structural orchestration layer. The contribution is the closed loop and the four named gaps — not a pre-committed leaderboard.</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The literature (Wang et al. FCS 2024; He et al. TOSEM 2025; Guo et al. IJCAI-24; SagaLLM PVLDB 2025; AutoGen, MetaGPT, ChatDev, CAMEL, ToolLLM, MasRouter, RouteLLM, PILOT, LLMLingua, PECAD) establishes agent construction, conversation, tools, learned routing, and prompt compression. It does not establish SATR → APRR → MNCD → FCNP as one contract over live Indian OGD.</a:t>
            </a:r>
          </a:p>
          <a:p>
            <a:pPr>
              <a:spcAft>
                <a:spcPts val="600"/>
              </a:spcAft>
              <a:buFont typeface="Arial"/>
              <a:buChar char="•"/>
            </a:pPr>
            <a:r>
              <a:rPr sz="1300">
                <a:solidFill>
                  <a:srgbClr val="1A1A1A"/>
                </a:solidFill>
                <a:latin typeface="Calibri"/>
              </a:rPr>
              <a:t>The identified problem is five gaps: G1 session–tool fusion, G2 training-free specialist posterior, G3 live fail-loud Indian OGD, G4 conductance prune with write-back, G5 missing integration layer.</a:t>
            </a:r>
          </a:p>
          <a:p>
            <a:pPr>
              <a:spcAft>
                <a:spcPts val="600"/>
              </a:spcAft>
              <a:buFont typeface="Arial"/>
              <a:buChar char="•"/>
            </a:pPr>
            <a:r>
              <a:rPr sz="1300">
                <a:solidFill>
                  <a:srgbClr val="1A1A1A"/>
                </a:solidFill>
                <a:latin typeface="Calibri"/>
              </a:rPr>
              <a:t>The aim is to design that layer. Four objectives (SATR, APRR, MNCD, FCNP) and four research questions map onto it.</a:t>
            </a:r>
          </a:p>
          <a:p>
            <a:pPr>
              <a:spcAft>
                <a:spcPts val="600"/>
              </a:spcAft>
              <a:buFont typeface="Arial"/>
              <a:buChar char="•"/>
            </a:pPr>
            <a:r>
              <a:rPr sz="1300">
                <a:solidFill>
                  <a:srgbClr val="1A1A1A"/>
                </a:solidFill>
                <a:latin typeface="Calibri"/>
              </a:rPr>
              <a:t>Methodology is specified per objective: ToolBench as ranking library; training-free specialist hops; verified data.gov.in UUIDs with score-sum; Physarum-inspired prune with SATR write-back. Computational scores are not objectives.</a:t>
            </a:r>
          </a:p>
          <a:p>
            <a:pPr>
              <a:spcAft>
                <a:spcPts val="600"/>
              </a:spcAft>
              <a:buFont typeface="Arial"/>
              <a:buChar char="•"/>
            </a:pPr>
            <a:r>
              <a:rPr sz="1300">
                <a:solidFill>
                  <a:srgbClr val="1A1A1A"/>
                </a:solidFill>
                <a:latin typeface="Calibri"/>
              </a:rPr>
              <a:t>Next step after approval. Freeze evaluation protocols, implement the closed loop, and report whatever the measurements show — including negative results.</a:t>
            </a:r>
          </a:p>
        </p:txBody>
      </p:sp>
      <p:sp>
        <p:nvSpPr>
          <p:cNvPr id="4039" name="Automatic Date 39"/>
          <p:cNvSpPr txBox="1"/>
          <p:nvPr/>
        </p:nvSpPr>
        <p:spPr>
          <a:xfrm>
            <a:off x="255016" y="6565900"/>
            <a:ext cx="3108960" cy="255016"/>
          </a:xfrm>
          <a:prstGeom prst="rect">
            <a:avLst/>
          </a:prstGeom>
          <a:noFill/>
        </p:spPr>
        <p:txBody>
          <a:bodyPr wrap="none" lIns="0" tIns="0" rIns="0" bIns="0" anchor="ctr"/>
          <a:lstStyle/>
          <a:p>
            <a:pPr algn="l"/>
            <a:fld id="{5592e224-0cbd-4808-b3d2-d79578b5fc48}" type="datetime3">
              <a:rPr lang="en-GB" sz="1000" dirty="0">
                <a:solidFill>
                  <a:srgbClr val="9AA3AE"/>
                </a:solidFill>
                <a:latin typeface="Calibri"/>
              </a:rPr>
              <a:t>09/07/2026</a:t>
            </a:fld>
            <a:endParaRPr lang="en-GB" sz="1000"/>
          </a:p>
        </p:txBody>
      </p:sp>
      <p:sp>
        <p:nvSpPr>
          <p:cNvPr id="5039" name="Automatic Slide Number 39"/>
          <p:cNvSpPr txBox="1"/>
          <p:nvPr/>
        </p:nvSpPr>
        <p:spPr>
          <a:xfrm>
            <a:off x="11475720" y="6510528"/>
            <a:ext cx="475488" cy="256032"/>
          </a:xfrm>
          <a:prstGeom prst="rect">
            <a:avLst/>
          </a:prstGeom>
          <a:noFill/>
        </p:spPr>
        <p:txBody>
          <a:bodyPr wrap="none" lIns="0" tIns="0" rIns="0" bIns="0" anchor="ctr"/>
          <a:lstStyle/>
          <a:p>
            <a:pPr algn="ctr"/>
            <a:fld id="{05db1baf-ddcf-49aa-8373-4e106c833c21}" type="slidenum">
              <a:rPr lang="en-GB" sz="1200" b="1" dirty="0">
                <a:solidFill>
                  <a:srgbClr val="FFFFFF"/>
                </a:solidFill>
                <a:latin typeface="Calibri"/>
              </a:rPr>
              <a:t>39</a:t>
            </a:fld>
            <a:endParaRPr lang="en-GB" sz="1200"/>
          </a:p>
        </p:txBody>
      </p:sp>
    </p:spTree>
  </p:cSld>
  <p:clrMapOvr>
    <a:masterClrMapping/>
  </p:clrMapOvr>
  <p:hf sldNum="1" hdr="0" ftr="1" dt="1"/>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References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Numbered bibliography. Evidence 1–18 use the same numbers as citations [1]–[18]. A DOI is a link to https://doi.org/…. Papers without a Crossref DOI stay numbered and unlinked.</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[1] Wang, L., Ma, C., Feng, X., Zhang, Z., Yang, H., Zhang, J., Chen, Z., Tang, J., Chen, X., Lin, Y., Zhao, W. X., Wei, Z., and Wen, J. A survey on large language model based autonomous agents. Frontiers of Computer Science, 18, article 186345 (2024). doi:10.1007/s11704-024-40231-1.</a:t>
            </a:r>
          </a:p>
          <a:p>
            <a:pPr>
              <a:spcAft>
                <a:spcPts val="600"/>
              </a:spcAft>
              <a:buFont typeface="Arial"/>
              <a:buChar char="•"/>
            </a:pPr>
            <a:r>
              <a:rPr sz="1300">
                <a:solidFill>
                  <a:srgbClr val="1A1A1A"/>
                </a:solidFill>
                <a:latin typeface="Calibri"/>
              </a:rPr>
              <a:t>[2] He, J., Treude, C., and Lo, D. LLM-Based Multi-Agent Systems for Software Engineering: Literature Review, Vision, and the Road Ahead. ACM Transactions on Software Engineering and Methodology, 34(5), May 2025. doi:10.1145/3712003.</a:t>
            </a:r>
          </a:p>
          <a:p>
            <a:pPr>
              <a:spcAft>
                <a:spcPts val="600"/>
              </a:spcAft>
              <a:buFont typeface="Arial"/>
              <a:buChar char="•"/>
            </a:pPr>
            <a:r>
              <a:rPr sz="1300">
                <a:solidFill>
                  <a:srgbClr val="1A1A1A"/>
                </a:solidFill>
                <a:latin typeface="Calibri"/>
              </a:rPr>
              <a:t>[3] Guo, T., Chen, X., Wang, Y., Chang, R., Pei, S., Chawla, N. V., Wiest, O., and Zhang, X. Large Language Model based Multi-Agents: A Survey of Progress and Challenges. Proceedings of the Thirty-Third International Joint Conference on Artificial Intelligence (IJCAI-24), Survey Track, pages 8048–8057. doi:10.24963/ijcai.2024/890.</a:t>
            </a:r>
          </a:p>
          <a:p>
            <a:pPr>
              <a:spcAft>
                <a:spcPts val="600"/>
              </a:spcAft>
              <a:buFont typeface="Arial"/>
              <a:buChar char="•"/>
            </a:pPr>
            <a:r>
              <a:rPr sz="1300">
                <a:solidFill>
                  <a:srgbClr val="1A1A1A"/>
                </a:solidFill>
                <a:latin typeface="Calibri"/>
              </a:rPr>
              <a:t>[4] Chang, E. Y., and Geng, L. SagaLLM: Context Management, Validation, and Transaction Guarantees for Multi-Agent LLM Planning. Proceedings of the VLDB Endowment (PVLDB), 18(12):4874–4886, 2025. doi:10.14778/3750601.3750611.</a:t>
            </a:r>
          </a:p>
          <a:p>
            <a:pPr>
              <a:spcAft>
                <a:spcPts val="600"/>
              </a:spcAft>
              <a:buFont typeface="Arial"/>
              <a:buChar char="•"/>
            </a:pPr>
            <a:r>
              <a:rPr sz="1300">
                <a:solidFill>
                  <a:srgbClr val="1A1A1A"/>
                </a:solidFill>
                <a:latin typeface="Calibri"/>
              </a:rPr>
              <a:t>[5] Wu, Q., Bansal, G., Zhang, J., Wu, Y., Li, B., Zhu, E., Jiang, L., Zhang, X., Zhang, S., Liu, J., Awadallah, A. H., White, R. W., Burger, D., and Wang, C. AutoGen: Enabling Next-Gen LLM Applications via Multi-Agent Conversations. Proceedings of the First Conference on Language Modeling (COLM 2024).</a:t>
            </a:r>
          </a:p>
          <a:p>
            <a:pPr>
              <a:spcAft>
                <a:spcPts val="600"/>
              </a:spcAft>
              <a:buFont typeface="Arial"/>
              <a:buChar char="•"/>
            </a:pPr>
            <a:r>
              <a:rPr sz="1300">
                <a:solidFill>
                  <a:srgbClr val="1A1A1A"/>
                </a:solidFill>
                <a:latin typeface="Calibri"/>
              </a:rPr>
              <a:t>[6] Hong, S., Zhuge, M., Chen, J., Zheng, X., Cheng, Y., Wang, J., Zhang, C., Wang, Z., Yau, S. K. S., Lin, Z., Zhou, L., Ran, C., Xiao, L., Wu, C., and Schmidhuber, J. MetaGPT: Meta Programming for A Multi-Agent Collaborative Framework. Proceedings of the Twelfth International Conference on Learning Representations (ICLR 2024).</a:t>
            </a:r>
          </a:p>
          <a:p>
            <a:pPr>
              <a:spcAft>
                <a:spcPts val="600"/>
              </a:spcAft>
              <a:buFont typeface="Arial"/>
              <a:buChar char="•"/>
            </a:pPr>
            <a:r>
              <a:rPr sz="1300">
                <a:solidFill>
                  <a:srgbClr val="1A1A1A"/>
                </a:solidFill>
                <a:latin typeface="Calibri"/>
              </a:rPr>
              <a:t>[7] Qian, C., Liu, W., Liu, H., Chen, N., Dang, Y., Li, J., Yang, C., Chen, W., Su, Y., Cong, X., Xu, J., Li, D., Liu, Z., and Sun, M. ChatDev: Communicative Agents for Software Development. Proceedings of the 62nd Annual Meeting of the Association for Computational Linguistics (Volume 1: Long Papers), pages 15174–15186. doi:10.18653/v1/2024.acl-long.810.</a:t>
            </a:r>
          </a:p>
          <a:p>
            <a:pPr>
              <a:spcAft>
                <a:spcPts val="600"/>
              </a:spcAft>
              <a:buFont typeface="Arial"/>
              <a:buChar char="•"/>
            </a:pPr>
            <a:r>
              <a:rPr sz="1300">
                <a:solidFill>
                  <a:srgbClr val="1A1A1A"/>
                </a:solidFill>
                <a:latin typeface="Calibri"/>
              </a:rPr>
              <a:t>[8] Li, G., Hammoud, H. A. A. K., Itani, H., Khizbullin, D., and Ghanem, B. CAMEL: Communicative Agents for “Mind” Exploration of Large Language Model Society. Advances in Neural Information Processing Systems 36 (NeurIPS 2023).</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Contents item 11. CrewAI is an engineering framework without a flagship peer-reviewed paper in this list.</a:t>
            </a:r>
          </a:p>
        </p:txBody>
      </p:sp>
      <p:sp>
        <p:nvSpPr>
          <p:cNvPr id="4040" name="Automatic Date 40"/>
          <p:cNvSpPr txBox="1"/>
          <p:nvPr/>
        </p:nvSpPr>
        <p:spPr>
          <a:xfrm>
            <a:off x="255016" y="6565900"/>
            <a:ext cx="3108960" cy="255016"/>
          </a:xfrm>
          <a:prstGeom prst="rect">
            <a:avLst/>
          </a:prstGeom>
          <a:noFill/>
        </p:spPr>
        <p:txBody>
          <a:bodyPr wrap="none" lIns="0" tIns="0" rIns="0" bIns="0" anchor="ctr"/>
          <a:lstStyle/>
          <a:p>
            <a:pPr algn="l"/>
            <a:fld id="{9b413a79-2a85-47b7-85a4-1e5e0787af6d}" type="datetime3">
              <a:rPr lang="en-GB" sz="1000" dirty="0">
                <a:solidFill>
                  <a:srgbClr val="9AA3AE"/>
                </a:solidFill>
                <a:latin typeface="Calibri"/>
              </a:rPr>
              <a:t>09/07/2026</a:t>
            </a:fld>
            <a:endParaRPr lang="en-GB" sz="1000"/>
          </a:p>
        </p:txBody>
      </p:sp>
      <p:sp>
        <p:nvSpPr>
          <p:cNvPr id="5040" name="Automatic Slide Number 40"/>
          <p:cNvSpPr txBox="1"/>
          <p:nvPr/>
        </p:nvSpPr>
        <p:spPr>
          <a:xfrm>
            <a:off x="11475720" y="6510528"/>
            <a:ext cx="475488" cy="256032"/>
          </a:xfrm>
          <a:prstGeom prst="rect">
            <a:avLst/>
          </a:prstGeom>
          <a:noFill/>
        </p:spPr>
        <p:txBody>
          <a:bodyPr wrap="none" lIns="0" tIns="0" rIns="0" bIns="0" anchor="ctr"/>
          <a:lstStyle/>
          <a:p>
            <a:pPr algn="ctr"/>
            <a:fld id="{7270f86b-1c08-4d4d-bc67-e6d47def8ca1}" type="slidenum">
              <a:rPr lang="en-GB" sz="1200" b="1" dirty="0">
                <a:solidFill>
                  <a:srgbClr val="FFFFFF"/>
                </a:solidFill>
                <a:latin typeface="Calibri"/>
              </a:rPr>
              <a:t>40</a:t>
            </a:fld>
            <a:endParaRPr lang="en-GB" sz="1200"/>
          </a:p>
        </p:txBody>
      </p:sp>
    </p:spTree>
  </p:cSld>
  <p:clrMapOvr>
    <a:masterClrMapping/>
  </p:clrMapOvr>
  <p:hf sldNum="1" hdr="0" ftr="1" dt="1"/>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References — [9]–[16]</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Citations [9]–[16]. Click a DOI to open the publisher record.</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[9] Qin, Y., Liang, S., Ye, Y., Zhu, K., Yan, L., Lu, Y., Lin, Y., Cong, X., Tang, X., Qian, B., Zhao, S., Hong, L., Tian, R., Xie, R., Zhou, J., Gerstein, M., Li, D., Liu, Z., and Sun, M. ToolLLM: Facilitating Large Language Models to Master 16000+ Real-world APIs. Proceedings of the Twelfth International Conference on Learning Representations (ICLR 2024).</a:t>
            </a:r>
          </a:p>
          <a:p>
            <a:pPr>
              <a:spcAft>
                <a:spcPts val="600"/>
              </a:spcAft>
              <a:buFont typeface="Arial"/>
              <a:buChar char="•"/>
            </a:pPr>
            <a:r>
              <a:rPr sz="1300">
                <a:solidFill>
                  <a:srgbClr val="1A1A1A"/>
                </a:solidFill>
                <a:latin typeface="Calibri"/>
              </a:rPr>
              <a:t>[10] Zheng, Y., Li, P., Liu, W., Liu, Y., Luan, J., and Wang, B. ToolRerank: Adaptive and Hierarchy-Aware Reranking for Tool Retrieval. Proceedings of the 2024 Joint International Conference on Computational Linguistics, Language Resources and Evaluation (LREC-COLING 2024), pages 16263–16273. ACL Anthology 2024.lrec-main.1413.</a:t>
            </a:r>
          </a:p>
          <a:p>
            <a:pPr>
              <a:spcAft>
                <a:spcPts val="600"/>
              </a:spcAft>
              <a:buFont typeface="Arial"/>
              <a:buChar char="•"/>
            </a:pPr>
            <a:r>
              <a:rPr sz="1300">
                <a:solidFill>
                  <a:srgbClr val="1A1A1A"/>
                </a:solidFill>
                <a:latin typeface="Calibri"/>
              </a:rPr>
              <a:t>[11] Ong, I., Almahairi, A., Wu, V., Chiang, W.-L., Wu, T., Gonzalez, J. E., Kadous, M. W., and Stoica, I. RouteLLM: Learning to Route LLMs from Preference Data. Proceedings of the Thirteenth International Conference on Learning Representations (ICLR 2025).</a:t>
            </a:r>
          </a:p>
          <a:p>
            <a:pPr>
              <a:spcAft>
                <a:spcPts val="600"/>
              </a:spcAft>
              <a:buFont typeface="Arial"/>
              <a:buChar char="•"/>
            </a:pPr>
            <a:r>
              <a:rPr sz="1300">
                <a:solidFill>
                  <a:srgbClr val="1A1A1A"/>
                </a:solidFill>
                <a:latin typeface="Calibri"/>
              </a:rPr>
              <a:t>[12] Yue, Y., Zhang, G., Liu, B., Wan, G., Wang, K., Cheng, D., and Qi, Y. MasRouter: Learning to Route LLMs for Multi-Agent Systems. Proceedings of the 63rd Annual Meeting of the Association for Computational Linguistics (Volume 1: Long Papers), pages 15549–15572. doi:10.18653/v1/2025.acl-long.757.</a:t>
            </a:r>
          </a:p>
          <a:p>
            <a:pPr>
              <a:spcAft>
                <a:spcPts val="600"/>
              </a:spcAft>
              <a:buFont typeface="Arial"/>
              <a:buChar char="•"/>
            </a:pPr>
            <a:r>
              <a:rPr sz="1300">
                <a:solidFill>
                  <a:srgbClr val="1A1A1A"/>
                </a:solidFill>
                <a:latin typeface="Calibri"/>
              </a:rPr>
              <a:t>[13] Panda, P., Magazine, R., Devaguptapu, C., Takemori, S., and Sharma, V. Adaptive LLM Routing under Budget Constraints. Findings of the Association for Computational Linguistics: EMNLP 2025, pages 23934–23949. doi:10.18653/v1/2025.findings-emnlp.1301. Method name: PILOT (Preference-prior Informed LinUCB).</a:t>
            </a:r>
          </a:p>
          <a:p>
            <a:pPr>
              <a:spcAft>
                <a:spcPts val="600"/>
              </a:spcAft>
              <a:buFont typeface="Arial"/>
              <a:buChar char="•"/>
            </a:pPr>
            <a:r>
              <a:rPr sz="1300">
                <a:solidFill>
                  <a:srgbClr val="1A1A1A"/>
                </a:solidFill>
                <a:latin typeface="Calibri"/>
              </a:rPr>
              <a:t>[14] Jiang, H., Wu, Q., Lin, C.-Y., Yang, Y., and Qiu, L. LLMLingua: Compressing Prompts for Accelerated Inference of Large Language Models. Proceedings of the 2023 Conference on Empirical Methods in Natural Language Processing, pages 13358–13376. doi:10.18653/v1/2023.emnlp-main.825.</a:t>
            </a:r>
          </a:p>
          <a:p>
            <a:pPr>
              <a:spcAft>
                <a:spcPts val="600"/>
              </a:spcAft>
              <a:buFont typeface="Arial"/>
              <a:buChar char="•"/>
            </a:pPr>
            <a:r>
              <a:rPr sz="1300">
                <a:solidFill>
                  <a:srgbClr val="1A1A1A"/>
                </a:solidFill>
                <a:latin typeface="Calibri"/>
              </a:rPr>
              <a:t>[15] Park, J. S., O’Brien, J. C., Cai, C. J., Morris, M. R., Liang, P., and Bernstein, M. S. Generative Agents: Interactive Simulacra of Human Behavior. Proceedings of the 36th Annual ACM Symposium on User Interface Software and Technology (UIST 2023), Best Paper. doi:10.1145/3586183.3606763.</a:t>
            </a:r>
          </a:p>
          <a:p>
            <a:pPr>
              <a:spcAft>
                <a:spcPts val="600"/>
              </a:spcAft>
              <a:buFont typeface="Arial"/>
              <a:buChar char="•"/>
            </a:pPr>
            <a:r>
              <a:rPr sz="1300">
                <a:solidFill>
                  <a:srgbClr val="1A1A1A"/>
                </a:solidFill>
                <a:latin typeface="Calibri"/>
              </a:rPr>
              <a:t>[16] Tero, A., Takagi, S., Saigusa, T., Ito, K., Bebber, D. P., Fricker, M. D., Yumiki, K., Kobayashi, R., and Nakagaki, T. Rules for Biologically Inspired Adaptive Network Design. Science 327(5964):439–442. doi:10.1126/science.1177894.</a:t>
            </a:r>
          </a:p>
        </p:txBody>
      </p:sp>
      <p:sp>
        <p:nvSpPr>
          <p:cNvPr id="4041" name="Automatic Date 41"/>
          <p:cNvSpPr txBox="1"/>
          <p:nvPr/>
        </p:nvSpPr>
        <p:spPr>
          <a:xfrm>
            <a:off x="255016" y="6565900"/>
            <a:ext cx="3108960" cy="255016"/>
          </a:xfrm>
          <a:prstGeom prst="rect">
            <a:avLst/>
          </a:prstGeom>
          <a:noFill/>
        </p:spPr>
        <p:txBody>
          <a:bodyPr wrap="none" lIns="0" tIns="0" rIns="0" bIns="0" anchor="ctr"/>
          <a:lstStyle/>
          <a:p>
            <a:pPr algn="l"/>
            <a:fld id="{abddabb5-5ce3-4739-8483-ab7aa8478cfc}" type="datetime3">
              <a:rPr lang="en-GB" sz="1000" dirty="0">
                <a:solidFill>
                  <a:srgbClr val="9AA3AE"/>
                </a:solidFill>
                <a:latin typeface="Calibri"/>
              </a:rPr>
              <a:t>09/07/2026</a:t>
            </a:fld>
            <a:endParaRPr lang="en-GB" sz="1000"/>
          </a:p>
        </p:txBody>
      </p:sp>
      <p:sp>
        <p:nvSpPr>
          <p:cNvPr id="5041" name="Automatic Slide Number 41"/>
          <p:cNvSpPr txBox="1"/>
          <p:nvPr/>
        </p:nvSpPr>
        <p:spPr>
          <a:xfrm>
            <a:off x="11475720" y="6510528"/>
            <a:ext cx="475488" cy="256032"/>
          </a:xfrm>
          <a:prstGeom prst="rect">
            <a:avLst/>
          </a:prstGeom>
          <a:noFill/>
        </p:spPr>
        <p:txBody>
          <a:bodyPr wrap="none" lIns="0" tIns="0" rIns="0" bIns="0" anchor="ctr"/>
          <a:lstStyle/>
          <a:p>
            <a:pPr algn="ctr"/>
            <a:fld id="{0012a6c7-475a-4374-9193-5c92fd15ba7d}" type="slidenum">
              <a:rPr lang="en-GB" sz="1200" b="1" dirty="0">
                <a:solidFill>
                  <a:srgbClr val="FFFFFF"/>
                </a:solidFill>
                <a:latin typeface="Calibri"/>
              </a:rPr>
              <a:t>41</a:t>
            </a:fld>
            <a:endParaRPr lang="en-GB" sz="1200"/>
          </a:p>
        </p:txBody>
      </p:sp>
    </p:spTree>
  </p:cSld>
  <p:clrMapOvr>
    <a:masterClrMapping/>
  </p:clrMapOvr>
  <p:hf sldNum="1" hdr="0" ftr="1" dt="1"/>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References — [17]–[24]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Citations [17]–[24]. Click a DOI to open the publisher record.</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[17] Guo, H., Woodruff, A., and Yadav, A. Improving Lives of Indebted Farmers Using Deep Learning: Predicting Agricultural Produce Prices Using Convolutional Neural Networks (PECAD). Proceedings of the AAAI Conference on Artificial Intelligence, 34(08):13294–13299. doi:10.1609/aaai.v34i08.7039.</a:t>
            </a:r>
          </a:p>
          <a:p>
            <a:pPr>
              <a:spcAft>
                <a:spcPts val="600"/>
              </a:spcAft>
              <a:buFont typeface="Arial"/>
              <a:buChar char="•"/>
            </a:pPr>
            <a:r>
              <a:rPr sz="1300">
                <a:solidFill>
                  <a:srgbClr val="1A1A1A"/>
                </a:solidFill>
                <a:latin typeface="Calibri"/>
              </a:rPr>
              <a:t>[18] Yao, S., Zhao, J., Yu, D., Du, N., Shafran, I., Narasimhan, K., and Cao, Y. ReAct: Synergizing Reasoning and Acting in Language Models. Proceedings of the Eleventh International Conference on Learning Representations (ICLR 2023).</a:t>
            </a:r>
          </a:p>
          <a:p>
            <a:pPr>
              <a:spcAft>
                <a:spcPts val="600"/>
              </a:spcAft>
              <a:buFont typeface="Arial"/>
              <a:buChar char="•"/>
            </a:pPr>
            <a:r>
              <a:rPr sz="1300">
                <a:solidFill>
                  <a:srgbClr val="1A1A1A"/>
                </a:solidFill>
                <a:latin typeface="Calibri"/>
              </a:rPr>
              <a:t>[19] Wei, J., Wang, X., Schuurmans, D., Bosma, M., Ichter, B., Xia, F., Chi, E., Le, Q., and Zhou, D. Chain-of-Thought Prompting Elicits Reasoning in Large Language Models. Advances in Neural Information Processing Systems 35 (NeurIPS 2022).</a:t>
            </a:r>
          </a:p>
          <a:p>
            <a:pPr>
              <a:spcAft>
                <a:spcPts val="600"/>
              </a:spcAft>
              <a:buFont typeface="Arial"/>
              <a:buChar char="•"/>
            </a:pPr>
            <a:r>
              <a:rPr sz="1300">
                <a:solidFill>
                  <a:srgbClr val="1A1A1A"/>
                </a:solidFill>
                <a:latin typeface="Calibri"/>
              </a:rPr>
              <a:t>[20] Yao, S., Yu, D., Zhao, J., Shafran, I., Griffiths, T. L., Cao, Y., and Narasimhan, K. Tree of Thoughts: Deliberate Problem Solving with Large Language Models. Advances in Neural Information Processing Systems 36 (NeurIPS 2023).</a:t>
            </a:r>
          </a:p>
          <a:p>
            <a:pPr>
              <a:spcAft>
                <a:spcPts val="600"/>
              </a:spcAft>
              <a:buFont typeface="Arial"/>
              <a:buChar char="•"/>
            </a:pPr>
            <a:r>
              <a:rPr sz="1300">
                <a:solidFill>
                  <a:srgbClr val="1A1A1A"/>
                </a:solidFill>
                <a:latin typeface="Calibri"/>
              </a:rPr>
              <a:t>[21] Shinn, N., Cassano, F., Gopinath, A., Narasimhan, K., and Yao, S. Reflexion: Language Agents with Verbal Reinforcement Learning. Advances in Neural Information Processing Systems 36 (NeurIPS 2023).</a:t>
            </a:r>
          </a:p>
          <a:p>
            <a:pPr>
              <a:spcAft>
                <a:spcPts val="600"/>
              </a:spcAft>
              <a:buFont typeface="Arial"/>
              <a:buChar char="•"/>
            </a:pPr>
            <a:r>
              <a:rPr sz="1300">
                <a:solidFill>
                  <a:srgbClr val="1A1A1A"/>
                </a:solidFill>
                <a:latin typeface="Calibri"/>
              </a:rPr>
              <a:t>[22] Shen, Y., Song, K., Tan, X., Li, D., Lu, W., and Zhuang, Y. HuggingGPT: Solving AI Tasks with ChatGPT and its Friends in Hugging Face. Advances in Neural Information Processing Systems 36 (NeurIPS 2023).</a:t>
            </a:r>
          </a:p>
          <a:p>
            <a:pPr>
              <a:spcAft>
                <a:spcPts val="600"/>
              </a:spcAft>
              <a:buFont typeface="Arial"/>
              <a:buChar char="•"/>
            </a:pPr>
            <a:r>
              <a:rPr sz="1300">
                <a:solidFill>
                  <a:srgbClr val="1A1A1A"/>
                </a:solidFill>
                <a:latin typeface="Calibri"/>
              </a:rPr>
              <a:t>[23] Schick, T., Dwivedi-Yu, J., Dessì, R., Raileanu, R., Lomeli, M., Hambro, E., Zettlemoyer, L., Cancedda, N., and Scialom, T. Toolformer: Language Models Can Teach Themselves to Use Tools. Advances in Neural Information Processing Systems 36 (NeurIPS 2023).</a:t>
            </a:r>
          </a:p>
          <a:p>
            <a:pPr>
              <a:spcAft>
                <a:spcPts val="600"/>
              </a:spcAft>
              <a:buFont typeface="Arial"/>
              <a:buChar char="•"/>
            </a:pPr>
            <a:r>
              <a:rPr sz="1300">
                <a:solidFill>
                  <a:srgbClr val="1A1A1A"/>
                </a:solidFill>
                <a:latin typeface="Calibri"/>
              </a:rPr>
              <a:t>[24] Government of India Open Government Data Platform India. data.gov.in; AGMARKNET resource 9ef84268-d588-465a-a308-a864a43d0070; Directorate of Economics and Statistics crop production; IMD rainfall series; Government Open Data License — India (GODL-India). Live execution corpus, not a journal article.</a:t>
            </a:r>
          </a:p>
        </p:txBody>
      </p:sp>
      <p:sp>
        <p:nvSpPr>
          <p:cNvPr id="4042" name="Automatic Date 42"/>
          <p:cNvSpPr txBox="1"/>
          <p:nvPr/>
        </p:nvSpPr>
        <p:spPr>
          <a:xfrm>
            <a:off x="255016" y="6565900"/>
            <a:ext cx="3108960" cy="255016"/>
          </a:xfrm>
          <a:prstGeom prst="rect">
            <a:avLst/>
          </a:prstGeom>
          <a:noFill/>
        </p:spPr>
        <p:txBody>
          <a:bodyPr wrap="none" lIns="0" tIns="0" rIns="0" bIns="0" anchor="ctr"/>
          <a:lstStyle/>
          <a:p>
            <a:pPr algn="l"/>
            <a:fld id="{9457d634-7bd3-4fd1-a6ec-664f277c13cc}" type="datetime3">
              <a:rPr lang="en-GB" sz="1000" dirty="0">
                <a:solidFill>
                  <a:srgbClr val="9AA3AE"/>
                </a:solidFill>
                <a:latin typeface="Calibri"/>
              </a:rPr>
              <a:t>09/07/2026</a:t>
            </a:fld>
            <a:endParaRPr lang="en-GB" sz="1000"/>
          </a:p>
        </p:txBody>
      </p:sp>
      <p:sp>
        <p:nvSpPr>
          <p:cNvPr id="5042" name="Automatic Slide Number 42"/>
          <p:cNvSpPr txBox="1"/>
          <p:nvPr/>
        </p:nvSpPr>
        <p:spPr>
          <a:xfrm>
            <a:off x="11475720" y="6510528"/>
            <a:ext cx="475488" cy="256032"/>
          </a:xfrm>
          <a:prstGeom prst="rect">
            <a:avLst/>
          </a:prstGeom>
          <a:noFill/>
        </p:spPr>
        <p:txBody>
          <a:bodyPr wrap="none" lIns="0" tIns="0" rIns="0" bIns="0" anchor="ctr"/>
          <a:lstStyle/>
          <a:p>
            <a:pPr algn="ctr"/>
            <a:fld id="{2d489fd4-c02a-48dd-a675-ca253cbfc81b}" type="slidenum">
              <a:rPr lang="en-GB" sz="1200" b="1" dirty="0">
                <a:solidFill>
                  <a:srgbClr val="FFFFFF"/>
                </a:solidFill>
                <a:latin typeface="Calibri"/>
              </a:rPr>
              <a:t>42</a:t>
            </a:fld>
            <a:endParaRPr lang="en-GB" sz="1200"/>
          </a:p>
        </p:txBody>
      </p:sp>
    </p:spTree>
  </p:cSld>
  <p:clrMapOvr>
    <a:masterClrMapping/>
  </p:clrMapOvr>
  <p:hf sldNum="1" hdr="0" ftr="1" dt="1"/>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Thank you</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Adaptive Context Reasoning System — a research programme, not a performance number.</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By : Jenisha T</a:t>
            </a:r>
          </a:p>
          <a:p>
            <a:pPr>
              <a:spcAft>
                <a:spcPts val="600"/>
              </a:spcAft>
              <a:buFont typeface="Arial"/>
              <a:buChar char="•"/>
            </a:pPr>
            <a:r>
              <a:rPr sz="1300">
                <a:solidFill>
                  <a:srgbClr val="1A1A1A"/>
                </a:solidFill>
                <a:latin typeface="Calibri"/>
              </a:rPr>
              <a:t>(Reg. No. 24ETRP720001)</a:t>
            </a:r>
          </a:p>
          <a:p>
            <a:pPr>
              <a:spcAft>
                <a:spcPts val="600"/>
              </a:spcAft>
              <a:buFont typeface="Arial"/>
              <a:buChar char="•"/>
            </a:pPr>
            <a:r>
              <a:rPr sz="1300">
                <a:solidFill>
                  <a:srgbClr val="1A1A1A"/>
                </a:solidFill>
                <a:latin typeface="Calibri"/>
              </a:rPr>
              <a:t>Supervisor: Dr. Jyothi A P</a:t>
            </a:r>
          </a:p>
          <a:p>
            <a:pPr>
              <a:spcAft>
                <a:spcPts val="600"/>
              </a:spcAft>
              <a:buFont typeface="Arial"/>
              <a:buChar char="•"/>
            </a:pPr>
            <a:r>
              <a:rPr sz="1300">
                <a:solidFill>
                  <a:srgbClr val="1A1A1A"/>
                </a:solidFill>
                <a:latin typeface="Calibri"/>
              </a:rPr>
              <a:t>Department of Computer Science and Engineering</a:t>
            </a:r>
          </a:p>
          <a:p>
            <a:pPr>
              <a:spcAft>
                <a:spcPts val="600"/>
              </a:spcAft>
              <a:buFont typeface="Arial"/>
              <a:buChar char="•"/>
            </a:pPr>
            <a:r>
              <a:rPr sz="1300">
                <a:solidFill>
                  <a:srgbClr val="1A1A1A"/>
                </a:solidFill>
                <a:latin typeface="Calibri"/>
              </a:rPr>
              <a:t>Faculty of Engineering and Technology, MSRUAS</a:t>
            </a:r>
          </a:p>
          <a:p>
            <a:pPr>
              <a:spcAft>
                <a:spcPts val="600"/>
              </a:spcAft>
              <a:buFont typeface="Arial"/>
              <a:buChar char="•"/>
            </a:pPr>
            <a:r>
              <a:rPr sz="1300">
                <a:solidFill>
                  <a:srgbClr val="1A1A1A"/>
                </a:solidFill>
                <a:latin typeface="Calibri"/>
              </a:rPr>
              <a:t>jenisha.t@msruas.ac.in</a:t>
            </a:r>
          </a:p>
        </p:txBody>
      </p:sp>
      <p:sp>
        <p:nvSpPr>
          <p:cNvPr id="4043" name="Automatic Date 43"/>
          <p:cNvSpPr txBox="1"/>
          <p:nvPr/>
        </p:nvSpPr>
        <p:spPr>
          <a:xfrm>
            <a:off x="255016" y="6565900"/>
            <a:ext cx="3108960" cy="255016"/>
          </a:xfrm>
          <a:prstGeom prst="rect">
            <a:avLst/>
          </a:prstGeom>
          <a:noFill/>
        </p:spPr>
        <p:txBody>
          <a:bodyPr wrap="none" lIns="0" tIns="0" rIns="0" bIns="0" anchor="ctr"/>
          <a:lstStyle/>
          <a:p>
            <a:pPr algn="l"/>
            <a:fld id="{864c5944-a5c2-41fd-9f33-23d6f093e7e0}" type="datetime3">
              <a:rPr lang="en-GB" sz="1000" dirty="0">
                <a:solidFill>
                  <a:srgbClr val="9AA3AE"/>
                </a:solidFill>
                <a:latin typeface="Calibri"/>
              </a:rPr>
              <a:t>09/07/2026</a:t>
            </a:fld>
            <a:endParaRPr lang="en-GB" sz="1000"/>
          </a:p>
        </p:txBody>
      </p:sp>
      <p:sp>
        <p:nvSpPr>
          <p:cNvPr id="5043" name="Automatic Slide Number 43"/>
          <p:cNvSpPr txBox="1"/>
          <p:nvPr/>
        </p:nvSpPr>
        <p:spPr>
          <a:xfrm>
            <a:off x="11475720" y="6510528"/>
            <a:ext cx="475488" cy="256032"/>
          </a:xfrm>
          <a:prstGeom prst="rect">
            <a:avLst/>
          </a:prstGeom>
          <a:noFill/>
        </p:spPr>
        <p:txBody>
          <a:bodyPr wrap="none" lIns="0" tIns="0" rIns="0" bIns="0" anchor="ctr"/>
          <a:lstStyle/>
          <a:p>
            <a:pPr algn="ctr"/>
            <a:fld id="{3db4d9ae-f9fd-4599-92ff-4ef579b73fe0}" type="slidenum">
              <a:rPr lang="en-GB" sz="1200" b="1" dirty="0">
                <a:solidFill>
                  <a:srgbClr val="FFFFFF"/>
                </a:solidFill>
                <a:latin typeface="Calibri"/>
              </a:rPr>
              <a:t>43</a:t>
            </a:fld>
            <a:endParaRPr lang="en-GB" sz="1200"/>
          </a:p>
        </p:txBody>
      </p:sp>
    </p:spTree>
  </p:cSld>
  <p:clrMapOvr>
    <a:masterClrMapping/>
  </p:clrMapOvr>
  <p:hf sldNum="1" hdr="0" ftr="1" dt="1"/>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Context Reasoning System (ACRS): A Structural Orchestration Layer for Multi-Agent LLM Ecosystems</dc:title>
  <dc:subject>PHD Research Problem Formulation Presentation · Ph.D. in Computer Science and Engineering</dc:subject>
  <dc:creator>Jenisha T</dc:creator>
  <cp:keywords/>
  <dc:description>Automatic date 09/07/2026; slide numbers via PowerPoint slidenum field.</dc:description>
  <cp:lastModifiedBy>Steve Canny</cp:lastModifiedBy>
  <cp:revision>1</cp:revision>
  <dcterms:created xsi:type="dcterms:W3CDTF">2013-01-27T09:14:16Z</dcterms:created>
  <dcterms:modified xsi:type="dcterms:W3CDTF">2013-01-27T09:15:58Z</dcterms:modified>
  <cp:category/>
</cp:coreProperties>
</file>