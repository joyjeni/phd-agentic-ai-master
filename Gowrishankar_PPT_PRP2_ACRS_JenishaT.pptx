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  <p:hf sldNum="1" hdr="0" ftr="1" dt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  <p:hf sldNum="1" hdr="0" ftr="1" dt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  <p:hf sldNum="1" hdr="0" ftr="1" dt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  <p:hf sldNum="1" hdr="0" ftr="1" dt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  <p:hf sldNum="1" hdr="0" ftr="1" dt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  <p:hf sldNum="1" hdr="0" ftr="1" dt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  <p:hf sldNum="1" hdr="0" ftr="1" dt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  <p:hf sldNum="1" hdr="0" ftr="1" dt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  <p:hf sldNum="1" hdr="0" ftr="1" dt="1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  <p:hf sldNum="1" hdr="0" ftr="1" dt="1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6032" y="6565392"/>
            <a:ext cx="3108960" cy="256032"/>
          </a:xfrm>
        </p:spPr>
        <p:txBody>
          <a:bodyPr wrap="none"/>
          <a:lstStyle/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383280" y="6565392"/>
            <a:ext cx="5760720" cy="256032"/>
          </a:xfrm>
        </p:spPr>
        <p:txBody>
          <a:bodyPr wrap="none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601200" y="6565392"/>
            <a:ext cx="2286000" cy="256032"/>
          </a:xfrm>
        </p:spPr>
        <p:txBody>
          <a:bodyPr wrap="none"/>
          <a:lstStyle/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  <p:hf sldNum="1" hdr="0" ftr="1" dt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6032" y="6565392"/>
            <a:ext cx="310896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l"/>
            <a:fld id="{5BCAD085-E8A6-8845-BD4E-CB4CCA059FC4}" type="datetime3">
              <a:rPr lang="en-US" smtClean="0"/>
              <a:t>7 September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3280" y="6565392"/>
            <a:ext cx="576072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601200" y="6565392"/>
            <a:ext cx="2286000" cy="256032"/>
          </a:xfrm>
          <a:prstGeom prst="rect">
            <a:avLst/>
          </a:prstGeom>
        </p:spPr>
        <p:txBody>
          <a:bodyPr vert="horz" lIns="91440" tIns="45720" rIns="91440" bIns="45720" rtlCol="0" anchor="ctr" wrap="none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/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hf sldNum="1" hdr="0" ftr="1" dt="1"/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Title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Adaptive Context Reasoning System (ACRS)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Presented By: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Faculty of Engineering and Technology, MSRUAS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Proposal stage. No empirical performance claims. Live Indian Open Government Data is a methodological constraint, not a result.</a:t>
            </a:r>
          </a:p>
        </p:txBody>
      </p:sp>
      <p:sp>
        <p:nvSpPr>
          <p:cNvPr id="4001" name="Automatic Date 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b98f9638-04df-4c72-9c92-606d10a7ef9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1" name="Automatic Slide Number 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a85ef5c4-7dfc-429b-bbf1-dbb2695ad106}" type="slidenum">
              <a:rPr lang="en-GB" sz="1000" dirty="0">
                <a:solidFill>
                  <a:srgbClr val="C4A35A"/>
                </a:solidFill>
                <a:latin typeface="Calibri"/>
              </a:rPr>
              <a:t>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student details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student details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Attribute and Details as recorded for the FET research-proposal template.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212848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6860"/>
                <a:gridCol w="7834579"/>
              </a:tblGrid>
              <a:tr h="3657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Attribute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Details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Full Name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Jenisha 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Registration Number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24ETRP720001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Date of Registration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04-Sept-2024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Department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Computer Science and Engineering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Faculty/School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FET (Faculty of Engineering and Technology)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Course Type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Part Time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Contact Address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#123, MSR Nagar, Bangalore. Phone: +91-XXXXXXXXXX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Email Address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jenisha.t@msruas.ac.in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Research Topic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Adaptive Context Reasoning System (ACRS)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Supervisor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Dr. Jyothi A P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02" name="Automatic Date 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147e2e15-6e62-4f2e-ac85-91666b26875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2" name="Automatic Slide Number 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d60bcf4-ba63-48c9-ab7e-ebff9ff828d9}" type="slidenum">
              <a:rPr lang="en-GB" sz="1000" dirty="0">
                <a:solidFill>
                  <a:srgbClr val="C4A35A"/>
                </a:solidFill>
                <a:latin typeface="Calibri"/>
              </a:rPr>
              <a:t>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Contents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Contents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Nine required sections. Research Methodology is expanded for each objective (O1 SATR, O2 APRR, O3 MNCD, O4 FCNP) plus the integrated SATR → APRR → MNCD → FCNP loop. Objective order is SATR → APRR → MNCD → FCNP (not SMART).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" y="2212848"/>
            <a:ext cx="113385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01   Introduction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02  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03   Summary of Literature Review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04   Identified Research Problem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05   Research Title &amp; Aim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06   Research Objectives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07   Research Questions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   Research Methodology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08a   Methodology — O1 SATR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08b   Methodology — O2 APRR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08c   Methodology — O3 MNCD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08d   Methodology — O4 FCNP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08e   Methodology — integrated loop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400">
                <a:solidFill>
                  <a:srgbClr val="1A1214"/>
                </a:solidFill>
                <a:latin typeface="Calibri"/>
              </a:rPr>
              <a:t>09   Conclusion</a:t>
            </a:r>
          </a:p>
        </p:txBody>
      </p:sp>
      <p:sp>
        <p:nvSpPr>
          <p:cNvPr id="4003" name="Automatic Date 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a1c0f1f-15a0-45f3-86d8-cbb2239fa28a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3" name="Automatic Slide Number 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18eea57-c34d-4050-9968-f266c52e60e4}" type="slidenum">
              <a:rPr lang="en-GB" sz="1000" dirty="0">
                <a:solidFill>
                  <a:srgbClr val="C4A35A"/>
                </a:solidFill>
                <a:latin typeface="Calibri"/>
              </a:rPr>
              <a:t>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Introduction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Introduction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This proposal treats multi-agent LLM systems as a computer-science systems problem: not a new foundation model, but a missing orchestration layer between session memory, specialist routing, live tools, and context growth.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Wu et al. introduce AutoGen as a conversation-driven programming framework in which agents exchange messages until a stopping condition (ICLR 2024 LLM Agents Workshop; COLM 2024, arXiv:2308.08155). Hong et al. encode Standard Operating Procedures into MetaGPT so that a software-company metaphor produces structured artefacts (ICLR 2024). Qian et al. organise ChatDev as a chat-chain of organisational roles (ACL 2024). Li et al. study communicative agents in CAMEL (NeurIPS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Tool use is a parallel line. Qin et al. release ToolLLM / ToolBench: 16k+ REST APIs, a DFSDT planner, and ToolEval (ICLR 2024). Zheng et al. add ToolRerank over ToolLLM candidates (LREC-COLING 2024). Learned routers (RouteLLM, MasRouter, PILOT) pick models or collaboration modes. LLMLingua shortens prompts by token importance (EMNLP 2023).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Those stacks still leave four operational surfaces underspecified as one contract: session–tool fusion, a training-free specialist posterior, fail-loud live Indian Open Government Data, and a mesh prune that writes a residue back into retrieval.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ACRS is proposed as that missing layer. The integration order is SATR → APRR → MNCD → FCNP. The live demonstration corpus is Agriculture on data.gov.in. This deck does not claim a leaderboard number.</a:t>
            </a:r>
          </a:p>
        </p:txBody>
      </p:sp>
      <p:sp>
        <p:nvSpPr>
          <p:cNvPr id="4004" name="Automatic Date 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78fd5fd-074f-4174-bdfb-3d035a3d6a0c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4" name="Automatic Slide Number 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44ad8e5d-1b68-40c1-b0e3-9fcc9df45212}" type="slidenum">
              <a:rPr lang="en-GB" sz="1000" dirty="0">
                <a:solidFill>
                  <a:srgbClr val="C4A35A"/>
                </a:solidFill>
                <a:latin typeface="Calibri"/>
              </a:rPr>
              <a:t>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Multi-agent systems literature. What the cited papers actually contribute, and what they leave open for a structural orchestration layer.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Wu et al., AutoGen (COLM 2024 / ICLR 2024 workshop): conversation as the programming model. Gap: messages, not (toolId, score, live citation), are the unit of coordination.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Hong et al., MetaGPT (ICLR 2024): authored SOPs reduce role drift. Gap: the graph of who speaks next is written by the designer, not updated from session-local affinity after a live tool call.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Qian et al., ChatDev (ACL 2024): organisational chat-chain for software artefacts. Gap: the environment is a codebase, not a ministry API.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Li et al., CAMEL (NeurIPS 2023): inception prompting and communicative role-play. Gap: no first-class vote over tool identifiers backed by Open Government Data.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Taken together, these systems prove conversation, SOPs, software roles, and inception prompting. None of them is a session–route–mesh–prune loop over live Indian OGD.</a:t>
            </a:r>
          </a:p>
        </p:txBody>
      </p:sp>
      <p:sp>
        <p:nvSpPr>
          <p:cNvPr id="4005" name="Automatic Date 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6be0919-ca93-432b-af91-fd18f0d8fb7b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5" name="Automatic Slide Number 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e3fd8e2-1901-426f-b25b-d1d71de12b06}" type="slidenum">
              <a:rPr lang="en-GB" sz="1000" dirty="0">
                <a:solidFill>
                  <a:srgbClr val="C4A35A"/>
                </a:solidFill>
                <a:latin typeface="Calibri"/>
              </a:rPr>
              <a:t>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Literature Review — tools, routing, and compression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Tool learning, learned routers, and prompt compression are real literatures. They are not substitutes for the four ACRS modules.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Qin et al., ToolLLM / ToolBench (ICLR 2024): SBERT API retriever, DFSDT planner, ToolEval. Zheng et al., ToolRerank (LREC-COLING 2024): contrastive rerank of ToolLLM candidates. Gap: both are turn-amnesic; they do not fuse which tools actually fired into the next rank.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Ong et al., RouteLLM (2024); Yue et al., MasRouter (ACL 2025); Panda et al., PILOT (Findings of EMNLP 2025): learned or bandit routers over LLM SKUs or collaboration modes. Gap: they do not maintain a training-free Dirichlet–Thompson posterior over named tool specialists.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Jiang et al., LLMLingua (EMNLP 2023): token-importance prompt compression. Gap: compression does not prune a mesh by conductance or write a residue back into retrieval.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Guo, Woodruff &amp; Yadav, PECAD (AAAI 2020): AGMARKNET as a decision-support input for price prediction. Gap: a crop-yield / price CNN is not a multi-agent live-OGD loop. Cited as domain precedent, not as a baseline to beat.</a:t>
            </a:r>
          </a:p>
        </p:txBody>
      </p:sp>
      <p:sp>
        <p:nvSpPr>
          <p:cNvPr id="4006" name="Automatic Date 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ee9b8ef-1d03-415a-b117-8339c0e381a8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6" name="Automatic Slide Number 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67c7307-2bad-44a7-be22-de0bc84f4643}" type="slidenum">
              <a:rPr lang="en-GB" sz="1000" dirty="0">
                <a:solidFill>
                  <a:srgbClr val="C4A35A"/>
                </a:solidFill>
                <a:latin typeface="Calibri"/>
              </a:rPr>
              <a:t>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Summary of Literature Review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Summary of Literature Review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Qualitative map only. This table names the gap each family leaves for ACRS; it does not claim a percentage improvement over any baseline.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212848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670560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Literature family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it already does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ACRS still has to add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MAS frameworks (AutoGen, MetaGPT, ChatDev, CAMEL)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Conversation, SOPs, software roles, inception prompting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 closed session–route–mesh–prune contract, not another chat runtime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Tool learning (ToolLLM / ToolBench / ToolRerank)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Large-scale tool-use corpus and ToolEval-style ranking protocol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Session-fused ranking plus live Indian OGD execution (not RapidAPI replay)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Learned routers (RouteLLM, MasRouter, PILOT)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Train or bandit-route over model SKUs or collaboration modes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Training-free Dirichlet–Thompson posterior over named specialists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Prompt compression (LLMLingua)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Shorten tokens before the LLM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Prune a mesh by conductance and write the residue back into SATR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670560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Indian agriculture DSS (PECAD)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Shows AGMARKNET as a real decision-support input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Live, fail-loud OGD inside a multi-agent loop — not a crop-yield model to beat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07" name="Automatic Date 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417e24d-d11b-46b4-8226-d6948ec6242b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7" name="Automatic Slide Number 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92abb12-637b-46e2-a9fd-50bf3e903cb5}" type="slidenum">
              <a:rPr lang="en-GB" sz="1000" dirty="0">
                <a:solidFill>
                  <a:srgbClr val="C4A35A"/>
                </a:solidFill>
                <a:latin typeface="Calibri"/>
              </a:rPr>
              <a:t>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Identified Research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Identified Research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Five architectural gaps. Four named objectives. One integration contract. Closing a gap is evidenced by a runnable loop and citable equations, not by a promised leaderboard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G1 — Turn-amnesic retrieval. ToolLLM SBERT (Qin et al., ICLR 2024) and ToolRerank (Zheng et al., LREC-COLING 2024) score each query independently. Session co-activation is unused. → Objective 1 SATR.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G2 — Routers pick models or authored SOPs, not tool-specialist agents with a training-free posterior. RouteLLM / PILOT / MasRouter / MetaGPT. → Objective 2 APRR.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G3 — MAS communication is star, SOP, or chat. No mesh vote whose object is a live tool identifier. AutoGen, MetaGPT, ChatDev, CAMEL. → Objective 3 MNCD.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G4 — Prompt compressors (LLMLingua, EMNLP 2023) do not write live citations back into retrieval. → Objective 4 FCNP.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G5 — No closed four-stage contract executed on journal-publishable Indian OGD (data.gov.in / AGMARKNET / IMD / DES), with ToolBench used only as a ranking library. → Integrated ACRS.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Gaps are architectural. This deck does not convert them into NDCG, latency, or accuracy targets.</a:t>
            </a:r>
          </a:p>
        </p:txBody>
      </p:sp>
      <p:sp>
        <p:nvSpPr>
          <p:cNvPr id="4008" name="Automatic Date 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c06a2dc-ae4a-4828-9ca0-4d56a32ccfe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8" name="Automatic Slide Number 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e7bc000f-3f53-4707-99d3-dacc62bc1248}" type="slidenum">
              <a:rPr lang="en-GB" sz="1000" dirty="0">
                <a:solidFill>
                  <a:srgbClr val="C4A35A"/>
                </a:solidFill>
                <a:latin typeface="Calibri"/>
              </a:rPr>
              <a:t>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Title &amp; 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Title &amp; Aim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Adaptive Context Reasoning System (ACRS): A Structural Orchestration Layer for Multi-Agent LLM Ecosystems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Aim. Design, implement, and critically evaluate ACRS — a structural orchestration layer in which session-aware tool retrieval (SATR), training-free specialist routing (APRR), mesh consensus over tool identifiers (MNCD), and flow-coupled context pruning with write-back (FCNP) form a closed loop on live Indian Open Government Data. The proposal-stage claim is architectural completeness and live-pipeline integrity, not a leaderboard number.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Scope of the title. Adaptive = session-conditioned ranking and routing. Context = fused session memory plus mesh residue. Reasoning = specialist posterior plus score-sum consensus. System = four named modules on one contract.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the title is not. It is not a new LLM, not a crop-yield model, and not a claim that ACRS already outperforms ToolLLM, MasRouter, or LLMLingua on a published leaderboard.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Domain lock for the live loop. Agriculture on data.gov.in (AGMARKNET and related verified UUIDs). Other sectors stay out of the inference path in this proposal.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Integration order that the aim implies. SATR (memory) → APRR (who acts) → MNCD (live evidence) → FCNP (prune and write back).</a:t>
            </a:r>
          </a:p>
        </p:txBody>
      </p:sp>
      <p:sp>
        <p:nvSpPr>
          <p:cNvPr id="4009" name="Automatic Date 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6bb9a69-5f70-4d74-a9f2-c8dcdd08c03b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09" name="Automatic Slide Number 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16f4da2f-6071-4dd0-b42c-2ca3c721e19a}" type="slidenum">
              <a:rPr lang="en-GB" sz="1000" dirty="0">
                <a:solidFill>
                  <a:srgbClr val="C4A35A"/>
                </a:solidFill>
                <a:latin typeface="Calibri"/>
              </a:rPr>
              <a:t>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Objectives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Four named modules. Each row is a thesis-sized design claim. Metric targets are deferred until a protocol is frozen.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2212848"/>
          <a:ext cx="11521439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3430"/>
                <a:gridCol w="3917289"/>
                <a:gridCol w="5760720"/>
              </a:tblGrid>
              <a:tr h="804672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ID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Objective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  <a:latin typeface="Calibri"/>
                        </a:rPr>
                        <a:t>What will be designed</a:t>
                      </a:r>
                    </a:p>
                  </a:txBody>
                  <a:tcPr>
                    <a:solidFill>
                      <a:srgbClr val="7C1D2E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O1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SessionRerank+ (SATR)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retrieval chapter of the thesis: given query q and session history H, return a ranked list of ToolBench-schema tools fused with a co-activation cache. The unit of publication is the fusion rule, not an NDCG target.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O2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Adaptive Probabilistic Routing Reinforcement (APRR)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routing chapter: a training-free posterior over tool-specialist agents, updated from SATR scores and from live MNCD observations. The unit of publication is the Bayesian controller, not a Pareto chart.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O3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Mesh Network Context Diffusion (MNCD)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consensus-and-execution chapter: gossip (toolId, score), score-sum consensus, live data.gov.in GET on verified UUIDs. The unit of publication is the protocol plus the citation contract.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7C1D2E"/>
                          </a:solidFill>
                          <a:latin typeface="Calibri"/>
                        </a:rPr>
                        <a:t>O4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Flow-Coupled Network Pruning (FCNP)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214"/>
                          </a:solidFill>
                          <a:latin typeface="Calibri"/>
                        </a:rPr>
                        <a:t>The memory chapter: Kirchhoff/Physarum conductances prune the mesh trace and write surviving live citations back into SATR. The unit of publication is the coupling, not a token-percentage.</a:t>
                      </a:r>
                    </a:p>
                  </a:txBody>
                  <a:tcPr>
                    <a:solidFill>
                      <a:srgbClr val="FFFAF3"/>
                    </a:solidFill>
                  </a:tcPr>
                </a:tc>
              </a:tr>
            </a:tbl>
          </a:graphicData>
        </a:graphic>
      </p:graphicFrame>
      <p:sp>
        <p:nvSpPr>
          <p:cNvPr id="4010" name="Automatic Date 1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6c7b8693-73b9-41f7-9ad5-234c74dd9c4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0" name="Automatic Slide Number 1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c50ced96-0f47-4875-a185-a887ef4b13ed}" type="slidenum">
              <a:rPr lang="en-GB" sz="1000" dirty="0">
                <a:solidFill>
                  <a:srgbClr val="C4A35A"/>
                </a:solidFill>
                <a:latin typeface="Calibri"/>
              </a:rPr>
              <a:t>10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1 — SATR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The retrieval chapter of the thesis: given query q and session history H, return a ranked list of ToolBench-schema tools fused with a co-activation cache. The unit of publication is the fusion rule, not an NDCG target.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Qin et al., ToolLLM / ToolBench (ICLR 2024): Sentence-BERT API retriever over 16,464 RapidAPI tools, then ToolLLaMA + DFSDT. Zheng et al., ToolRerank (LREC-COLING 2024): adaptive truncation of seen vs unseen APIs and hierarchy-aware concentration/diversity. Pipeline: instruction → SBERT retrieve top-k APIs → (optional ToolRerank truncate/rerank) → LLM DFSDT/ReAct planner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SOTA retrievers are turn-amnesic. They do not maintain a success-conditioned co-activation graph or ingest pruned memory from later stages.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Session co-activation cache as a first-class prior over tool pairs. Convex fusion of semantic and session scores; λ may grow with session length. ToolRerank-style seen/unseen truncation kept, then applied after session scoring. FCNP memory mixed into the next SATR prior so retrieval is closed-loop.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 embed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50692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SBERT (Qin ICLR 2024)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35624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ToolRerank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20556" y="4690872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Planner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H + M_t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50692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Session fusion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35624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Hierarchy cut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20556" y="5221224"/>
            <a:ext cx="2775204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Shortlist → APRR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github.com/joyjeni/session-aware-toolbench-rerank</a:t>
            </a:r>
          </a:p>
        </p:txBody>
      </p:sp>
      <p:sp>
        <p:nvSpPr>
          <p:cNvPr id="4011" name="Automatic Date 1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7d4c20c-946e-41da-ab15-f1789a7c112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1" name="Automatic Slide Number 1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9a8edc2e-45ac-4561-b3ee-f91a3ec3ce8b}" type="slidenum">
              <a:rPr lang="en-GB" sz="1000" dirty="0">
                <a:solidFill>
                  <a:srgbClr val="C4A35A"/>
                </a:solidFill>
                <a:latin typeface="Calibri"/>
              </a:rPr>
              <a:t>11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2 — APRR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The routing chapter: a training-free posterior over tool-specialist agents, updated from SATR scores and from live MNCD observations. The unit of publication is the Bayesian controller, not a Pareto chart.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Yue et al., MasRouter (ACL 2025, doi:10.18653/v1/2025.acl-long.757): trained neural controller over multi-agent topologies. Ong et al., RouteLLM (arXiv:2406.18665, 2024): routers among LLMs. Panda et al., PILOT (Findings of EMNLP 2025): preference-prior LinUCB for budget-constrained LLM routing. Hong et al., MetaGPT (ICLR 2024): authored SOP workflows. Pipeline: query → trained controller or difficulty model → choose one LLM/agent → execute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SOTA either trains a neural router, picks a model, or follows an authored SOP. It does not maintain a training-free affinity matrix over Indian OGD tool families.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Training-free online W versus MasRouter's learned controller. Implemented update is κ·reward·1/L²·1/lat_norm with negative reward on failure. CTGR and FTDR remain in the GitHub repo; this lab runs core APRR hops. W is session state, so routing can adapt across farmer turns.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Query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MasRouter / RouteLLM / SOP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Pick an LLM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 shortlist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Dirichlet–Thompson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Specialist path → MNCD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github.com/joyjeni/aprr-multi-agent-routing</a:t>
            </a:r>
          </a:p>
        </p:txBody>
      </p:sp>
      <p:sp>
        <p:nvSpPr>
          <p:cNvPr id="4012" name="Automatic Date 1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26a099f-d2d6-4df0-b459-b87f86e58f87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2" name="Automatic Slide Number 1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5861caa7-531b-4a35-8397-7d7e0641079f}" type="slidenum">
              <a:rPr lang="en-GB" sz="1000" dirty="0">
                <a:solidFill>
                  <a:srgbClr val="C4A35A"/>
                </a:solidFill>
                <a:latin typeface="Calibri"/>
              </a:rPr>
              <a:t>12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3 — MNCD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The consensus-and-execution chapter: gossip (toolId, score), score-sum consensus, live data.gov.in GET on verified UUIDs. The unit of publication is the protocol plus the citation contract.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Wu et al., AutoGen (ICLR 2024 LLM Agents Workshop; COLM 2024, arXiv:2308.08155): multi-agent conversation. Hong et al., MetaGPT (ICLR 2024): SOP pipeline. Qian et al., ChatDev (ACL 2024): organisational chat-chain. Li et al., CAMEL (NeurIPS 2023): communicative role-playing agents. Pipeline: manager LLM → sequential or star-topology agent messages → tool calls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Star and chat topologies coordinate over natural-language messages. They do not vote over tool identifiers backed by a ministry API.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First-class vote object is a tool ID, not a chat utterance. consensus_pick is score-sum; consensus_pick_borda is a non-default variant. Live Indian OGD only. Catalog-only tools stay ranking-only; prices are never invented. HTTP 5xx/429 are retried; empty filters show other live rows from the same resource.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Manager LLM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35624" y="4690872"/>
            <a:ext cx="5660136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Star / chat messages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Mesh gossip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Score-sum over tool IDs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Live data.gov.in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github.com/joyjeni/mncd-mesh-agents</a:t>
            </a:r>
          </a:p>
        </p:txBody>
      </p:sp>
      <p:sp>
        <p:nvSpPr>
          <p:cNvPr id="4013" name="Automatic Date 1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c45c5187-474d-4c51-ab7b-081890602298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3" name="Automatic Slide Number 1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684cac2c-bc18-4a8b-803b-6c0fab206b16}" type="slidenum">
              <a:rPr lang="en-GB" sz="1000" dirty="0">
                <a:solidFill>
                  <a:srgbClr val="C4A35A"/>
                </a:solidFill>
                <a:latin typeface="Calibri"/>
              </a:rPr>
              <a:t>13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Objectives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Objective 4 — FCNP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The memory chapter: Kirchhoff/Physarum conductances prune the mesh trace and write surviving live citations back into SATR. The unit of publication is the coupling, not a token-percentage.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SOTA. Jiang et al., LLMLingua (EMNLP 2023): token-level prompt compression. Tero et al., Science 2010 (doi:10.1126/science.1177894): Physarum adaptive network. Park et al., Generative Agents (CHI 2023): language memory stream in a sandbox. Pipeline: long prompt → compressor → LLM. Memory is not written back into a tool retriever.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Gap. Token compressors are not current-reinforced over a context graph and do not pin live government citations into the next retrieval turn.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Novelty. Laplacian solve with grounded sink, matching the published Python pruner. Hybrid tiering and persistent high-flow citations. If a requested crop/state has no AGMARKNET rows today, other live rows are shown; nothing is invented. Closed loop: retained spans become SATR session memory.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Top: published SOTA. Bottom: this proposal. No numerical targets.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Long prompt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12336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LLMLingua tokens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8912" y="4690872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4A2A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No write-back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65760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 citations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12336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Kirchhoff / Physarum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58912" y="5221224"/>
            <a:ext cx="3736848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M_t → SATR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Repository: github.com/joyjeni/fcnp-context-pruning</a:t>
            </a:r>
          </a:p>
        </p:txBody>
      </p:sp>
      <p:sp>
        <p:nvSpPr>
          <p:cNvPr id="4014" name="Automatic Date 1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15faa91-7932-4d71-8c50-263f18a71d86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4" name="Automatic Slide Number 1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31f242d-129f-47ab-819a-2ff0030a1982}" type="slidenum">
              <a:rPr lang="en-GB" sz="1000" dirty="0">
                <a:solidFill>
                  <a:srgbClr val="C4A35A"/>
                </a:solidFill>
                <a:latin typeface="Calibri"/>
              </a:rPr>
              <a:t>14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Questions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Questions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Each question is paired with one objective. Answers will be empirical after a protocol is frozen; this slide does not pre-commit scores.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RQ1. Can tool retrieval be conditioned on a co-activation cache and session memory rather than a single query embedding (Qin et al., ToolLLM, ICLR 2024; Zheng et al., ToolRerank, LREC-COLING 2024)?  →  addressed by O1 (SessionRerank+ (SATR)).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RQ2. Can routing sample a training-free posterior over tool-specialist agents instead of a trained neural controller or an authored SOP (Yue et al., MasRouter, ACL 2025; Hong et al., MetaGPT, ICLR 2024; Ong et al., RouteLLM, 2024)?  →  addressed by O2 (Adaptive Probabilistic Routing Reinforcement (APRR)).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RQ3. Can execution proceed as gossiped (toolId, score) plus score-sum consensus, then a live data.gov.in GET, instead of a central chat orchestrator (Wu et al., AutoGen, COLM 2024)?  →  addressed by O3 (Mesh Network Context Diffusion (MNCD)).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RQ4. Can Kirchhoff/Physarum pruning pin live citations back into retrieval rather than only shortening the prompt (Jiang et al., LLMLingua, EMNLP 2023; Tero et al., Science 2010)?  →  addressed by O4 (Flow-Coupled Network Pruning (FCNP)).</a:t>
            </a:r>
          </a:p>
        </p:txBody>
      </p:sp>
      <p:sp>
        <p:nvSpPr>
          <p:cNvPr id="4015" name="Automatic Date 1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5ff438f2-5e87-4d2e-b759-dce808b5a12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5" name="Automatic Slide Number 1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a7e406a-6cea-4061-b670-59c1f6fd3f94}" type="slidenum">
              <a:rPr lang="en-GB" sz="1000" dirty="0">
                <a:solidFill>
                  <a:srgbClr val="C4A35A"/>
                </a:solidFill>
                <a:latin typeface="Calibri"/>
              </a:rPr>
              <a:t>15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One methodology per objective, then one integrated protocol. Proposal-stage: design the loop and freeze the protocol; do not pre-commit a leaderboard.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O1 SATR — fused session ranking against a ToolBench-style library. Live mandi rows are not SATR’s job.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O2 APRR — training-free Dirichlet–Thompson posterior over named specialists. Learned routers are a future bake-off,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O3 MNCD — gossip + score-sum consensus, then live data.gov.in GET on verified Agriculture UUIDs. Fail loud. No dummy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O4 FCNP — Kirchhoff / Physarum-inspired conductance prune with write-back into SATR. Not LLMLingua token deletion.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Integrated contract. SATR → APRR → MNCD → FCNP must run in that order on one user turn. Skipping MNCD or FCNP is an incomplete run.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will not appear in this proposal. Promised retrieval scores, latency targets, consensus percentages, or token-reduction ratios.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ACRS loop (maroon). Green path is the increment, not a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9048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2336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220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4016" name="Automatic Date 1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4304ce5-3c27-4c7f-b72e-fadf4c76f9fa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6" name="Automatic Slide Number 1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2c6e9561-14e6-4a26-b041-c283711a2acd}" type="slidenum">
              <a:rPr lang="en-GB" sz="1000" dirty="0">
                <a:solidFill>
                  <a:srgbClr val="C4A35A"/>
                </a:solidFill>
                <a:latin typeface="Calibri"/>
              </a:rPr>
              <a:t>16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O1 SATR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How session-aware ranking will be designed and later evaluated.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Specify a fused session object: query + dialogue turns + last tool traces + co-activation counts. Rank tools with that object, not with the raw utterance alone.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Ranking library (not live prices). Use ToolBench / ToolLLM artefacts as a public tool-ranking library and protocol family. RapidAPI-style traces are ranking evidence only.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Live Indian OGD is out of SATR’s ranking path. Mandi and weather rows enter at MNCD. SATR must not invent or cache dummy AGMARKNET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Implementation path. Persist co-activation in a session store; expose a rank(query, session) API that APRR can call. Fail loud if the session schema is incomplete.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When the protocol is frozen, compare session-fused ranking against query-only ranking on the same ToolBench-style split. Report the protocol, not a pre-committed score.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Deliverable for the thesis chapter. Algorithm, schema, and ablation plan (with vs without tool-trace fusion).</a:t>
            </a:r>
          </a:p>
        </p:txBody>
      </p:sp>
      <p:sp>
        <p:nvSpPr>
          <p:cNvPr id="4017" name="Automatic Date 17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49381238-ea32-4edf-86ba-fcfa69984ff3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7" name="Automatic Slide Number 17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9d757bba-e520-4b7f-998d-215bd437c54e}" type="slidenum">
              <a:rPr lang="en-GB" sz="1000" dirty="0">
                <a:solidFill>
                  <a:srgbClr val="C4A35A"/>
                </a:solidFill>
                <a:latin typeface="Calibri"/>
              </a:rPr>
              <a:t>17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O2 APRR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How the specialist posterior will be designed. No win-rate or millisecond target is claimed at proposal stage.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Maintain a Dirichlet–Thompson posterior over named specialists. Sample or take the MAP specialist given SATR’s fused session.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Allocation rule (proposal form). P(agent | context) ∝ W^α · η^β · ψ^γ, with W = session-matched specialist weight, η = reliability, ψ = cost/risk. Exponents are design knobs, not fitted claims.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Training-free stance. Do not train a MasRouter- or RouteLLM-style classifier as the primary method. Learned routers remain a future bake-off class, not the implementation.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What is being routed. Specialists in the ACRS mesh — not LLM SKUs (GPT-4 vs Mixtral) and not AutoGen conversation modes as the object of routing.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Update rule. After MNCD returns verified or failed evidence, update η (and optionally W) so the next turn’s posterior is not identical to a cold start.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Log specialist choice vs task type on held-out session traces; compare against a static role graph. No pre-committed accuracy.</a:t>
            </a:r>
          </a:p>
        </p:txBody>
      </p:sp>
      <p:sp>
        <p:nvSpPr>
          <p:cNvPr id="4018" name="Automatic Date 18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9dec8c96-b996-4ecf-82e9-35843929c280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8" name="Automatic Slide Number 18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543e504a-503c-4bbd-959a-4cec825e8d01}" type="slidenum">
              <a:rPr lang="en-GB" sz="1000" dirty="0">
                <a:solidFill>
                  <a:srgbClr val="C4A35A"/>
                </a:solidFill>
                <a:latin typeface="Calibri"/>
              </a:rPr>
              <a:t>18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O3 MNCD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How live Indian OGD and score-sum consensus will be executed. PECAD is a domain precedent, not a baseline to beat.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Specialists selected by APRR gossip partial beliefs. Aggregate with score-sum (not Borda). Every live claim must cite a verified data.gov.in resource UUID.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Corpus / API. Agriculture-only Open Government Data: AGMARKNET (9ef84268-d588-465a-a308-a864a43d0070) and other UUIDs that pass verification.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Fail-loud contract. HTTP 5xx/429 are retried with backoff; missing API key, unverified UUID, or empty filtered universe hard-fail. No dummy mandi prices.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Platform constraint. data.gov.in Elastic max_result_window is 10 000; limit is capped. Pagination is sequential, not a fabricated parallel harvest.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Related work used correctly. Guo, Woodruff &amp; Yadav, PECAD (AAAI 2020) shows AGMARKNET as a real DSS input. MNCD does not re-implement crop-yield prediction.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Measure citation completeness, fail-loud rate on injected faults, and qualitative agreement of score-sum vs majority vote.</a:t>
            </a:r>
          </a:p>
        </p:txBody>
      </p:sp>
      <p:sp>
        <p:nvSpPr>
          <p:cNvPr id="4019" name="Automatic Date 19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04cdfe1-bb1e-4d6b-b3d9-2461149855d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19" name="Automatic Slide Number 19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0b8179a-6ca0-4b06-97c3-1c6b64e74919}" type="slidenum">
              <a:rPr lang="en-GB" sz="1000" dirty="0">
                <a:solidFill>
                  <a:srgbClr val="C4A35A"/>
                </a:solidFill>
                <a:latin typeface="Calibri"/>
              </a:rPr>
              <a:t>19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O4 FCNP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How mesh pruning will be designed. No token-reduction ratio is claimed at proposal stage.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Design method. Treat the post-MNCD mesh as a flow network. Apply a Kirchhoff / Physarum-inspired conductance update; drop low-conductance specialist edges; keep a residue.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Write-back (the integration hinge). The residue is written into SATR’s next fused session. Without write-back, FCNP would be prompt compression by another name.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Contrast with LLMLingua. LLMLingua shortens tokens before the LLM. FCNP prunes who remains in the mesh. Tokenisers are not the primary artefact.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Heuristic honesty. Discrete conductance is a design heuristic inspired by Tero et al. (Science, 2010), not a proof that the mesh is a Physarum organism.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Safety. Pruning must not delete the last live-data specialist if MNCD still has an open verified query. Fail loud rather than silently drop evidence.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Future evaluation protocol (not a result). Compare mesh size and downstream SATR rank stability with vs without pruning on the same session traces.</a:t>
            </a:r>
          </a:p>
        </p:txBody>
      </p:sp>
      <p:sp>
        <p:nvSpPr>
          <p:cNvPr id="4020" name="Automatic Date 20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f75fd1a7-97d2-4884-8cfc-54c63cb88625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0" name="Automatic Slide Number 20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316b1242-7c19-463b-929c-86b4db6df9f5}" type="slidenum">
              <a:rPr lang="en-GB" sz="1000" dirty="0">
                <a:solidFill>
                  <a:srgbClr val="C4A35A"/>
                </a:solidFill>
                <a:latin typeface="Calibri"/>
              </a:rPr>
              <a:t>20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Research Methodology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Research Methodology — integrated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Closed contract SATR → APRR → MNCD → FCNP → SATR. The novelty is the loop and the data contract, not a claimed accuracy.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Closed-loop protocol. One user turn must traverse all four modules in order. Skipping MNCD (no live UUID) or FCNP (no write-back) is treated as an incomplete run, not a successful demo.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Two evidence regimes. (1) ToolBench-style ranking traces for SATR. (2) Live data.gov.in Agriculture rows for MNCD. Do not mix dummy prices into (1) or RapidAPI tools into (2).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Independent variables (future experiments). Session fusion on/off; Dirichlet routing vs static roles; score-sum vs majority; FCNP write-back on/off.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Dependent measures (to be frozen later). Citation completeness, fail-loud correctness, rank stability across turns, qualitative specialist-choice logs.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Domain lock. Agriculture on Indian OGD for the live path. Other sectors are out of scope until a later amendment.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Ethics / data. Public government catalogues only; no personal data; API keys stay in the environment, never in the thesis 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434840"/>
            <a:ext cx="11430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5C4A4E"/>
                </a:solidFill>
                <a:latin typeface="Calibri"/>
              </a:rPr>
              <a:t>ACRS loop (maroon). Green path is the increment, not a metric.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6576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q + M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89048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SATR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2336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APRR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35624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MNCD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8912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FCNP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982200" y="4690872"/>
            <a:ext cx="1813560" cy="438912"/>
          </a:xfrm>
          <a:prstGeom prst="roundRect">
            <a:avLst>
              <a:gd name="adj" fmla="val 10000"/>
            </a:avLst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a +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Master repository: github.com/joyjeni/phd-agentic-ai-master</a:t>
            </a:r>
          </a:p>
        </p:txBody>
      </p:sp>
      <p:sp>
        <p:nvSpPr>
          <p:cNvPr id="4021" name="Automatic Date 21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728284ff-b9ef-4170-98bd-dff881033f42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1" name="Automatic Slide Number 21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b3ecf6fa-66dd-42fb-9fda-b57058a43207}" type="slidenum">
              <a:rPr lang="en-GB" sz="1000" dirty="0">
                <a:solidFill>
                  <a:srgbClr val="C4A35A"/>
                </a:solidFill>
                <a:latin typeface="Calibri"/>
              </a:rPr>
              <a:t>21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Conclusion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Conclusion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ACRS is proposed as a structural orchestration layer. The contribution is the closed loop and the four named gaps — not a pre-committed leaderboard.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literature (AutoGen, MetaGPT, ChatDev, CAMEL, ToolLLM, MasRouter, RouteLLM, PILOT, LLMLingua, PECAD) establishes conversation, tools, learned routing, and prompt compression. It does not establish SATR → APRR → MNCD → FCNP as one contract over live Indian OGD.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identified problem is five gaps: G1 session–tool fusion, G2 training-free specialist posterior, G3 live fail-loud Indian OGD, G4 conductance prune with write-back, G5 missing integration layer.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The aim is to design that layer. Four objectives (SATR, APRR, MNCD, FCNP) and four research questions map onto it.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Methodology is specified per objective: ToolBench as ranking library; Dirichlet–Thompson routing; verified data.gov.in UUIDs with score-sum; Physarum-inspired prune with SATR write-back. Metric numbers are deferred.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Next step after approval. Freeze evaluation protocols, implement the closed loop, and report whatever the measurements show — including negative results.</a:t>
            </a:r>
          </a:p>
        </p:txBody>
      </p:sp>
      <p:sp>
        <p:nvSpPr>
          <p:cNvPr id="4022" name="Automatic Date 22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20464716-b496-404f-9990-0057820e99ff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2" name="Automatic Slide Number 22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2f39b963-498f-4ead-8c17-0c4ced818f40}" type="slidenum">
              <a:rPr lang="en-GB" sz="1000" dirty="0">
                <a:solidFill>
                  <a:srgbClr val="C4A35A"/>
                </a:solidFill>
                <a:latin typeface="Calibri"/>
              </a:rPr>
              <a:t>22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1/3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(1/3) — multi-agent systems and tool learning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Wu, Q., Bansal, G., Zhang, J., Wu, Y., Li, B., Zhu, E., Jiang, L., Zhang, X., Zhang, S., Liu, J., Awadallah, A. H., White, R. W., Burger, D., and Wang, C. AutoGen: Enabling Next-Gen LLM Applications via Multi-Agent Conversation. ICLR 2024 Workshop on Large Language Model (LLM) Agents; also COLM 2024. arXiv:2308.08155.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Hong, S., Zhuge, M., Chen, J., Zheng, X., Cheng, Y., Wang, J., Zhang, C., Wang, Z., Yau, S. K. S., Lin, Z., Zhou, L., Ran, C., Xiao, L., Wu, C., and Schmidhuber, J. MetaGPT: Meta Programming for A Multi-Agent Collaborative Framework. ICLR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Li, G., Hammoud, H. A. A. K., Itani, H., Khizbullin, D., and Ghanem, B. CAMEL: Communicative Agents for “Mind” Exploration of Large Language Model Society.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Qian, C., Liu, W., Liu, H., Chen, N., Dang, Y., Li, J., Yang, C., Chen, W., Su, Y., Cong, X., Xu, J., Li, D., Liu, Z., and Sun, M. ChatDev: Communicative Agents for Software Development. ACL 2024. arXiv:2307.07924.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Qin, Y., Liang, S., Ye, Y., Zhu, K., Yan, L., Lu, Y., Lin, Y., Cong, X., Tang, X., Qian, B., Zhao, S., Hong, L., Tian, R., Xie, R., Zhou, J., Gerstein, M., Li, D., Liu, Z., and Sun, M. ToolLLM: Facilitating Large Language Models to Master 16000+ Real-world APIs. ICLR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Zheng, Y., Li, P., Liu, W., Liu, Y., Luan, J., and Wang, B. ToolRerank: Adaptive and Hierarchy-Aware Reranking for Tool Retrieval. LREC-COLING 2024.</a:t>
            </a:r>
          </a:p>
        </p:txBody>
      </p:sp>
      <p:sp>
        <p:nvSpPr>
          <p:cNvPr id="4023" name="Automatic Date 23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e41c3b7c-47bd-4c4a-9de3-37c03bbcd3f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3" name="Automatic Slide Number 23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fe3122eb-362a-4ec6-862d-2115be9a0339}" type="slidenum">
              <a:rPr lang="en-GB" sz="1000" dirty="0">
                <a:solidFill>
                  <a:srgbClr val="C4A35A"/>
                </a:solidFill>
                <a:latin typeface="Calibri"/>
              </a:rPr>
              <a:t>23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2/3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(2/3) — routing, compression, reasoning, biology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Ong, I., Almahairi, A., Wu, V., Chiang, W.-L., Wu, T., Gonzalez, J. E., Kadous, M. W., and Stoica, I. RouteLLM: Learning to Route LLMs with Preference Data. arXiv:2406.18665, 2024.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Panda, S., and co-authors. PILOT: Preference-informed LinUCB for routing among language models. Findings of EMNLP 2025.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Yue, Y., Zhang, G., Liu, B., Wan, G., Wang, K., Cheng, D., and Qi, Y. MasRouter: Learning to Route LLMs for Multi-Agent Systems. ACL 2025 (long). doi:10.18653/v1/2025.acl-long.757.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Jiang, H., Wu, Q., Lin, C.-Y., Yang, Y., and Qiu, L. LLMLingua: Compressing Prompts for Accelerated Inference of Large Language Models. EMNLP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Wei, J., Wang, X., Schuurmans, D., Bosma, M., Ichter, B., Xia, F., Chi, E., Le, Q., and Zhou, D. Chain-of-Thought Prompting Elicits Reasoning in Large Language Models. NeurIPS 2022.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Yao, S., Zhao, J., Yu, D., Du, N., Shafran, I., Narasimhan, K., and Cao, Y. ReAct: Synergizing Reasoning and Acting in Language Models. ICLR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Yao, S., Yu, D., Zhao, J., Shafran, I., Griffiths, T. L., Cao, Y., and Narasimhan, K. Tree of Thoughts: Deliberate Problem Solving with Large Language Models.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Tero, A., Takagi, S., Saigusa, T., Ito, K., Bebber, D. P., Fricker, M. D., Yumiki, K., Kobayashi, R., and Nakagaki, T. Rules for Biologically Inspired Adaptive Network Design. Science, 2010. doi:10.1126/science.1177894.</a:t>
            </a:r>
          </a:p>
        </p:txBody>
      </p:sp>
      <p:sp>
        <p:nvSpPr>
          <p:cNvPr id="4024" name="Automatic Date 24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7d57394-d6b8-42d7-984a-bd4414ba8111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4" name="Automatic Slide Number 24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740a88ae-5d9d-4654-ae48-3b967af74764}" type="slidenum">
              <a:rPr lang="en-GB" sz="1000" dirty="0">
                <a:solidFill>
                  <a:srgbClr val="C4A35A"/>
                </a:solidFill>
                <a:latin typeface="Calibri"/>
              </a:rPr>
              <a:t>24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References 3/3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References (3/3) — memory, tools, Indian agricultural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Park, J. S., O’Brien, J. C., Cai, C. J., Morris, M. R., Liang, P., and Bernstein, M. S. Generative Agents: Interactive Simulacra of Human Behavior. CHI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Shinn, N., Cassano, F., Berman, E., Gopinath, A., Narasimhan, K., and Yao, S. Reflexion: Language Agents with Verbal Reinforcement Learning.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Shen, Y., Song, K., Tan, X., Li, D., Lu, W., and Zhuang, Y. HuggingGPT: Solving AI Tasks with ChatGPT and its Friends in Hugging Face.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Schick, T., Dwivedi-Yu, J., Dessì, R., Raileanu, R., Lomeli, M., Zettlemoyer, L., Cancedda, N., and Scialom, T. Toolformer: Language Models Can Teach Themselves to Use Tools. NeurIPS 2023.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Guo, H., Woodruff, A., and Yadav, A. Improving Lives of Indebted Farmers Using Deep Learning: Predicting Agricultural Produce Prices Using Convolutional Neural Networks (PECAD). AAAI 2020. doi:10.1609/aaai.v34i08.7039. AGMARKNET scrape for price prediction; cited here as Indian OGD precedent, not as a baseline this proposal claims to beat.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Government of India. Open Government Data Platform India (data.gov.in); AGMARKNET resource 9ef84268-d588-465a-a308-a864a43d0070; Directorate of Economics and Statistics crop production; IMD rainfall series; Government Open Data License — India (GODL-India).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199632"/>
            <a:ext cx="11430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5C4A4E"/>
                </a:solidFill>
                <a:latin typeface="Calibri"/>
              </a:rPr>
              <a:t>CrewAI is an engineering framework without a flagship peer-reviewed paper in this list; AutoGen and MetaGPT are the MAS citations.</a:t>
            </a:r>
          </a:p>
        </p:txBody>
      </p:sp>
      <p:sp>
        <p:nvSpPr>
          <p:cNvPr id="4025" name="Automatic Date 25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09d31ef4-b9dd-4f41-987c-3952cd194080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5" name="Automatic Slide Number 25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addbed0d-a0fe-485b-afbd-3297496087c3}" type="slidenum">
              <a:rPr lang="en-GB" sz="1000" dirty="0">
                <a:solidFill>
                  <a:srgbClr val="C4A35A"/>
                </a:solidFill>
                <a:latin typeface="Calibri"/>
              </a:rPr>
              <a:t>25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58368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"/>
            <a:ext cx="12191695" cy="54864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10528"/>
            <a:ext cx="12191695" cy="347472"/>
          </a:xfrm>
          <a:prstGeom prst="rect">
            <a:avLst/>
          </a:prstGeom>
          <a:solidFill>
            <a:srgbClr val="7C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92608" y="73152"/>
            <a:ext cx="11521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M. S. RAMAIAH UNIVERSITY OF APPLIED SCIENCES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" y="347472"/>
            <a:ext cx="11521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C4A35A"/>
                </a:solidFill>
                <a:latin typeface="Calibri"/>
              </a:rPr>
              <a:t>Faculty of Engineering and Technology  ·  RESEARCH PROPOSAL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83280" y="6565392"/>
            <a:ext cx="57607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FFFFFF"/>
                </a:solidFill>
                <a:latin typeface="Calibri"/>
              </a:rPr>
              <a:t>Jenisha T  |  24ETRP720001  |  Part Time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713232"/>
            <a:ext cx="12191695" cy="5797296"/>
          </a:xfrm>
          <a:prstGeom prst="rect">
            <a:avLst/>
          </a:prstGeom>
          <a:solidFill>
            <a:srgbClr val="FFFA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804672"/>
            <a:ext cx="11430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7C1D2E"/>
                </a:solidFill>
                <a:latin typeface="Calibri"/>
              </a:rPr>
              <a:t>RESEARCH PROPOSAL  ·  Thank you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02412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1A1214"/>
                </a:solidFill>
                <a:latin typeface="Calibri"/>
              </a:rPr>
              <a:t>Thank you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1572768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C4A4E"/>
                </a:solidFill>
                <a:latin typeface="Calibri"/>
              </a:rPr>
              <a:t>Adaptive Context Reasoning System — a research programme, not a performance number.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2212848"/>
            <a:ext cx="11430000" cy="39776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Presented By: Jenisha T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(Reg. No. 24ETRP720001)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Supervisor: Dr. Jyothi A P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Department of Computer Science and Engineering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Faculty of Engineering and Technology, MSRUAS</a:t>
            </a:r>
          </a:p>
          <a:p>
            <a:pPr>
              <a:spcAft>
                <a:spcPts val="600"/>
              </a:spcAft>
              <a:buFont typeface="Arial"/>
              <a:buChar char="•"/>
            </a:pPr>
            <a:r>
              <a:rPr sz="1300">
                <a:solidFill>
                  <a:srgbClr val="1A1214"/>
                </a:solidFill>
                <a:latin typeface="Calibri"/>
              </a:rPr>
              <a:t>jenisha.t@msruas.ac.in</a:t>
            </a:r>
          </a:p>
        </p:txBody>
      </p:sp>
      <p:sp>
        <p:nvSpPr>
          <p:cNvPr id="4026" name="Automatic Date 26"/>
          <p:cNvSpPr txBox="1"/>
          <p:nvPr/>
        </p:nvSpPr>
        <p:spPr>
          <a:xfrm>
            <a:off x="255016" y="6565900"/>
            <a:ext cx="310896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/>
            <a:fld id="{a788b296-e162-4685-9fd6-45ec38f2277f}" type="datetime3">
              <a:rPr lang="en-GB" sz="1000" dirty="0">
                <a:solidFill>
                  <a:srgbClr val="C4A35A"/>
                </a:solidFill>
                <a:latin typeface="Calibri"/>
              </a:rPr>
              <a:t>7 September 2026</a:t>
            </a:fld>
            <a:endParaRPr lang="en-GB" sz="1000"/>
          </a:p>
        </p:txBody>
      </p:sp>
      <p:sp>
        <p:nvSpPr>
          <p:cNvPr id="5026" name="Automatic Slide Number 26"/>
          <p:cNvSpPr txBox="1"/>
          <p:nvPr/>
        </p:nvSpPr>
        <p:spPr>
          <a:xfrm>
            <a:off x="9601200" y="6565900"/>
            <a:ext cx="2286000" cy="255016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/>
            <a:fld id="{8304211e-782d-4da2-9fa0-25738d4dad1d}" type="slidenum">
              <a:rPr lang="en-GB" sz="1000" dirty="0">
                <a:solidFill>
                  <a:srgbClr val="C4A35A"/>
                </a:solidFill>
                <a:latin typeface="Calibri"/>
              </a:rPr>
              <a:t>26</a:t>
            </a:fld>
            <a:r>
              <a:rPr lang="en-GB" sz="1000">
                <a:solidFill>
                  <a:srgbClr val="C4A35A"/>
                </a:solidFill>
                <a:latin typeface="Calibri"/>
              </a:rPr>
              <a:t> / 26</a:t>
            </a:r>
            <a:endParaRPr lang="en-GB" sz="1000"/>
          </a:p>
        </p:txBody>
      </p:sp>
    </p:spTree>
  </p:cSld>
  <p:clrMapOvr>
    <a:masterClrMapping/>
  </p:clrMapOvr>
  <p:hf sldNum="1" hdr="0" ftr="1" dt="1"/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Adaptive Context Reasoning System (ACRS): A Structural Orchestration Layer for Multi-Agent LLM Ecosystems</dc:title>
  <dc:subject>RESEARCH PROPOSAL · Ph.D. in Computer Science and Engineering</dc:subject>
  <dc:creator>Jenisha T</dc:creator>
  <cp:keywords/>
  <dc:description>Automatic date 7 September 2026; slide numbers via PowerPoint slidenum field.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