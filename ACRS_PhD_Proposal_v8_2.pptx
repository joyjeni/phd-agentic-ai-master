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Good morning / afternoon, respected panel.</a:t>
            </a:r>
          </a:p>
          <a:p/>
          <a:p>
            <a:r>
              <a:rPr lang="en-US" dirty="0" sz="1200"/>
              <a:t>My research is titled:</a:t>
            </a:r>
          </a:p>
          <a:p>
            <a:r>
              <a:rPr lang="en-US" dirty="0" sz="1200"/>
              <a:t>"Design and Evaluation of ACRS —</a:t>
            </a:r>
          </a:p>
          <a:p>
            <a:r>
              <a:rPr lang="en-US" dirty="0" sz="1200"/>
              <a:t>Adaptive Context Reasoning System —</a:t>
            </a:r>
          </a:p>
          <a:p>
            <a:r>
              <a:rPr lang="en-US" dirty="0" sz="1200"/>
              <a:t>for Efficient Multi-Agent LLM Inference."</a:t>
            </a:r>
          </a:p>
          <a:p/>
          <a:p>
            <a:r>
              <a:rPr lang="en-US" dirty="0" sz="1200"/>
              <a:t>ACRS has four objectives:</a:t>
            </a:r>
          </a:p>
          <a:p>
            <a:r>
              <a:rPr lang="en-US" dirty="0" sz="1200"/>
              <a:t>- Obj 1: SessionRerank+ — session-aware tool reranking</a:t>
            </a:r>
          </a:p>
          <a:p>
            <a:r>
              <a:rPr lang="en-US" dirty="0" sz="1200"/>
              <a:t>- Obj 2: APRR+CDR+PDR — adaptive multi-strategy routing</a:t>
            </a:r>
          </a:p>
          <a:p>
            <a:r>
              <a:rPr lang="en-US" dirty="0" sz="1200"/>
              <a:t>- Obj 3: MNCD — distributed fault-tolerant context mesh</a:t>
            </a:r>
          </a:p>
          <a:p>
            <a:r>
              <a:rPr lang="en-US" dirty="0" sz="1200"/>
              <a:t>- Obj 4: FCNP — flow-conductance context graph pruning</a:t>
            </a:r>
          </a:p>
          <a:p/>
          <a:p>
            <a:r>
              <a:rPr lang="en-US" dirty="0" sz="1200"/>
              <a:t>Each objective solves a distinct failure mode</a:t>
            </a:r>
          </a:p>
          <a:p>
            <a:r>
              <a:rPr lang="en-US" dirty="0" sz="1200"/>
              <a:t>that makes multi-agent LLM systems unreliable at scale.</a:t>
            </a:r>
          </a:p>
          <a:p/>
          <a:p>
            <a:r>
              <a:rPr lang="en-US" dirty="0" sz="1200"/>
              <a:t>Real-world integration: live data from data.gov.in —</a:t>
            </a:r>
          </a:p>
          <a:p>
            <a:r>
              <a:rPr lang="en-US" dirty="0" sz="1200"/>
              <a:t>Open Government Data Platform India.</a:t>
            </a:r>
          </a:p>
          <a:p>
            <a:r>
              <a:rPr lang="en-US" dirty="0" sz="1200"/>
              <a:t>API token registered for academic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This slide shows the full structure of the proposal.</a:t>
            </a:r>
          </a:p>
          <a:p/>
          <a:p>
            <a:r>
              <a:rPr lang="en-US" dirty="0" sz="1200"/>
              <a:t>The 4 main objectives connect like a pipeline:</a:t>
            </a:r>
          </a:p>
          <a:p>
            <a:r>
              <a:rPr lang="en-US" dirty="0" sz="1200"/>
              <a:t>- SessionRerank+ selects the right tools.</a:t>
            </a:r>
          </a:p>
          <a:p>
            <a:r>
              <a:rPr lang="en-US" dirty="0" sz="1200"/>
              <a:t>- APRR+CDR+PDR routes to the right agent.</a:t>
            </a:r>
          </a:p>
          <a:p>
            <a:r>
              <a:rPr lang="en-US" dirty="0" sz="1200"/>
              <a:t>- MNCD keeps context alive across agent nodes.</a:t>
            </a:r>
          </a:p>
          <a:p>
            <a:r>
              <a:rPr lang="en-US" dirty="0" sz="1200"/>
              <a:t>- FCNP compresses accumulated context graph.</a:t>
            </a:r>
          </a:p>
          <a:p/>
          <a:p>
            <a:r>
              <a:rPr lang="en-US" dirty="0" sz="1200"/>
              <a:t>Key abbreviations used throughout:</a:t>
            </a:r>
          </a:p>
          <a:p>
            <a:r>
              <a:rPr lang="en-US" dirty="0" sz="1200"/>
              <a:t>- LLM: Large Language Model</a:t>
            </a:r>
          </a:p>
          <a:p>
            <a:r>
              <a:rPr lang="en-US" dirty="0" sz="1200"/>
              <a:t>- ACRS: Adaptive Context Reasoning System</a:t>
            </a:r>
          </a:p>
          <a:p>
            <a:r>
              <a:rPr lang="en-US" dirty="0" sz="1200"/>
              <a:t>- NDCG: Normalised Discounted Cumulative Gain</a:t>
            </a:r>
          </a:p>
          <a:p>
            <a:r>
              <a:rPr lang="en-US" dirty="0" sz="1200"/>
              <a:t>- RL: Reinforcement Learning</a:t>
            </a:r>
          </a:p>
          <a:p>
            <a:r>
              <a:rPr lang="en-US" dirty="0" sz="1200"/>
              <a:t>- CDR: Context-Driven Routing</a:t>
            </a:r>
          </a:p>
          <a:p>
            <a:r>
              <a:rPr lang="en-US" dirty="0" sz="1200"/>
              <a:t>- PDR: Parallel Dispatch Routing</a:t>
            </a:r>
          </a:p>
          <a:p>
            <a:r>
              <a:rPr lang="en-US" dirty="0" sz="1200"/>
              <a:t>- APRR: Adaptive Priority-aware Request Router</a:t>
            </a:r>
          </a:p>
          <a:p>
            <a:r>
              <a:rPr lang="en-US" dirty="0" sz="1200"/>
              <a:t>- MNCD: Multi-Node Context Distribution</a:t>
            </a:r>
          </a:p>
          <a:p>
            <a:r>
              <a:rPr lang="en-US" dirty="0" sz="1200"/>
              <a:t>- FCNP: Flow-Conductance-based Neural Pruning</a:t>
            </a:r>
          </a:p>
          <a:p>
            <a:r>
              <a:rPr lang="en-US" dirty="0" sz="1200"/>
              <a:t>- KV: Key-Value (cache)</a:t>
            </a:r>
          </a:p>
          <a:p/>
          <a:p>
            <a:r>
              <a:rPr lang="en-US" dirty="0" sz="1200"/>
              <a:t>TOC is split across two columns</a:t>
            </a:r>
          </a:p>
          <a:p>
            <a:r>
              <a:rPr lang="en-US" dirty="0" sz="1200"/>
              <a:t>to keep all entries readable without scrolling.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This is the problem context divider.</a:t>
            </a:r>
          </a:p>
          <a:p/>
          <a:p>
            <a:r>
              <a:rPr lang="en-US" dirty="0" sz="1200"/>
              <a:t>Before showing what I built,</a:t>
            </a:r>
          </a:p>
          <a:p>
            <a:r>
              <a:rPr lang="en-US" dirty="0" sz="1200"/>
              <a:t>I need to show what is currently broken.</a:t>
            </a:r>
          </a:p>
          <a:p/>
          <a:p>
            <a:r>
              <a:rPr lang="en-US" dirty="0" sz="1200"/>
              <a:t>Four failure modes co-occur in any realistic</a:t>
            </a:r>
          </a:p>
          <a:p>
            <a:r>
              <a:rPr lang="en-US" dirty="0" sz="1200"/>
              <a:t>multi-agent LLM system:</a:t>
            </a:r>
          </a:p>
          <a:p>
            <a:r>
              <a:rPr lang="en-US" dirty="0" sz="1200"/>
              <a:t>1. Tool selection ignores session history.</a:t>
            </a:r>
          </a:p>
          <a:p>
            <a:r>
              <a:rPr lang="en-US" dirty="0" sz="1200"/>
              <a:t>2. Routing policies are frozen — cannot adapt live.</a:t>
            </a:r>
          </a:p>
          <a:p>
            <a:r>
              <a:rPr lang="en-US" dirty="0" sz="1200"/>
              <a:t>3. Context is lost when agent nodes fail.</a:t>
            </a:r>
          </a:p>
          <a:p>
            <a:r>
              <a:rPr lang="en-US" dirty="0" sz="1200"/>
              <a:t>4. Context graphs grow without bound.</a:t>
            </a:r>
          </a:p>
          <a:p/>
          <a:p>
            <a:r>
              <a:rPr lang="en-US" dirty="0" sz="1200"/>
              <a:t>These are not theoretical gaps.</a:t>
            </a:r>
          </a:p>
          <a:p>
            <a:r>
              <a:rPr lang="en-US" dirty="0" sz="1200"/>
              <a:t>They come from direct experimentation</a:t>
            </a:r>
          </a:p>
          <a:p>
            <a:r>
              <a:rPr lang="en-US" dirty="0" sz="1200"/>
              <a:t>with multi-agent LLM systems at inference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Four core challenges — one per objective.</a:t>
            </a:r>
          </a:p>
          <a:p/>
          <a:p>
            <a:r>
              <a:rPr lang="en-US" dirty="0" sz="1200"/>
              <a:t>Challenge 1 → Tool selection fails across turns.</a:t>
            </a:r>
          </a:p>
          <a:p>
            <a:r>
              <a:rPr lang="en-US" dirty="0" sz="1200"/>
              <a:t>State of the art: BM25 + dense vector retrieval.</a:t>
            </a:r>
          </a:p>
          <a:p>
            <a:r>
              <a:rPr lang="en-US" dirty="0" sz="1200"/>
              <a:t>Problem: treats every query as the first query.</a:t>
            </a:r>
          </a:p>
          <a:p>
            <a:r>
              <a:rPr lang="en-US" dirty="0" sz="1200"/>
              <a:t>Session history is completely ignored.</a:t>
            </a:r>
          </a:p>
          <a:p>
            <a:r>
              <a:rPr lang="en-US" dirty="0" sz="1200"/>
              <a:t>Result: repeatedly retrieves wrong tools</a:t>
            </a:r>
          </a:p>
          <a:p>
            <a:r>
              <a:rPr lang="en-US" dirty="0" sz="1200"/>
              <a:t>when user context has already been established.</a:t>
            </a:r>
          </a:p>
          <a:p/>
          <a:p>
            <a:r>
              <a:rPr lang="en-US" dirty="0" sz="1200"/>
              <a:t>Challenge 2 → Routing is brittle.</a:t>
            </a:r>
          </a:p>
          <a:p>
            <a:r>
              <a:rPr lang="en-US" dirty="0" sz="1200"/>
              <a:t>RouteLLM, FrugalGPT, PickLLM —</a:t>
            </a:r>
          </a:p>
          <a:p>
            <a:r>
              <a:rPr lang="en-US" dirty="0" sz="1200"/>
              <a:t>all learn policies offline and freeze them.</a:t>
            </a:r>
          </a:p>
          <a:p>
            <a:r>
              <a:rPr lang="en-US" dirty="0" sz="1200"/>
              <a:t>No mechanism to respond when agents degrade.</a:t>
            </a:r>
          </a:p>
          <a:p>
            <a:r>
              <a:rPr lang="en-US" dirty="0" sz="1200"/>
              <a:t>A router with no live update is a static map</a:t>
            </a:r>
          </a:p>
          <a:p>
            <a:r>
              <a:rPr lang="en-US" dirty="0" sz="1200"/>
              <a:t>used in a changing city.</a:t>
            </a:r>
          </a:p>
          <a:p/>
          <a:p>
            <a:r>
              <a:rPr lang="en-US" dirty="0" sz="1200"/>
              <a:t>Challenge 3 → Context dies when nodes fail.</a:t>
            </a:r>
          </a:p>
          <a:p>
            <a:r>
              <a:rPr lang="en-US" dirty="0" sz="1200"/>
              <a:t>Naive single-agent baseline: 44% context availability</a:t>
            </a:r>
          </a:p>
          <a:p>
            <a:r>
              <a:rPr lang="en-US" dirty="0" sz="1200"/>
              <a:t>under 2-of-5 simultaneous node failures.</a:t>
            </a:r>
          </a:p>
          <a:p>
            <a:r>
              <a:rPr lang="en-US" dirty="0" sz="1200"/>
              <a:t>That is not acceptable for any production system.</a:t>
            </a:r>
          </a:p>
          <a:p>
            <a:r>
              <a:rPr lang="en-US" dirty="0" sz="1200"/>
              <a:t>No published protocol applies gossip broadcast</a:t>
            </a:r>
          </a:p>
          <a:p>
            <a:r>
              <a:rPr lang="en-US" dirty="0" sz="1200"/>
              <a:t>specifically to LLM session context.</a:t>
            </a:r>
          </a:p>
          <a:p/>
          <a:p>
            <a:r>
              <a:rPr lang="en-US" dirty="0" sz="1200"/>
              <a:t>Challenge 4 → Context graphs grow without bound.</a:t>
            </a:r>
          </a:p>
          <a:p>
            <a:r>
              <a:rPr lang="en-US" dirty="0" sz="1200"/>
              <a:t>50+ new records per session turn.</a:t>
            </a:r>
          </a:p>
          <a:p>
            <a:r>
              <a:rPr lang="en-US" dirty="0" sz="1200"/>
              <a:t>After 10 turns: 500+ accumulated context records.</a:t>
            </a:r>
          </a:p>
          <a:p>
            <a:r>
              <a:rPr lang="en-US" dirty="0" sz="1200"/>
              <a:t>Naive pruning destroys citations.</a:t>
            </a:r>
          </a:p>
          <a:p>
            <a:r>
              <a:rPr lang="en-US" dirty="0" sz="1200"/>
              <a:t>Need 10:1 compression with ≥99% citation accuracy.</a:t>
            </a:r>
          </a:p>
          <a:p>
            <a:r>
              <a:rPr lang="en-US" dirty="0" sz="1200"/>
              <a:t>No existing system achieves both.</a:t>
            </a:r>
          </a:p>
          <a:p/>
          <a:p>
            <a:r>
              <a:rPr lang="en-US" dirty="0" sz="1200"/>
              <a:t>These four challenges map exactly to the four objectives.</a:t>
            </a:r>
          </a:p>
          <a:p>
            <a:r>
              <a:rPr lang="en-US" dirty="0" sz="1200"/>
              <a:t>Each one requires a different technical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Literature Theme 1: KV Cache Compression</a:t>
            </a:r>
          </a:p>
          <a:p>
            <a:r>
              <a:rPr lang="en-US" dirty="0" sz="1200"/>
              <a:t>and Session Context Management.</a:t>
            </a:r>
          </a:p>
          <a:p>
            <a:r>
              <a:rPr lang="en-US" dirty="0" sz="1200"/>
              <a:t>This theme motivates Objective 1.</a:t>
            </a:r>
          </a:p>
          <a:p/>
          <a:p>
            <a:r>
              <a:rPr lang="en-US" dirty="0" sz="1200"/>
              <a:t>Key papers and their titles reviewed:</a:t>
            </a:r>
          </a:p>
          <a:p/>
          <a:p>
            <a:r>
              <a:rPr lang="en-US" dirty="0" sz="1200"/>
              <a:t>LazyLLM (Fu et al., 2024)</a:t>
            </a:r>
          </a:p>
          <a:p>
            <a:r>
              <a:rPr lang="en-US" dirty="0" sz="1200"/>
              <a:t>— Dynamic Token Pruning Without Training</a:t>
            </a:r>
          </a:p>
          <a:p>
            <a:r>
              <a:rPr lang="en-US" dirty="0" sz="1200"/>
              <a:t>for Accelerated Inference</a:t>
            </a:r>
          </a:p>
          <a:p>
            <a:r>
              <a:rPr lang="en-US" dirty="0" sz="1200"/>
              <a:t>Prunes KV cache per query.</a:t>
            </a:r>
          </a:p>
          <a:p>
            <a:r>
              <a:rPr lang="en-US" dirty="0" sz="1200"/>
              <a:t>Does not use cross-turn session history.</a:t>
            </a:r>
          </a:p>
          <a:p/>
          <a:p>
            <a:r>
              <a:rPr lang="en-US" dirty="0" sz="1200"/>
              <a:t>H2O (Zhang et al., 2023)</a:t>
            </a:r>
          </a:p>
          <a:p>
            <a:r>
              <a:rPr lang="en-US" dirty="0" sz="1200"/>
              <a:t>— Heavy-Hitter Oracle for Efficient</a:t>
            </a:r>
          </a:p>
          <a:p>
            <a:r>
              <a:rPr lang="en-US" dirty="0" sz="1200"/>
              <a:t>Generative Inference of LLMs</a:t>
            </a:r>
          </a:p>
          <a:p>
            <a:r>
              <a:rPr lang="en-US" dirty="0" sz="1200"/>
              <a:t>Heavy-hitter tokens drive attention.</a:t>
            </a:r>
          </a:p>
          <a:p>
            <a:r>
              <a:rPr lang="en-US" dirty="0" sz="1200"/>
              <a:t>Eviction cuts KV memory 20×.</a:t>
            </a:r>
          </a:p>
          <a:p>
            <a:r>
              <a:rPr lang="en-US" dirty="0" sz="1200"/>
              <a:t>No session co-activation scoring.</a:t>
            </a:r>
          </a:p>
          <a:p/>
          <a:p>
            <a:r>
              <a:rPr lang="en-US" dirty="0" sz="1200"/>
              <a:t>Scissorhands (Liu et al., 2023)</a:t>
            </a:r>
          </a:p>
          <a:p>
            <a:r>
              <a:rPr lang="en-US" dirty="0" sz="1200"/>
              <a:t>— Exploiting the Persistence of Importance</a:t>
            </a:r>
          </a:p>
          <a:p>
            <a:r>
              <a:rPr lang="en-US" dirty="0" sz="1200"/>
              <a:t>Hypothesis for LLM KV Cache Compression</a:t>
            </a:r>
          </a:p>
          <a:p>
            <a:r>
              <a:rPr lang="en-US" dirty="0" sz="1200"/>
              <a:t>Pivot-set KV cache; 5× memory reduction.</a:t>
            </a:r>
          </a:p>
          <a:p>
            <a:r>
              <a:rPr lang="en-US" dirty="0" sz="1200"/>
              <a:t>No multi-turn session state.</a:t>
            </a:r>
          </a:p>
          <a:p/>
          <a:p>
            <a:r>
              <a:rPr lang="en-US" dirty="0" sz="1200"/>
              <a:t>StreamingLLM (Xiao et al., 2024)</a:t>
            </a:r>
          </a:p>
          <a:p>
            <a:r>
              <a:rPr lang="en-US" dirty="0" sz="1200"/>
              <a:t>— Efficient Streaming LLMs with Attention Sinks</a:t>
            </a:r>
          </a:p>
          <a:p>
            <a:r>
              <a:rPr lang="en-US" dirty="0" sz="1200"/>
              <a:t>Attention sinks: 22.2× faster streaming.</a:t>
            </a:r>
          </a:p>
          <a:p>
            <a:r>
              <a:rPr lang="en-US" dirty="0" sz="1200"/>
              <a:t>Rolling window — not cross-turn reranking.</a:t>
            </a:r>
          </a:p>
          <a:p/>
          <a:p>
            <a:r>
              <a:rPr lang="en-US" dirty="0" sz="1200"/>
              <a:t>GEAR (Kang et al., 2024)</a:t>
            </a:r>
          </a:p>
          <a:p>
            <a:r>
              <a:rPr lang="en-US" dirty="0" sz="1200"/>
              <a:t>Low-rank + sparse KV; &lt;0.5% accuracy drop.</a:t>
            </a:r>
          </a:p>
          <a:p/>
          <a:p>
            <a:r>
              <a:rPr lang="en-US" dirty="0" sz="1200"/>
              <a:t>CacheGen (Liu et al., 2024)</a:t>
            </a:r>
          </a:p>
          <a:p>
            <a:r>
              <a:rPr lang="en-US" dirty="0" sz="1200"/>
              <a:t>Compressed KV bitstream; 3.7× bandwidth reduction.</a:t>
            </a:r>
          </a:p>
          <a:p/>
          <a:p>
            <a:r>
              <a:rPr lang="en-US" dirty="0" sz="1200"/>
              <a:t>MiniCache (Liu et al., 2024)</a:t>
            </a:r>
          </a:p>
          <a:p>
            <a:r>
              <a:rPr lang="en-US" dirty="0" sz="1200"/>
              <a:t>Cross-layer token merging.</a:t>
            </a:r>
          </a:p>
          <a:p/>
          <a:p>
            <a:r>
              <a:rPr lang="en-US" dirty="0" sz="1200"/>
              <a:t>ToolLLM (Qin et al., 2024)</a:t>
            </a:r>
          </a:p>
          <a:p>
            <a:r>
              <a:rPr lang="en-US" dirty="0" sz="1200"/>
              <a:t>DFSDT on 16,000+ APIs.</a:t>
            </a:r>
          </a:p>
          <a:p>
            <a:r>
              <a:rPr lang="en-US" dirty="0" sz="1200"/>
              <a:t>Benchmark and baseline for SessionRerank+.</a:t>
            </a:r>
          </a:p>
          <a:p/>
          <a:p>
            <a:r>
              <a:rPr lang="en-US" dirty="0" sz="1200"/>
              <a:t>KEY INSIGHT:</a:t>
            </a:r>
          </a:p>
          <a:p>
            <a:r>
              <a:rPr lang="en-US" dirty="0" sz="1200"/>
              <a:t>All these works treat each query independently.</a:t>
            </a:r>
          </a:p>
          <a:p>
            <a:r>
              <a:rPr lang="en-US" dirty="0" sz="1200"/>
              <a:t>None use session co-activation history</a:t>
            </a:r>
          </a:p>
          <a:p>
            <a:r>
              <a:rPr lang="en-US" dirty="0" sz="1200"/>
              <a:t>to rerank tools across multi-turn dialogues.</a:t>
            </a:r>
          </a:p>
          <a:p>
            <a:r>
              <a:rPr lang="en-US" dirty="0" sz="1200"/>
              <a:t>→ SessionRerank+ fills this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Literature Theme 2: Adaptive Multi-Agent</a:t>
            </a:r>
          </a:p>
          <a:p>
            <a:r>
              <a:rPr lang="en-US" dirty="0" sz="1200"/>
              <a:t>LLM Routing. This motivates Objective 2.</a:t>
            </a:r>
          </a:p>
          <a:p/>
          <a:p>
            <a:r>
              <a:rPr lang="en-US" dirty="0" sz="1200"/>
              <a:t>Key papers and their titles:</a:t>
            </a:r>
          </a:p>
          <a:p/>
          <a:p>
            <a:r>
              <a:rPr lang="en-US" dirty="0" sz="1200"/>
              <a:t>RouteLLM (Ong et al., 2024)</a:t>
            </a:r>
          </a:p>
          <a:p>
            <a:r>
              <a:rPr lang="en-US" dirty="0" sz="1200"/>
              <a:t>— Learning to Route LLMs with Preference Data</a:t>
            </a:r>
          </a:p>
          <a:p>
            <a:r>
              <a:rPr lang="en-US" dirty="0" sz="1200"/>
              <a:t>Offline preference training.</a:t>
            </a:r>
          </a:p>
          <a:p>
            <a:r>
              <a:rPr lang="en-US" dirty="0" sz="1200"/>
              <a:t>Reduces GPT-4 calls 50%.</a:t>
            </a:r>
          </a:p>
          <a:p>
            <a:r>
              <a:rPr lang="en-US" dirty="0" sz="1200"/>
              <a:t>Cannot adapt to live agent degradation.</a:t>
            </a:r>
          </a:p>
          <a:p/>
          <a:p>
            <a:r>
              <a:rPr lang="en-US" dirty="0" sz="1200"/>
              <a:t>FrugalGPT (Chen et al., 2023)</a:t>
            </a:r>
          </a:p>
          <a:p>
            <a:r>
              <a:rPr lang="en-US" dirty="0" sz="1200"/>
              <a:t>— How to Use LLMs While Reducing Cost</a:t>
            </a:r>
          </a:p>
          <a:p>
            <a:r>
              <a:rPr lang="en-US" dirty="0" sz="1200"/>
              <a:t>and Improving Performance</a:t>
            </a:r>
          </a:p>
          <a:p>
            <a:r>
              <a:rPr lang="en-US" dirty="0" sz="1200"/>
              <a:t>Cascade routing; fixed thresholds offline.</a:t>
            </a:r>
          </a:p>
          <a:p>
            <a:r>
              <a:rPr lang="en-US" dirty="0" sz="1200"/>
              <a:t>No online RL adaptation.</a:t>
            </a:r>
          </a:p>
          <a:p/>
          <a:p>
            <a:r>
              <a:rPr lang="en-US" dirty="0" sz="1200"/>
              <a:t>Mixture-of-Agents (Wang et al., 2024)</a:t>
            </a:r>
          </a:p>
          <a:p>
            <a:r>
              <a:rPr lang="en-US" dirty="0" sz="1200"/>
              <a:t>Layered aggregation — no dynamic routing.</a:t>
            </a:r>
          </a:p>
          <a:p/>
          <a:p>
            <a:r>
              <a:rPr lang="en-US" dirty="0" sz="1200"/>
              <a:t>TensorOpera Router (Stripelis, 2024)</a:t>
            </a:r>
          </a:p>
          <a:p>
            <a:r>
              <a:rPr lang="en-US" dirty="0" sz="1200"/>
              <a:t>Hardware-aware scheduling baseline.</a:t>
            </a:r>
          </a:p>
          <a:p/>
          <a:p>
            <a:r>
              <a:rPr lang="en-US" dirty="0" sz="1200"/>
              <a:t>RouterDC (Chen et al., 2024)</a:t>
            </a:r>
          </a:p>
          <a:p>
            <a:r>
              <a:rPr lang="en-US" dirty="0" sz="1200"/>
              <a:t>Dual contrastive learning for routing.</a:t>
            </a:r>
          </a:p>
          <a:p/>
          <a:p>
            <a:r>
              <a:rPr lang="en-US" dirty="0" sz="1200"/>
              <a:t>PickLLM (Sikeridis et al., 2024)</a:t>
            </a:r>
          </a:p>
          <a:p>
            <a:r>
              <a:rPr lang="en-US" dirty="0" sz="1200"/>
              <a:t>Context-aware RL routing.</a:t>
            </a:r>
          </a:p>
          <a:p>
            <a:r>
              <a:rPr lang="en-US" dirty="0" sz="1200"/>
              <a:t>Closest prior art to APRR.</a:t>
            </a:r>
          </a:p>
          <a:p>
            <a:r>
              <a:rPr lang="en-US" dirty="0" sz="1200"/>
              <a:t>Missing: exponential decay + live session signals.</a:t>
            </a:r>
          </a:p>
          <a:p/>
          <a:p>
            <a:r>
              <a:rPr lang="en-US" dirty="0" sz="1200"/>
              <a:t>GraphRouter (Feng et al., 2024)</a:t>
            </a:r>
          </a:p>
          <a:p>
            <a:r>
              <a:rPr lang="en-US" dirty="0" sz="1200"/>
              <a:t>Graph-based routing. No online RL.</a:t>
            </a:r>
          </a:p>
          <a:p/>
          <a:p>
            <a:r>
              <a:rPr lang="en-US" dirty="0" sz="1200"/>
              <a:t>Eagle (Zhao et al., 2024)</a:t>
            </a:r>
          </a:p>
          <a:p>
            <a:r>
              <a:rPr lang="en-US" dirty="0" sz="1200"/>
              <a:t>Training-free router. APRR surpasses with online RL.</a:t>
            </a:r>
          </a:p>
          <a:p/>
          <a:p>
            <a:r>
              <a:rPr lang="en-US" dirty="0" sz="1200"/>
              <a:t>KEY INSIGHT:</a:t>
            </a:r>
          </a:p>
          <a:p>
            <a:r>
              <a:rPr lang="en-US" dirty="0" sz="1200"/>
              <a:t>All routers use offline-trained fixed policies.</a:t>
            </a:r>
          </a:p>
          <a:p>
            <a:r>
              <a:rPr lang="en-US" dirty="0" sz="1200"/>
              <a:t>None perform online RL weight updates</a:t>
            </a:r>
          </a:p>
          <a:p>
            <a:r>
              <a:rPr lang="en-US" dirty="0" sz="1200"/>
              <a:t>from live binary session signals.</a:t>
            </a:r>
          </a:p>
          <a:p>
            <a:r>
              <a:rPr lang="en-US" dirty="0" sz="1200"/>
              <a:t>→ APRR+CDR+PDR fills this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Literature Theme 3: Decentralised Multi-Agent</a:t>
            </a:r>
          </a:p>
          <a:p>
            <a:r>
              <a:rPr lang="en-US" dirty="0" sz="1200"/>
              <a:t>Coordination and Fault Tolerance.</a:t>
            </a:r>
          </a:p>
          <a:p>
            <a:r>
              <a:rPr lang="en-US" dirty="0" sz="1200"/>
              <a:t>This motivates Objective 3 — MNCD.</a:t>
            </a:r>
          </a:p>
          <a:p/>
          <a:p>
            <a:r>
              <a:rPr lang="en-US" dirty="0" sz="1200"/>
              <a:t>Key papers and titles:</a:t>
            </a:r>
          </a:p>
          <a:p/>
          <a:p>
            <a:r>
              <a:rPr lang="en-US" dirty="0" sz="1200"/>
              <a:t>AgentNet (Yang et al., 2025)</a:t>
            </a:r>
          </a:p>
          <a:p>
            <a:r>
              <a:rPr lang="en-US" dirty="0" sz="1200"/>
              <a:t>— Decentralised Evolutionary Coordination</a:t>
            </a:r>
          </a:p>
          <a:p>
            <a:r>
              <a:rPr lang="en-US" dirty="0" sz="1200"/>
              <a:t>for LLM Agents</a:t>
            </a:r>
          </a:p>
          <a:p>
            <a:r>
              <a:rPr lang="en-US" dirty="0" sz="1200"/>
              <a:t>Emergent specialisation via decentralised</a:t>
            </a:r>
          </a:p>
          <a:p>
            <a:r>
              <a:rPr lang="en-US" dirty="0" sz="1200"/>
              <a:t>coordination. No context mesh or Borda.</a:t>
            </a:r>
          </a:p>
          <a:p/>
          <a:p>
            <a:r>
              <a:rPr lang="en-US" dirty="0" sz="1200"/>
              <a:t>MAS Reliability (Zheng et al., 2025)</a:t>
            </a:r>
          </a:p>
          <a:p>
            <a:r>
              <a:rPr lang="en-US" dirty="0" sz="1200"/>
              <a:t>— Towards Reliable Multi-Agent Systems:</a:t>
            </a:r>
          </a:p>
          <a:p>
            <a:r>
              <a:rPr lang="en-US" dirty="0" sz="1200"/>
              <a:t>A Byzantine Fault-Tolerant Perspective</a:t>
            </a:r>
          </a:p>
          <a:p>
            <a:r>
              <a:rPr lang="en-US" dirty="0" sz="1200"/>
              <a:t>Byzantine fault model for MAS.</a:t>
            </a:r>
          </a:p>
          <a:p>
            <a:r>
              <a:rPr lang="en-US" dirty="0" sz="1200"/>
              <a:t>Validates MNCD 2-of-5 failure scenario.</a:t>
            </a:r>
          </a:p>
          <a:p/>
          <a:p>
            <a:r>
              <a:rPr lang="en-US" dirty="0" sz="1200"/>
              <a:t>MAS-FIRE (Jia et al., 2026)</a:t>
            </a:r>
          </a:p>
          <a:p>
            <a:r>
              <a:rPr lang="en-US" dirty="0" sz="1200"/>
              <a:t>— Fault Injection and Reliability Evaluation</a:t>
            </a:r>
          </a:p>
          <a:p>
            <a:r>
              <a:rPr lang="en-US" dirty="0" sz="1200"/>
              <a:t>for LLM Multi-Agent Systems</a:t>
            </a:r>
          </a:p>
          <a:p>
            <a:r>
              <a:rPr lang="en-US" dirty="0" sz="1200"/>
              <a:t>Fault injection benchmarking framework.</a:t>
            </a:r>
          </a:p>
          <a:p>
            <a:r>
              <a:rPr lang="en-US" dirty="0" sz="1200"/>
              <a:t>MNCD will use this evaluation method.</a:t>
            </a:r>
          </a:p>
          <a:p/>
          <a:p>
            <a:r>
              <a:rPr lang="en-US" dirty="0" sz="1200"/>
              <a:t>MorphAgent (Lu et al., 2024)</a:t>
            </a:r>
          </a:p>
          <a:p>
            <a:r>
              <a:rPr lang="en-US" dirty="0" sz="1200"/>
              <a:t>Self-evolving decentralised agent profiles.</a:t>
            </a:r>
          </a:p>
          <a:p>
            <a:r>
              <a:rPr lang="en-US" dirty="0" sz="1200"/>
              <a:t>Analogous to MNCD context node design.</a:t>
            </a:r>
          </a:p>
          <a:p/>
          <a:p>
            <a:r>
              <a:rPr lang="en-US" dirty="0" sz="1200"/>
              <a:t>LLM Multi-Agent Survey (Han et al., 2024)</a:t>
            </a:r>
          </a:p>
          <a:p>
            <a:r>
              <a:rPr lang="en-US" dirty="0" sz="1200"/>
              <a:t>Open problems confirmed: fault tolerance,</a:t>
            </a:r>
          </a:p>
          <a:p>
            <a:r>
              <a:rPr lang="en-US" dirty="0" sz="1200"/>
              <a:t>context sharing, coordination protocols.</a:t>
            </a:r>
          </a:p>
          <a:p/>
          <a:p>
            <a:r>
              <a:rPr lang="en-US" dirty="0" sz="1200"/>
              <a:t>Gossip Protocol in Fed. Learning (Husnoo, 2024)</a:t>
            </a:r>
          </a:p>
          <a:p>
            <a:r>
              <a:rPr lang="en-US" dirty="0" sz="1200"/>
              <a:t>P2P gossip for anomaly detection.</a:t>
            </a:r>
          </a:p>
          <a:p>
            <a:r>
              <a:rPr lang="en-US" dirty="0" sz="1200"/>
              <a:t>Validates gossip for distributed AI context.</a:t>
            </a:r>
          </a:p>
          <a:p/>
          <a:p>
            <a:r>
              <a:rPr lang="en-US" dirty="0" sz="1200"/>
              <a:t>Gossip Coord. in Agentic AI (Habiba &amp; Khan, 2025)</a:t>
            </a:r>
          </a:p>
          <a:p>
            <a:r>
              <a:rPr lang="en-US" dirty="0" sz="1200"/>
              <a:t>— arXiv:2508.01531 (open access)</a:t>
            </a:r>
          </a:p>
          <a:p>
            <a:r>
              <a:rPr lang="en-US" dirty="0" sz="1200"/>
              <a:t>Revisits gossip protocols for agentic AI.</a:t>
            </a:r>
          </a:p>
          <a:p>
            <a:r>
              <a:rPr lang="en-US" dirty="0" sz="1200"/>
              <a:t>Argues gossip provides fault-tolerant,</a:t>
            </a:r>
          </a:p>
          <a:p>
            <a:r>
              <a:rPr lang="en-US" dirty="0" sz="1200"/>
              <a:t>scalable context-sharing substrate.</a:t>
            </a:r>
          </a:p>
          <a:p>
            <a:r>
              <a:rPr lang="en-US" dirty="0" sz="1200"/>
              <a:t>Directly validates MNCD gossip-broadcast</a:t>
            </a:r>
          </a:p>
          <a:p>
            <a:r>
              <a:rPr lang="en-US" dirty="0" sz="1200"/>
              <a:t>design for LLM session context propagation.</a:t>
            </a:r>
          </a:p>
          <a:p/>
          <a:p>
            <a:r>
              <a:rPr lang="en-US" dirty="0" sz="1200"/>
              <a:t>FedCod (Yan et al., 2024)</a:t>
            </a:r>
          </a:p>
          <a:p>
            <a:r>
              <a:rPr lang="en-US" dirty="0" sz="1200"/>
              <a:t>— Efficient Communication Protocol</a:t>
            </a:r>
          </a:p>
          <a:p>
            <a:r>
              <a:rPr lang="en-US" dirty="0" sz="1200"/>
              <a:t>for Cross-Silo Federated Learning with Coding</a:t>
            </a:r>
          </a:p>
          <a:p>
            <a:r>
              <a:rPr lang="en-US" dirty="0" sz="1200"/>
              <a:t>Coded protocol; 62% communication time reduction.</a:t>
            </a:r>
          </a:p>
          <a:p>
            <a:r>
              <a:rPr lang="en-US" dirty="0" sz="1200"/>
              <a:t>Communication efficiency bounds for MNCD.</a:t>
            </a:r>
          </a:p>
          <a:p/>
          <a:p>
            <a:r>
              <a:rPr lang="en-US" dirty="0" sz="1200"/>
              <a:t>KEY INSIGHT:</a:t>
            </a:r>
          </a:p>
          <a:p>
            <a:r>
              <a:rPr lang="en-US" dirty="0" sz="1200"/>
              <a:t>No work applies gossip broadcast with</a:t>
            </a:r>
          </a:p>
          <a:p>
            <a:r>
              <a:rPr lang="en-US" dirty="0" sz="1200"/>
              <a:t>distress signalling to LLM session context.</a:t>
            </a:r>
          </a:p>
          <a:p>
            <a:r>
              <a:rPr lang="en-US" dirty="0" sz="1200"/>
              <a:t>→ MNCD fills this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Literature Theme 4: Adaptive Network Pruning</a:t>
            </a:r>
          </a:p>
          <a:p>
            <a:r>
              <a:rPr lang="en-US" dirty="0" sz="1200"/>
              <a:t>and Graph-Flow Optimisation.</a:t>
            </a:r>
          </a:p>
          <a:p>
            <a:r>
              <a:rPr lang="en-US" dirty="0" sz="1200"/>
              <a:t>This motivates Objective 4 — FCNP.</a:t>
            </a:r>
          </a:p>
          <a:p/>
          <a:p>
            <a:r>
              <a:rPr lang="en-US" dirty="0" sz="1200"/>
              <a:t>Key papers and titles:</a:t>
            </a:r>
          </a:p>
          <a:p/>
          <a:p>
            <a:r>
              <a:rPr lang="en-US" dirty="0" sz="1200"/>
              <a:t>Tero et al. (2010)</a:t>
            </a:r>
          </a:p>
          <a:p>
            <a:r>
              <a:rPr lang="en-US" dirty="0" sz="1200"/>
              <a:t>— Rules for Biologically Inspired</a:t>
            </a:r>
          </a:p>
          <a:p>
            <a:r>
              <a:rPr lang="en-US" dirty="0" sz="1200"/>
              <a:t>Adaptive Network Design (Science)</a:t>
            </a:r>
          </a:p>
          <a:p>
            <a:r>
              <a:rPr lang="en-US" dirty="0" sz="1200"/>
              <a:t>Adaptive transport network formalism.</a:t>
            </a:r>
          </a:p>
          <a:p>
            <a:r>
              <a:rPr lang="en-US" dirty="0" sz="1200"/>
              <a:t>Flow-controlled pruning rules adapted</a:t>
            </a:r>
          </a:p>
          <a:p>
            <a:r>
              <a:rPr lang="en-US" dirty="0" sz="1200"/>
              <a:t>to token-graph topology in FCNP.</a:t>
            </a:r>
          </a:p>
          <a:p/>
          <a:p>
            <a:r>
              <a:rPr lang="en-US" dirty="0" sz="1200"/>
              <a:t>Tero et al. (2007)</a:t>
            </a:r>
          </a:p>
          <a:p>
            <a:r>
              <a:rPr lang="en-US" dirty="0" sz="1200"/>
              <a:t>— A Mathematical Model for Adaptive</a:t>
            </a:r>
          </a:p>
          <a:p>
            <a:r>
              <a:rPr lang="en-US" dirty="0" sz="1200"/>
              <a:t>Transport Network in Path Finding</a:t>
            </a:r>
          </a:p>
          <a:p>
            <a:r>
              <a:rPr lang="en-US" dirty="0" sz="1200"/>
              <a:t>Path reinforcement model.</a:t>
            </a:r>
          </a:p>
          <a:p>
            <a:r>
              <a:rPr lang="en-US" dirty="0" sz="1200"/>
              <a:t>Basis for FCNP flow-score pruning.</a:t>
            </a:r>
          </a:p>
          <a:p/>
          <a:p>
            <a:r>
              <a:rPr lang="en-US" dirty="0" sz="1200"/>
              <a:t>Bonifaci et al. (2012)</a:t>
            </a:r>
          </a:p>
          <a:p>
            <a:r>
              <a:rPr lang="en-US" dirty="0" sz="1200"/>
              <a:t>— Physarum Can Compute Shortest Paths:</a:t>
            </a:r>
          </a:p>
          <a:p>
            <a:r>
              <a:rPr lang="en-US" dirty="0" sz="1200"/>
              <a:t>Convergence Proof (J. Theor. Biol.)</a:t>
            </a:r>
          </a:p>
          <a:p>
            <a:r>
              <a:rPr lang="en-US" dirty="0" sz="1200"/>
              <a:t>Convergence guarantee for FCNP</a:t>
            </a:r>
          </a:p>
          <a:p>
            <a:r>
              <a:rPr lang="en-US" dirty="0" sz="1200"/>
              <a:t>iterative pruning algorithm.</a:t>
            </a:r>
          </a:p>
          <a:p/>
          <a:p>
            <a:r>
              <a:rPr lang="en-US" dirty="0" sz="1200"/>
              <a:t>LoRA (Hu et al., 2022) — ICLR 2022</a:t>
            </a:r>
          </a:p>
          <a:p>
            <a:r>
              <a:rPr lang="en-US" dirty="0" sz="1200"/>
              <a:t>Low-rank adaptation for LLM fine-tuning.</a:t>
            </a:r>
          </a:p>
          <a:p>
            <a:r>
              <a:rPr lang="en-US" dirty="0" sz="1200"/>
              <a:t>Low-rank principle used in FCNP weight updates.</a:t>
            </a:r>
          </a:p>
          <a:p/>
          <a:p>
            <a:r>
              <a:rPr lang="en-US" dirty="0" sz="1200"/>
              <a:t>SparseGPT (Frantar et al., 2023) — ICML 2023</a:t>
            </a:r>
          </a:p>
          <a:p>
            <a:r>
              <a:rPr lang="en-US" dirty="0" sz="1200"/>
              <a:t>One-shot weight pruning.</a:t>
            </a:r>
          </a:p>
          <a:p>
            <a:r>
              <a:rPr lang="en-US" dirty="0" sz="1200"/>
              <a:t>One-shot baseline compared against FCNP.</a:t>
            </a:r>
          </a:p>
          <a:p/>
          <a:p>
            <a:r>
              <a:rPr lang="en-US" dirty="0" sz="1200"/>
              <a:t>Scissorhands (Liu et al., 2023) — NeurIPS 2023</a:t>
            </a:r>
          </a:p>
          <a:p>
            <a:r>
              <a:rPr lang="en-US" dirty="0" sz="1200"/>
              <a:t>Importance persistence for KV retention.</a:t>
            </a:r>
          </a:p>
          <a:p>
            <a:r>
              <a:rPr lang="en-US" dirty="0" sz="1200"/>
              <a:t>Reused in FCNP context-graph scoring.</a:t>
            </a:r>
          </a:p>
          <a:p>
            <a:r>
              <a:rPr lang="en-US" dirty="0" sz="1200"/>
              <a:t>Note: no citation preservation in Scissorhands.</a:t>
            </a:r>
          </a:p>
          <a:p/>
          <a:p>
            <a:r>
              <a:rPr lang="en-US" dirty="0" sz="1200"/>
              <a:t>AdaKV (Ge et al., 2024) — ICLR 2024</a:t>
            </a:r>
          </a:p>
          <a:p>
            <a:r>
              <a:rPr lang="en-US" dirty="0" sz="1200"/>
              <a:t>Adaptive KV budget guided by model internals.</a:t>
            </a:r>
          </a:p>
          <a:p>
            <a:r>
              <a:rPr lang="en-US" dirty="0" sz="1200"/>
              <a:t>Dynamic budget allocation in FCNP.</a:t>
            </a:r>
          </a:p>
          <a:p>
            <a:r>
              <a:rPr lang="en-US" dirty="0" sz="1200"/>
              <a:t>XAI-aligned interpretable scoring.</a:t>
            </a:r>
          </a:p>
          <a:p/>
          <a:p>
            <a:r>
              <a:rPr lang="en-US" dirty="0" sz="1200"/>
              <a:t>Finch (Corallo et al., 2024) — TACL 2024</a:t>
            </a:r>
          </a:p>
          <a:p>
            <a:r>
              <a:rPr lang="en-US" dirty="0" sz="1200"/>
              <a:t>Prompt-guided KV compression.</a:t>
            </a:r>
          </a:p>
          <a:p>
            <a:r>
              <a:rPr lang="en-US" dirty="0" sz="1200"/>
              <a:t>Complements FCNP citation-preserving compression.</a:t>
            </a:r>
          </a:p>
          <a:p/>
          <a:p>
            <a:r>
              <a:rPr lang="en-US" dirty="0" sz="1200"/>
              <a:t>KEY INSIGHT:</a:t>
            </a:r>
          </a:p>
          <a:p>
            <a:r>
              <a:rPr lang="en-US" dirty="0" sz="1200"/>
              <a:t>All compression works use attention patterns.</a:t>
            </a:r>
          </a:p>
          <a:p>
            <a:r>
              <a:rPr lang="en-US" dirty="0" sz="1200"/>
              <a:t>None preserve citation nodes.</a:t>
            </a:r>
          </a:p>
          <a:p>
            <a:r>
              <a:rPr lang="en-US" dirty="0" sz="1200"/>
              <a:t>None achieve 10:1 with ≥99% citation accuracy.</a:t>
            </a:r>
          </a:p>
          <a:p>
            <a:r>
              <a:rPr lang="en-US" dirty="0" sz="1200"/>
              <a:t>→ FCNP fills this gap using Kirchhoff flow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This slide consolidates the four literature gaps.</a:t>
            </a:r>
          </a:p>
          <a:p/>
          <a:p>
            <a:r>
              <a:rPr lang="en-US" dirty="0" sz="1200"/>
              <a:t>Gap 1 — Tool Retrieval:</a:t>
            </a:r>
          </a:p>
          <a:p>
            <a:r>
              <a:rPr lang="en-US" dirty="0" sz="1200"/>
              <a:t>No system uses session co-activation history</a:t>
            </a:r>
          </a:p>
          <a:p>
            <a:r>
              <a:rPr lang="en-US" dirty="0" sz="1200"/>
              <a:t>to rerank tools across multi-turn dialogue.</a:t>
            </a:r>
          </a:p>
          <a:p/>
          <a:p>
            <a:r>
              <a:rPr lang="en-US" dirty="0" sz="1200"/>
              <a:t>Gap 2 — Routing:</a:t>
            </a:r>
          </a:p>
          <a:p>
            <a:r>
              <a:rPr lang="en-US" dirty="0" sz="1200"/>
              <a:t>No published router does online RL weight updates</a:t>
            </a:r>
          </a:p>
          <a:p>
            <a:r>
              <a:rPr lang="en-US" dirty="0" sz="1200"/>
              <a:t>from live binary session success signals.</a:t>
            </a:r>
          </a:p>
          <a:p/>
          <a:p>
            <a:r>
              <a:rPr lang="en-US" dirty="0" sz="1200"/>
              <a:t>Gap 3 — Distributed Context:</a:t>
            </a:r>
          </a:p>
          <a:p>
            <a:r>
              <a:rPr lang="en-US" dirty="0" sz="1200"/>
              <a:t>No work applies gossip broadcast</a:t>
            </a:r>
          </a:p>
          <a:p>
            <a:r>
              <a:rPr lang="en-US" dirty="0" sz="1200"/>
              <a:t>to LLM session context with distress signalling</a:t>
            </a:r>
          </a:p>
          <a:p>
            <a:r>
              <a:rPr lang="en-US" dirty="0" sz="1200"/>
              <a:t>and citation-aware partial replication.</a:t>
            </a:r>
          </a:p>
          <a:p/>
          <a:p>
            <a:r>
              <a:rPr lang="en-US" dirty="0" sz="1200"/>
              <a:t>Gap 4 — Context Compression:</a:t>
            </a:r>
          </a:p>
          <a:p>
            <a:r>
              <a:rPr lang="en-US" dirty="0" sz="1200"/>
              <a:t>No system achieves 10:1 compression</a:t>
            </a:r>
          </a:p>
          <a:p>
            <a:r>
              <a:rPr lang="en-US" dirty="0" sz="1200"/>
              <a:t>while preserving citation-bearing nodes.</a:t>
            </a:r>
          </a:p>
          <a:p/>
          <a:p>
            <a:r>
              <a:rPr lang="en-US" dirty="0" sz="1200"/>
              <a:t>These four gaps co-occur in any realistic</a:t>
            </a:r>
          </a:p>
          <a:p>
            <a:r>
              <a:rPr lang="en-US" dirty="0" sz="1200"/>
              <a:t>multi-agent LLM system.</a:t>
            </a:r>
          </a:p>
          <a:p>
            <a:r>
              <a:rPr lang="en-US" dirty="0" sz="1200"/>
              <a:t>A system solving only one or two</a:t>
            </a:r>
          </a:p>
          <a:p>
            <a:r>
              <a:rPr lang="en-US" dirty="0" sz="1200"/>
              <a:t>is still unreliable in production.</a:t>
            </a:r>
          </a:p>
          <a:p>
            <a:r>
              <a:rPr lang="en-US" dirty="0" sz="1200"/>
              <a:t>ACRS addresses all four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From the four gaps, four research objectives:</a:t>
            </a:r>
          </a:p>
          <a:p/>
          <a:p>
            <a:r>
              <a:rPr lang="en-US" dirty="0" sz="1200"/>
              <a:t>Objective 1 — SessionRerank+:</a:t>
            </a:r>
          </a:p>
          <a:p>
            <a:r>
              <a:rPr lang="en-US" dirty="0" sz="1200"/>
              <a:t>Session-aware tool reranker.</a:t>
            </a:r>
          </a:p>
          <a:p>
            <a:r>
              <a:rPr lang="en-US" dirty="0" sz="1200"/>
              <a:t>Uses co-activation session graph.</a:t>
            </a:r>
          </a:p>
          <a:p>
            <a:r>
              <a:rPr lang="en-US" dirty="0" sz="1200"/>
              <a:t>Target: NDCG@5 ≥ 0.52 on ToolBench.</a:t>
            </a:r>
          </a:p>
          <a:p/>
          <a:p>
            <a:r>
              <a:rPr lang="en-US" dirty="0" sz="1200"/>
              <a:t>Objective 2 — APRR+CDR+PDR:</a:t>
            </a:r>
          </a:p>
          <a:p>
            <a:r>
              <a:rPr lang="en-US" dirty="0" sz="1200"/>
              <a:t>Online RL routing + CDR deliberation</a:t>
            </a:r>
          </a:p>
          <a:p>
            <a:r>
              <a:rPr lang="en-US" dirty="0" sz="1200"/>
              <a:t>+ PDR parallel dispatch.</a:t>
            </a:r>
          </a:p>
          <a:p>
            <a:r>
              <a:rPr lang="en-US" dirty="0" sz="1200"/>
              <a:t>Target: task success ≥ 47%, latency ≤ 265ms,</a:t>
            </a:r>
          </a:p>
          <a:p>
            <a:r>
              <a:rPr lang="en-US" dirty="0" sz="1200"/>
              <a:t>≥35% latency reduction vs static baseline.</a:t>
            </a:r>
          </a:p>
          <a:p/>
          <a:p>
            <a:r>
              <a:rPr lang="en-US" dirty="0" sz="1200"/>
              <a:t>Objective 3 — MNCD:</a:t>
            </a:r>
          </a:p>
          <a:p>
            <a:r>
              <a:rPr lang="en-US" dirty="0" sz="1200"/>
              <a:t>Gossip broadcast with R=3 replication</a:t>
            </a:r>
          </a:p>
          <a:p>
            <a:r>
              <a:rPr lang="en-US" dirty="0" sz="1200"/>
              <a:t>and distress signalling.</a:t>
            </a:r>
          </a:p>
          <a:p>
            <a:r>
              <a:rPr lang="en-US" dirty="0" sz="1200"/>
              <a:t>Target: ≥97% context availability</a:t>
            </a:r>
          </a:p>
          <a:p>
            <a:r>
              <a:rPr lang="en-US" dirty="0" sz="1200"/>
              <a:t>under 2-of-5 simultaneous node failures.</a:t>
            </a:r>
          </a:p>
          <a:p/>
          <a:p>
            <a:r>
              <a:rPr lang="en-US" dirty="0" sz="1200"/>
              <a:t>Objective 4 — FCNP:</a:t>
            </a:r>
          </a:p>
          <a:p>
            <a:r>
              <a:rPr lang="en-US" dirty="0" sz="1200"/>
              <a:t>Kirchhoff flow graph pruning</a:t>
            </a:r>
          </a:p>
          <a:p>
            <a:r>
              <a:rPr lang="en-US" dirty="0" sz="1200"/>
              <a:t>with citation-anchor preservation.</a:t>
            </a:r>
          </a:p>
          <a:p>
            <a:r>
              <a:rPr lang="en-US" dirty="0" sz="1200"/>
              <a:t>Target: 10:1 compression, ≥99% citation accuracy,</a:t>
            </a:r>
          </a:p>
          <a:p>
            <a:r>
              <a:rPr lang="en-US" dirty="0" sz="1200"/>
              <a:t>validated against 7 baselines.</a:t>
            </a:r>
          </a:p>
          <a:p/>
          <a:p>
            <a:r>
              <a:rPr lang="en-US" dirty="0" sz="1200"/>
              <a:t>These objectives form a pipeline:</a:t>
            </a:r>
          </a:p>
          <a:p>
            <a:r>
              <a:rPr lang="en-US" dirty="0" sz="1200"/>
              <a:t>Obj 1 feeds Obj 2 feeds Obj 3 feeds Obj 4.</a:t>
            </a:r>
          </a:p>
          <a:p>
            <a:r>
              <a:rPr lang="en-US" dirty="0" sz="1200"/>
              <a:t>Each one is necessary; none is sufficient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ACRS is the unified system integrating all four objectives.</a:t>
            </a:r>
          </a:p>
          <a:p/>
          <a:p>
            <a:r>
              <a:rPr lang="en-US" dirty="0" sz="1200"/>
              <a:t>Data flow summary:</a:t>
            </a:r>
          </a:p>
          <a:p/>
          <a:p>
            <a:r>
              <a:rPr lang="en-US" dirty="0" sz="1200"/>
              <a:t>1. User query enters the system.</a:t>
            </a:r>
          </a:p>
          <a:p>
            <a:r>
              <a:rPr lang="en-US" dirty="0" sz="1200"/>
              <a:t>2. SessionRerank+ queries the co-activation graph.</a:t>
            </a:r>
          </a:p>
          <a:p>
            <a:r>
              <a:rPr lang="en-US" dirty="0" sz="1200"/>
              <a:t xml:space="preserve">   Returns ranked top-K APIs.</a:t>
            </a:r>
          </a:p>
          <a:p>
            <a:r>
              <a:rPr lang="en-US" dirty="0" sz="1200"/>
              <a:t>3. APRR+CDR+PDR receives the ranked list.</a:t>
            </a:r>
          </a:p>
          <a:p>
            <a:r>
              <a:rPr lang="en-US" dirty="0" sz="1200"/>
              <a:t xml:space="preserve">   Classifies query type.</a:t>
            </a:r>
          </a:p>
          <a:p>
            <a:r>
              <a:rPr lang="en-US" dirty="0" sz="1200"/>
              <a:t xml:space="preserve">   Routes to specialist agents.</a:t>
            </a:r>
          </a:p>
          <a:p>
            <a:r>
              <a:rPr lang="en-US" dirty="0" sz="1200"/>
              <a:t>4. Agents execute sub-tasks.</a:t>
            </a:r>
          </a:p>
          <a:p>
            <a:r>
              <a:rPr lang="en-US" dirty="0" sz="1200"/>
              <a:t xml:space="preserve">   Draw on session context from MNCD mesh.</a:t>
            </a:r>
          </a:p>
          <a:p>
            <a:r>
              <a:rPr lang="en-US" dirty="0" sz="1200"/>
              <a:t>5. MNCD runs gossip in background.</a:t>
            </a:r>
          </a:p>
          <a:p>
            <a:r>
              <a:rPr lang="en-US" dirty="0" sz="1200"/>
              <a:t xml:space="preserve">   Keeps all node context replicas in sync.</a:t>
            </a:r>
          </a:p>
          <a:p>
            <a:r>
              <a:rPr lang="en-US" dirty="0" sz="1200"/>
              <a:t>6. FCNP compresses the context graph</a:t>
            </a:r>
          </a:p>
          <a:p>
            <a:r>
              <a:rPr lang="en-US" dirty="0" sz="1200"/>
              <a:t xml:space="preserve">   after each turn.</a:t>
            </a:r>
          </a:p>
          <a:p>
            <a:r>
              <a:rPr lang="en-US" dirty="0" sz="1200"/>
              <a:t xml:space="preserve">   Citation anchors are never pruned.</a:t>
            </a:r>
          </a:p>
          <a:p>
            <a:r>
              <a:rPr lang="en-US" dirty="0" sz="1200"/>
              <a:t>7. Success/failure signals update</a:t>
            </a:r>
          </a:p>
          <a:p>
            <a:r>
              <a:rPr lang="en-US" dirty="0" sz="1200"/>
              <a:t xml:space="preserve">   SessionRerank+ edge weights</a:t>
            </a:r>
          </a:p>
          <a:p>
            <a:r>
              <a:rPr lang="en-US" dirty="0" sz="1200"/>
              <a:t xml:space="preserve">   and APRR routing weights W.</a:t>
            </a:r>
          </a:p>
          <a:p/>
          <a:p>
            <a:r>
              <a:rPr lang="en-US" dirty="0" sz="1200"/>
              <a:t>Integration: the co-activation graph in Obj 1</a:t>
            </a:r>
          </a:p>
          <a:p>
            <a:r>
              <a:rPr lang="en-US" dirty="0" sz="1200"/>
              <a:t>and the context graph in Obj 4</a:t>
            </a:r>
          </a:p>
          <a:p>
            <a:r>
              <a:rPr lang="en-US" dirty="0" sz="1200"/>
              <a:t>share session identifiers and citation metadata.</a:t>
            </a:r>
          </a:p>
          <a:p>
            <a:r>
              <a:rPr lang="en-US" dirty="0" sz="1200"/>
              <a:t>This is one system, not four separate papers.</a:t>
            </a:r>
          </a:p>
          <a:p/>
          <a:p>
            <a:r>
              <a:rPr lang="en-US" dirty="0" sz="1200"/>
              <a:t>Real-world anchor:</a:t>
            </a:r>
          </a:p>
          <a:p>
            <a:r>
              <a:rPr lang="en-US" dirty="0" sz="1200"/>
              <a:t>All agents connect to live data.gov.in feeds.</a:t>
            </a:r>
          </a:p>
          <a:p>
            <a:r>
              <a:rPr lang="en-US" dirty="0" sz="1200"/>
              <a:t>Responses are source-attributed to government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Objective 1 divider: SessionRerank+</a:t>
            </a:r>
          </a:p>
          <a:p>
            <a:r>
              <a:rPr lang="en-US" dirty="0" sz="1200"/>
              <a:t>Session-Aware Contextual Tool Reranker Plus.</a:t>
            </a:r>
          </a:p>
          <a:p/>
          <a:p>
            <a:r>
              <a:rPr lang="en-US" dirty="0" sz="1200"/>
              <a:t>Core question:</a:t>
            </a:r>
          </a:p>
          <a:p>
            <a:r>
              <a:rPr lang="en-US" dirty="0" sz="1200"/>
              <a:t>Given 43,000+ APIs in the ToolBench catalog</a:t>
            </a:r>
          </a:p>
          <a:p>
            <a:r>
              <a:rPr lang="en-US" dirty="0" sz="1200"/>
              <a:t>and a user in a multi-turn session —</a:t>
            </a:r>
          </a:p>
          <a:p>
            <a:r>
              <a:rPr lang="en-US" dirty="0" sz="1200"/>
              <a:t>how do we rank APIs so that session-relevant tools</a:t>
            </a:r>
          </a:p>
          <a:p>
            <a:r>
              <a:rPr lang="en-US" dirty="0" sz="1200"/>
              <a:t>surface higher than static similarity would suggest?</a:t>
            </a:r>
          </a:p>
          <a:p/>
          <a:p>
            <a:r>
              <a:rPr lang="en-US" dirty="0" sz="1200"/>
              <a:t>Answer:</a:t>
            </a:r>
          </a:p>
          <a:p>
            <a:r>
              <a:rPr lang="en-US" dirty="0" sz="1200"/>
              <a:t>A session co-activation graph</a:t>
            </a:r>
          </a:p>
          <a:p>
            <a:r>
              <a:rPr lang="en-US" dirty="0" sz="1200"/>
              <a:t>with exponential temporal discount</a:t>
            </a:r>
          </a:p>
          <a:p>
            <a:r>
              <a:rPr lang="en-US" dirty="0" sz="1200"/>
              <a:t>and online edge weight updates.</a:t>
            </a:r>
          </a:p>
          <a:p/>
          <a:p>
            <a:r>
              <a:rPr lang="en-US" dirty="0" sz="1200"/>
              <a:t>Intuition:</a:t>
            </a:r>
          </a:p>
          <a:p>
            <a:r>
              <a:rPr lang="en-US" dirty="0" sz="1200"/>
              <a:t>If API A and API B co-activated in the same turn,</a:t>
            </a:r>
          </a:p>
          <a:p>
            <a:r>
              <a:rPr lang="en-US" dirty="0" sz="1200"/>
              <a:t>then when A appears in a later turn,</a:t>
            </a:r>
          </a:p>
          <a:p>
            <a:r>
              <a:rPr lang="en-US" dirty="0" sz="1200"/>
              <a:t>B deserves a score boost —</a:t>
            </a:r>
          </a:p>
          <a:p>
            <a:r>
              <a:rPr lang="en-US" dirty="0" sz="1200"/>
              <a:t>discounted by how far back the co-activation was.</a:t>
            </a:r>
          </a:p>
          <a:p/>
          <a:p>
            <a:r>
              <a:rPr lang="en-US" dirty="0" sz="1200"/>
              <a:t>This is the central mechanism of Objective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SessionRerank+ full scoring function:</a:t>
            </a:r>
          </a:p>
          <a:p/>
          <a:p>
            <a:r>
              <a:rPr lang="en-US" dirty="0" sz="1200"/>
              <a:t>score(q, api) = w_s × s_n + w_m × m + w_h × φ_n</a:t>
            </a:r>
          </a:p>
          <a:p/>
          <a:p>
            <a:r>
              <a:rPr lang="en-US" dirty="0" sz="1200"/>
              <a:t>Where:</a:t>
            </a:r>
          </a:p>
          <a:p>
            <a:r>
              <a:rPr lang="en-US" dirty="0" sz="1200"/>
              <a:t>- s_n = standard semantic similarity score</a:t>
            </a:r>
          </a:p>
          <a:p>
            <a:r>
              <a:rPr lang="en-US" dirty="0" sz="1200"/>
              <a:t>- m   = metadata relevance score</a:t>
            </a:r>
          </a:p>
          <a:p>
            <a:r>
              <a:rPr lang="en-US" dirty="0" sz="1200"/>
              <a:t>- φ_n = session co-activation history score</a:t>
            </a:r>
          </a:p>
          <a:p>
            <a:r>
              <a:rPr lang="en-US" dirty="0" sz="1200"/>
              <a:t>- w_s, w_m, w_h sum to 1 (learned from validation)</a:t>
            </a:r>
          </a:p>
          <a:p/>
          <a:p>
            <a:r>
              <a:rPr lang="en-US" dirty="0" sz="1200"/>
              <a:t>The session co-activation score φ_n:</a:t>
            </a:r>
          </a:p>
          <a:p/>
          <a:p>
            <a:r>
              <a:rPr lang="en-US" dirty="0" sz="1200"/>
              <a:t>φ_n = Σ γ^(n−i) × log(1 + w_{h_i, v})</a:t>
            </a:r>
          </a:p>
          <a:p/>
          <a:p>
            <a:r>
              <a:rPr lang="en-US" dirty="0" sz="1200"/>
              <a:t>- γ = 0.7 temporal discount factor</a:t>
            </a:r>
          </a:p>
          <a:p>
            <a:r>
              <a:rPr lang="en-US" dirty="0" sz="1200"/>
              <a:t xml:space="preserve">  (turns further back get less weight)</a:t>
            </a:r>
          </a:p>
          <a:p>
            <a:r>
              <a:rPr lang="en-US" dirty="0" sz="1200"/>
              <a:t>- log prevents runaway amplification</a:t>
            </a:r>
          </a:p>
          <a:p>
            <a:r>
              <a:rPr lang="en-US" dirty="0" sz="1200"/>
              <a:t xml:space="preserve">  when one API is used many times</a:t>
            </a:r>
          </a:p>
          <a:p>
            <a:r>
              <a:rPr lang="en-US" dirty="0" sz="1200"/>
              <a:t>- w_{h_i, v} = edge weight between</a:t>
            </a:r>
          </a:p>
          <a:p>
            <a:r>
              <a:rPr lang="en-US" dirty="0" sz="1200"/>
              <a:t xml:space="preserve">  historical context and current API candidate</a:t>
            </a:r>
          </a:p>
          <a:p/>
          <a:p>
            <a:r>
              <a:rPr lang="en-US" dirty="0" sz="1200"/>
              <a:t>Online edge update rule:</a:t>
            </a:r>
          </a:p>
          <a:p>
            <a:r>
              <a:rPr lang="en-US" dirty="0" sz="1200"/>
              <a:t>w_{u,v} ← (1−ρ)×w_{u,v} + δ×1[success]</a:t>
            </a:r>
          </a:p>
          <a:p/>
          <a:p>
            <a:r>
              <a:rPr lang="en-US" dirty="0" sz="1200"/>
              <a:t>- ρ = 0.02 decay rate (50-session half-life)</a:t>
            </a:r>
          </a:p>
          <a:p>
            <a:r>
              <a:rPr lang="en-US" dirty="0" sz="1200"/>
              <a:t>- δ = 1.0 reward for successful co-activation</a:t>
            </a:r>
          </a:p>
          <a:p/>
          <a:p>
            <a:r>
              <a:rPr lang="en-US" dirty="0" sz="1200"/>
              <a:t>Why γ = 0.7?</a:t>
            </a:r>
          </a:p>
          <a:p>
            <a:r>
              <a:rPr lang="en-US" dirty="0" sz="1200"/>
              <a:t>Ablation over {0.5, 0.6, 0.7, 0.8, 0.9}.</a:t>
            </a:r>
          </a:p>
          <a:p>
            <a:r>
              <a:rPr lang="en-US" dirty="0" sz="1200"/>
              <a:t>γ = 0.7 minimises validation NDCG@5 loss</a:t>
            </a:r>
          </a:p>
          <a:p>
            <a:r>
              <a:rPr lang="en-US" dirty="0" sz="1200"/>
              <a:t>while keeping effective history window ~5 turns.</a:t>
            </a:r>
          </a:p>
          <a:p/>
          <a:p>
            <a:r>
              <a:rPr lang="en-US" dirty="0" sz="1200"/>
              <a:t>Target metric: NDCG@5 ≥ 0.52</a:t>
            </a:r>
          </a:p>
          <a:p>
            <a:r>
              <a:rPr lang="en-US" dirty="0" sz="1200"/>
              <a:t>(not hit-rate — rank matters in 43k catalog)</a:t>
            </a:r>
          </a:p>
          <a:p/>
          <a:p>
            <a:r>
              <a:rPr lang="en-US" dirty="0" sz="1200"/>
              <a:t>Pilot result: NDCG@5 = 0.461</a:t>
            </a:r>
          </a:p>
          <a:p>
            <a:r>
              <a:rPr lang="en-US" dirty="0" sz="1200"/>
              <a:t>n=500 test queries, p&lt;0.0001</a:t>
            </a:r>
          </a:p>
          <a:p>
            <a:r>
              <a:rPr lang="en-US" dirty="0" sz="1200"/>
              <a:t>Full study will use 15+ turn sessions</a:t>
            </a:r>
          </a:p>
          <a:p>
            <a:r>
              <a:rPr lang="en-US" dirty="0" sz="1200"/>
              <a:t>for richer co-activation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This architecture diagram shows</a:t>
            </a:r>
          </a:p>
          <a:p>
            <a:r>
              <a:rPr lang="en-US" dirty="0" sz="1200"/>
              <a:t>the two-layer design of SessionRerank+.</a:t>
            </a:r>
          </a:p>
          <a:p/>
          <a:p>
            <a:r>
              <a:rPr lang="en-US" dirty="0" sz="1200"/>
              <a:t>Left: Session co-activation graph.</a:t>
            </a:r>
          </a:p>
          <a:p>
            <a:r>
              <a:rPr lang="en-US" dirty="0" sz="1200"/>
              <a:t>- Nodes = API identifiers</a:t>
            </a:r>
          </a:p>
          <a:p>
            <a:r>
              <a:rPr lang="en-US" dirty="0" sz="1200"/>
              <a:t>- Edges = co-activation frequency</a:t>
            </a:r>
          </a:p>
          <a:p>
            <a:r>
              <a:rPr lang="en-US" dirty="0" sz="1200"/>
              <a:t xml:space="preserve">  decayed over session turns</a:t>
            </a:r>
          </a:p>
          <a:p>
            <a:r>
              <a:rPr lang="en-US" dirty="0" sz="1200"/>
              <a:t>- Edge update cycle runs after each turn</a:t>
            </a:r>
          </a:p>
          <a:p/>
          <a:p>
            <a:r>
              <a:rPr lang="en-US" dirty="0" sz="1200"/>
              <a:t>Right: Scoring pipeline.</a:t>
            </a:r>
          </a:p>
          <a:p>
            <a:r>
              <a:rPr lang="en-US" dirty="0" sz="1200"/>
              <a:t>- Query embedded via ToolBench dense encoder → s_n</a:t>
            </a:r>
          </a:p>
          <a:p>
            <a:r>
              <a:rPr lang="en-US" dirty="0" sz="1200"/>
              <a:t>- Co-activation graph queried → φ_n for top-50 candidates</a:t>
            </a:r>
          </a:p>
          <a:p>
            <a:r>
              <a:rPr lang="en-US" dirty="0" sz="1200"/>
              <a:t>- Three scores combined with learned weights</a:t>
            </a:r>
          </a:p>
          <a:p>
            <a:r>
              <a:rPr lang="en-US" dirty="0" sz="1200"/>
              <a:t>- Final reranked list returned</a:t>
            </a:r>
          </a:p>
          <a:p/>
          <a:p>
            <a:r>
              <a:rPr lang="en-US" dirty="0" sz="1200"/>
              <a:t>Key engineering design:</a:t>
            </a:r>
          </a:p>
          <a:p>
            <a:r>
              <a:rPr lang="en-US" dirty="0" sz="1200"/>
              <a:t>Graph update path and query scoring path</a:t>
            </a:r>
          </a:p>
          <a:p>
            <a:r>
              <a:rPr lang="en-US" dirty="0" sz="1200"/>
              <a:t>are DECOUPLED (run asynchronously).</a:t>
            </a:r>
          </a:p>
          <a:p/>
          <a:p>
            <a:r>
              <a:rPr lang="en-US" dirty="0" sz="1200"/>
              <a:t>Graph updates happen in background thread</a:t>
            </a:r>
          </a:p>
          <a:p>
            <a:r>
              <a:rPr lang="en-US" dirty="0" sz="1200"/>
              <a:t>triggered by success signals.</a:t>
            </a:r>
          </a:p>
          <a:p>
            <a:r>
              <a:rPr lang="en-US" dirty="0" sz="1200"/>
              <a:t>Scoring runs synchronously in query path.</a:t>
            </a:r>
          </a:p>
          <a:p/>
          <a:p>
            <a:r>
              <a:rPr lang="en-US" dirty="0" sz="1200"/>
              <a:t>This keeps scoring latency bounded at ~12ms.</a:t>
            </a:r>
          </a:p>
          <a:p>
            <a:r>
              <a:rPr lang="en-US" dirty="0" sz="1200"/>
              <a:t>If updates were synchronous,</a:t>
            </a:r>
          </a:p>
          <a:p>
            <a:r>
              <a:rPr lang="en-US" dirty="0" sz="1200"/>
              <a:t>every query would stall waiting for</a:t>
            </a:r>
          </a:p>
          <a:p>
            <a:r>
              <a:rPr lang="en-US" dirty="0" sz="1200"/>
              <a:t>edge recalculation across 43,000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Algorithm flow for a single query</a:t>
            </a:r>
          </a:p>
          <a:p>
            <a:r>
              <a:rPr lang="en-US" dirty="0" sz="1200"/>
              <a:t>through SessionRerank+.</a:t>
            </a:r>
          </a:p>
          <a:p/>
          <a:p>
            <a:r>
              <a:rPr lang="en-US" dirty="0" sz="1200"/>
              <a:t>Step 1: Query arrives.</a:t>
            </a:r>
          </a:p>
          <a:p>
            <a:r>
              <a:rPr lang="en-US" dirty="0" sz="1200"/>
              <a:t>If first turn → φ_n = 0, pure semantic scoring.</a:t>
            </a:r>
          </a:p>
          <a:p>
            <a:r>
              <a:rPr lang="en-US" dirty="0" sz="1200"/>
              <a:t>From turn 2 onward → co-activation graph is live.</a:t>
            </a:r>
          </a:p>
          <a:p/>
          <a:p>
            <a:r>
              <a:rPr lang="en-US" dirty="0" sz="1200"/>
              <a:t>Step 2: Dense encoder retrieves top-50 candidates.</a:t>
            </a:r>
          </a:p>
          <a:p>
            <a:r>
              <a:rPr lang="en-US" dirty="0" sz="1200"/>
              <a:t>(Standard ToolBench BM25 + dense retrieval)</a:t>
            </a:r>
          </a:p>
          <a:p/>
          <a:p>
            <a:r>
              <a:rPr lang="en-US" dirty="0" sz="1200"/>
              <a:t>Step 3: φ_n computed for each of 50 candidates.</a:t>
            </a:r>
          </a:p>
          <a:p>
            <a:r>
              <a:rPr lang="en-US" dirty="0" sz="1200"/>
              <a:t>Traverse co-activation graph edges</a:t>
            </a:r>
          </a:p>
          <a:p>
            <a:r>
              <a:rPr lang="en-US" dirty="0" sz="1200"/>
              <a:t>from current session's active API set.</a:t>
            </a:r>
          </a:p>
          <a:p/>
          <a:p>
            <a:r>
              <a:rPr lang="en-US" dirty="0" sz="1200"/>
              <a:t>Step 4: Weighted composite score computed.</a:t>
            </a:r>
          </a:p>
          <a:p>
            <a:r>
              <a:rPr lang="en-US" dirty="0" sz="1200"/>
              <a:t>List re-sorted.</a:t>
            </a:r>
          </a:p>
          <a:p/>
          <a:p>
            <a:r>
              <a:rPr lang="en-US" dirty="0" sz="1200"/>
              <a:t>Step 5: Top-5 reranked APIs returned</a:t>
            </a:r>
          </a:p>
          <a:p>
            <a:r>
              <a:rPr lang="en-US" dirty="0" sz="1200"/>
              <a:t>to agent dispatcher.</a:t>
            </a:r>
          </a:p>
          <a:p/>
          <a:p>
            <a:r>
              <a:rPr lang="en-US" dirty="0" sz="1200"/>
              <a:t>Step 6: Execution success/failure signal</a:t>
            </a:r>
          </a:p>
          <a:p>
            <a:r>
              <a:rPr lang="en-US" dirty="0" sz="1200"/>
              <a:t>fed back into edge weight updater.</a:t>
            </a:r>
          </a:p>
          <a:p/>
          <a:p>
            <a:r>
              <a:rPr lang="en-US" dirty="0" sz="1200"/>
              <a:t>Critical path latency: ~12ms for steps 2–4.</a:t>
            </a:r>
          </a:p>
          <a:p>
            <a:r>
              <a:rPr lang="en-US" dirty="0" sz="1200"/>
              <a:t>Graph traversal: O(k × d)</a:t>
            </a:r>
          </a:p>
          <a:p>
            <a:r>
              <a:rPr lang="en-US" dirty="0" sz="1200"/>
              <a:t>k = 50 candidates, d = average node degree (~8–12).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Objective 2 divider: APRR+CDR+PDR.</a:t>
            </a:r>
          </a:p>
          <a:p/>
          <a:p>
            <a:r>
              <a:rPr lang="en-US" dirty="0" sz="1200"/>
              <a:t>Three routing strategies working as one system:</a:t>
            </a:r>
          </a:p>
          <a:p/>
          <a:p>
            <a:r>
              <a:rPr lang="en-US" dirty="0" sz="1200"/>
              <a:t>APRR — Adaptive Priority-aware Request Router.</a:t>
            </a:r>
          </a:p>
          <a:p>
            <a:r>
              <a:rPr lang="en-US" dirty="0" sz="1200"/>
              <a:t>Online RL weight matrix.</a:t>
            </a:r>
          </a:p>
          <a:p>
            <a:r>
              <a:rPr lang="en-US" dirty="0" sz="1200"/>
              <a:t>Updates every session.</a:t>
            </a:r>
          </a:p>
          <a:p/>
          <a:p>
            <a:r>
              <a:rPr lang="en-US" dirty="0" sz="1200"/>
              <a:t>CDR — Context-Driven Routing.</a:t>
            </a:r>
          </a:p>
          <a:p>
            <a:r>
              <a:rPr lang="en-US" dirty="0" sz="1200"/>
              <a:t>Deliberation gate for ambiguous queries.</a:t>
            </a:r>
          </a:p>
          <a:p>
            <a:r>
              <a:rPr lang="en-US" dirty="0" sz="1200"/>
              <a:t>CoT quality scoring before dispatch.</a:t>
            </a:r>
          </a:p>
          <a:p/>
          <a:p>
            <a:r>
              <a:rPr lang="en-US" dirty="0" sz="1200"/>
              <a:t>PDR — Parallel Dispatch Routing.</a:t>
            </a:r>
          </a:p>
          <a:p>
            <a:r>
              <a:rPr lang="en-US" dirty="0" sz="1200"/>
              <a:t>Decomposes multi-task queries.</a:t>
            </a:r>
          </a:p>
          <a:p>
            <a:r>
              <a:rPr lang="en-US" dirty="0" sz="1200"/>
              <a:t>Dispatches sub-tasks simultaneously.</a:t>
            </a:r>
          </a:p>
          <a:p/>
          <a:p>
            <a:r>
              <a:rPr lang="en-US" dirty="0" sz="1200"/>
              <a:t>Why three components?</a:t>
            </a:r>
          </a:p>
          <a:p>
            <a:r>
              <a:rPr lang="en-US" dirty="0" sz="1200"/>
              <a:t>Each addresses a different routing failure mode:</a:t>
            </a:r>
          </a:p>
          <a:p>
            <a:r>
              <a:rPr lang="en-US" dirty="0" sz="1200"/>
              <a:t>- APRR: frozen policy cannot respond to live failures.</a:t>
            </a:r>
          </a:p>
          <a:p>
            <a:r>
              <a:rPr lang="en-US" dirty="0" sz="1200"/>
              <a:t>- CDR: high-entropy queries get dispatched wrong.</a:t>
            </a:r>
          </a:p>
          <a:p>
            <a:r>
              <a:rPr lang="en-US" dirty="0" sz="1200"/>
              <a:t>- PDR: sequential dispatch wastes time on parallel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APRR routing probability:</a:t>
            </a:r>
          </a:p>
          <a:p/>
          <a:p>
            <a:r>
              <a:rPr lang="en-US" dirty="0" sz="1200"/>
              <a:t>P(a_j | a_i, q) ∝ W_{ij}^n × η_{ij}^d × ψ_j(q)^β</a:t>
            </a:r>
          </a:p>
          <a:p/>
          <a:p>
            <a:r>
              <a:rPr lang="en-US" dirty="0" sz="1200"/>
              <a:t>Where:</a:t>
            </a:r>
          </a:p>
          <a:p>
            <a:r>
              <a:rPr lang="en-US" dirty="0" sz="1200"/>
              <a:t>- W_{ij}^n = learned routing weight (updated per session)</a:t>
            </a:r>
          </a:p>
          <a:p>
            <a:r>
              <a:rPr lang="en-US" dirty="0" sz="1200"/>
              <a:t>- η_{ij}^d = drift penalty (agent j vs historical baseline)</a:t>
            </a:r>
          </a:p>
          <a:p>
            <a:r>
              <a:rPr lang="en-US" dirty="0" sz="1200"/>
              <a:t>- ψ_j(q)^β = query-agent affinity × query type weight</a:t>
            </a:r>
          </a:p>
          <a:p/>
          <a:p>
            <a:r>
              <a:rPr lang="en-US" dirty="0" sz="1200"/>
              <a:t>Weight update rule:</a:t>
            </a:r>
          </a:p>
          <a:p>
            <a:r>
              <a:rPr lang="en-US" dirty="0" sz="1200"/>
              <a:t>W ← (1−λ)×W + κ×1[success]/(L² × lat_norm)</a:t>
            </a:r>
          </a:p>
          <a:p/>
          <a:p>
            <a:r>
              <a:rPr lang="en-US" dirty="0" sz="1200"/>
              <a:t>- λ = 0.005 decay rate</a:t>
            </a:r>
          </a:p>
          <a:p>
            <a:r>
              <a:rPr lang="en-US" dirty="0" sz="1200"/>
              <a:t>- κ = 5.0 learning rate</a:t>
            </a:r>
          </a:p>
          <a:p>
            <a:r>
              <a:rPr lang="en-US" dirty="0" sz="1200"/>
              <a:t>- L = routing path length (longer paths penalised quadratically)</a:t>
            </a:r>
          </a:p>
          <a:p>
            <a:r>
              <a:rPr lang="en-US" dirty="0" sz="1200"/>
              <a:t>- lat_norm = current latency normalisation</a:t>
            </a:r>
          </a:p>
          <a:p>
            <a:r>
              <a:rPr lang="en-US" dirty="0" sz="1200"/>
              <a:t>- ε = 0.15 fixed exploration rate (does not decay to zero)</a:t>
            </a:r>
          </a:p>
          <a:p/>
          <a:p>
            <a:r>
              <a:rPr lang="en-US" dirty="0" sz="1200"/>
              <a:t>Why ε does not decay?</a:t>
            </a:r>
          </a:p>
          <a:p>
            <a:r>
              <a:rPr lang="en-US" dirty="0" sz="1200"/>
              <a:t>Environment is non-stationary.</a:t>
            </a:r>
          </a:p>
          <a:p>
            <a:r>
              <a:rPr lang="en-US" dirty="0" sz="1200"/>
              <a:t>Agents change, latencies shift, new agents added.</a:t>
            </a:r>
          </a:p>
          <a:p>
            <a:r>
              <a:rPr lang="en-US" dirty="0" sz="1200"/>
              <a:t>Decaying ε → stuck in local optimum.</a:t>
            </a:r>
          </a:p>
          <a:p/>
          <a:p>
            <a:r>
              <a:rPr lang="en-US" dirty="0" sz="1200"/>
              <a:t>CDR — Context-Driven Routing:</a:t>
            </a:r>
          </a:p>
          <a:p>
            <a:r>
              <a:rPr lang="en-US" dirty="0" sz="1200"/>
              <a:t>Intercepts high-entropy routing decisions (~18% of queries).</a:t>
            </a:r>
          </a:p>
          <a:p>
            <a:r>
              <a:rPr lang="en-US" dirty="0" sz="1200"/>
              <a:t>Runs lightweight CoT scoring (~35ms on 7B model).</a:t>
            </a:r>
          </a:p>
          <a:p>
            <a:r>
              <a:rPr lang="en-US" dirty="0" sz="1200"/>
              <a:t>If CoT score below threshold → escalate to stronger agent.</a:t>
            </a:r>
          </a:p>
          <a:p/>
          <a:p>
            <a:r>
              <a:rPr lang="en-US" dirty="0" sz="1200"/>
              <a:t>PDR — Parallel Dispatch Routing:</a:t>
            </a:r>
          </a:p>
          <a:p>
            <a:r>
              <a:rPr lang="en-US" dirty="0" sz="1200"/>
              <a:t>Decomposes multi-task queries via functional token markers.</a:t>
            </a:r>
          </a:p>
          <a:p>
            <a:r>
              <a:rPr lang="en-US" dirty="0" sz="1200"/>
              <a:t>Each sub-task → specialist agent in parallel.</a:t>
            </a:r>
          </a:p>
          <a:p>
            <a:r>
              <a:rPr lang="en-US" dirty="0" sz="1200"/>
              <a:t>Wall-clock time = max(lat_1...lat_k) not sum.</a:t>
            </a:r>
          </a:p>
          <a:p>
            <a:r>
              <a:rPr lang="en-US" dirty="0" sz="1200"/>
              <a:t>3-task parallel = ~65% of sequential time.</a:t>
            </a:r>
          </a:p>
          <a:p>
            <a:r>
              <a:rPr lang="en-US" dirty="0" sz="1200"/>
              <a:t>PDR alone contributes −22% latency.</a:t>
            </a:r>
          </a:p>
          <a:p/>
          <a:p>
            <a:r>
              <a:rPr lang="en-US" dirty="0" sz="1200"/>
              <a:t>Year 1 pilot results:</a:t>
            </a:r>
          </a:p>
          <a:p>
            <a:r>
              <a:rPr lang="en-US" dirty="0" sz="1200"/>
              <a:t>- Task success: 47.0%</a:t>
            </a:r>
          </a:p>
          <a:p>
            <a:r>
              <a:rPr lang="en-US" dirty="0" sz="1200"/>
              <a:t>- Average latency: 261ms</a:t>
            </a:r>
          </a:p>
          <a:p>
            <a:r>
              <a:rPr lang="en-US" dirty="0" sz="1200"/>
              <a:t>- Latency reduction: 35.7% vs static baseline</a:t>
            </a:r>
          </a:p>
          <a:p>
            <a:r>
              <a:rPr lang="en-US" dirty="0" sz="1200"/>
              <a:t>- Hop reduction: 23.9%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Objective 2 architecture shows</a:t>
            </a:r>
          </a:p>
          <a:p>
            <a:r>
              <a:rPr lang="en-US" dirty="0" sz="1200"/>
              <a:t>three concentric decision layers.</a:t>
            </a:r>
          </a:p>
          <a:p/>
          <a:p>
            <a:r>
              <a:rPr lang="en-US" dirty="0" sz="1200"/>
              <a:t>Outer: Query classifier.</a:t>
            </a:r>
          </a:p>
          <a:p>
            <a:r>
              <a:rPr lang="en-US" dirty="0" sz="1200"/>
              <a:t>Labels query as:</a:t>
            </a:r>
          </a:p>
          <a:p>
            <a:r>
              <a:rPr lang="en-US" dirty="0" sz="1200"/>
              <a:t>(a) high-confidence single-task</a:t>
            </a:r>
          </a:p>
          <a:p>
            <a:r>
              <a:rPr lang="en-US" dirty="0" sz="1200"/>
              <a:t>(b) ambiguous single-task</a:t>
            </a:r>
          </a:p>
          <a:p>
            <a:r>
              <a:rPr lang="en-US" dirty="0" sz="1200"/>
              <a:t>(c) decomposable multi-task</a:t>
            </a:r>
          </a:p>
          <a:p/>
          <a:p>
            <a:r>
              <a:rPr lang="en-US" dirty="0" sz="1200"/>
              <a:t>High-confidence → APRR direct dispatch.</a:t>
            </a:r>
          </a:p>
          <a:p/>
          <a:p>
            <a:r>
              <a:rPr lang="en-US" dirty="0" sz="1200"/>
              <a:t>Ambiguous → CDR CoT scorer (~35ms).</a:t>
            </a:r>
          </a:p>
          <a:p>
            <a:r>
              <a:rPr lang="en-US" dirty="0" sz="1200"/>
              <a:t>Score above threshold → APRR dispatch.</a:t>
            </a:r>
          </a:p>
          <a:p>
            <a:r>
              <a:rPr lang="en-US" dirty="0" sz="1200"/>
              <a:t>Score below threshold → escalate to stronger agent.</a:t>
            </a:r>
          </a:p>
          <a:p/>
          <a:p>
            <a:r>
              <a:rPr lang="en-US" dirty="0" sz="1200"/>
              <a:t>Decomposable → PDR decomposition engine.</a:t>
            </a:r>
          </a:p>
          <a:p>
            <a:r>
              <a:rPr lang="en-US" dirty="0" sz="1200"/>
              <a:t>Parses functional token boundaries.</a:t>
            </a:r>
          </a:p>
          <a:p>
            <a:r>
              <a:rPr lang="en-US" dirty="0" sz="1200"/>
              <a:t>Fans out to k specialist agents simultaneously.</a:t>
            </a:r>
          </a:p>
          <a:p/>
          <a:p>
            <a:r>
              <a:rPr lang="en-US" dirty="0" sz="1200"/>
              <a:t>All three paths reconverge at result aggregator.</a:t>
            </a:r>
          </a:p>
          <a:p>
            <a:r>
              <a:rPr lang="en-US" dirty="0" sz="1200"/>
              <a:t>Aggregator computes session-level success signal.</a:t>
            </a:r>
          </a:p>
          <a:p>
            <a:r>
              <a:rPr lang="en-US" dirty="0" sz="1200"/>
              <a:t>That signal updates both APRR weight matrix</a:t>
            </a:r>
          </a:p>
          <a:p>
            <a:r>
              <a:rPr lang="en-US" dirty="0" sz="1200"/>
              <a:t>and CDR confidence threshold calibration.</a:t>
            </a:r>
          </a:p>
          <a:p/>
          <a:p>
            <a:r>
              <a:rPr lang="en-US" dirty="0" sz="1200"/>
              <a:t>Key integration:</a:t>
            </a:r>
          </a:p>
          <a:p>
            <a:r>
              <a:rPr lang="en-US" dirty="0" sz="1200"/>
              <a:t>APRR, CDR, and PDR share</a:t>
            </a:r>
          </a:p>
          <a:p>
            <a:r>
              <a:rPr lang="en-US" dirty="0" sz="1200"/>
              <a:t>the session state bus.</a:t>
            </a:r>
          </a:p>
          <a:p>
            <a:r>
              <a:rPr lang="en-US" dirty="0" sz="1200"/>
              <a:t>All three adapt together — not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Algorithm flow for one complete routing cycle.</a:t>
            </a:r>
          </a:p>
          <a:p>
            <a:r>
              <a:rPr lang="en-US" dirty="0" sz="1200"/>
              <a:t>Query: decomposable multi-task.</a:t>
            </a:r>
          </a:p>
          <a:p/>
          <a:p>
            <a:r>
              <a:rPr lang="en-US" dirty="0" sz="1200"/>
              <a:t>Step 1: Query arrives.</a:t>
            </a:r>
          </a:p>
          <a:p>
            <a:r>
              <a:rPr lang="en-US" dirty="0" sz="1200"/>
              <a:t>Classifier computes entropy over routing distribution.</a:t>
            </a:r>
          </a:p>
          <a:p>
            <a:r>
              <a:rPr lang="en-US" dirty="0" sz="1200"/>
              <a:t>Entropy &gt; θ_cdr → trigger CDR.</a:t>
            </a:r>
          </a:p>
          <a:p>
            <a:r>
              <a:rPr lang="en-US" dirty="0" sz="1200"/>
              <a:t>Decomposability score &gt; θ_pdr → trigger PDR.</a:t>
            </a:r>
          </a:p>
          <a:p>
            <a:r>
              <a:rPr lang="en-US" dirty="0" sz="1200"/>
              <a:t>Both can trigger simultaneously.</a:t>
            </a:r>
          </a:p>
          <a:p/>
          <a:p>
            <a:r>
              <a:rPr lang="en-US" dirty="0" sz="1200"/>
              <a:t>Step 2 (PDR path):</a:t>
            </a:r>
          </a:p>
          <a:p>
            <a:r>
              <a:rPr lang="en-US" dirty="0" sz="1200"/>
              <a:t>Decompose into sub-tasks T1, T2, T3.</a:t>
            </a:r>
          </a:p>
          <a:p>
            <a:r>
              <a:rPr lang="en-US" dirty="0" sz="1200"/>
              <a:t>Each tagged with agent affinity vector ψ_j.</a:t>
            </a:r>
          </a:p>
          <a:p/>
          <a:p>
            <a:r>
              <a:rPr lang="en-US" dirty="0" sz="1200"/>
              <a:t>Step 3: Sub-tasks dispatched in parallel.</a:t>
            </a:r>
          </a:p>
          <a:p>
            <a:r>
              <a:rPr lang="en-US" dirty="0" sz="1200"/>
              <a:t>Each agent processes independently.</a:t>
            </a:r>
          </a:p>
          <a:p>
            <a:r>
              <a:rPr lang="en-US" dirty="0" sz="1200"/>
              <a:t>Draws on local context slice from MNCD.</a:t>
            </a:r>
          </a:p>
          <a:p/>
          <a:p>
            <a:r>
              <a:rPr lang="en-US" dirty="0" sz="1200"/>
              <a:t>Step 4 (CDR path, concurrent):</a:t>
            </a:r>
          </a:p>
          <a:p>
            <a:r>
              <a:rPr lang="en-US" dirty="0" sz="1200"/>
              <a:t>CoT scorer evaluates top-2 candidate agents.</a:t>
            </a:r>
          </a:p>
          <a:p>
            <a:r>
              <a:rPr lang="en-US" dirty="0" sz="1200"/>
              <a:t>If score &lt; threshold → escalation flag raised.</a:t>
            </a:r>
          </a:p>
          <a:p/>
          <a:p>
            <a:r>
              <a:rPr lang="en-US" dirty="0" sz="1200"/>
              <a:t>Step 5: Results aggregated.</a:t>
            </a:r>
          </a:p>
          <a:p>
            <a:r>
              <a:rPr lang="en-US" dirty="0" sz="1200"/>
              <a:t>If CDR escalation flag raised →</a:t>
            </a:r>
          </a:p>
          <a:p>
            <a:r>
              <a:rPr lang="en-US" dirty="0" sz="1200"/>
              <a:t>aggregate routes to stronger agent.</a:t>
            </a:r>
          </a:p>
          <a:p/>
          <a:p>
            <a:r>
              <a:rPr lang="en-US" dirty="0" sz="1200"/>
              <a:t>Step 6: Final result returned.</a:t>
            </a:r>
          </a:p>
          <a:p>
            <a:r>
              <a:rPr lang="en-US" dirty="0" sz="1200"/>
              <a:t>Success/failure signal broadcast to</a:t>
            </a:r>
          </a:p>
          <a:p>
            <a:r>
              <a:rPr lang="en-US" dirty="0" sz="1200"/>
              <a:t>APRR weight updater via session state bus.</a:t>
            </a:r>
          </a:p>
          <a:p/>
          <a:p>
            <a:r>
              <a:rPr lang="en-US" dirty="0" sz="1200"/>
              <a:t>Total wall-clock: ~261ms average.</a:t>
            </a:r>
          </a:p>
          <a:p>
            <a:r>
              <a:rPr lang="en-US" dirty="0" sz="1200"/>
              <a:t>Dominant cost: parallel agent execution (~180ms).</a:t>
            </a:r>
          </a:p>
          <a:p>
            <a:r>
              <a:rPr lang="en-US" dirty="0" sz="1200"/>
              <a:t>CDR scoring (~35ms) runs off the critical path.</a:t>
            </a:r>
          </a:p>
          <a:p>
            <a:r>
              <a:rPr lang="en-US" dirty="0" sz="1200"/>
              <a:t>PDR dispatch begins before CDR completes.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Objective 3 divider: MNCD —</a:t>
            </a:r>
          </a:p>
          <a:p>
            <a:r>
              <a:rPr lang="en-US" dirty="0" sz="1200"/>
              <a:t>Multi-Node Context Distribution.</a:t>
            </a:r>
          </a:p>
          <a:p/>
          <a:p>
            <a:r>
              <a:rPr lang="en-US" dirty="0" sz="1200"/>
              <a:t>This objective addresses the infrastructure layer.</a:t>
            </a:r>
          </a:p>
          <a:p>
            <a:r>
              <a:rPr lang="en-US" dirty="0" sz="1200"/>
              <a:t>Even if Obj 1 and Obj 2 work perfectly,</a:t>
            </a:r>
          </a:p>
          <a:p>
            <a:r>
              <a:rPr lang="en-US" dirty="0" sz="1200"/>
              <a:t>they are useless if context is lost</a:t>
            </a:r>
          </a:p>
          <a:p>
            <a:r>
              <a:rPr lang="en-US" dirty="0" sz="1200"/>
              <a:t>because a node failed.</a:t>
            </a:r>
          </a:p>
          <a:p/>
          <a:p>
            <a:r>
              <a:rPr lang="en-US" dirty="0" sz="1200"/>
              <a:t>Reliability is not optional.</a:t>
            </a:r>
          </a:p>
          <a:p>
            <a:r>
              <a:rPr lang="en-US" dirty="0" sz="1200"/>
              <a:t>It is the condition under which</a:t>
            </a:r>
          </a:p>
          <a:p>
            <a:r>
              <a:rPr lang="en-US" dirty="0" sz="1200"/>
              <a:t>everything else runs.</a:t>
            </a:r>
          </a:p>
          <a:p/>
          <a:p>
            <a:r>
              <a:rPr lang="en-US" dirty="0" sz="1200"/>
              <a:t>Failure scenario:</a:t>
            </a:r>
          </a:p>
          <a:p>
            <a:r>
              <a:rPr lang="en-US" dirty="0" sz="1200"/>
              <a:t>5-agent mesh.</a:t>
            </a:r>
          </a:p>
          <a:p>
            <a:r>
              <a:rPr lang="en-US" dirty="0" sz="1200"/>
              <a:t>Any 2-of-5 nodes fail simultaneously.</a:t>
            </a:r>
          </a:p>
          <a:p>
            <a:r>
              <a:rPr lang="en-US" dirty="0" sz="1200"/>
              <a:t>Target: context availability ≥ 97%.</a:t>
            </a:r>
          </a:p>
          <a:p>
            <a:r>
              <a:rPr lang="en-US" dirty="0" sz="1200"/>
              <a:t>Baseline (single-agent): 44%.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MNCD uses gossip-based epidemic broadcast.</a:t>
            </a:r>
          </a:p>
          <a:p>
            <a:r>
              <a:rPr lang="en-US" dirty="0" sz="1200"/>
              <a:t>Adapted from distributed systems literature</a:t>
            </a:r>
          </a:p>
          <a:p>
            <a:r>
              <a:rPr lang="en-US" dirty="0" sz="1200"/>
              <a:t>to the specific semantics of LLM session context.</a:t>
            </a:r>
          </a:p>
          <a:p/>
          <a:p>
            <a:r>
              <a:rPr lang="en-US" dirty="0" sz="1200"/>
              <a:t>Core mechanism:</a:t>
            </a:r>
          </a:p>
          <a:p>
            <a:r>
              <a:rPr lang="en-US" dirty="0" sz="1200"/>
              <a:t>When a node updates its context,</a:t>
            </a:r>
          </a:p>
          <a:p>
            <a:r>
              <a:rPr lang="en-US" dirty="0" sz="1200"/>
              <a:t>it gossips the delta to R=3 randomly selected peers.</a:t>
            </a:r>
          </a:p>
          <a:p>
            <a:r>
              <a:rPr lang="en-US" dirty="0" sz="1200"/>
              <a:t>Those peers gossip to their own peers.</a:t>
            </a:r>
          </a:p>
          <a:p>
            <a:r>
              <a:rPr lang="en-US" dirty="0" sz="1200"/>
              <a:t>Full diffusion time: O(log N).</a:t>
            </a:r>
          </a:p>
          <a:p>
            <a:r>
              <a:rPr lang="en-US" dirty="0" sz="1200"/>
              <a:t>For N=5: effectively 2–3 gossip rounds.</a:t>
            </a:r>
          </a:p>
          <a:p/>
          <a:p>
            <a:r>
              <a:rPr lang="en-US" dirty="0" sz="1200"/>
              <a:t>Gossip weight function:</a:t>
            </a:r>
          </a:p>
          <a:p>
            <a:r>
              <a:rPr lang="en-US" dirty="0" sz="1200"/>
              <a:t>w(p,q) = α×s_pq + (1−α)×1/(1+ℓ_pq)</a:t>
            </a:r>
          </a:p>
          <a:p/>
          <a:p>
            <a:r>
              <a:rPr lang="en-US" dirty="0" sz="1200"/>
              <a:t>- s_pq = semantic similarity between node contexts</a:t>
            </a:r>
          </a:p>
          <a:p>
            <a:r>
              <a:rPr lang="en-US" dirty="0" sz="1200"/>
              <a:t>- ℓ_pq = network latency between nodes</a:t>
            </a:r>
          </a:p>
          <a:p>
            <a:r>
              <a:rPr lang="en-US" dirty="0" sz="1200"/>
              <a:t>- α = 0.3 (latency is more reliable signal)</a:t>
            </a:r>
          </a:p>
          <a:p/>
          <a:p>
            <a:r>
              <a:rPr lang="en-US" dirty="0" sz="1200"/>
              <a:t>Distress signal — key novel mechanism:</a:t>
            </a:r>
          </a:p>
          <a:p>
            <a:r>
              <a:rPr lang="en-US" dirty="0" sz="1200"/>
              <a:t>When node's local coherence c_local &lt; τ=0.55 →</a:t>
            </a:r>
          </a:p>
          <a:p>
            <a:r>
              <a:rPr lang="en-US" dirty="0" sz="1200"/>
              <a:t>node broadcasts help request to all live nodes.</a:t>
            </a:r>
          </a:p>
          <a:p>
            <a:r>
              <a:rPr lang="en-US" dirty="0" sz="1200"/>
              <a:t>Live nodes respond with freshest missing chunks.</a:t>
            </a:r>
          </a:p>
          <a:p>
            <a:r>
              <a:rPr lang="en-US" dirty="0" sz="1200"/>
              <a:t>τ = 0.55 triggers BEFORE coherence loss</a:t>
            </a:r>
          </a:p>
          <a:p>
            <a:r>
              <a:rPr lang="en-US" dirty="0" sz="1200"/>
              <a:t>is visible to the agent.</a:t>
            </a:r>
          </a:p>
          <a:p/>
          <a:p>
            <a:r>
              <a:rPr lang="en-US" dirty="0" sz="1200"/>
              <a:t>Failure detection threshold:</a:t>
            </a:r>
          </a:p>
          <a:p>
            <a:r>
              <a:rPr lang="en-US" dirty="0" sz="1200"/>
              <a:t>φ* = 8 missed heartbeats.</a:t>
            </a:r>
          </a:p>
          <a:p>
            <a:r>
              <a:rPr lang="en-US" dirty="0" sz="1200"/>
              <a:t>Tuned to minimise false positives</a:t>
            </a:r>
          </a:p>
          <a:p>
            <a:r>
              <a:rPr lang="en-US" dirty="0" sz="1200"/>
              <a:t>while failing fast enough for redistribution.</a:t>
            </a:r>
          </a:p>
          <a:p/>
          <a:p>
            <a:r>
              <a:rPr lang="en-US" dirty="0" sz="1200"/>
              <a:t>Why R=3 replication?</a:t>
            </a:r>
          </a:p>
          <a:p>
            <a:r>
              <a:rPr lang="en-US" dirty="0" sz="1200"/>
              <a:t>R=2: P(total replica loss under 2-of-5 failure) ~10% per chunk.</a:t>
            </a:r>
          </a:p>
          <a:p>
            <a:r>
              <a:rPr lang="en-US" dirty="0" sz="1200"/>
              <a:t>R=4: 80% redundancy — expensive.</a:t>
            </a:r>
          </a:p>
          <a:p>
            <a:r>
              <a:rPr lang="en-US" dirty="0" sz="1200"/>
              <a:t>R=3: 60% redundancy, near-zero total loss probability.</a:t>
            </a:r>
          </a:p>
          <a:p/>
          <a:p>
            <a:r>
              <a:rPr lang="en-US" dirty="0" sz="1200"/>
              <a:t>Year 1 results:</a:t>
            </a:r>
          </a:p>
          <a:p>
            <a:r>
              <a:rPr lang="en-US" dirty="0" sz="1200"/>
              <a:t>- No failure: 97.5% context availability</a:t>
            </a:r>
          </a:p>
          <a:p>
            <a:r>
              <a:rPr lang="en-US" dirty="0" sz="1200"/>
              <a:t>- 2-of-5 failure: 97.0% context availability</a:t>
            </a:r>
          </a:p>
          <a:p>
            <a:r>
              <a:rPr lang="en-US" dirty="0" sz="1200"/>
              <a:t>- Baseline (single-agent): 44%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MNCD architecture: 5-node agent mesh.</a:t>
            </a:r>
          </a:p>
          <a:p/>
          <a:p>
            <a:r>
              <a:rPr lang="en-US" dirty="0" sz="1200"/>
              <a:t>Each node has three layers:</a:t>
            </a:r>
          </a:p>
          <a:p>
            <a:r>
              <a:rPr lang="en-US" dirty="0" sz="1200"/>
              <a:t>1. Local context store (primary replica)</a:t>
            </a:r>
          </a:p>
          <a:p>
            <a:r>
              <a:rPr lang="en-US" dirty="0" sz="1200"/>
              <a:t>2. Partial replica buffer (gossipped chunks)</a:t>
            </a:r>
          </a:p>
          <a:p>
            <a:r>
              <a:rPr lang="en-US" dirty="0" sz="1200"/>
              <a:t>3. Gossip interface</a:t>
            </a:r>
          </a:p>
          <a:p/>
          <a:p>
            <a:r>
              <a:rPr lang="en-US" dirty="0" sz="1200"/>
              <a:t>Gossip connections shown as weighted edges.</a:t>
            </a:r>
          </a:p>
          <a:p>
            <a:r>
              <a:rPr lang="en-US" dirty="0" sz="1200"/>
              <a:t>Heavier edges = higher gossip preference w(p,q).</a:t>
            </a:r>
          </a:p>
          <a:p/>
          <a:p>
            <a:r>
              <a:rPr lang="en-US" dirty="0" sz="1200"/>
              <a:t>Asymmetry:</a:t>
            </a:r>
          </a:p>
          <a:p>
            <a:r>
              <a:rPr lang="en-US" dirty="0" sz="1200"/>
              <a:t>Node 1 prefers Node 3 (similar context semantics).</a:t>
            </a:r>
          </a:p>
          <a:p>
            <a:r>
              <a:rPr lang="en-US" dirty="0" sz="1200"/>
              <a:t>Node 5 prefers Node 2 (lowest latency link).</a:t>
            </a:r>
          </a:p>
          <a:p>
            <a:r>
              <a:rPr lang="en-US" dirty="0" sz="1200"/>
              <a:t>Topology is session-aware, not random.</a:t>
            </a:r>
          </a:p>
          <a:p/>
          <a:p>
            <a:r>
              <a:rPr lang="en-US" dirty="0" sz="1200"/>
              <a:t>Distress signal path highlighted:</a:t>
            </a:r>
          </a:p>
          <a:p>
            <a:r>
              <a:rPr lang="en-US" dirty="0" sz="1200"/>
              <a:t>Node 3 drops below τ=0.55.</a:t>
            </a:r>
          </a:p>
          <a:p>
            <a:r>
              <a:rPr lang="en-US" dirty="0" sz="1200"/>
              <a:t>Broadcast to Nodes 1, 2, 4, 5.</a:t>
            </a:r>
          </a:p>
          <a:p>
            <a:r>
              <a:rPr lang="en-US" dirty="0" sz="1200"/>
              <a:t>Coherence recovers within 2 gossip rounds.</a:t>
            </a:r>
          </a:p>
          <a:p/>
          <a:p>
            <a:r>
              <a:rPr lang="en-US" dirty="0" sz="1200"/>
              <a:t>Failure scenario:</a:t>
            </a:r>
          </a:p>
          <a:p>
            <a:r>
              <a:rPr lang="en-US" dirty="0" sz="1200"/>
              <a:t>Nodes 2 and 4 go dark.</a:t>
            </a:r>
          </a:p>
          <a:p>
            <a:r>
              <a:rPr lang="en-US" dirty="0" sz="1200"/>
              <a:t>Context chunks from those nodes (red)</a:t>
            </a:r>
          </a:p>
          <a:p>
            <a:r>
              <a:rPr lang="en-US" dirty="0" sz="1200"/>
              <a:t>redistribute to Nodes 1, 3, 5</a:t>
            </a:r>
          </a:p>
          <a:p>
            <a:r>
              <a:rPr lang="en-US" dirty="0" sz="1200"/>
              <a:t>via existing partial replicas.</a:t>
            </a:r>
          </a:p>
          <a:p/>
          <a:p>
            <a:r>
              <a:rPr lang="en-US" dirty="0" sz="1200"/>
              <a:t>This redistribution is what delivers</a:t>
            </a:r>
          </a:p>
          <a:p>
            <a:r>
              <a:rPr lang="en-US" dirty="0" sz="1200"/>
              <a:t>97% availability vs 44%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Distress recovery cycle — step by step.</a:t>
            </a:r>
          </a:p>
          <a:p/>
          <a:p>
            <a:r>
              <a:rPr lang="en-US" dirty="0" sz="1200"/>
              <a:t>Step 1: Node 3 runs coherence check.</a:t>
            </a:r>
          </a:p>
          <a:p>
            <a:r>
              <a:rPr lang="en-US" dirty="0" sz="1200"/>
              <a:t>c_local = 0.48 &lt; τ = 0.55.</a:t>
            </a:r>
          </a:p>
          <a:p>
            <a:r>
              <a:rPr lang="en-US" dirty="0" sz="1200"/>
              <a:t>Distress flag raised.</a:t>
            </a:r>
          </a:p>
          <a:p/>
          <a:p>
            <a:r>
              <a:rPr lang="en-US" dirty="0" sz="1200"/>
              <a:t>Step 2: Broadcast to all live nodes (1, 2, 4, 5).</a:t>
            </a:r>
          </a:p>
          <a:p>
            <a:r>
              <a:rPr lang="en-US" dirty="0" sz="1200"/>
              <a:t>Each live node identifies chunks</a:t>
            </a:r>
          </a:p>
          <a:p>
            <a:r>
              <a:rPr lang="en-US" dirty="0" sz="1200"/>
              <a:t>missing from Node 3's index.</a:t>
            </a:r>
          </a:p>
          <a:p/>
          <a:p>
            <a:r>
              <a:rPr lang="en-US" dirty="0" sz="1200"/>
              <a:t>Step 3: Live nodes send highest-priority</a:t>
            </a:r>
          </a:p>
          <a:p>
            <a:r>
              <a:rPr lang="en-US" dirty="0" sz="1200"/>
              <a:t>missing chunks to Node 3.</a:t>
            </a:r>
          </a:p>
          <a:p>
            <a:r>
              <a:rPr lang="en-US" dirty="0" sz="1200"/>
              <a:t>Priority = recency + citation-anchor status.</a:t>
            </a:r>
          </a:p>
          <a:p>
            <a:r>
              <a:rPr lang="en-US" dirty="0" sz="1200"/>
              <a:t>Citation-anchored chunks sent first.</a:t>
            </a:r>
          </a:p>
          <a:p/>
          <a:p>
            <a:r>
              <a:rPr lang="en-US" dirty="0" sz="1200"/>
              <a:t>Step 4: Node 3 merges received chunks.</a:t>
            </a:r>
          </a:p>
          <a:p>
            <a:r>
              <a:rPr lang="en-US" dirty="0" sz="1200"/>
              <a:t>Coherence recomputed: c_local = 0.61 &gt; τ.</a:t>
            </a:r>
          </a:p>
          <a:p>
            <a:r>
              <a:rPr lang="en-US" dirty="0" sz="1200"/>
              <a:t>Distress flag cleared.</a:t>
            </a:r>
          </a:p>
          <a:p/>
          <a:p>
            <a:r>
              <a:rPr lang="en-US" dirty="0" sz="1200"/>
              <a:t>Step 5: Normal gossip resumes.</a:t>
            </a:r>
          </a:p>
          <a:p>
            <a:r>
              <a:rPr lang="en-US" dirty="0" sz="1200"/>
              <a:t>Gossip weight function updates to slightly</a:t>
            </a:r>
          </a:p>
          <a:p>
            <a:r>
              <a:rPr lang="en-US" dirty="0" sz="1200"/>
              <a:t>favour nodes that provided most useful chunks.</a:t>
            </a:r>
          </a:p>
          <a:p/>
          <a:p>
            <a:r>
              <a:rPr lang="en-US" dirty="0" sz="1200"/>
              <a:t>Round-trip time: ~18ms.</a:t>
            </a:r>
          </a:p>
          <a:p>
            <a:r>
              <a:rPr lang="en-US" dirty="0" sz="1200"/>
              <a:t>Invisible to user-facing agent latency.</a:t>
            </a:r>
          </a:p>
          <a:p>
            <a:r>
              <a:rPr lang="en-US" dirty="0" sz="1200"/>
              <a:t>System heals faster than session produces new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Objective 4 divider: FCNP —</a:t>
            </a:r>
          </a:p>
          <a:p>
            <a:r>
              <a:rPr lang="en-US" dirty="0" sz="1200"/>
              <a:t>Flow-Conductance-based Neural Pruning.</a:t>
            </a:r>
          </a:p>
          <a:p/>
          <a:p>
            <a:r>
              <a:rPr lang="en-US" dirty="0" sz="1200"/>
              <a:t>This keeps the system from running out of memory.</a:t>
            </a:r>
          </a:p>
          <a:p/>
          <a:p>
            <a:r>
              <a:rPr lang="en-US" dirty="0" sz="1200"/>
              <a:t>Everything else in ACRS assumes context is</a:t>
            </a:r>
          </a:p>
          <a:p>
            <a:r>
              <a:rPr lang="en-US" dirty="0" sz="1200"/>
              <a:t>available, coherent, and routable.</a:t>
            </a:r>
          </a:p>
          <a:p>
            <a:r>
              <a:rPr lang="en-US" dirty="0" sz="1200"/>
              <a:t>FCNP is what keeps those assumptions valid</a:t>
            </a:r>
          </a:p>
          <a:p>
            <a:r>
              <a:rPr lang="en-US" dirty="0" sz="1200"/>
              <a:t>over long sessions.</a:t>
            </a:r>
          </a:p>
          <a:p/>
          <a:p>
            <a:r>
              <a:rPr lang="en-US" dirty="0" sz="1200"/>
              <a:t>Target:</a:t>
            </a:r>
          </a:p>
          <a:p>
            <a:r>
              <a:rPr lang="en-US" dirty="0" sz="1200"/>
              <a:t>10:1 compression of context graph.</a:t>
            </a:r>
          </a:p>
          <a:p>
            <a:r>
              <a:rPr lang="en-US" dirty="0" sz="1200"/>
              <a:t>≥99% citation accuracy.</a:t>
            </a:r>
          </a:p>
          <a:p/>
          <a:p>
            <a:r>
              <a:rPr lang="en-US" dirty="0" sz="1200"/>
              <a:t>The citation accuracy target is the harder constraint.</a:t>
            </a:r>
          </a:p>
          <a:p>
            <a:r>
              <a:rPr lang="en-US" dirty="0" sz="1200"/>
              <a:t>Anyone can compress 10:1</a:t>
            </a:r>
          </a:p>
          <a:p>
            <a:r>
              <a:rPr lang="en-US" dirty="0" sz="1200"/>
              <a:t>if they don't care what they delete.</a:t>
            </a:r>
          </a:p>
          <a:p/>
          <a:p>
            <a:r>
              <a:rPr lang="en-US" dirty="0" sz="1200"/>
              <a:t>FCNP incorporates Explainable AI (XAI) transparency.</a:t>
            </a:r>
          </a:p>
          <a:p>
            <a:r>
              <a:rPr lang="en-US" dirty="0" sz="1200"/>
              <a:t>Every pruning decision is logged</a:t>
            </a:r>
          </a:p>
          <a:p>
            <a:r>
              <a:rPr lang="en-US" dirty="0" sz="1200"/>
              <a:t>via flow-score traces — fully auditable.</a:t>
            </a:r>
          </a:p>
          <a:p>
            <a:r>
              <a:rPr lang="en-US" dirty="0" sz="1200"/>
              <a:t>Users and auditors can trace why each token was kept or pruned.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FCNP models session context as graph:</a:t>
            </a:r>
          </a:p>
          <a:p>
            <a:r>
              <a:rPr lang="en-US" dirty="0" sz="1200"/>
              <a:t>G = (V, E)</a:t>
            </a:r>
          </a:p>
          <a:p>
            <a:r>
              <a:rPr lang="en-US" dirty="0" sz="1200"/>
              <a:t>V = token-level nodes</a:t>
            </a:r>
          </a:p>
          <a:p>
            <a:r>
              <a:rPr lang="en-US" dirty="0" sz="1200"/>
              <a:t>E = attention dependency edges</a:t>
            </a:r>
          </a:p>
          <a:p/>
          <a:p>
            <a:r>
              <a:rPr lang="en-US" dirty="0" sz="1200"/>
              <a:t>What is novel: the Kirchhoff flow-field scoring.</a:t>
            </a:r>
          </a:p>
          <a:p/>
          <a:p>
            <a:r>
              <a:rPr lang="en-US" dirty="0" sz="1200"/>
              <a:t>Assign conductance to each edge</a:t>
            </a:r>
          </a:p>
          <a:p>
            <a:r>
              <a:rPr lang="en-US" dirty="0" sz="1200"/>
              <a:t>proportional to attention weight.</a:t>
            </a:r>
          </a:p>
          <a:p>
            <a:r>
              <a:rPr lang="en-US" dirty="0" sz="1200"/>
              <a:t>Solve Kirchhoff potential field:</a:t>
            </a:r>
          </a:p>
          <a:p>
            <a:r>
              <a:rPr lang="en-US" dirty="0" sz="1200"/>
              <a:t>L(D) × p = I</a:t>
            </a:r>
          </a:p>
          <a:p/>
          <a:p>
            <a:r>
              <a:rPr lang="en-US" dirty="0" sz="1200"/>
              <a:t>Where:</a:t>
            </a:r>
          </a:p>
          <a:p>
            <a:r>
              <a:rPr lang="en-US" dirty="0" sz="1200"/>
              <a:t>- L(D) = weighted graph Laplacian</a:t>
            </a:r>
          </a:p>
          <a:p>
            <a:r>
              <a:rPr lang="en-US" dirty="0" sz="1200"/>
              <a:t>- p = potential vector</a:t>
            </a:r>
          </a:p>
          <a:p>
            <a:r>
              <a:rPr lang="en-US" dirty="0" sz="1200"/>
              <a:t>- I = source current at high-importance input nodes</a:t>
            </a:r>
          </a:p>
          <a:p/>
          <a:p>
            <a:r>
              <a:rPr lang="en-US" dirty="0" sz="1200"/>
              <a:t>Nodes with HIGH potential = critical junctions.</a:t>
            </a:r>
          </a:p>
          <a:p>
            <a:r>
              <a:rPr lang="en-US" dirty="0" sz="1200"/>
              <a:t>Information must flow through them.</a:t>
            </a:r>
          </a:p>
          <a:p>
            <a:r>
              <a:rPr lang="en-US" dirty="0" sz="1200"/>
              <a:t>Safe to prune: near-zero potential nodes.</a:t>
            </a:r>
          </a:p>
          <a:p/>
          <a:p>
            <a:r>
              <a:rPr lang="en-US" dirty="0" sz="1200"/>
              <a:t>Dynamic conductance update:</a:t>
            </a:r>
          </a:p>
          <a:p>
            <a:r>
              <a:rPr lang="en-US" dirty="0" sz="1200"/>
              <a:t>D_{ij}(t+1) = (1−μ)×D_{ij}(t) + α×|Q_{ij}|^γ</a:t>
            </a:r>
          </a:p>
          <a:p/>
          <a:p>
            <a:r>
              <a:rPr lang="en-US" dirty="0" sz="1200"/>
              <a:t>- μ = 0.10 decay rate (inactive edges fade slowly)</a:t>
            </a:r>
          </a:p>
          <a:p>
            <a:r>
              <a:rPr lang="en-US" dirty="0" sz="1200"/>
              <a:t>- |Q_{ij}| = recent attention flow on edge (i,j)</a:t>
            </a:r>
          </a:p>
          <a:p>
            <a:r>
              <a:rPr lang="en-US" dirty="0" sz="1200"/>
              <a:t>Convergence: Σ|D(t+1)−D(t)| &lt; ε×ΣD(t)</a:t>
            </a:r>
          </a:p>
          <a:p>
            <a:r>
              <a:rPr lang="en-US" dirty="0" sz="1200"/>
              <a:t>ε = 1e-4, max_iter = 200.</a:t>
            </a:r>
          </a:p>
          <a:p>
            <a:r>
              <a:rPr lang="en-US" dirty="0" sz="1200"/>
              <a:t>In practice: convergence at 40–60 iterations.</a:t>
            </a:r>
          </a:p>
          <a:p/>
          <a:p>
            <a:r>
              <a:rPr lang="en-US" dirty="0" sz="1200"/>
              <a:t>Citation anchor mechanism:</a:t>
            </a:r>
          </a:p>
          <a:p>
            <a:r>
              <a:rPr lang="en-US" dirty="0" sz="1200"/>
              <a:t>A_{ij} = max(0, cos(x_i, x_j) − τ)</a:t>
            </a:r>
          </a:p>
          <a:p>
            <a:r>
              <a:rPr lang="en-US" dirty="0" sz="1200"/>
              <a:t>τ = 0.30 cosine similarity threshold.</a:t>
            </a:r>
          </a:p>
          <a:p>
            <a:r>
              <a:rPr lang="en-US" dirty="0" sz="1200"/>
              <a:t>Any node in a citation anchor relationship</a:t>
            </a:r>
          </a:p>
          <a:p>
            <a:r>
              <a:rPr lang="en-US" dirty="0" sz="1200"/>
              <a:t>is NEVER pruned.</a:t>
            </a:r>
          </a:p>
          <a:p>
            <a:r>
              <a:rPr lang="en-US" dirty="0" sz="1200"/>
              <a:t>These nodes = audit trail of reasoning.</a:t>
            </a:r>
          </a:p>
          <a:p>
            <a:r>
              <a:rPr lang="en-US" dirty="0" sz="1200"/>
              <a:t>They represent the accountability layer.</a:t>
            </a:r>
          </a:p>
          <a:p/>
          <a:p>
            <a:r>
              <a:rPr lang="en-US" dirty="0" sz="1200"/>
              <a:t>Citation-anchored nodes: ~4–7% of context graph.</a:t>
            </a:r>
          </a:p>
          <a:p>
            <a:r>
              <a:rPr lang="en-US" dirty="0" sz="1200"/>
              <a:t>At 10:1 compression (prune 90%),</a:t>
            </a:r>
          </a:p>
          <a:p>
            <a:r>
              <a:rPr lang="en-US" dirty="0" sz="1200"/>
              <a:t>preserving 4–7% as citation anchors</a:t>
            </a:r>
          </a:p>
          <a:p>
            <a:r>
              <a:rPr lang="en-US" dirty="0" sz="1200"/>
              <a:t>still provides ample pruning headroom.</a:t>
            </a:r>
          </a:p>
          <a:p/>
          <a:p>
            <a:r>
              <a:rPr lang="en-US" dirty="0" sz="1200"/>
              <a:t>Year 1 pilot results:</a:t>
            </a:r>
          </a:p>
          <a:p>
            <a:r>
              <a:rPr lang="en-US" dirty="0" sz="1200"/>
              <a:t>- Compression: 9.8:1</a:t>
            </a:r>
          </a:p>
          <a:p>
            <a:r>
              <a:rPr lang="en-US" dirty="0" sz="1200"/>
              <a:t>- Citation accuracy: 98.9%</a:t>
            </a:r>
          </a:p>
          <a:p>
            <a:r>
              <a:rPr lang="en-US" dirty="0" sz="1200"/>
              <a:t>Both within 2% of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FCNP architecture — three-stage pipeline.</a:t>
            </a:r>
          </a:p>
          <a:p/>
          <a:p>
            <a:r>
              <a:rPr lang="en-US" dirty="0" sz="1200"/>
              <a:t>Stage 1: Graph Construction.</a:t>
            </a:r>
          </a:p>
          <a:p>
            <a:r>
              <a:rPr lang="en-US" dirty="0" sz="1200"/>
              <a:t>Raw context (tokens + attention matrices)</a:t>
            </a:r>
          </a:p>
          <a:p>
            <a:r>
              <a:rPr lang="en-US" dirty="0" sz="1200"/>
              <a:t>converted to G = (V, E) representation.</a:t>
            </a:r>
          </a:p>
          <a:p>
            <a:r>
              <a:rPr lang="en-US" dirty="0" sz="1200"/>
              <a:t>Citation anchor detection runs in parallel.</a:t>
            </a:r>
          </a:p>
          <a:p>
            <a:r>
              <a:rPr lang="en-US" dirty="0" sz="1200"/>
              <a:t>Cosine similarity matrix thresholded at τ=0.30.</a:t>
            </a:r>
          </a:p>
          <a:p>
            <a:r>
              <a:rPr lang="en-US" dirty="0" sz="1200"/>
              <a:t>Citation anchor set A established.</a:t>
            </a:r>
          </a:p>
          <a:p>
            <a:r>
              <a:rPr lang="en-US" dirty="0" sz="1200"/>
              <a:t>Anchored nodes immediately flagged as preserved.</a:t>
            </a:r>
          </a:p>
          <a:p/>
          <a:p>
            <a:r>
              <a:rPr lang="en-US" dirty="0" sz="1200"/>
              <a:t>Stage 2: Kirchhoff Flow Computation.</a:t>
            </a:r>
          </a:p>
          <a:p>
            <a:r>
              <a:rPr lang="en-US" dirty="0" sz="1200"/>
              <a:t>Weighted Laplacian L(D) assembled</a:t>
            </a:r>
          </a:p>
          <a:p>
            <a:r>
              <a:rPr lang="en-US" dirty="0" sz="1200"/>
              <a:t>from edge conductance matrix.</a:t>
            </a:r>
          </a:p>
          <a:p>
            <a:r>
              <a:rPr lang="en-US" dirty="0" sz="1200"/>
              <a:t>Source currents I injected at top-k input nodes.</a:t>
            </a:r>
          </a:p>
          <a:p>
            <a:r>
              <a:rPr lang="en-US" dirty="0" sz="1200"/>
              <a:t>Linear system L(D)×p = I solved for</a:t>
            </a:r>
          </a:p>
          <a:p>
            <a:r>
              <a:rPr lang="en-US" dirty="0" sz="1200"/>
              <a:t>potential vector p.</a:t>
            </a:r>
          </a:p>
          <a:p>
            <a:r>
              <a:rPr lang="en-US" dirty="0" sz="1200"/>
              <a:t>Nodes ranked by potential score.</a:t>
            </a:r>
          </a:p>
          <a:p/>
          <a:p>
            <a:r>
              <a:rPr lang="en-US" dirty="0" sz="1200"/>
              <a:t>Stage 3: Pruning Decision.</a:t>
            </a:r>
          </a:p>
          <a:p>
            <a:r>
              <a:rPr lang="en-US" dirty="0" sz="1200"/>
              <a:t>Nodes below pruning threshold are pruned.</a:t>
            </a:r>
          </a:p>
          <a:p>
            <a:r>
              <a:rPr lang="en-US" dirty="0" sz="1200"/>
              <a:t>Citation preservation constraint applied first.</a:t>
            </a:r>
          </a:p>
          <a:p>
            <a:r>
              <a:rPr lang="en-US" dirty="0" sz="1200"/>
              <a:t>Anchored nodes are never pruned.</a:t>
            </a:r>
          </a:p>
          <a:p>
            <a:r>
              <a:rPr lang="en-US" dirty="0" sz="1200"/>
              <a:t>Pruned graph returned as compressed context.</a:t>
            </a:r>
          </a:p>
          <a:p/>
          <a:p>
            <a:r>
              <a:rPr lang="en-US" dirty="0" sz="1200"/>
              <a:t>Bottleneck: Stage 2.</a:t>
            </a:r>
          </a:p>
          <a:p>
            <a:r>
              <a:rPr lang="en-US" dirty="0" sz="1200"/>
              <a:t>Solving L(D)×p = I is O(N^1.5) for sparse graphs</a:t>
            </a:r>
          </a:p>
          <a:p>
            <a:r>
              <a:rPr lang="en-US" dirty="0" sz="1200"/>
              <a:t>using conjugate gradient methods.</a:t>
            </a:r>
          </a:p>
          <a:p>
            <a:r>
              <a:rPr lang="en-US" dirty="0" sz="1200"/>
              <a:t>For up to 10,000 context nodes: under 50ms on CPU.</a:t>
            </a:r>
          </a:p>
          <a:p>
            <a:r>
              <a:rPr lang="en-US" dirty="0" sz="1200"/>
              <a:t>For larger graphs: hierarchical approximation</a:t>
            </a:r>
          </a:p>
          <a:p>
            <a:r>
              <a:rPr lang="en-US" dirty="0" sz="1200"/>
              <a:t>partitions graph into subgraphs.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FCNP flow diagram — convergence iteration cycle.</a:t>
            </a:r>
          </a:p>
          <a:p/>
          <a:p>
            <a:r>
              <a:rPr lang="en-US" dirty="0" sz="1200"/>
              <a:t>Starting state: context graph G at turn t.</a:t>
            </a:r>
          </a:p>
          <a:p>
            <a:r>
              <a:rPr lang="en-US" dirty="0" sz="1200"/>
              <a:t>Conductance matrix D(t).</a:t>
            </a:r>
          </a:p>
          <a:p/>
          <a:p>
            <a:r>
              <a:rPr lang="en-US" dirty="0" sz="1200"/>
              <a:t>Step 1: Compute updated conductance D(t+1)</a:t>
            </a:r>
          </a:p>
          <a:p>
            <a:r>
              <a:rPr lang="en-US" dirty="0" sz="1200"/>
              <a:t>for all edges in E using update rule.</a:t>
            </a:r>
          </a:p>
          <a:p/>
          <a:p>
            <a:r>
              <a:rPr lang="en-US" dirty="0" sz="1200"/>
              <a:t>Step 2: Compute convergence metric:</a:t>
            </a:r>
          </a:p>
          <a:p>
            <a:r>
              <a:rPr lang="en-US" dirty="0" sz="1200"/>
              <a:t>Σ|D(t+1)−D(t)| / ΣD(t)</a:t>
            </a:r>
          </a:p>
          <a:p/>
          <a:p>
            <a:r>
              <a:rPr lang="en-US" dirty="0" sz="1200"/>
              <a:t>Step 3:</a:t>
            </a:r>
          </a:p>
          <a:p>
            <a:r>
              <a:rPr lang="en-US" dirty="0" sz="1200"/>
              <a:t>If metric &lt; ε = 1e-4 → convergence. Go to Step 4.</a:t>
            </a:r>
          </a:p>
          <a:p>
            <a:r>
              <a:rPr lang="en-US" dirty="0" sz="1200"/>
              <a:t>If not and iterations &lt; 200 → return to Step 1.</a:t>
            </a:r>
          </a:p>
          <a:p/>
          <a:p>
            <a:r>
              <a:rPr lang="en-US" dirty="0" sz="1200"/>
              <a:t>Step 4 (post-convergence):</a:t>
            </a:r>
          </a:p>
          <a:p>
            <a:r>
              <a:rPr lang="en-US" dirty="0" sz="1200"/>
              <a:t>Solve Kirchhoff system.</a:t>
            </a:r>
          </a:p>
          <a:p>
            <a:r>
              <a:rPr lang="en-US" dirty="0" sz="1200"/>
              <a:t>Compute final potential vector p.</a:t>
            </a:r>
          </a:p>
          <a:p/>
          <a:p>
            <a:r>
              <a:rPr lang="en-US" dirty="0" sz="1200"/>
              <a:t>Step 5: Apply pruning threshold.</a:t>
            </a:r>
          </a:p>
          <a:p>
            <a:r>
              <a:rPr lang="en-US" dirty="0" sz="1200"/>
              <a:t>Citation-preserved nodes exempted.</a:t>
            </a:r>
          </a:p>
          <a:p>
            <a:r>
              <a:rPr lang="en-US" dirty="0" sz="1200"/>
              <a:t>All other sub-threshold nodes marked for pruning.</a:t>
            </a:r>
          </a:p>
          <a:p/>
          <a:p>
            <a:r>
              <a:rPr lang="en-US" dirty="0" sz="1200"/>
              <a:t>Step 6: Pruned graph G' passed to MNCD</a:t>
            </a:r>
          </a:p>
          <a:p>
            <a:r>
              <a:rPr lang="en-US" dirty="0" sz="1200"/>
              <a:t>as new compressed context for distribution.</a:t>
            </a:r>
          </a:p>
          <a:p/>
          <a:p>
            <a:r>
              <a:rPr lang="en-US" dirty="0" sz="1200"/>
              <a:t>Convergence in practice:</a:t>
            </a:r>
          </a:p>
          <a:p>
            <a:r>
              <a:rPr lang="en-US" dirty="0" sz="1200"/>
              <a:t>30–70 iterations in pilot dataset.</a:t>
            </a:r>
          </a:p>
          <a:p>
            <a:r>
              <a:rPr lang="en-US" dirty="0" sz="1200"/>
              <a:t>No case exceeded 110 iterations.</a:t>
            </a:r>
          </a:p>
          <a:p>
            <a:r>
              <a:rPr lang="en-US" dirty="0" sz="1200"/>
              <a:t>Max budget of 200 iterations never triggered.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This slide shows ACRS as a complete integrated system.</a:t>
            </a:r>
          </a:p>
          <a:p>
            <a:r>
              <a:rPr lang="en-US" dirty="0" sz="1200"/>
              <a:t>Focus on the data flows connecting all four objectives.</a:t>
            </a:r>
          </a:p>
          <a:p/>
          <a:p>
            <a:r>
              <a:rPr lang="en-US" dirty="0" sz="1200"/>
              <a:t>Input path:</a:t>
            </a:r>
          </a:p>
          <a:p>
            <a:r>
              <a:rPr lang="en-US" dirty="0" sz="1200"/>
              <a:t>User query → SessionRerank+.</a:t>
            </a:r>
          </a:p>
          <a:p>
            <a:r>
              <a:rPr lang="en-US" dirty="0" sz="1200"/>
              <a:t>Co-activation graph consulted.</a:t>
            </a:r>
          </a:p>
          <a:p>
            <a:r>
              <a:rPr lang="en-US" dirty="0" sz="1200"/>
              <a:t>Ranked API list produced.</a:t>
            </a:r>
          </a:p>
          <a:p>
            <a:r>
              <a:rPr lang="en-US" dirty="0" sz="1200"/>
              <a:t>Passed to routing layer.</a:t>
            </a:r>
          </a:p>
          <a:p/>
          <a:p>
            <a:r>
              <a:rPr lang="en-US" dirty="0" sz="1200"/>
              <a:t>Routing path:</a:t>
            </a:r>
          </a:p>
          <a:p>
            <a:r>
              <a:rPr lang="en-US" dirty="0" sz="1200"/>
              <a:t>APRR+CDR+PDR classifies query.</a:t>
            </a:r>
          </a:p>
          <a:p>
            <a:r>
              <a:rPr lang="en-US" dirty="0" sz="1200"/>
              <a:t>Selects dispatch strategy.</a:t>
            </a:r>
          </a:p>
          <a:p>
            <a:r>
              <a:rPr lang="en-US" dirty="0" sz="1200"/>
              <a:t>Routes to one or more specialist agents.</a:t>
            </a:r>
          </a:p>
          <a:p>
            <a:r>
              <a:rPr lang="en-US" dirty="0" sz="1200"/>
              <a:t>Routing weights W updated live from session signals.</a:t>
            </a:r>
          </a:p>
          <a:p/>
          <a:p>
            <a:r>
              <a:rPr lang="en-US" dirty="0" sz="1200"/>
              <a:t>Execution path:</a:t>
            </a:r>
          </a:p>
          <a:p>
            <a:r>
              <a:rPr lang="en-US" dirty="0" sz="1200"/>
              <a:t>Agent nodes execute sub-tasks.</a:t>
            </a:r>
          </a:p>
          <a:p>
            <a:r>
              <a:rPr lang="en-US" dirty="0" sz="1200"/>
              <a:t>Each node draws on its local context replica.</a:t>
            </a:r>
          </a:p>
          <a:p>
            <a:r>
              <a:rPr lang="en-US" dirty="0" sz="1200"/>
              <a:t>MNCD gossip runs asynchronously in background.</a:t>
            </a:r>
          </a:p>
          <a:p>
            <a:r>
              <a:rPr lang="en-US" dirty="0" sz="1200"/>
              <a:t>Nodes exchange context updates between turns.</a:t>
            </a:r>
          </a:p>
          <a:p/>
          <a:p>
            <a:r>
              <a:rPr lang="en-US" dirty="0" sz="1200"/>
              <a:t>Compression path:</a:t>
            </a:r>
          </a:p>
          <a:p>
            <a:r>
              <a:rPr lang="en-US" dirty="0" sz="1200"/>
              <a:t>After each turn, FCNP evaluates context graph.</a:t>
            </a:r>
          </a:p>
          <a:p>
            <a:r>
              <a:rPr lang="en-US" dirty="0" sz="1200"/>
              <a:t>Trigger: graph grown ≥20% since last compression.</a:t>
            </a:r>
          </a:p>
          <a:p>
            <a:r>
              <a:rPr lang="en-US" dirty="0" sz="1200"/>
              <a:t>Kirchhoff flow computed.</a:t>
            </a:r>
          </a:p>
          <a:p>
            <a:r>
              <a:rPr lang="en-US" dirty="0" sz="1200"/>
              <a:t>Pruned graph returned as new context state.</a:t>
            </a:r>
          </a:p>
          <a:p>
            <a:r>
              <a:rPr lang="en-US" dirty="0" sz="1200"/>
              <a:t>MNCD distributes pruned context.</a:t>
            </a:r>
          </a:p>
          <a:p/>
          <a:p>
            <a:r>
              <a:rPr lang="en-US" dirty="0" sz="1200"/>
              <a:t>Feedback path:</a:t>
            </a:r>
          </a:p>
          <a:p>
            <a:r>
              <a:rPr lang="en-US" dirty="0" sz="1200"/>
              <a:t>Success/failure signals flow back to:</a:t>
            </a:r>
          </a:p>
          <a:p>
            <a:r>
              <a:rPr lang="en-US" dirty="0" sz="1200"/>
              <a:t>- SessionRerank+ → updates co-activation edge weights.</a:t>
            </a:r>
          </a:p>
          <a:p>
            <a:r>
              <a:rPr lang="en-US" dirty="0" sz="1200"/>
              <a:t>- APRR → updates routing weights W.</a:t>
            </a:r>
          </a:p>
          <a:p/>
          <a:p>
            <a:r>
              <a:rPr lang="en-US" dirty="0" sz="1200"/>
              <a:t>This feedback loop is what makes ACRS adaptive.</a:t>
            </a:r>
          </a:p>
          <a:p>
            <a:r>
              <a:rPr lang="en-US" dirty="0" sz="1200"/>
              <a:t>Every session teaches the system what works.</a:t>
            </a:r>
          </a:p>
          <a:p/>
          <a:p>
            <a:r>
              <a:rPr lang="en-US" dirty="0" sz="1200"/>
              <a:t>Connection between Obj 1 and Obj 4:</a:t>
            </a:r>
          </a:p>
          <a:p>
            <a:r>
              <a:rPr lang="en-US" dirty="0" sz="1200"/>
              <a:t>Co-activation graph = lightweight API-level index.</a:t>
            </a:r>
          </a:p>
          <a:p>
            <a:r>
              <a:rPr lang="en-US" dirty="0" sz="1200"/>
              <a:t>FCNP context graph = full token-level reasoning content.</a:t>
            </a:r>
          </a:p>
          <a:p>
            <a:r>
              <a:rPr lang="en-US" dirty="0" sz="1200"/>
              <a:t>They share session IDs and citation anchor metadata.</a:t>
            </a:r>
          </a:p>
          <a:p>
            <a:r>
              <a:rPr lang="en-US" dirty="0" sz="1200"/>
              <a:t>Different abstraction levels — one unified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Full ACRS algorithm — step by step per turn.</a:t>
            </a:r>
          </a:p>
          <a:p/>
          <a:p>
            <a:r>
              <a:rPr lang="en-US" dirty="0" sz="1200"/>
              <a:t>[Step 1 — Turn Initialisation]</a:t>
            </a:r>
          </a:p>
          <a:p>
            <a:r>
              <a:rPr lang="en-US" dirty="0" sz="1200"/>
              <a:t>Load session state:</a:t>
            </a:r>
          </a:p>
          <a:p>
            <a:r>
              <a:rPr lang="en-US" dirty="0" sz="1200"/>
              <a:t>- co-activation graph</a:t>
            </a:r>
          </a:p>
          <a:p>
            <a:r>
              <a:rPr lang="en-US" dirty="0" sz="1200"/>
              <a:t>- routing weights W</a:t>
            </a:r>
          </a:p>
          <a:p>
            <a:r>
              <a:rPr lang="en-US" dirty="0" sz="1200"/>
              <a:t>- distributed context replicas</a:t>
            </a:r>
          </a:p>
          <a:p>
            <a:r>
              <a:rPr lang="en-US" dirty="0" sz="1200"/>
              <a:t>- current compression state</a:t>
            </a:r>
          </a:p>
          <a:p/>
          <a:p>
            <a:r>
              <a:rPr lang="en-US" dirty="0" sz="1200"/>
              <a:t>[Step 2 — Tool Retrieval — SessionRerank+]</a:t>
            </a:r>
          </a:p>
          <a:p>
            <a:r>
              <a:rPr lang="en-US" dirty="0" sz="1200"/>
              <a:t>Compute φ_n from co-activation graph.</a:t>
            </a:r>
          </a:p>
          <a:p>
            <a:r>
              <a:rPr lang="en-US" dirty="0" sz="1200"/>
              <a:t>Score and rerank top-50 candidates.</a:t>
            </a:r>
          </a:p>
          <a:p>
            <a:r>
              <a:rPr lang="en-US" dirty="0" sz="1200"/>
              <a:t>Return top-5.</a:t>
            </a:r>
          </a:p>
          <a:p/>
          <a:p>
            <a:r>
              <a:rPr lang="en-US" dirty="0" sz="1200"/>
              <a:t>[Step 3 — Routing — APRR+CDR+PDR]</a:t>
            </a:r>
          </a:p>
          <a:p>
            <a:r>
              <a:rPr lang="en-US" dirty="0" sz="1200"/>
              <a:t>Classify query.</a:t>
            </a:r>
          </a:p>
          <a:p>
            <a:r>
              <a:rPr lang="en-US" dirty="0" sz="1200"/>
              <a:t>High-confidence → APRR direct dispatch.</a:t>
            </a:r>
          </a:p>
          <a:p>
            <a:r>
              <a:rPr lang="en-US" dirty="0" sz="1200"/>
              <a:t>Ambiguous → CDR deliberation → APRR.</a:t>
            </a:r>
          </a:p>
          <a:p>
            <a:r>
              <a:rPr lang="en-US" dirty="0" sz="1200"/>
              <a:t>Decomposable → PDR fan-out → parallel APRR.</a:t>
            </a:r>
          </a:p>
          <a:p/>
          <a:p>
            <a:r>
              <a:rPr lang="en-US" dirty="0" sz="1200"/>
              <a:t>[Step 4 — Execution]</a:t>
            </a:r>
          </a:p>
          <a:p>
            <a:r>
              <a:rPr lang="en-US" dirty="0" sz="1200"/>
              <a:t>Agents execute assigned sub-tasks.</a:t>
            </a:r>
          </a:p>
          <a:p>
            <a:r>
              <a:rPr lang="en-US" dirty="0" sz="1200"/>
              <a:t>Context updates generated.</a:t>
            </a:r>
          </a:p>
          <a:p/>
          <a:p>
            <a:r>
              <a:rPr lang="en-US" dirty="0" sz="1200"/>
              <a:t>[Step 5 — Context Distribution — MNCD]</a:t>
            </a:r>
          </a:p>
          <a:p>
            <a:r>
              <a:rPr lang="en-US" dirty="0" sz="1200"/>
              <a:t>New context chunks gossiped to R=3 peers.</a:t>
            </a:r>
          </a:p>
          <a:p>
            <a:r>
              <a:rPr lang="en-US" dirty="0" sz="1200"/>
              <a:t>Coherence checks run on all live nodes.</a:t>
            </a:r>
          </a:p>
          <a:p>
            <a:r>
              <a:rPr lang="en-US" dirty="0" sz="1200"/>
              <a:t>Distress signals trigger recovery if needed.</a:t>
            </a:r>
          </a:p>
          <a:p/>
          <a:p>
            <a:r>
              <a:rPr lang="en-US" dirty="0" sz="1200"/>
              <a:t>[Step 6 — Compression Check — FCNP]</a:t>
            </a:r>
          </a:p>
          <a:p>
            <a:r>
              <a:rPr lang="en-US" dirty="0" sz="1200"/>
              <a:t>If context size &gt; trigger threshold:</a:t>
            </a:r>
          </a:p>
          <a:p>
            <a:r>
              <a:rPr lang="en-US" dirty="0" sz="1200"/>
              <a:t>Run Kirchhoff flow computation.</a:t>
            </a:r>
          </a:p>
          <a:p>
            <a:r>
              <a:rPr lang="en-US" dirty="0" sz="1200"/>
              <a:t>Apply citation-preserving pruning.</a:t>
            </a:r>
          </a:p>
          <a:p>
            <a:r>
              <a:rPr lang="en-US" dirty="0" sz="1200"/>
              <a:t>Distribute compressed context via MNCD.</a:t>
            </a:r>
          </a:p>
          <a:p/>
          <a:p>
            <a:r>
              <a:rPr lang="en-US" dirty="0" sz="1200"/>
              <a:t>[Step 7 — Feedback]</a:t>
            </a:r>
          </a:p>
          <a:p>
            <a:r>
              <a:rPr lang="en-US" dirty="0" sz="1200"/>
              <a:t>Success/failure updates:</a:t>
            </a:r>
          </a:p>
          <a:p>
            <a:r>
              <a:rPr lang="en-US" dirty="0" sz="1200"/>
              <a:t>- SessionRerank+ edge weights</a:t>
            </a:r>
          </a:p>
          <a:p>
            <a:r>
              <a:rPr lang="en-US" dirty="0" sz="1200"/>
              <a:t>- APRR routing weights W</a:t>
            </a:r>
          </a:p>
          <a:p/>
          <a:p>
            <a:r>
              <a:rPr lang="en-US" dirty="0" sz="1200"/>
              <a:t>[Turn Complete]</a:t>
            </a:r>
          </a:p>
          <a:p>
            <a:r>
              <a:rPr lang="en-US" dirty="0" sz="1200"/>
              <a:t>Session state persisted.</a:t>
            </a:r>
          </a:p>
          <a:p>
            <a:r>
              <a:rPr lang="en-US" dirty="0" sz="1200"/>
              <a:t>Ready for next turn.</a:t>
            </a:r>
          </a:p>
          <a:p/>
          <a:p>
            <a:r>
              <a:rPr lang="en-US" dirty="0" sz="1200"/>
              <a:t>Steps 4, 5, and 6 run in parallel.</a:t>
            </a:r>
          </a:p>
          <a:p>
            <a:r>
              <a:rPr lang="en-US" dirty="0" sz="1200"/>
              <a:t>Gossip happens while agents execute.</a:t>
            </a:r>
          </a:p>
          <a:p>
            <a:r>
              <a:rPr lang="en-US" dirty="0" sz="1200"/>
              <a:t>Compression begins while success signal computes.</a:t>
            </a:r>
          </a:p>
          <a:p>
            <a:r>
              <a:rPr lang="en-US" dirty="0" sz="1200"/>
              <a:t>Per-turn overhead: ~25ms above baseline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All four objectives connected — algorithm flow</a:t>
            </a:r>
          </a:p>
          <a:p>
            <a:r>
              <a:rPr lang="en-US" dirty="0" sz="1200"/>
              <a:t>across the entire ACRS system.</a:t>
            </a:r>
          </a:p>
          <a:p/>
          <a:p>
            <a:r>
              <a:rPr lang="en-US" dirty="0" sz="1200"/>
              <a:t>This slide should be read as a pipeline:</a:t>
            </a:r>
          </a:p>
          <a:p>
            <a:r>
              <a:rPr lang="en-US" dirty="0" sz="1200"/>
              <a:t>left to right, top to bottom.</a:t>
            </a:r>
          </a:p>
          <a:p/>
          <a:p>
            <a:r>
              <a:rPr lang="en-US" dirty="0" sz="1200"/>
              <a:t>Each numbered step corresponds to one</a:t>
            </a:r>
          </a:p>
          <a:p>
            <a:r>
              <a:rPr lang="en-US" dirty="0" sz="1200"/>
              <a:t>of the 16 algorithm flow steps</a:t>
            </a:r>
          </a:p>
          <a:p>
            <a:r>
              <a:rPr lang="en-US" dirty="0" sz="1200"/>
              <a:t>shown across the 4 detailed flow slides (41–44).</a:t>
            </a:r>
          </a:p>
          <a:p/>
          <a:p>
            <a:r>
              <a:rPr lang="en-US" dirty="0" sz="1200"/>
              <a:t>The connection between objectives:</a:t>
            </a:r>
          </a:p>
          <a:p>
            <a:r>
              <a:rPr lang="en-US" dirty="0" sz="1200"/>
              <a:t>- Step 4 (SessionRerank+ reranking output)</a:t>
            </a:r>
          </a:p>
          <a:p>
            <a:r>
              <a:rPr lang="en-US" dirty="0" sz="1200"/>
              <a:t xml:space="preserve">  feeds directly into Step 5 (APRR routing input).</a:t>
            </a:r>
          </a:p>
          <a:p>
            <a:r>
              <a:rPr lang="en-US" dirty="0" sz="1200"/>
              <a:t>- Step 8 (live data.gov.in signal)</a:t>
            </a:r>
          </a:p>
          <a:p>
            <a:r>
              <a:rPr lang="en-US" dirty="0" sz="1200"/>
              <a:t xml:space="preserve">  updates APRR weights in real time.</a:t>
            </a:r>
          </a:p>
          <a:p>
            <a:r>
              <a:rPr lang="en-US" dirty="0" sz="1200"/>
              <a:t>- Step 9 (gossip broadcast)</a:t>
            </a:r>
          </a:p>
          <a:p>
            <a:r>
              <a:rPr lang="en-US" dirty="0" sz="1200"/>
              <a:t xml:space="preserve">  propagates context from Obj 2 agents</a:t>
            </a:r>
          </a:p>
          <a:p>
            <a:r>
              <a:rPr lang="en-US" dirty="0" sz="1200"/>
              <a:t xml:space="preserve">  into the Obj 3 MNCD mesh.</a:t>
            </a:r>
          </a:p>
          <a:p>
            <a:r>
              <a:rPr lang="en-US" dirty="0" sz="1200"/>
              <a:t>- Step 14 (flow conductance scoring)</a:t>
            </a:r>
          </a:p>
          <a:p>
            <a:r>
              <a:rPr lang="en-US" dirty="0" sz="1200"/>
              <a:t xml:space="preserve">  runs on the accumulated context</a:t>
            </a:r>
          </a:p>
          <a:p>
            <a:r>
              <a:rPr lang="en-US" dirty="0" sz="1200"/>
              <a:t xml:space="preserve">  produced by all prior steps.</a:t>
            </a:r>
          </a:p>
          <a:p/>
          <a:p>
            <a:r>
              <a:rPr lang="en-US" dirty="0" sz="1200"/>
              <a:t>This is the integration that</a:t>
            </a:r>
          </a:p>
          <a:p>
            <a:r>
              <a:rPr lang="en-US" dirty="0" sz="1200"/>
              <a:t>no other system in the literature provides.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Objective 1 Novelty Highlights:</a:t>
            </a:r>
          </a:p>
          <a:p/>
          <a:p>
            <a:r>
              <a:rPr lang="en-US" dirty="0" sz="1200"/>
              <a:t>SessionRerank+ introduces:</a:t>
            </a:r>
          </a:p>
          <a:p>
            <a:r>
              <a:rPr lang="en-US" dirty="0" sz="1200"/>
              <a:t>★ Session co-activation graph with</a:t>
            </a:r>
          </a:p>
          <a:p>
            <a:r>
              <a:rPr lang="en-US" dirty="0" sz="1200"/>
              <a:t xml:space="preserve">  exponential discount (γ = 0.7).</a:t>
            </a:r>
          </a:p>
          <a:p>
            <a:r>
              <a:rPr lang="en-US" dirty="0" sz="1200"/>
              <a:t>★ Online edge weight updates</a:t>
            </a:r>
          </a:p>
          <a:p>
            <a:r>
              <a:rPr lang="en-US" dirty="0" sz="1200"/>
              <a:t xml:space="preserve">  with 50-session half-life.</a:t>
            </a:r>
          </a:p>
          <a:p>
            <a:r>
              <a:rPr lang="en-US" dirty="0" sz="1200"/>
              <a:t>★ φ_n score combining semantic + session history.</a:t>
            </a:r>
          </a:p>
          <a:p/>
          <a:p>
            <a:r>
              <a:rPr lang="en-US" dirty="0" sz="1200"/>
              <a:t>What makes it novel vs ToolLLM:</a:t>
            </a:r>
          </a:p>
          <a:p>
            <a:r>
              <a:rPr lang="en-US" dirty="0" sz="1200"/>
              <a:t>ToolLLM: stateless per-query retrieval.</a:t>
            </a:r>
          </a:p>
          <a:p>
            <a:r>
              <a:rPr lang="en-US" dirty="0" sz="1200"/>
              <a:t>SessionRerank+: live cross-turn session graph.</a:t>
            </a:r>
          </a:p>
          <a:p/>
          <a:p>
            <a:r>
              <a:rPr lang="en-US" dirty="0" sz="1200"/>
              <a:t>Validated gain:</a:t>
            </a:r>
          </a:p>
          <a:p>
            <a:r>
              <a:rPr lang="en-US" dirty="0" sz="1200"/>
              <a:t>NDCG@5: 0.452 → 0.461 (+2%, p&lt;0.05)</a:t>
            </a:r>
          </a:p>
          <a:p>
            <a:r>
              <a:rPr lang="en-US" dirty="0" sz="1200"/>
              <a:t>Precision@5: +1.8%</a:t>
            </a:r>
          </a:p>
          <a:p>
            <a:r>
              <a:rPr lang="en-US" dirty="0" sz="1200"/>
              <a:t>MRR (Mean Reciprocal Rank): +3.1%</a:t>
            </a:r>
          </a:p>
          <a:p>
            <a:r>
              <a:rPr lang="en-US" dirty="0" sz="1200"/>
              <a:t>Domain accuracy on data.gov.in AgriGov: 78.4%</a:t>
            </a:r>
          </a:p>
          <a:p/>
          <a:p>
            <a:r>
              <a:rPr lang="en-US" dirty="0" sz="1200"/>
              <a:t>Year 2 full-study target: NDCG@5 ≥ 0.52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Objective 2 Novelty Highlights:</a:t>
            </a:r>
          </a:p>
          <a:p/>
          <a:p>
            <a:r>
              <a:rPr lang="en-US" dirty="0" sz="1200"/>
              <a:t>APRR+CDR+PDR introduces:</a:t>
            </a:r>
          </a:p>
          <a:p>
            <a:r>
              <a:rPr lang="en-US" dirty="0" sz="1200"/>
              <a:t>★ Online RL weight matrix W</a:t>
            </a:r>
          </a:p>
          <a:p>
            <a:r>
              <a:rPr lang="en-US" dirty="0" sz="1200"/>
              <a:t xml:space="preserve">  — updated every session, never frozen.</a:t>
            </a:r>
          </a:p>
          <a:p>
            <a:r>
              <a:rPr lang="en-US" dirty="0" sz="1200"/>
              <a:t>★ CDR deliberation gate</a:t>
            </a:r>
          </a:p>
          <a:p>
            <a:r>
              <a:rPr lang="en-US" dirty="0" sz="1200"/>
              <a:t xml:space="preserve">  — CoT quality scoring before ambiguous dispatch.</a:t>
            </a:r>
          </a:p>
          <a:p>
            <a:r>
              <a:rPr lang="en-US" dirty="0" sz="1200"/>
              <a:t>★ PDR parallel functional-token dispatch</a:t>
            </a:r>
          </a:p>
          <a:p>
            <a:r>
              <a:rPr lang="en-US" dirty="0" sz="1200"/>
              <a:t xml:space="preserve">  — sub-tasks to specialist agents simultaneously.</a:t>
            </a:r>
          </a:p>
          <a:p>
            <a:r>
              <a:rPr lang="en-US" dirty="0" sz="1200"/>
              <a:t>★ Shared session state bus</a:t>
            </a:r>
          </a:p>
          <a:p>
            <a:r>
              <a:rPr lang="en-US" dirty="0" sz="1200"/>
              <a:t xml:space="preserve">  — all three components adapt together.</a:t>
            </a:r>
          </a:p>
          <a:p/>
          <a:p>
            <a:r>
              <a:rPr lang="en-US" dirty="0" sz="1200"/>
              <a:t>What makes it novel vs RouteLLM:</a:t>
            </a:r>
          </a:p>
          <a:p>
            <a:r>
              <a:rPr lang="en-US" dirty="0" sz="1200"/>
              <a:t>RouteLLM: offline trained, frozen.</a:t>
            </a:r>
          </a:p>
          <a:p>
            <a:r>
              <a:rPr lang="en-US" dirty="0" sz="1200"/>
              <a:t>APRR: live weight update, ε=0.15 always exploring.</a:t>
            </a:r>
          </a:p>
          <a:p/>
          <a:p>
            <a:r>
              <a:rPr lang="en-US" dirty="0" sz="1200"/>
              <a:t>Validated gain:</a:t>
            </a:r>
          </a:p>
          <a:p>
            <a:r>
              <a:rPr lang="en-US" dirty="0" sz="1200"/>
              <a:t>Task success: +2% over best reported baseline.</a:t>
            </a:r>
          </a:p>
          <a:p>
            <a:r>
              <a:rPr lang="en-US" dirty="0" sz="1200"/>
              <a:t>Latency: within SLA (≤265ms).</a:t>
            </a:r>
          </a:p>
          <a:p>
            <a:r>
              <a:rPr lang="en-US" dirty="0" sz="1200"/>
              <a:t>Latency reduction: 35.7% vs static routing.</a:t>
            </a:r>
          </a:p>
          <a:p>
            <a:r>
              <a:rPr lang="en-US" dirty="0" sz="1200"/>
              <a:t>Hop reduction: 23.9%.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Objective 3 Novelty Highlights:</a:t>
            </a:r>
          </a:p>
          <a:p/>
          <a:p>
            <a:r>
              <a:rPr lang="en-US" dirty="0" sz="1200"/>
              <a:t>MNCD introduces:</a:t>
            </a:r>
          </a:p>
          <a:p>
            <a:r>
              <a:rPr lang="en-US" dirty="0" sz="1200"/>
              <a:t>★ Epidemic gossip broadcast for LLM context.</a:t>
            </a:r>
          </a:p>
          <a:p>
            <a:r>
              <a:rPr lang="en-US" dirty="0" sz="1200"/>
              <a:t>★ Session-aware gossip weight function w(p,q)</a:t>
            </a:r>
          </a:p>
          <a:p>
            <a:r>
              <a:rPr lang="en-US" dirty="0" sz="1200"/>
              <a:t xml:space="preserve">  balancing semantic similarity and latency.</a:t>
            </a:r>
          </a:p>
          <a:p>
            <a:r>
              <a:rPr lang="en-US" dirty="0" sz="1200"/>
              <a:t>★ R=3 replication factor.</a:t>
            </a:r>
          </a:p>
          <a:p>
            <a:r>
              <a:rPr lang="en-US" dirty="0" sz="1200"/>
              <a:t>★ τ-threshold distress signal mechanism.</a:t>
            </a:r>
          </a:p>
          <a:p>
            <a:r>
              <a:rPr lang="en-US" dirty="0" sz="1200"/>
              <a:t>★ Borda consensus aggregation</a:t>
            </a:r>
          </a:p>
          <a:p>
            <a:r>
              <a:rPr lang="en-US" dirty="0" sz="1200"/>
              <a:t xml:space="preserve">  over live data.gov.in feeds.</a:t>
            </a:r>
          </a:p>
          <a:p/>
          <a:p>
            <a:r>
              <a:rPr lang="en-US" dirty="0" sz="1200"/>
              <a:t>What makes it novel vs AutoGen:</a:t>
            </a:r>
          </a:p>
          <a:p>
            <a:r>
              <a:rPr lang="en-US" dirty="0" sz="1200"/>
              <a:t>AutoGen: no mesh fault tolerance or Borda.</a:t>
            </a:r>
          </a:p>
          <a:p>
            <a:r>
              <a:rPr lang="en-US" dirty="0" sz="1200"/>
              <a:t>MNCD: 2-of-5 fault tolerance + gossip mesh.</a:t>
            </a:r>
          </a:p>
          <a:p/>
          <a:p>
            <a:r>
              <a:rPr lang="en-US" dirty="0" sz="1200"/>
              <a:t>Validated gain:</a:t>
            </a:r>
          </a:p>
          <a:p>
            <a:r>
              <a:rPr lang="en-US" dirty="0" sz="1200"/>
              <a:t>Context availability: 44% → 97%+</a:t>
            </a:r>
          </a:p>
          <a:p>
            <a:r>
              <a:rPr lang="en-US" dirty="0" sz="1200"/>
              <a:t>Fault tolerance: 0 → R=3 replication.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Objective 4 Novelty Highlights:</a:t>
            </a:r>
          </a:p>
          <a:p/>
          <a:p>
            <a:r>
              <a:rPr lang="en-US" dirty="0" sz="1200"/>
              <a:t>FCNP introduces:</a:t>
            </a:r>
          </a:p>
          <a:p>
            <a:r>
              <a:rPr lang="en-US" dirty="0" sz="1200"/>
              <a:t>★ Kirchhoff flow-field potential scoring</a:t>
            </a:r>
          </a:p>
          <a:p>
            <a:r>
              <a:rPr lang="en-US" dirty="0" sz="1200"/>
              <a:t xml:space="preserve">  on token-attention graph.</a:t>
            </a:r>
          </a:p>
          <a:p>
            <a:r>
              <a:rPr lang="en-US" dirty="0" sz="1200"/>
              <a:t>★ Citation anchor preservation</a:t>
            </a:r>
          </a:p>
          <a:p>
            <a:r>
              <a:rPr lang="en-US" dirty="0" sz="1200"/>
              <a:t xml:space="preserve">  — citation nodes NEVER pruned.</a:t>
            </a:r>
          </a:p>
          <a:p>
            <a:r>
              <a:rPr lang="en-US" dirty="0" sz="1200"/>
              <a:t>★ Explainable AI (XAI) transparency</a:t>
            </a:r>
          </a:p>
          <a:p>
            <a:r>
              <a:rPr lang="en-US" dirty="0" sz="1200"/>
              <a:t xml:space="preserve">  — flow-score trace logs every pruning decision.</a:t>
            </a:r>
          </a:p>
          <a:p>
            <a:r>
              <a:rPr lang="en-US" dirty="0" sz="1200"/>
              <a:t>★ Federated model update</a:t>
            </a:r>
          </a:p>
          <a:p>
            <a:r>
              <a:rPr lang="en-US" dirty="0" sz="1200"/>
              <a:t xml:space="preserve">  across agents post-compression.</a:t>
            </a:r>
          </a:p>
          <a:p/>
          <a:p>
            <a:r>
              <a:rPr lang="en-US" dirty="0" sz="1200"/>
              <a:t>What makes it novel vs Scissorhands/H2O:</a:t>
            </a:r>
          </a:p>
          <a:p>
            <a:r>
              <a:rPr lang="en-US" dirty="0" sz="1200"/>
              <a:t>Scissorhands: local pairwise attention weight.</a:t>
            </a:r>
          </a:p>
          <a:p>
            <a:r>
              <a:rPr lang="en-US" dirty="0" sz="1200"/>
              <a:t>FCNP: global flow-through potential.</a:t>
            </a:r>
          </a:p>
          <a:p>
            <a:r>
              <a:rPr lang="en-US" dirty="0" sz="1200"/>
              <a:t>Bridge nodes: Scissorhands prunes them;</a:t>
            </a:r>
          </a:p>
          <a:p>
            <a:r>
              <a:rPr lang="en-US" dirty="0" sz="1200"/>
              <a:t>FCNP preserves them.</a:t>
            </a:r>
          </a:p>
          <a:p/>
          <a:p>
            <a:r>
              <a:rPr lang="en-US" dirty="0" sz="1200"/>
              <a:t>Validated gain:</a:t>
            </a:r>
          </a:p>
          <a:p>
            <a:r>
              <a:rPr lang="en-US" dirty="0" sz="1200"/>
              <a:t>KV tokens retained: 100% → 28%.</a:t>
            </a:r>
          </a:p>
          <a:p>
            <a:r>
              <a:rPr lang="en-US" dirty="0" sz="1200"/>
              <a:t>Compression: 9.8:1 (target: 10:1).</a:t>
            </a:r>
          </a:p>
          <a:p>
            <a:r>
              <a:rPr lang="en-US" dirty="0" sz="1200"/>
              <a:t>Citation accuracy: 98.9% (target: ≥99%).</a:t>
            </a:r>
          </a:p>
          <a:p>
            <a:r>
              <a:rPr lang="en-US" dirty="0" sz="1200"/>
              <a:t>Throughput improvement: +2% over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Overall novelty matrix — all 4 objectives.</a:t>
            </a:r>
          </a:p>
          <a:p/>
          <a:p>
            <a:r>
              <a:rPr lang="en-US" dirty="0" sz="1200"/>
              <a:t>Reading the matrix column by column:</a:t>
            </a:r>
          </a:p>
          <a:p/>
          <a:p>
            <a:r>
              <a:rPr lang="en-US" dirty="0" sz="1200"/>
              <a:t>Unresolved Gap column:</a:t>
            </a:r>
          </a:p>
          <a:p>
            <a:r>
              <a:rPr lang="en-US" dirty="0" sz="1200"/>
              <a:t>Each row names one gap that</a:t>
            </a:r>
          </a:p>
          <a:p>
            <a:r>
              <a:rPr lang="en-US" dirty="0" sz="1200"/>
              <a:t>the existing literature confirmed</a:t>
            </a:r>
          </a:p>
          <a:p>
            <a:r>
              <a:rPr lang="en-US" dirty="0" sz="1200"/>
              <a:t>but did not solve.</a:t>
            </a:r>
          </a:p>
          <a:p/>
          <a:p>
            <a:r>
              <a:rPr lang="en-US" dirty="0" sz="1200"/>
              <a:t>Novel Mechanism column:</a:t>
            </a:r>
          </a:p>
          <a:p>
            <a:r>
              <a:rPr lang="en-US" dirty="0" sz="1200"/>
              <a:t>Each row names the specific new mechanism</a:t>
            </a:r>
          </a:p>
          <a:p>
            <a:r>
              <a:rPr lang="en-US" dirty="0" sz="1200"/>
              <a:t>I am contributing.</a:t>
            </a:r>
          </a:p>
          <a:p>
            <a:r>
              <a:rPr lang="en-US" dirty="0" sz="1200"/>
              <a:t>Not "I combined existing tools" —</a:t>
            </a:r>
          </a:p>
          <a:p>
            <a:r>
              <a:rPr lang="en-US" dirty="0" sz="1200"/>
              <a:t>but "I designed a new mechanism."</a:t>
            </a:r>
          </a:p>
          <a:p/>
          <a:p>
            <a:r>
              <a:rPr lang="en-US" dirty="0" sz="1200"/>
              <a:t>Closest Prior Work column:</a:t>
            </a:r>
          </a:p>
          <a:p>
            <a:r>
              <a:rPr lang="en-US" dirty="0" sz="1200"/>
              <a:t>Explicitly named so the panel can verify</a:t>
            </a:r>
          </a:p>
          <a:p>
            <a:r>
              <a:rPr lang="en-US" dirty="0" sz="1200"/>
              <a:t>I have compared correctly.</a:t>
            </a:r>
          </a:p>
          <a:p/>
          <a:p>
            <a:r>
              <a:rPr lang="en-US" dirty="0" sz="1200"/>
              <a:t>Validated Gain column:</a:t>
            </a:r>
          </a:p>
          <a:p>
            <a:r>
              <a:rPr lang="en-US" dirty="0" sz="1200"/>
              <a:t>Every claim has a number attached.</a:t>
            </a:r>
          </a:p>
          <a:p>
            <a:r>
              <a:rPr lang="en-US" dirty="0" sz="1200"/>
              <a:t>No vague qualitative assertions.</a:t>
            </a:r>
          </a:p>
          <a:p/>
          <a:p>
            <a:r>
              <a:rPr lang="en-US" dirty="0" sz="1200"/>
              <a:t>Note on FCNP gain:</a:t>
            </a:r>
          </a:p>
          <a:p>
            <a:r>
              <a:rPr lang="en-US" dirty="0" sz="1200"/>
              <a:t>98.9% citation accuracy and 9.8:1 compression</a:t>
            </a:r>
          </a:p>
          <a:p>
            <a:r>
              <a:rPr lang="en-US" dirty="0" sz="1200"/>
              <a:t>are within 2% of the 10:1 / 99% targets.</a:t>
            </a:r>
          </a:p>
          <a:p>
            <a:r>
              <a:rPr lang="en-US" dirty="0" sz="1200"/>
              <a:t>I expect to close this gap</a:t>
            </a:r>
          </a:p>
          <a:p>
            <a:r>
              <a:rPr lang="en-US" dirty="0" sz="1200"/>
              <a:t>with larger context graphs in full study.</a:t>
            </a:r>
          </a:p>
          <a:p/>
          <a:p>
            <a:r>
              <a:rPr lang="en-US" dirty="0" sz="1200"/>
              <a:t>Note on evaluation metrics:</a:t>
            </a:r>
          </a:p>
          <a:p>
            <a:r>
              <a:rPr lang="en-US" dirty="0" sz="1200"/>
              <a:t>SessionRerank+ uses NDCG@5, Precision@5, MRR.</a:t>
            </a:r>
          </a:p>
          <a:p>
            <a:r>
              <a:rPr lang="en-US" dirty="0" sz="1200"/>
              <a:t>These are standard IR benchmarks from TREC Session.</a:t>
            </a:r>
          </a:p>
          <a:p>
            <a:r>
              <a:rPr lang="en-US" dirty="0" sz="1200"/>
              <a:t>Domain accuracy on data.gov.in is the</a:t>
            </a:r>
          </a:p>
          <a:p>
            <a:r>
              <a:rPr lang="en-US" dirty="0" sz="1200"/>
              <a:t>real-world supplement — not a synthetic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This flow slide shows the live data.gov.in</a:t>
            </a:r>
          </a:p>
          <a:p>
            <a:r>
              <a:rPr lang="en-US" dirty="0" sz="1200"/>
              <a:t>integration point across all four objectives.</a:t>
            </a:r>
          </a:p>
          <a:p/>
          <a:p>
            <a:r>
              <a:rPr lang="en-US" dirty="0" sz="1200"/>
              <a:t>Step 8 shown here:</a:t>
            </a:r>
          </a:p>
          <a:p>
            <a:r>
              <a:rPr lang="en-US" dirty="0" sz="1200"/>
              <a:t>Live mandi price signal from data.gov.in</a:t>
            </a:r>
          </a:p>
          <a:p>
            <a:r>
              <a:rPr lang="en-US" dirty="0" sz="1200"/>
              <a:t>updates APRR routing weight W in real time.</a:t>
            </a:r>
          </a:p>
          <a:p>
            <a:r>
              <a:rPr lang="en-US" dirty="0" sz="1200"/>
              <a:t>Resource ID: 9ef84268-d588-465a-a308-a864a43d0070</a:t>
            </a:r>
          </a:p>
          <a:p>
            <a:r>
              <a:rPr lang="en-US" dirty="0" sz="1200"/>
              <a:t>(Karnataka APMC commodity prices, updated daily)</a:t>
            </a:r>
          </a:p>
          <a:p/>
          <a:p>
            <a:r>
              <a:rPr lang="en-US" dirty="0" sz="1200"/>
              <a:t>Step 12 shown here:</a:t>
            </a:r>
          </a:p>
          <a:p>
            <a:r>
              <a:rPr lang="en-US" dirty="0" sz="1200"/>
              <a:t>Borda consensus in MNCD is seeded</a:t>
            </a:r>
          </a:p>
          <a:p>
            <a:r>
              <a:rPr lang="en-US" dirty="0" sz="1200"/>
              <a:t>with live agriculture price data.</a:t>
            </a:r>
          </a:p>
          <a:p>
            <a:r>
              <a:rPr lang="en-US" dirty="0" sz="1200"/>
              <a:t>If an agent's answer contradicts</a:t>
            </a:r>
          </a:p>
          <a:p>
            <a:r>
              <a:rPr lang="en-US" dirty="0" sz="1200"/>
              <a:t>the official government data feed,</a:t>
            </a:r>
          </a:p>
          <a:p>
            <a:r>
              <a:rPr lang="en-US" dirty="0" sz="1200"/>
              <a:t>its vote is automatically down-weighted.</a:t>
            </a:r>
          </a:p>
          <a:p/>
          <a:p>
            <a:r>
              <a:rPr lang="en-US" dirty="0" sz="1200"/>
              <a:t>These are not simulated data calls.</a:t>
            </a:r>
          </a:p>
          <a:p>
            <a:r>
              <a:rPr lang="en-US" dirty="0" sz="1200"/>
              <a:t>They are live API calls during inference.</a:t>
            </a:r>
          </a:p>
          <a:p/>
          <a:p>
            <a:r>
              <a:rPr lang="en-US" dirty="0" sz="1200"/>
              <a:t>Connection to ethics:</a:t>
            </a:r>
          </a:p>
          <a:p>
            <a:r>
              <a:rPr lang="en-US" dirty="0" sz="1200"/>
              <a:t>data.gov.in is Open Government Data —</a:t>
            </a:r>
          </a:p>
          <a:p>
            <a:r>
              <a:rPr lang="en-US" dirty="0" sz="1200"/>
              <a:t>no PII, no proprietary data.</a:t>
            </a:r>
          </a:p>
          <a:p>
            <a:r>
              <a:rPr lang="en-US" dirty="0" sz="1200"/>
              <a:t>Fully open for academic and public use.</a:t>
            </a:r>
          </a:p>
          <a:p>
            <a:r>
              <a:rPr lang="en-US" dirty="0" sz="1200"/>
              <a:t>API token registered under academic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This slide shows the overall algorithm flow</a:t>
            </a:r>
          </a:p>
          <a:p>
            <a:r>
              <a:rPr lang="en-US" dirty="0" sz="1200"/>
              <a:t>Step 1 of 4: Query Entry and Tool Reranking.</a:t>
            </a:r>
          </a:p>
          <a:p/>
          <a:p>
            <a:r>
              <a:rPr lang="en-US" dirty="0" sz="1200"/>
              <a:t>Steps 1–4 on this slide correspond to Objective 1.</a:t>
            </a:r>
          </a:p>
          <a:p/>
          <a:p>
            <a:r>
              <a:rPr lang="en-US" dirty="0" sz="1200"/>
              <a:t>Step 1: Farmer types query</a:t>
            </a:r>
          </a:p>
          <a:p>
            <a:r>
              <a:rPr lang="en-US" dirty="0" sz="1200"/>
              <a:t>(Hindi / Kannada / English).</a:t>
            </a:r>
          </a:p>
          <a:p>
            <a:r>
              <a:rPr lang="en-US" dirty="0" sz="1200"/>
              <a:t>IndicTrans2 translates to English if needed.</a:t>
            </a:r>
          </a:p>
          <a:p/>
          <a:p>
            <a:r>
              <a:rPr lang="en-US" dirty="0" sz="1200"/>
              <a:t>Step 2: BM25 + dense encoder</a:t>
            </a:r>
          </a:p>
          <a:p>
            <a:r>
              <a:rPr lang="en-US" dirty="0" sz="1200"/>
              <a:t>retrieves top-50 candidate APIs from ToolBench.</a:t>
            </a:r>
          </a:p>
          <a:p/>
          <a:p>
            <a:r>
              <a:rPr lang="en-US" dirty="0" sz="1200"/>
              <a:t>Step 3: Session co-activation graph queried.</a:t>
            </a:r>
          </a:p>
          <a:p>
            <a:r>
              <a:rPr lang="en-US" dirty="0" sz="1200"/>
              <a:t>φ_n computed for each candidate.</a:t>
            </a:r>
          </a:p>
          <a:p/>
          <a:p>
            <a:r>
              <a:rPr lang="en-US" dirty="0" sz="1200"/>
              <a:t>Step 4: SessionRerank+ composite score computed.</a:t>
            </a:r>
          </a:p>
          <a:p>
            <a:r>
              <a:rPr lang="en-US" dirty="0" sz="1200"/>
              <a:t>★ NOVEL step — this is the core Obj 1 contribution.</a:t>
            </a:r>
          </a:p>
          <a:p>
            <a:r>
              <a:rPr lang="en-US" dirty="0" sz="1200"/>
              <a:t>Top-K reranked APIs passed to routing layer.</a:t>
            </a:r>
          </a:p>
          <a:p/>
          <a:p>
            <a:r>
              <a:rPr lang="en-US" dirty="0" sz="1200"/>
              <a:t>Key connection to Objective 2:</a:t>
            </a:r>
          </a:p>
          <a:p>
            <a:r>
              <a:rPr lang="en-US" dirty="0" sz="1200"/>
              <a:t>The reranked API list is the input</a:t>
            </a:r>
          </a:p>
          <a:p>
            <a:r>
              <a:rPr lang="en-US" dirty="0" sz="1200"/>
              <a:t>to the APRR routing decision.</a:t>
            </a:r>
          </a:p>
          <a:p>
            <a:r>
              <a:rPr lang="en-US" dirty="0" sz="1200"/>
              <a:t>Better reranking → better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Algorithm Flow Step 2 of 4:</a:t>
            </a:r>
          </a:p>
          <a:p>
            <a:r>
              <a:rPr lang="en-US" dirty="0" sz="1200"/>
              <a:t>Adaptive Routing to Specialist Agents.</a:t>
            </a:r>
          </a:p>
          <a:p/>
          <a:p>
            <a:r>
              <a:rPr lang="en-US" dirty="0" sz="1200"/>
              <a:t>Steps 5–8 correspond to Objective 2.</a:t>
            </a:r>
          </a:p>
          <a:p/>
          <a:p>
            <a:r>
              <a:rPr lang="en-US" dirty="0" sz="1200"/>
              <a:t>Step 5: Query classified.</a:t>
            </a:r>
          </a:p>
          <a:p>
            <a:r>
              <a:rPr lang="en-US" dirty="0" sz="1200"/>
              <a:t>APRR weight matrix W consulted.</a:t>
            </a:r>
          </a:p>
          <a:p>
            <a:r>
              <a:rPr lang="en-US" dirty="0" sz="1200"/>
              <a:t>Agent selected based on:</a:t>
            </a:r>
          </a:p>
          <a:p>
            <a:r>
              <a:rPr lang="en-US" dirty="0" sz="1200"/>
              <a:t>- Live routing weights</a:t>
            </a:r>
          </a:p>
          <a:p>
            <a:r>
              <a:rPr lang="en-US" dirty="0" sz="1200"/>
              <a:t>- SLA class (URGENT/STANDARD/BATCH)</a:t>
            </a:r>
          </a:p>
          <a:p>
            <a:r>
              <a:rPr lang="en-US" dirty="0" sz="1200"/>
              <a:t>- Query-agent affinity ψ_j</a:t>
            </a:r>
          </a:p>
          <a:p/>
          <a:p>
            <a:r>
              <a:rPr lang="en-US" dirty="0" sz="1200"/>
              <a:t>Step 6: CDR deliberation gate.</a:t>
            </a:r>
          </a:p>
          <a:p>
            <a:r>
              <a:rPr lang="en-US" dirty="0" sz="1200"/>
              <a:t>★ NOVEL step — CoT quality scoring.</a:t>
            </a:r>
          </a:p>
          <a:p>
            <a:r>
              <a:rPr lang="en-US" dirty="0" sz="1200"/>
              <a:t>Ambiguous queries deliberated before dispatch.</a:t>
            </a:r>
          </a:p>
          <a:p/>
          <a:p>
            <a:r>
              <a:rPr lang="en-US" dirty="0" sz="1200"/>
              <a:t>Step 7: PDR parallel dispatch.</a:t>
            </a:r>
          </a:p>
          <a:p>
            <a:r>
              <a:rPr lang="en-US" dirty="0" sz="1200"/>
              <a:t>★ NOVEL step — functional token routing.</a:t>
            </a:r>
          </a:p>
          <a:p>
            <a:r>
              <a:rPr lang="en-US" dirty="0" sz="1200"/>
              <a:t>Sub-tasks dispatched simultaneously to:</a:t>
            </a:r>
          </a:p>
          <a:p>
            <a:r>
              <a:rPr lang="en-US" dirty="0" sz="1200"/>
              <a:t>MarketAgent, WeatherAgent, SchemeAgent,</a:t>
            </a:r>
          </a:p>
          <a:p>
            <a:r>
              <a:rPr lang="en-US" dirty="0" sz="1200"/>
              <a:t>CropAgent, or FallbackAgent.</a:t>
            </a:r>
          </a:p>
          <a:p/>
          <a:p>
            <a:r>
              <a:rPr lang="en-US" dirty="0" sz="1200"/>
              <a:t>Step 8: Live data.gov.in signal injection.</a:t>
            </a:r>
          </a:p>
          <a:p>
            <a:r>
              <a:rPr lang="en-US" dirty="0" sz="1200"/>
              <a:t>★ NOVEL step — live government data feed.</a:t>
            </a:r>
          </a:p>
          <a:p>
            <a:r>
              <a:rPr lang="en-US" dirty="0" sz="1200"/>
              <a:t>If mandi price feed shows high tomato activity →</a:t>
            </a:r>
          </a:p>
          <a:p>
            <a:r>
              <a:rPr lang="en-US" dirty="0" sz="1200"/>
              <a:t>mandi-specialist agent gets priority boost.</a:t>
            </a:r>
          </a:p>
          <a:p>
            <a:r>
              <a:rPr lang="en-US" dirty="0" sz="1200"/>
              <a:t>This is the real-world grounding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Algorithm Flow Step 3 of 4:</a:t>
            </a:r>
          </a:p>
          <a:p>
            <a:r>
              <a:rPr lang="en-US" dirty="0" sz="1200"/>
              <a:t>Context Distribution Across All Agents.</a:t>
            </a:r>
          </a:p>
          <a:p/>
          <a:p>
            <a:r>
              <a:rPr lang="en-US" dirty="0" sz="1200"/>
              <a:t>Steps 9–12 correspond to Objective 3.</a:t>
            </a:r>
          </a:p>
          <a:p/>
          <a:p>
            <a:r>
              <a:rPr lang="en-US" dirty="0" sz="1200"/>
              <a:t>Step 9: Gossip protocol broadcast.</a:t>
            </a:r>
          </a:p>
          <a:p>
            <a:r>
              <a:rPr lang="en-US" dirty="0" sz="1200"/>
              <a:t>★ NOVEL step — epidemic context broadcast.</a:t>
            </a:r>
          </a:p>
          <a:p>
            <a:r>
              <a:rPr lang="en-US" dirty="0" sz="1200"/>
              <a:t>When any agent learns new information →</a:t>
            </a:r>
          </a:p>
          <a:p>
            <a:r>
              <a:rPr lang="en-US" dirty="0" sz="1200"/>
              <a:t>gossips to 2–3 nearest neighbours.</a:t>
            </a:r>
          </a:p>
          <a:p>
            <a:r>
              <a:rPr lang="en-US" dirty="0" sz="1200"/>
              <a:t>Within O(log N) rounds:</a:t>
            </a:r>
          </a:p>
          <a:p>
            <a:r>
              <a:rPr lang="en-US" dirty="0" sz="1200"/>
              <a:t>ALL agents share the new information.</a:t>
            </a:r>
          </a:p>
          <a:p/>
          <a:p>
            <a:r>
              <a:rPr lang="en-US" dirty="0" sz="1200"/>
              <a:t>Step 10: Distress signal check.</a:t>
            </a:r>
          </a:p>
          <a:p>
            <a:r>
              <a:rPr lang="en-US" dirty="0" sz="1200"/>
              <a:t>If any node coherence &lt; τ = 0.55 →</a:t>
            </a:r>
          </a:p>
          <a:p>
            <a:r>
              <a:rPr lang="en-US" dirty="0" sz="1200"/>
              <a:t>distress recovery cycle triggered.</a:t>
            </a:r>
          </a:p>
          <a:p>
            <a:r>
              <a:rPr lang="en-US" dirty="0" sz="1200"/>
              <a:t>Live nodes send missing chunks.</a:t>
            </a:r>
          </a:p>
          <a:p>
            <a:r>
              <a:rPr lang="en-US" dirty="0" sz="1200"/>
              <a:t>Recovery time: ~18ms.</a:t>
            </a:r>
          </a:p>
          <a:p/>
          <a:p>
            <a:r>
              <a:rPr lang="en-US" dirty="0" sz="1200"/>
              <a:t>Step 11: Borda consensus aggregation.</a:t>
            </a:r>
          </a:p>
          <a:p>
            <a:r>
              <a:rPr lang="en-US" dirty="0" sz="1200"/>
              <a:t>★ NOVEL step — consensus over agent responses.</a:t>
            </a:r>
          </a:p>
          <a:p>
            <a:r>
              <a:rPr lang="en-US" dirty="0" sz="1200"/>
              <a:t>Agents vote on best answer.</a:t>
            </a:r>
          </a:p>
          <a:p>
            <a:r>
              <a:rPr lang="en-US" dirty="0" sz="1200"/>
              <a:t>Votes weighted by context coherence score.</a:t>
            </a:r>
          </a:p>
          <a:p/>
          <a:p>
            <a:r>
              <a:rPr lang="en-US" dirty="0" sz="1200"/>
              <a:t>Step 12: Live data.gov.in consensus input.</a:t>
            </a:r>
          </a:p>
          <a:p>
            <a:r>
              <a:rPr lang="en-US" dirty="0" sz="1200"/>
              <a:t>★ NOVEL step — government data grounding.</a:t>
            </a:r>
          </a:p>
          <a:p>
            <a:r>
              <a:rPr lang="en-US" dirty="0" sz="1200"/>
              <a:t>Agent answers contradicting official data</a:t>
            </a:r>
          </a:p>
          <a:p>
            <a:r>
              <a:rPr lang="en-US" dirty="0" sz="1200"/>
              <a:t>get their votes automatically down-weighted.</a:t>
            </a:r>
          </a:p>
          <a:p>
            <a:r>
              <a:rPr lang="en-US" dirty="0" sz="1200"/>
              <a:t>Final: verified, source-attributed context</a:t>
            </a:r>
          </a:p>
          <a:p>
            <a:r>
              <a:rPr lang="en-US" dirty="0" sz="1200"/>
              <a:t>passed to compression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Algorithm Flow Step 4 of 4:</a:t>
            </a:r>
          </a:p>
          <a:p>
            <a:r>
              <a:rPr lang="en-US" dirty="0" sz="1200"/>
              <a:t>Context Pruning and Final Answer Delivery.</a:t>
            </a:r>
          </a:p>
          <a:p/>
          <a:p>
            <a:r>
              <a:rPr lang="en-US" dirty="0" sz="1200"/>
              <a:t>Steps 13–16 correspond to Objective 4.</a:t>
            </a:r>
          </a:p>
          <a:p/>
          <a:p>
            <a:r>
              <a:rPr lang="en-US" dirty="0" sz="1200"/>
              <a:t>Step 13: Context graph G = (V, E) constructed</a:t>
            </a:r>
          </a:p>
          <a:p>
            <a:r>
              <a:rPr lang="en-US" dirty="0" sz="1200"/>
              <a:t>from all accumulated session tokens</a:t>
            </a:r>
          </a:p>
          <a:p>
            <a:r>
              <a:rPr lang="en-US" dirty="0" sz="1200"/>
              <a:t>and attention edges.</a:t>
            </a:r>
          </a:p>
          <a:p/>
          <a:p>
            <a:r>
              <a:rPr lang="en-US" dirty="0" sz="1200"/>
              <a:t>Step 14: Flow conductance scoring.</a:t>
            </a:r>
          </a:p>
          <a:p>
            <a:r>
              <a:rPr lang="en-US" dirty="0" sz="1200"/>
              <a:t>★ NOVEL step — Kirchhoff flow field.</a:t>
            </a:r>
          </a:p>
          <a:p>
            <a:r>
              <a:rPr lang="en-US" dirty="0" sz="1200"/>
              <a:t>Tokens with high conductance → kept.</a:t>
            </a:r>
          </a:p>
          <a:p>
            <a:r>
              <a:rPr lang="en-US" dirty="0" sz="1200"/>
              <a:t>Tokens with low conductance → candidate for pruning.</a:t>
            </a:r>
          </a:p>
          <a:p>
            <a:r>
              <a:rPr lang="en-US" dirty="0" sz="1200"/>
              <a:t>Citation anchor tokens from data.gov.in sources</a:t>
            </a:r>
          </a:p>
          <a:p>
            <a:r>
              <a:rPr lang="en-US" dirty="0" sz="1200"/>
              <a:t>are ALWAYS pinned — never removed.</a:t>
            </a:r>
          </a:p>
          <a:p/>
          <a:p>
            <a:r>
              <a:rPr lang="en-US" dirty="0" sz="1200"/>
              <a:t>Step 15: Pruning applied.</a:t>
            </a:r>
          </a:p>
          <a:p>
            <a:r>
              <a:rPr lang="en-US" dirty="0" sz="1200"/>
              <a:t>90% of tokens pruned.</a:t>
            </a:r>
          </a:p>
          <a:p>
            <a:r>
              <a:rPr lang="en-US" dirty="0" sz="1200"/>
              <a:t>Citation anchors preserved.</a:t>
            </a:r>
          </a:p>
          <a:p>
            <a:r>
              <a:rPr lang="en-US" dirty="0" sz="1200"/>
              <a:t>Pruned context redistributed via MNCD (Obj 3).</a:t>
            </a:r>
          </a:p>
          <a:p/>
          <a:p>
            <a:r>
              <a:rPr lang="en-US" dirty="0" sz="1200"/>
              <a:t>Step 16: LLM generates final response</a:t>
            </a:r>
          </a:p>
          <a:p>
            <a:r>
              <a:rPr lang="en-US" dirty="0" sz="1200"/>
              <a:t>using pruned, high-quality context.</a:t>
            </a:r>
          </a:p>
          <a:p>
            <a:r>
              <a:rPr lang="en-US" dirty="0" sz="1200"/>
              <a:t>Every fact traced back to source.</a:t>
            </a:r>
          </a:p>
          <a:p>
            <a:r>
              <a:rPr lang="en-US" dirty="0" sz="1200"/>
              <a:t>data.gov.in cited explicitly.</a:t>
            </a:r>
          </a:p>
          <a:p>
            <a:r>
              <a:rPr lang="en-US" dirty="0" sz="1200"/>
              <a:t>Farmer receives verified, multilingual,</a:t>
            </a:r>
          </a:p>
          <a:p>
            <a:r>
              <a:rPr lang="en-US" dirty="0" sz="1200"/>
              <a:t>source-attributed response.</a:t>
            </a:r>
          </a:p>
          <a:p>
            <a:r>
              <a:rPr lang="en-US" dirty="0" sz="1200"/>
              <a:t>Throughput: +2% over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Overall ACRS architecture — all 4 objectives combined.</a:t>
            </a:r>
          </a:p>
          <a:p/>
          <a:p>
            <a:r>
              <a:rPr lang="en-US" dirty="0" sz="1200"/>
              <a:t>This diagram is the visual proof that</a:t>
            </a:r>
          </a:p>
          <a:p>
            <a:r>
              <a:rPr lang="en-US" dirty="0" sz="1200"/>
              <a:t>ACRS is one integrated system, not four papers.</a:t>
            </a:r>
          </a:p>
          <a:p/>
          <a:p>
            <a:r>
              <a:rPr lang="en-US" dirty="0" sz="1200"/>
              <a:t>Key data flows to point out:</a:t>
            </a:r>
          </a:p>
          <a:p/>
          <a:p>
            <a:r>
              <a:rPr lang="en-US" dirty="0" sz="1200"/>
              <a:t>Top → Bottom pipeline:</a:t>
            </a:r>
          </a:p>
          <a:p>
            <a:r>
              <a:rPr lang="en-US" dirty="0" sz="1200"/>
              <a:t>Query → Obj1 → Obj2 → Obj3 → Obj4 → Response.</a:t>
            </a:r>
          </a:p>
          <a:p/>
          <a:p>
            <a:r>
              <a:rPr lang="en-US" dirty="0" sz="1200"/>
              <a:t>Feedback loops (right side):</a:t>
            </a:r>
          </a:p>
          <a:p>
            <a:r>
              <a:rPr lang="en-US" dirty="0" sz="1200"/>
              <a:t>Success/failure → Obj1 edge weights.</a:t>
            </a:r>
          </a:p>
          <a:p>
            <a:r>
              <a:rPr lang="en-US" dirty="0" sz="1200"/>
              <a:t>Success/failure → Obj2 routing weights W.</a:t>
            </a:r>
          </a:p>
          <a:p/>
          <a:p>
            <a:r>
              <a:rPr lang="en-US" dirty="0" sz="1200"/>
              <a:t>Shared layer (centre):</a:t>
            </a:r>
          </a:p>
          <a:p>
            <a:r>
              <a:rPr lang="en-US" dirty="0" sz="1200"/>
              <a:t>data.gov.in live feed injects into</a:t>
            </a:r>
          </a:p>
          <a:p>
            <a:r>
              <a:rPr lang="en-US" dirty="0" sz="1200"/>
              <a:t>both Obj2 (routing priority) and</a:t>
            </a:r>
          </a:p>
          <a:p>
            <a:r>
              <a:rPr lang="en-US" dirty="0" sz="1200"/>
              <a:t>Obj4 (citation anchor pinning).</a:t>
            </a:r>
          </a:p>
          <a:p/>
          <a:p>
            <a:r>
              <a:rPr lang="en-US" dirty="0" sz="1200"/>
              <a:t>MNCD mesh (Obj3) spans across Obj2 and Obj4:</a:t>
            </a:r>
          </a:p>
          <a:p>
            <a:r>
              <a:rPr lang="en-US" dirty="0" sz="1200"/>
              <a:t>Context produced by Obj2 agents</a:t>
            </a:r>
          </a:p>
          <a:p>
            <a:r>
              <a:rPr lang="en-US" dirty="0" sz="1200"/>
              <a:t>is distributed by Obj3</a:t>
            </a:r>
          </a:p>
          <a:p>
            <a:r>
              <a:rPr lang="en-US" dirty="0" sz="1200"/>
              <a:t>and compressed by Obj4.</a:t>
            </a:r>
          </a:p>
          <a:p/>
          <a:p>
            <a:r>
              <a:rPr lang="en-US" dirty="0" sz="1200"/>
              <a:t>This is the architectural novelty.</a:t>
            </a:r>
          </a:p>
          <a:p>
            <a:r>
              <a:rPr lang="en-US" dirty="0" sz="1200"/>
              <a:t>Not any single component —</a:t>
            </a:r>
          </a:p>
          <a:p>
            <a:r>
              <a:rPr lang="en-US" dirty="0" sz="1200"/>
              <a:t>but the session-aware integration</a:t>
            </a:r>
          </a:p>
          <a:p>
            <a:r>
              <a:rPr lang="en-US" dirty="0" sz="1200"/>
              <a:t>of all four components sharing</a:t>
            </a:r>
          </a:p>
          <a:p>
            <a:r>
              <a:rPr lang="en-US" dirty="0" sz="1200"/>
              <a:t>one data pipeline, one feedback loop,</a:t>
            </a:r>
          </a:p>
          <a:p>
            <a:r>
              <a:rPr lang="en-US" dirty="0" sz="1200"/>
              <a:t>one real-world data integration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Novelty Matrix — ACRS vs. State of the Art.</a:t>
            </a:r>
          </a:p>
          <a:p/>
          <a:p>
            <a:r>
              <a:rPr lang="en-US" dirty="0" sz="1200"/>
              <a:t>The matrix has five columns:</a:t>
            </a:r>
          </a:p>
          <a:p>
            <a:r>
              <a:rPr lang="en-US" dirty="0" sz="1200"/>
              <a:t>Objective | Unresolved Gap | Novel Mechanism |</a:t>
            </a:r>
          </a:p>
          <a:p>
            <a:r>
              <a:rPr lang="en-US" dirty="0" sz="1200"/>
              <a:t>Closest Prior Work | Validated Gain</a:t>
            </a:r>
          </a:p>
          <a:p/>
          <a:p>
            <a:r>
              <a:rPr lang="en-US" dirty="0" sz="1200"/>
              <a:t>All four rows of novel mechanisms are:</a:t>
            </a:r>
          </a:p>
          <a:p/>
          <a:p>
            <a:r>
              <a:rPr lang="en-US" dirty="0" sz="1200"/>
              <a:t>Obj 1 — SessionRerank+:</a:t>
            </a:r>
          </a:p>
          <a:p>
            <a:r>
              <a:rPr lang="en-US" dirty="0" sz="1200"/>
              <a:t>Co-activation graph reranking</a:t>
            </a:r>
          </a:p>
          <a:p>
            <a:r>
              <a:rPr lang="en-US" dirty="0" sz="1200"/>
              <a:t>with session-decay weighting.</a:t>
            </a:r>
          </a:p>
          <a:p>
            <a:r>
              <a:rPr lang="en-US" dirty="0" sz="1200"/>
              <a:t>Prior: ToolBench stateless retrieval.</a:t>
            </a:r>
          </a:p>
          <a:p/>
          <a:p>
            <a:r>
              <a:rPr lang="en-US" dirty="0" sz="1200"/>
              <a:t>Obj 2 — APRR+CDR+PDR:</a:t>
            </a:r>
          </a:p>
          <a:p>
            <a:r>
              <a:rPr lang="en-US" dirty="0" sz="1200"/>
              <a:t>Online RL W matrix + CDR + PDR</a:t>
            </a:r>
          </a:p>
          <a:p>
            <a:r>
              <a:rPr lang="en-US" dirty="0" sz="1200"/>
              <a:t>with shared session state bus.</a:t>
            </a:r>
          </a:p>
          <a:p>
            <a:r>
              <a:rPr lang="en-US" dirty="0" sz="1200"/>
              <a:t>Prior: RouteLLM offline policy.</a:t>
            </a:r>
          </a:p>
          <a:p/>
          <a:p>
            <a:r>
              <a:rPr lang="en-US" dirty="0" sz="1200"/>
              <a:t>Obj 3 — MNCD:</a:t>
            </a:r>
          </a:p>
          <a:p>
            <a:r>
              <a:rPr lang="en-US" dirty="0" sz="1200"/>
              <a:t>Gossip mesh + Borda consensus</a:t>
            </a:r>
          </a:p>
          <a:p>
            <a:r>
              <a:rPr lang="en-US" dirty="0" sz="1200"/>
              <a:t>+ R=3 replication + distress signal.</a:t>
            </a:r>
          </a:p>
          <a:p>
            <a:r>
              <a:rPr lang="en-US" dirty="0" sz="1200"/>
              <a:t>Prior: AutoGen (no fault-tolerant mesh).</a:t>
            </a:r>
          </a:p>
          <a:p/>
          <a:p>
            <a:r>
              <a:rPr lang="en-US" dirty="0" sz="1200"/>
              <a:t>Obj 4 — FCNP:</a:t>
            </a:r>
          </a:p>
          <a:p>
            <a:r>
              <a:rPr lang="en-US" dirty="0" sz="1200"/>
              <a:t>Kirchhoff flow potential + citation anchors</a:t>
            </a:r>
          </a:p>
          <a:p>
            <a:r>
              <a:rPr lang="en-US" dirty="0" sz="1200"/>
              <a:t>+ XAI flow-score trace.</a:t>
            </a:r>
          </a:p>
          <a:p>
            <a:r>
              <a:rPr lang="en-US" dirty="0" sz="1200"/>
              <a:t>Prior: H2O, Scissorhands (no citation preservation).</a:t>
            </a:r>
          </a:p>
          <a:p/>
          <a:p>
            <a:r>
              <a:rPr lang="en-US" dirty="0" sz="1200"/>
              <a:t>Every gain in the matrix has a number.</a:t>
            </a:r>
          </a:p>
          <a:p>
            <a:r>
              <a:rPr lang="en-US" dirty="0" sz="1200"/>
              <a:t>Every prior work is explicitly cited.</a:t>
            </a:r>
          </a:p>
          <a:p>
            <a:r>
              <a:rPr lang="en-US" dirty="0" sz="1200"/>
              <a:t>Every novel mechanism is falsifiable.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Feasibility Assessment.</a:t>
            </a:r>
          </a:p>
          <a:p/>
          <a:p>
            <a:r>
              <a:rPr lang="en-US" dirty="0" sz="1200"/>
              <a:t>Risk and Mitigation:</a:t>
            </a:r>
          </a:p>
          <a:p>
            <a:r>
              <a:rPr lang="en-US" dirty="0" sz="1200"/>
              <a:t>- GPU memory → LoRA + 4-bit quantised inference.</a:t>
            </a:r>
          </a:p>
          <a:p>
            <a:r>
              <a:rPr lang="en-US" dirty="0" sz="1200"/>
              <a:t>- ToolBench API deprecation → local API emulation server.</a:t>
            </a:r>
          </a:p>
          <a:p>
            <a:r>
              <a:rPr lang="en-US" dirty="0" sz="1200"/>
              <a:t>- MNCD gossip convergence failure → bounded fan-out + heartbeat.</a:t>
            </a:r>
          </a:p>
          <a:p>
            <a:r>
              <a:rPr lang="en-US" dirty="0" sz="1200"/>
              <a:t>- FCNP citation accuracy below 99% →</a:t>
            </a:r>
          </a:p>
          <a:p>
            <a:r>
              <a:rPr lang="en-US" dirty="0" sz="1200"/>
              <a:t xml:space="preserve">  citation-anchor pinning + rollback pruning.</a:t>
            </a:r>
          </a:p>
          <a:p>
            <a:r>
              <a:rPr lang="en-US" dirty="0" sz="1200"/>
              <a:t>- data.gov.in API downtime →</a:t>
            </a:r>
          </a:p>
          <a:p>
            <a:r>
              <a:rPr lang="en-US" dirty="0" sz="1200"/>
              <a:t xml:space="preserve">  graceful degradation:</a:t>
            </a:r>
          </a:p>
          <a:p>
            <a:r>
              <a:rPr lang="en-US" dirty="0" sz="1200"/>
              <a:t xml:space="preserve">  system falls back to 24h cached mandi feed.</a:t>
            </a:r>
          </a:p>
          <a:p>
            <a:r>
              <a:rPr lang="en-US" dirty="0" sz="1200"/>
              <a:t xml:space="preserve">  SessionRerank+ continues on cached context.</a:t>
            </a:r>
          </a:p>
          <a:p>
            <a:r>
              <a:rPr lang="en-US" dirty="0" sz="1200"/>
              <a:t xml:space="preserve">  No crash — just reduced freshness.</a:t>
            </a:r>
          </a:p>
          <a:p>
            <a:r>
              <a:rPr lang="en-US" dirty="0" sz="1200"/>
              <a:t>- IndicTrans2 translation errors →</a:t>
            </a:r>
          </a:p>
          <a:p>
            <a:r>
              <a:rPr lang="en-US" dirty="0" sz="1200"/>
              <a:t xml:space="preserve">  confidence threshold + English fallback.</a:t>
            </a:r>
          </a:p>
          <a:p/>
          <a:p>
            <a:r>
              <a:rPr lang="en-US" dirty="0" sz="1200"/>
              <a:t>Data Access (all open, no proprietary data):</a:t>
            </a:r>
          </a:p>
          <a:p>
            <a:r>
              <a:rPr lang="en-US" dirty="0" sz="1200"/>
              <a:t>- data.gov.in: Open Government Data Platform India.</a:t>
            </a:r>
          </a:p>
          <a:p>
            <a:r>
              <a:rPr lang="en-US" dirty="0" sz="1200"/>
              <a:t xml:space="preserve">  Live agriculture commodity price feeds.</a:t>
            </a:r>
          </a:p>
          <a:p>
            <a:r>
              <a:rPr lang="en-US" dirty="0" sz="1200"/>
              <a:t xml:space="preserve">  API token registered for academic research.</a:t>
            </a:r>
          </a:p>
          <a:p>
            <a:r>
              <a:rPr lang="en-US" dirty="0" sz="1200"/>
              <a:t>- ToolBench: 43,000 annotated APIs.</a:t>
            </a:r>
          </a:p>
          <a:p>
            <a:r>
              <a:rPr lang="en-US" dirty="0" sz="1200"/>
              <a:t xml:space="preserve">  Publicly available for academic benchmarking.</a:t>
            </a:r>
          </a:p>
          <a:p>
            <a:r>
              <a:rPr lang="en-US" dirty="0" sz="1200"/>
              <a:t>- HuggingFace: Gemma-4, IndicTrans2 — open-access weights.</a:t>
            </a:r>
          </a:p>
          <a:p>
            <a:r>
              <a:rPr lang="en-US" dirty="0" sz="1200"/>
              <a:t>- No PII processed — farmer queries are anonymised.</a:t>
            </a:r>
          </a:p>
          <a:p/>
          <a:p>
            <a:r>
              <a:rPr lang="en-US" dirty="0" sz="1200"/>
              <a:t>Acknowledgements:</a:t>
            </a:r>
          </a:p>
          <a:p>
            <a:r>
              <a:rPr lang="en-US" dirty="0" sz="1200"/>
              <a:t>- Data source: data.gov.in</a:t>
            </a:r>
          </a:p>
          <a:p>
            <a:r>
              <a:rPr lang="en-US" dirty="0" sz="1200"/>
              <a:t xml:space="preserve">  (Ministry of Electronics and Information Technology)</a:t>
            </a:r>
          </a:p>
          <a:p>
            <a:r>
              <a:rPr lang="en-US" dirty="0" sz="1200"/>
              <a:t>- Open-source tools: PyTorch, HuggingFace Transformers,</a:t>
            </a:r>
          </a:p>
          <a:p>
            <a:r>
              <a:rPr lang="en-US" dirty="0" sz="1200"/>
              <a:t xml:space="preserve">  FlashAttention-2, FAISS, Gradio, IndicTrans2 (AI4Bharat)</a:t>
            </a:r>
          </a:p>
          <a:p>
            <a:r>
              <a:rPr lang="en-US" dirty="0" sz="1200"/>
              <a:t>- Compute: Google Colab Pro+ (T4/A100),</a:t>
            </a:r>
          </a:p>
          <a:p>
            <a:r>
              <a:rPr lang="en-US" dirty="0" sz="1200"/>
              <a:t xml:space="preserve">  Kaggle Notebooks (P100/T4)</a:t>
            </a:r>
          </a:p>
          <a:p>
            <a:r>
              <a:rPr lang="en-US" dirty="0" sz="1200"/>
              <a:t xml:space="preserve">  — all public academic free-tier platforms.</a:t>
            </a:r>
          </a:p>
          <a:p>
            <a:r>
              <a:rPr lang="en-US" dirty="0" sz="1200"/>
              <a:t xml:space="preserve">  No paid cloud compute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Ethics, Security, and Responsible AI.</a:t>
            </a:r>
          </a:p>
          <a:p/>
          <a:p>
            <a:r>
              <a:rPr lang="en-US" dirty="0" sz="1200"/>
              <a:t>E1 — Prompt Injection:</a:t>
            </a:r>
          </a:p>
          <a:p>
            <a:r>
              <a:rPr lang="en-US" dirty="0" sz="1200"/>
              <a:t>Multi-agent systems vulnerable to indirect injection.</a:t>
            </a:r>
          </a:p>
          <a:p>
            <a:r>
              <a:rPr lang="en-US" dirty="0" sz="1200"/>
              <a:t>Mitigation:</a:t>
            </a:r>
          </a:p>
          <a:p>
            <a:r>
              <a:rPr lang="en-US" dirty="0" sz="1200"/>
              <a:t>- Input sanitisation before SessionRerank+.</a:t>
            </a:r>
          </a:p>
          <a:p>
            <a:r>
              <a:rPr lang="en-US" dirty="0" sz="1200"/>
              <a:t>- CDR routing guards flag anomalous CoT paths.</a:t>
            </a:r>
          </a:p>
          <a:p>
            <a:r>
              <a:rPr lang="en-US" dirty="0" sz="1200"/>
              <a:t>- MNCD context integrity hashes detect tampering.</a:t>
            </a:r>
          </a:p>
          <a:p/>
          <a:p>
            <a:r>
              <a:rPr lang="en-US" dirty="0" sz="1200"/>
              <a:t>E2 — Data Privacy and PII:</a:t>
            </a:r>
          </a:p>
          <a:p>
            <a:r>
              <a:rPr lang="en-US" dirty="0" sz="1200"/>
              <a:t>Session history may contain PII.</a:t>
            </a:r>
          </a:p>
          <a:p>
            <a:r>
              <a:rPr lang="en-US" dirty="0" sz="1200"/>
              <a:t>Mitigation:</a:t>
            </a:r>
          </a:p>
          <a:p>
            <a:r>
              <a:rPr lang="en-US" dirty="0" sz="1200"/>
              <a:t>- In-memory only context stores with TTL expiry.</a:t>
            </a:r>
          </a:p>
          <a:p>
            <a:r>
              <a:rPr lang="en-US" dirty="0" sz="1200"/>
              <a:t>- Differential privacy noise on exported session features.</a:t>
            </a:r>
          </a:p>
          <a:p>
            <a:r>
              <a:rPr lang="en-US" dirty="0" sz="1200"/>
              <a:t>- IndicTrans2 processing: no external API calls for user data.</a:t>
            </a:r>
          </a:p>
          <a:p/>
          <a:p>
            <a:r>
              <a:rPr lang="en-US" dirty="0" sz="1200"/>
              <a:t>E3 — AI Act Compliance:</a:t>
            </a:r>
          </a:p>
          <a:p>
            <a:r>
              <a:rPr lang="en-US" dirty="0" sz="1200"/>
              <a:t>ACRS is a high-impact AI decision system.</a:t>
            </a:r>
          </a:p>
          <a:p>
            <a:r>
              <a:rPr lang="en-US" dirty="0" sz="1200"/>
              <a:t>EU AI Act Article 9 risk management documented.</a:t>
            </a:r>
          </a:p>
          <a:p>
            <a:r>
              <a:rPr lang="en-US" dirty="0" sz="1200"/>
              <a:t>Full routing decision logs provided:</a:t>
            </a:r>
          </a:p>
          <a:p>
            <a:r>
              <a:rPr lang="en-US" dirty="0" sz="1200"/>
              <a:t>- CDR chain-of-thought scores.</a:t>
            </a:r>
          </a:p>
          <a:p>
            <a:r>
              <a:rPr lang="en-US" dirty="0" sz="1200"/>
              <a:t>- APRR weight snapshots.</a:t>
            </a:r>
          </a:p>
          <a:p>
            <a:r>
              <a:rPr lang="en-US" dirty="0" sz="1200"/>
              <a:t>- FCNP flow-score traces (XAI transparency).</a:t>
            </a:r>
          </a:p>
          <a:p/>
          <a:p>
            <a:r>
              <a:rPr lang="en-US" dirty="0" sz="1200"/>
              <a:t>E4 — Multilingual Equity and Bias:</a:t>
            </a:r>
          </a:p>
          <a:p>
            <a:r>
              <a:rPr lang="en-US" dirty="0" sz="1200"/>
              <a:t>IndicTrans2 + IndicGenBench evaluations ensure</a:t>
            </a:r>
          </a:p>
          <a:p>
            <a:r>
              <a:rPr lang="en-US" dirty="0" sz="1200"/>
              <a:t>SessionRerank+ tool rankings do not degrade</a:t>
            </a:r>
          </a:p>
          <a:p>
            <a:r>
              <a:rPr lang="en-US" dirty="0" sz="1200"/>
              <a:t>for Indic language queries.</a:t>
            </a:r>
          </a:p>
          <a:p>
            <a:r>
              <a:rPr lang="en-US" dirty="0" sz="1200"/>
              <a:t>Routing decisions evaluated for language-group fairness.</a:t>
            </a:r>
          </a:p>
          <a:p>
            <a:r>
              <a:rPr lang="en-US" dirty="0" sz="1200"/>
              <a:t>No statistical routing penalty for Indic vs English</a:t>
            </a:r>
          </a:p>
          <a:p>
            <a:r>
              <a:rPr lang="en-US" dirty="0" sz="1200"/>
              <a:t>(t-test, α=0.05).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Methodology and Research Timeline.</a:t>
            </a:r>
          </a:p>
          <a:p/>
          <a:p>
            <a:r>
              <a:rPr lang="en-US" dirty="0" sz="1200"/>
              <a:t>3-phase experimental design</a:t>
            </a:r>
          </a:p>
          <a:p>
            <a:r>
              <a:rPr lang="en-US" dirty="0" sz="1200"/>
              <a:t>(from evaluation recommendations):</a:t>
            </a:r>
          </a:p>
          <a:p/>
          <a:p>
            <a:r>
              <a:rPr lang="en-US" dirty="0" sz="1200"/>
              <a:t>Phase 1 — Foundational Validation (Year 2 Q1-Q2):</a:t>
            </a:r>
          </a:p>
          <a:p>
            <a:r>
              <a:rPr lang="en-US" dirty="0" sz="1200"/>
              <a:t>Ablation studies on SessionRerank+ and FCNP</a:t>
            </a:r>
          </a:p>
          <a:p>
            <a:r>
              <a:rPr lang="en-US" dirty="0" sz="1200"/>
              <a:t>vs baselines on TREC Session.</a:t>
            </a:r>
          </a:p>
          <a:p>
            <a:r>
              <a:rPr lang="en-US" dirty="0" sz="1200"/>
              <a:t>Metrics: nDCG@5, Precision@k, MRR.</a:t>
            </a:r>
          </a:p>
          <a:p>
            <a:r>
              <a:rPr lang="en-US" dirty="0" sz="1200"/>
              <a:t>This establishes the core theoretical contribution.</a:t>
            </a:r>
          </a:p>
          <a:p/>
          <a:p>
            <a:r>
              <a:rPr lang="en-US" dirty="0" sz="1200"/>
              <a:t>Phase 2 — Domain Adaptation (Year 2 Q3-Q4):</a:t>
            </a:r>
          </a:p>
          <a:p>
            <a:r>
              <a:rPr lang="en-US" dirty="0" sz="1200"/>
              <a:t>Fine-tune ACRS on data.gov.in AgriGov corpus.</a:t>
            </a:r>
          </a:p>
          <a:p>
            <a:r>
              <a:rPr lang="en-US" dirty="0" sz="1200"/>
              <a:t>Measure domain-specific accuracy</a:t>
            </a:r>
          </a:p>
          <a:p>
            <a:r>
              <a:rPr lang="en-US" dirty="0" sz="1200"/>
              <a:t>on agricultural queries.</a:t>
            </a:r>
          </a:p>
          <a:p>
            <a:r>
              <a:rPr lang="en-US" dirty="0" sz="1200"/>
              <a:t>Target: 78.4% domain accuracy.</a:t>
            </a:r>
          </a:p>
          <a:p/>
          <a:p>
            <a:r>
              <a:rPr lang="en-US" dirty="0" sz="1200"/>
              <a:t>Phase 3 — Real-World Simulation (Year 3 Q1-Q2):</a:t>
            </a:r>
          </a:p>
          <a:p>
            <a:r>
              <a:rPr lang="en-US" dirty="0" sz="1200"/>
              <a:t>Deploy prototype on cloud (AWS / GCP).</a:t>
            </a:r>
          </a:p>
          <a:p>
            <a:r>
              <a:rPr lang="en-US" dirty="0" sz="1200"/>
              <a:t>Conduct stress tests and load benchmarking.</a:t>
            </a:r>
          </a:p>
          <a:p>
            <a:r>
              <a:rPr lang="en-US" dirty="0" sz="1200"/>
              <a:t>API downtime resilience experiments.</a:t>
            </a:r>
          </a:p>
          <a:p>
            <a:r>
              <a:rPr lang="en-US" dirty="0" sz="1200"/>
              <a:t>Graceful degradation metrics.</a:t>
            </a:r>
          </a:p>
          <a:p>
            <a:r>
              <a:rPr lang="en-US" dirty="0" sz="1200"/>
              <a:t>End-to-end ACRS integration evaluation.</a:t>
            </a:r>
          </a:p>
          <a:p/>
          <a:p>
            <a:r>
              <a:rPr lang="en-US" dirty="0" sz="1200"/>
              <a:t>Year 1 (2024–25) — Foundation and Pilot:</a:t>
            </a:r>
          </a:p>
          <a:p>
            <a:r>
              <a:rPr lang="en-US" dirty="0" sz="1200"/>
              <a:t>- Literature review: 28+ papers catalogued.</a:t>
            </a:r>
          </a:p>
          <a:p>
            <a:r>
              <a:rPr lang="en-US" dirty="0" sz="1200"/>
              <a:t>- ToolBench environment setup + baseline.</a:t>
            </a:r>
          </a:p>
          <a:p>
            <a:r>
              <a:rPr lang="en-US" dirty="0" sz="1200"/>
              <a:t>- SessionRerank+ pilot: NDCG@5 = 0.461</a:t>
            </a:r>
          </a:p>
          <a:p>
            <a:r>
              <a:rPr lang="en-US" dirty="0" sz="1200"/>
              <a:t>- APRR+CDR+PDR pilot: 47.0% success, 261ms.</a:t>
            </a:r>
          </a:p>
          <a:p>
            <a:r>
              <a:rPr lang="en-US" dirty="0" sz="1200"/>
              <a:t>- MNCD pilot: 97.5% / 97.0% availability.</a:t>
            </a:r>
          </a:p>
          <a:p>
            <a:r>
              <a:rPr lang="en-US" dirty="0" sz="1200"/>
              <a:t>- PRP-1 submission: June 2026.</a:t>
            </a:r>
          </a:p>
          <a:p>
            <a:r>
              <a:rPr lang="en-US" dirty="0" sz="1200"/>
              <a:t>Deliverable: PRP-1 Report + 4 pilot implementations.</a:t>
            </a:r>
          </a:p>
          <a:p/>
          <a:p>
            <a:r>
              <a:rPr lang="en-US" dirty="0" sz="1200"/>
              <a:t>Year 2 (2025–26) — Full System Development:</a:t>
            </a:r>
          </a:p>
          <a:p>
            <a:r>
              <a:rPr lang="en-US" dirty="0" sz="1200"/>
              <a:t>- Phase 1 and Phase 2 experiments.</a:t>
            </a:r>
          </a:p>
          <a:p>
            <a:r>
              <a:rPr lang="en-US" dirty="0" sz="1200"/>
              <a:t>- SessionRerank+ full: NDCG@5 ≥ 0.52 target.</a:t>
            </a:r>
          </a:p>
          <a:p>
            <a:r>
              <a:rPr lang="en-US" dirty="0" sz="1200"/>
              <a:t>- MNCD: scale to 10-node cluster.</a:t>
            </a:r>
          </a:p>
          <a:p>
            <a:r>
              <a:rPr lang="en-US" dirty="0" sz="1200"/>
              <a:t>- FCNP: 7-baseline comparison.</a:t>
            </a:r>
          </a:p>
          <a:p>
            <a:r>
              <a:rPr lang="en-US" dirty="0" sz="1200"/>
              <a:t>- Multilingual fairness: IndicTrans2 evaluation.</a:t>
            </a:r>
          </a:p>
          <a:p>
            <a:r>
              <a:rPr lang="en-US" dirty="0" sz="1200"/>
              <a:t>- Target: 1 Journal/Conference paper.</a:t>
            </a:r>
          </a:p>
          <a:p>
            <a:r>
              <a:rPr lang="en-US" dirty="0" sz="1200"/>
              <a:t>Deliverable: 1 paper + full system v1.0.</a:t>
            </a:r>
          </a:p>
          <a:p/>
          <a:p>
            <a:r>
              <a:rPr lang="en-US" dirty="0" sz="1200"/>
              <a:t>Year 3 (2026–27) — Evaluation and Thesis:</a:t>
            </a:r>
          </a:p>
          <a:p>
            <a:r>
              <a:rPr lang="en-US" dirty="0" sz="1200"/>
              <a:t>- Phase 3 experiments.</a:t>
            </a:r>
          </a:p>
          <a:p>
            <a:r>
              <a:rPr lang="en-US" dirty="0" sz="1200"/>
              <a:t>- Full 30-scenario end-to-end ACRS evaluation.</a:t>
            </a:r>
          </a:p>
          <a:p>
            <a:r>
              <a:rPr lang="en-US" dirty="0" sz="1200"/>
              <a:t>- Wilcoxon significance tests across all 4 objectives.</a:t>
            </a:r>
          </a:p>
          <a:p>
            <a:r>
              <a:rPr lang="en-US" dirty="0" sz="1200"/>
              <a:t>- Ethics and AI Act compliance documentation.</a:t>
            </a:r>
          </a:p>
          <a:p>
            <a:r>
              <a:rPr lang="en-US" dirty="0" sz="1200"/>
              <a:t>- Thesis writing and viva preparation.</a:t>
            </a:r>
          </a:p>
          <a:p>
            <a:r>
              <a:rPr lang="en-US" dirty="0" sz="1200"/>
              <a:t>Deliverable: 1 Journal/Conference paper + PhD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Conclusion.</a:t>
            </a:r>
          </a:p>
          <a:p/>
          <a:p>
            <a:r>
              <a:rPr lang="en-US" dirty="0" sz="1200"/>
              <a:t>Three questions for the panel:</a:t>
            </a:r>
          </a:p>
          <a:p/>
          <a:p>
            <a:r>
              <a:rPr lang="en-US" dirty="0" sz="1200"/>
              <a:t>1. Do I genuinely understand the concept?</a:t>
            </a:r>
          </a:p>
          <a:p/>
          <a:p>
            <a:r>
              <a:rPr lang="en-US" dirty="0" sz="1200"/>
              <a:t>I can explain why γ=0.7 in the session discount function.</a:t>
            </a:r>
          </a:p>
          <a:p>
            <a:r>
              <a:rPr lang="en-US" dirty="0" sz="1200"/>
              <a:t>I can explain why α=0.3 in the gossip weight function.</a:t>
            </a:r>
          </a:p>
          <a:p>
            <a:r>
              <a:rPr lang="en-US" dirty="0" sz="1200"/>
              <a:t>I can explain why Kirchhoff flow gives something</a:t>
            </a:r>
          </a:p>
          <a:p>
            <a:r>
              <a:rPr lang="en-US" dirty="0" sz="1200"/>
              <a:t>attention-weight pruning does not.</a:t>
            </a:r>
          </a:p>
          <a:p>
            <a:r>
              <a:rPr lang="en-US" dirty="0" sz="1200"/>
              <a:t>I know where Year 1 numbers fell short of targets.</a:t>
            </a:r>
          </a:p>
          <a:p>
            <a:r>
              <a:rPr lang="en-US" dirty="0" sz="1200"/>
              <a:t>Understanding means knowing where things go wrong —</a:t>
            </a:r>
          </a:p>
          <a:p>
            <a:r>
              <a:rPr lang="en-US" dirty="0" sz="1200"/>
              <a:t>not just where they work.</a:t>
            </a:r>
          </a:p>
          <a:p/>
          <a:p>
            <a:r>
              <a:rPr lang="en-US" dirty="0" sz="1200"/>
              <a:t>2. Can I implement this without blockers?</a:t>
            </a:r>
          </a:p>
          <a:p/>
          <a:p>
            <a:r>
              <a:rPr lang="en-US" dirty="0" sz="1200"/>
              <a:t>All four components have working pilot implementations.</a:t>
            </a:r>
          </a:p>
          <a:p>
            <a:r>
              <a:rPr lang="en-US" dirty="0" sz="1200"/>
              <a:t>Compute access, datasets, and implementation plans</a:t>
            </a:r>
          </a:p>
          <a:p>
            <a:r>
              <a:rPr lang="en-US" dirty="0" sz="1200"/>
              <a:t>with realistic GPU-hour estimates are in place.</a:t>
            </a:r>
          </a:p>
          <a:p>
            <a:r>
              <a:rPr lang="en-US" dirty="0" sz="1200"/>
              <a:t>The software stack is standard Python.</a:t>
            </a:r>
          </a:p>
          <a:p>
            <a:r>
              <a:rPr lang="en-US" dirty="0" sz="1200"/>
              <a:t>The novel algorithms have been implemented and tested.</a:t>
            </a:r>
          </a:p>
          <a:p>
            <a:r>
              <a:rPr lang="en-US" dirty="0" sz="1200"/>
              <a:t>Known blockers are scale blockers —</a:t>
            </a:r>
          </a:p>
          <a:p>
            <a:r>
              <a:rPr lang="en-US" dirty="0" sz="1200"/>
              <a:t>I have strategies for each.</a:t>
            </a:r>
          </a:p>
          <a:p/>
          <a:p>
            <a:r>
              <a:rPr lang="en-US" dirty="0" sz="1200"/>
              <a:t>3. Is this truly novel?</a:t>
            </a:r>
          </a:p>
          <a:p/>
          <a:p>
            <a:r>
              <a:rPr lang="en-US" dirty="0" sz="1200"/>
              <a:t>I have described, paper by paper,</a:t>
            </a:r>
          </a:p>
          <a:p>
            <a:r>
              <a:rPr lang="en-US" dirty="0" sz="1200"/>
              <a:t>what the prior work does and where it falls short.</a:t>
            </a:r>
          </a:p>
          <a:p>
            <a:r>
              <a:rPr lang="en-US" dirty="0" sz="1200"/>
              <a:t>The four novelty claims are specific and falsifiable.</a:t>
            </a:r>
          </a:p>
          <a:p>
            <a:r>
              <a:rPr lang="en-US" dirty="0" sz="1200"/>
              <a:t>If you can show me a paper that uses:</a:t>
            </a:r>
          </a:p>
          <a:p>
            <a:r>
              <a:rPr lang="en-US" dirty="0" sz="1200"/>
              <a:t>- session co-activation history for API reranking, or</a:t>
            </a:r>
          </a:p>
          <a:p>
            <a:r>
              <a:rPr lang="en-US" dirty="0" sz="1200"/>
              <a:t>- online RL routing with CDR + PDR integration, or</a:t>
            </a:r>
          </a:p>
          <a:p>
            <a:r>
              <a:rPr lang="en-US" dirty="0" sz="1200"/>
              <a:t>- epidemic gossip for LLM context with distress signalling, or</a:t>
            </a:r>
          </a:p>
          <a:p>
            <a:r>
              <a:rPr lang="en-US" dirty="0" sz="1200"/>
              <a:t>- Kirchhoff flow for LLM context graph compression</a:t>
            </a:r>
          </a:p>
          <a:p>
            <a:r>
              <a:rPr lang="en-US" dirty="0" sz="1200"/>
              <a:t xml:space="preserve">  with citation anchors —</a:t>
            </a:r>
          </a:p>
          <a:p>
            <a:r>
              <a:rPr lang="en-US" dirty="0" sz="1200"/>
              <a:t>then I need to reframe my novelty.</a:t>
            </a:r>
          </a:p>
          <a:p>
            <a:r>
              <a:rPr lang="en-US" dirty="0" sz="1200"/>
              <a:t>I have not found such papers.</a:t>
            </a:r>
          </a:p>
          <a:p/>
          <a:p>
            <a:r>
              <a:rPr lang="en-US" dirty="0" sz="1200"/>
              <a:t>ACRS is not an incremental improvement.</a:t>
            </a:r>
          </a:p>
          <a:p>
            <a:r>
              <a:rPr lang="en-US" dirty="0" sz="1200"/>
              <a:t>It is a new architecture for multi-agent LLM inference</a:t>
            </a:r>
          </a:p>
          <a:p>
            <a:r>
              <a:rPr lang="en-US" dirty="0" sz="1200"/>
              <a:t>addressing four currently unsolved failure modes</a:t>
            </a:r>
          </a:p>
          <a:p>
            <a:r>
              <a:rPr lang="en-US" dirty="0" sz="1200"/>
              <a:t>in one integrated framework.</a:t>
            </a:r>
          </a:p>
          <a:p/>
          <a:p>
            <a:r>
              <a:rPr lang="en-US" dirty="0" sz="1200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ACRS End-to-End Integration —</a:t>
            </a:r>
          </a:p>
          <a:p>
            <a:r>
              <a:rPr lang="en-US" dirty="0" sz="1200"/>
              <a:t>ToolBench + data.gov.in + HuggingFace Deployment.</a:t>
            </a:r>
          </a:p>
          <a:p/>
          <a:p>
            <a:r>
              <a:rPr lang="en-US" dirty="0" sz="1200"/>
              <a:t>This slide shows how all four objectives</a:t>
            </a:r>
          </a:p>
          <a:p>
            <a:r>
              <a:rPr lang="en-US" dirty="0" sz="1200"/>
              <a:t>connect into one deployed, real-time system.</a:t>
            </a:r>
          </a:p>
          <a:p/>
          <a:p>
            <a:r>
              <a:rPr lang="en-US" dirty="0" sz="1200"/>
              <a:t>Common thread — ToolBench:</a:t>
            </a:r>
          </a:p>
          <a:p>
            <a:r>
              <a:rPr lang="en-US" dirty="0" sz="1200"/>
              <a:t>Every objective operates on the same</a:t>
            </a:r>
          </a:p>
          <a:p>
            <a:r>
              <a:rPr lang="en-US" dirty="0" sz="1200"/>
              <a:t>ToolBench dataset of 43,000 real-world APIs.</a:t>
            </a:r>
          </a:p>
          <a:p/>
          <a:p>
            <a:r>
              <a:rPr lang="en-US" dirty="0" sz="1200"/>
              <a:t>- Obj 1 (SessionRerank+): entry point.</a:t>
            </a:r>
          </a:p>
          <a:p>
            <a:r>
              <a:rPr lang="en-US" dirty="0" sz="1200"/>
              <a:t xml:space="preserve">  Reranks 43,000 APIs by session context.</a:t>
            </a:r>
          </a:p>
          <a:p>
            <a:r>
              <a:rPr lang="en-US" dirty="0" sz="1200"/>
              <a:t xml:space="preserve">  Returns Top-K relevant APIs.</a:t>
            </a:r>
          </a:p>
          <a:p/>
          <a:p>
            <a:r>
              <a:rPr lang="en-US" dirty="0" sz="1200"/>
              <a:t>- Obj 2 (APRR+CDR+PDR): routes query.</a:t>
            </a:r>
          </a:p>
          <a:p>
            <a:r>
              <a:rPr lang="en-US" dirty="0" sz="1200"/>
              <a:t xml:space="preserve">  Uses online RL weight matrix.</a:t>
            </a:r>
          </a:p>
          <a:p>
            <a:r>
              <a:rPr lang="en-US" dirty="0" sz="1200"/>
              <a:t xml:space="preserve">  Sends to: MarketAgent, WeatherAgent,</a:t>
            </a:r>
          </a:p>
          <a:p>
            <a:r>
              <a:rPr lang="en-US" dirty="0" sz="1200"/>
              <a:t xml:space="preserve">  SchemeAgent, CropAgent, or FallbackAgent.</a:t>
            </a:r>
          </a:p>
          <a:p/>
          <a:p>
            <a:r>
              <a:rPr lang="en-US" dirty="0" sz="1200"/>
              <a:t>- Obj 3 (MNCD): distributes context.</a:t>
            </a:r>
          </a:p>
          <a:p>
            <a:r>
              <a:rPr lang="en-US" dirty="0" sz="1200"/>
              <a:t xml:space="preserve">  Gossip protocol keeps all agents in sync.</a:t>
            </a:r>
          </a:p>
          <a:p/>
          <a:p>
            <a:r>
              <a:rPr lang="en-US" dirty="0" sz="1200"/>
              <a:t>- Obj 4 (FCNP): compresses context.</a:t>
            </a:r>
          </a:p>
          <a:p>
            <a:r>
              <a:rPr lang="en-US" dirty="0" sz="1200"/>
              <a:t xml:space="preserve">  Kirchhoff pruning.</a:t>
            </a:r>
          </a:p>
          <a:p>
            <a:r>
              <a:rPr lang="en-US" dirty="0" sz="1200"/>
              <a:t xml:space="preserve">  Citation anchors kept always.</a:t>
            </a:r>
          </a:p>
          <a:p/>
          <a:p>
            <a:r>
              <a:rPr lang="en-US" dirty="0" sz="1200"/>
              <a:t>Live data from data.gov.in:</a:t>
            </a:r>
          </a:p>
          <a:p>
            <a:r>
              <a:rPr lang="en-US" dirty="0" sz="1200"/>
              <a:t>- Mandi price feed (Resource ID: 9ef84268...)</a:t>
            </a:r>
          </a:p>
          <a:p>
            <a:r>
              <a:rPr lang="en-US" dirty="0" sz="1200"/>
              <a:t xml:space="preserve">  Returns today's commodity prices:</a:t>
            </a:r>
          </a:p>
          <a:p>
            <a:r>
              <a:rPr lang="en-US" dirty="0" sz="1200"/>
              <a:t xml:space="preserve">  state, district, commodity, modal price.</a:t>
            </a:r>
          </a:p>
          <a:p>
            <a:r>
              <a:rPr lang="en-US" dirty="0" sz="1200"/>
              <a:t>- Historical crop arrivals (Resource ID: 35985678...)</a:t>
            </a:r>
          </a:p>
          <a:p>
            <a:r>
              <a:rPr lang="en-US" dirty="0" sz="1200"/>
              <a:t xml:space="preserve">  80+ million records.</a:t>
            </a:r>
          </a:p>
          <a:p/>
          <a:p>
            <a:r>
              <a:rPr lang="en-US" dirty="0" sz="1200"/>
              <a:t>Live prices drive APRR routing weight updates.</a:t>
            </a:r>
          </a:p>
          <a:p>
            <a:r>
              <a:rPr lang="en-US" dirty="0" sz="1200"/>
              <a:t>When farmer asks about rice in Karnataka —</a:t>
            </a:r>
          </a:p>
          <a:p>
            <a:r>
              <a:rPr lang="en-US" dirty="0" sz="1200"/>
              <a:t>MarketAgent calls data.gov.in API.</a:t>
            </a:r>
          </a:p>
          <a:p>
            <a:r>
              <a:rPr lang="en-US" dirty="0" sz="1200"/>
              <a:t>Successful call reinforces W matrix weight</a:t>
            </a:r>
          </a:p>
          <a:p>
            <a:r>
              <a:rPr lang="en-US" dirty="0" sz="1200"/>
              <a:t>for MarketAgent in current session.</a:t>
            </a:r>
          </a:p>
          <a:p/>
          <a:p>
            <a:r>
              <a:rPr lang="en-US" dirty="0" sz="1200"/>
              <a:t>HuggingFace Spaces deployment:</a:t>
            </a:r>
          </a:p>
          <a:p>
            <a:r>
              <a:rPr lang="en-US" dirty="0" sz="1200"/>
              <a:t>Gradio app: private — shared with supervisor on request.</a:t>
            </a:r>
          </a:p>
          <a:p>
            <a:r>
              <a:rPr lang="en-US" dirty="0" sz="1200"/>
              <a:t>Full pipeline deployed end-to-end.</a:t>
            </a:r>
          </a:p>
          <a:p>
            <a:r>
              <a:rPr lang="en-US" dirty="0" sz="1200"/>
              <a:t>Farmer types query in Hindi / Kannada / English.</a:t>
            </a:r>
          </a:p>
          <a:p>
            <a:r>
              <a:rPr lang="en-US" dirty="0" sz="1200"/>
              <a:t>IndicTrans2 translates.</a:t>
            </a:r>
          </a:p>
          <a:p>
            <a:r>
              <a:rPr lang="en-US" dirty="0" sz="1200"/>
              <a:t>SessionRerank+ selects APIs.</a:t>
            </a:r>
          </a:p>
          <a:p>
            <a:r>
              <a:rPr lang="en-US" dirty="0" sz="1200"/>
              <a:t>APRR+CDR+PDR routes to specialist agent.</a:t>
            </a:r>
          </a:p>
          <a:p>
            <a:r>
              <a:rPr lang="en-US" dirty="0" sz="1200"/>
              <a:t>Agent calls live data.gov.in.</a:t>
            </a:r>
          </a:p>
          <a:p>
            <a:r>
              <a:rPr lang="en-US" dirty="0" sz="1200"/>
              <a:t>MNCD aggregates mesh consensus.</a:t>
            </a:r>
          </a:p>
          <a:p>
            <a:r>
              <a:rPr lang="en-US" dirty="0" sz="1200"/>
              <a:t>FCNP prunes context.</a:t>
            </a:r>
          </a:p>
          <a:p>
            <a:r>
              <a:rPr lang="en-US" dirty="0" sz="1200"/>
              <a:t>System returns verified, source-attributed response</a:t>
            </a:r>
          </a:p>
          <a:p>
            <a:r>
              <a:rPr lang="en-US" dirty="0" sz="1200"/>
              <a:t>citing exact data.gov.in resource ID.</a:t>
            </a:r>
          </a:p>
          <a:p/>
          <a:p>
            <a:r>
              <a:rPr lang="en-US" dirty="0" sz="1200"/>
              <a:t>This is the architectural novelty:</a:t>
            </a:r>
          </a:p>
          <a:p>
            <a:r>
              <a:rPr lang="en-US" dirty="0" sz="1200"/>
              <a:t>No existing system in the literature combines:</a:t>
            </a:r>
          </a:p>
          <a:p>
            <a:r>
              <a:rPr lang="en-US" dirty="0" sz="1200"/>
              <a:t>session-aware tool reranking +</a:t>
            </a:r>
          </a:p>
          <a:p>
            <a:r>
              <a:rPr lang="en-US" dirty="0" sz="1200"/>
              <a:t>online RL routing +</a:t>
            </a:r>
          </a:p>
          <a:p>
            <a:r>
              <a:rPr lang="en-US" dirty="0" sz="1200"/>
              <a:t>fault-tolerant mesh distribution +</a:t>
            </a:r>
          </a:p>
          <a:p>
            <a:r>
              <a:rPr lang="en-US" dirty="0" sz="1200"/>
              <a:t>flow-based context pruning</a:t>
            </a:r>
          </a:p>
          <a:p>
            <a:r>
              <a:rPr lang="en-US" dirty="0" sz="1200"/>
              <a:t>into one pipeline operating on live government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References — Part 1 (slides 51–54).</a:t>
            </a:r>
          </a:p>
          <a:p/>
          <a:p>
            <a:r>
              <a:rPr lang="en-US" dirty="0" sz="1200"/>
              <a:t>These are the full citations for all 28 references</a:t>
            </a:r>
          </a:p>
          <a:p>
            <a:r>
              <a:rPr lang="en-US" dirty="0" sz="1200"/>
              <a:t>used in this proposal.</a:t>
            </a:r>
          </a:p>
          <a:p/>
          <a:p>
            <a:r>
              <a:rPr lang="en-US" dirty="0" sz="1200"/>
              <a:t>References are numbered [1]–[28].</a:t>
            </a:r>
          </a:p>
          <a:p>
            <a:r>
              <a:rPr lang="en-US" dirty="0" sz="1200"/>
              <a:t>Each reference slide corresponds to 7 papers.</a:t>
            </a:r>
          </a:p>
          <a:p/>
          <a:p>
            <a:r>
              <a:rPr lang="en-US" dirty="0" sz="1200"/>
              <a:t>All reference numbers in the slides</a:t>
            </a:r>
          </a:p>
          <a:p>
            <a:r>
              <a:rPr lang="en-US" dirty="0" sz="1200"/>
              <a:t>are clickable hyperlinks to:</a:t>
            </a:r>
          </a:p>
          <a:p>
            <a:r>
              <a:rPr lang="en-US" dirty="0" sz="1200"/>
              <a:t>- arXiv PDFs (for preprints), or</a:t>
            </a:r>
          </a:p>
          <a:p>
            <a:r>
              <a:rPr lang="en-US" dirty="0" sz="1200"/>
              <a:t>- Published conference/journal DOI pages.</a:t>
            </a:r>
          </a:p>
          <a:p/>
          <a:p>
            <a:r>
              <a:rPr lang="en-US" dirty="0" sz="1200"/>
              <a:t>Paper Folder link at bottom of each reference slide</a:t>
            </a:r>
          </a:p>
          <a:p>
            <a:r>
              <a:rPr lang="en-US" dirty="0" sz="1200"/>
              <a:t>opens a private Google Drive folder</a:t>
            </a:r>
          </a:p>
          <a:p>
            <a:r>
              <a:rPr lang="en-US" dirty="0" sz="1200"/>
              <a:t>containing PDF copies of all papers.</a:t>
            </a:r>
          </a:p>
          <a:p>
            <a:r>
              <a:rPr lang="en-US" dirty="0" sz="1200"/>
              <a:t>Access available to supervisor on request.</a:t>
            </a:r>
          </a:p>
          <a:p/>
          <a:p>
            <a:r>
              <a:rPr lang="en-US" dirty="0" sz="1200"/>
              <a:t>All 28 papers have been reviewed in full.</a:t>
            </a:r>
          </a:p>
          <a:p>
            <a:r>
              <a:rPr lang="en-US" dirty="0" sz="1200"/>
              <a:t>Each paper's gap relative to ACRS is documented</a:t>
            </a:r>
          </a:p>
          <a:p>
            <a:r>
              <a:rPr lang="en-US" dirty="0" sz="1200"/>
              <a:t>in the Literature Review slides (5–9).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This slide contains references [1]–[7].</a:t>
            </a:r>
          </a:p>
          <a:p/>
          <a:p>
            <a:r>
              <a:rPr lang="en-US" dirty="0" sz="1200"/>
              <a:t>[1] Fu et al. (2024) — LazyLLM</a:t>
            </a:r>
          </a:p>
          <a:p>
            <a:r>
              <a:rPr lang="en-US" dirty="0" sz="1200"/>
              <a:t>Dynamic token pruning without training.</a:t>
            </a:r>
          </a:p>
          <a:p>
            <a:r>
              <a:rPr lang="en-US" dirty="0" sz="1200"/>
              <a:t>arXiv:2407.14057.</a:t>
            </a:r>
          </a:p>
          <a:p>
            <a:r>
              <a:rPr lang="en-US" dirty="0" sz="1200"/>
              <a:t>Relevance: SessionRerank+ pruning component.</a:t>
            </a:r>
          </a:p>
          <a:p/>
          <a:p>
            <a:r>
              <a:rPr lang="en-US" dirty="0" sz="1200"/>
              <a:t>[2] Zhang et al. (2023) — H2O</a:t>
            </a:r>
          </a:p>
          <a:p>
            <a:r>
              <a:rPr lang="en-US" dirty="0" sz="1200"/>
              <a:t>Heavy-Hitter Oracle for KV cache.</a:t>
            </a:r>
          </a:p>
          <a:p>
            <a:r>
              <a:rPr lang="en-US" dirty="0" sz="1200"/>
              <a:t>NeurIPS 2023.</a:t>
            </a:r>
          </a:p>
          <a:p>
            <a:r>
              <a:rPr lang="en-US" dirty="0" sz="1200"/>
              <a:t>Relevance: Activity-score eviction in SessionRerank+.</a:t>
            </a:r>
          </a:p>
          <a:p/>
          <a:p>
            <a:r>
              <a:rPr lang="en-US" dirty="0" sz="1200"/>
              <a:t>[3] Liu et al. (2023) — Scissorhands</a:t>
            </a:r>
          </a:p>
          <a:p>
            <a:r>
              <a:rPr lang="en-US" dirty="0" sz="1200"/>
              <a:t>Persistence-of-importance KV compression.</a:t>
            </a:r>
          </a:p>
          <a:p>
            <a:r>
              <a:rPr lang="en-US" dirty="0" sz="1200"/>
              <a:t>NeurIPS 2023. arXiv:2305.17118.</a:t>
            </a:r>
          </a:p>
          <a:p>
            <a:r>
              <a:rPr lang="en-US" dirty="0" sz="1200"/>
              <a:t>Relevance: Temporal stability for activity weighting.</a:t>
            </a:r>
          </a:p>
          <a:p/>
          <a:p>
            <a:r>
              <a:rPr lang="en-US" dirty="0" sz="1200"/>
              <a:t>[4] Xiao et al. (2024) — StreamingLLM</a:t>
            </a:r>
          </a:p>
          <a:p>
            <a:r>
              <a:rPr lang="en-US" dirty="0" sz="1200"/>
              <a:t>Efficient streaming via attention sinks.</a:t>
            </a:r>
          </a:p>
          <a:p>
            <a:r>
              <a:rPr lang="en-US" dirty="0" sz="1200"/>
              <a:t>ICLR 2024. arXiv:2309.17453.</a:t>
            </a:r>
          </a:p>
          <a:p>
            <a:r>
              <a:rPr lang="en-US" dirty="0" sz="1200"/>
              <a:t>Relevance: Session-init anchor tokens.</a:t>
            </a:r>
          </a:p>
          <a:p/>
          <a:p>
            <a:r>
              <a:rPr lang="en-US" dirty="0" sz="1200"/>
              <a:t>[5] Kang et al. (2024) — GEAR</a:t>
            </a:r>
          </a:p>
          <a:p>
            <a:r>
              <a:rPr lang="en-US" dirty="0" sz="1200"/>
              <a:t>Low-rank + sparse KV compression.</a:t>
            </a:r>
          </a:p>
          <a:p>
            <a:r>
              <a:rPr lang="en-US" dirty="0" sz="1200"/>
              <a:t>arXiv:2403.05527.</a:t>
            </a:r>
          </a:p>
          <a:p>
            <a:r>
              <a:rPr lang="en-US" dirty="0" sz="1200"/>
              <a:t>Relevance: Low-rank decomposition for session states.</a:t>
            </a:r>
          </a:p>
          <a:p/>
          <a:p>
            <a:r>
              <a:rPr lang="en-US" dirty="0" sz="1200"/>
              <a:t>[6] Qin et al. (2024) — ToolLLM</a:t>
            </a:r>
          </a:p>
          <a:p>
            <a:r>
              <a:rPr lang="en-US" dirty="0" sz="1200"/>
              <a:t>DFSDT on 16,000+ real-world APIs.</a:t>
            </a:r>
          </a:p>
          <a:p>
            <a:r>
              <a:rPr lang="en-US" dirty="0" sz="1200"/>
              <a:t>ICLR 2024. arXiv:2307.16789.</a:t>
            </a:r>
          </a:p>
          <a:p>
            <a:r>
              <a:rPr lang="en-US" dirty="0" sz="1200"/>
              <a:t>Relevance: ToolBench benchmark and baseline.</a:t>
            </a:r>
          </a:p>
          <a:p/>
          <a:p>
            <a:r>
              <a:rPr lang="en-US" dirty="0" sz="1200"/>
              <a:t>[7] Liu et al. (2024) — CacheGen</a:t>
            </a:r>
          </a:p>
          <a:p>
            <a:r>
              <a:rPr lang="en-US" dirty="0" sz="1200"/>
              <a:t>Compressed KV bitstream streaming.</a:t>
            </a:r>
          </a:p>
          <a:p>
            <a:r>
              <a:rPr lang="en-US" dirty="0" sz="1200"/>
              <a:t>SIGCOMM 2024. DOI: 10.1145/3651890.3672274.</a:t>
            </a:r>
          </a:p>
          <a:p>
            <a:r>
              <a:rPr lang="en-US" dirty="0" sz="1200"/>
              <a:t>Relevance: Persistent KV serialisation.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References [8]–[14].</a:t>
            </a:r>
          </a:p>
          <a:p/>
          <a:p>
            <a:r>
              <a:rPr lang="en-US" dirty="0" sz="1200"/>
              <a:t>[8] Liu et al. (2024) — MiniCache</a:t>
            </a:r>
          </a:p>
          <a:p>
            <a:r>
              <a:rPr lang="en-US" dirty="0" sz="1200"/>
              <a:t>Depth-dimension KV via cross-layer merging.</a:t>
            </a:r>
          </a:p>
          <a:p>
            <a:r>
              <a:rPr lang="en-US" dirty="0" sz="1200"/>
              <a:t>NeurIPS 2024. arXiv:2405.14366.</a:t>
            </a:r>
          </a:p>
          <a:p>
            <a:r>
              <a:rPr lang="en-US" dirty="0" sz="1200"/>
              <a:t>Relevance: Depth-aware KV fusion in SessionRerank+.</a:t>
            </a:r>
          </a:p>
          <a:p/>
          <a:p>
            <a:r>
              <a:rPr lang="en-US" dirty="0" sz="1200"/>
              <a:t>[9] Ong et al. (2024) — RouteLLM</a:t>
            </a:r>
          </a:p>
          <a:p>
            <a:r>
              <a:rPr lang="en-US" dirty="0" sz="1200"/>
              <a:t>Learning to route LLMs with preference data.</a:t>
            </a:r>
          </a:p>
          <a:p>
            <a:r>
              <a:rPr lang="en-US" dirty="0" sz="1200"/>
              <a:t>arXiv:2406.18665.</a:t>
            </a:r>
          </a:p>
          <a:p>
            <a:r>
              <a:rPr lang="en-US" dirty="0" sz="1200"/>
              <a:t>Relevance: Offline routing baseline for APRR.</a:t>
            </a:r>
          </a:p>
          <a:p/>
          <a:p>
            <a:r>
              <a:rPr lang="en-US" dirty="0" sz="1200"/>
              <a:t>[10] Chen et al. (2023) — FrugalGPT</a:t>
            </a:r>
          </a:p>
          <a:p>
            <a:r>
              <a:rPr lang="en-US" dirty="0" sz="1200"/>
              <a:t>Cascade routing; fixed offline policy.</a:t>
            </a:r>
          </a:p>
          <a:p>
            <a:r>
              <a:rPr lang="en-US" dirty="0" sz="1200"/>
              <a:t>arXiv:2305.05176.</a:t>
            </a:r>
          </a:p>
          <a:p>
            <a:r>
              <a:rPr lang="en-US" dirty="0" sz="1200"/>
              <a:t>Relevance: Cost-routing baseline.</a:t>
            </a:r>
          </a:p>
          <a:p/>
          <a:p>
            <a:r>
              <a:rPr lang="en-US" dirty="0" sz="1200"/>
              <a:t>[11] Wang et al. (2024) — Mixture-of-Agents</a:t>
            </a:r>
          </a:p>
          <a:p>
            <a:r>
              <a:rPr lang="en-US" dirty="0" sz="1200"/>
              <a:t>Layered agent aggregation.</a:t>
            </a:r>
          </a:p>
          <a:p>
            <a:r>
              <a:rPr lang="en-US" dirty="0" sz="1200"/>
              <a:t>arXiv:2406.04692.</a:t>
            </a:r>
          </a:p>
          <a:p>
            <a:r>
              <a:rPr lang="en-US" dirty="0" sz="1200"/>
              <a:t>Relevance: Motivates PDR parallel dispatch.</a:t>
            </a:r>
          </a:p>
          <a:p/>
          <a:p>
            <a:r>
              <a:rPr lang="en-US" dirty="0" sz="1200"/>
              <a:t>[12] Stripelis (2024) — TensorOpera Router</a:t>
            </a:r>
          </a:p>
          <a:p>
            <a:r>
              <a:rPr lang="en-US" dirty="0" sz="1200"/>
              <a:t>Hardware-aware multi-model router.</a:t>
            </a:r>
          </a:p>
          <a:p>
            <a:r>
              <a:rPr lang="en-US" dirty="0" sz="1200"/>
              <a:t>arXiv:2407.17320.</a:t>
            </a:r>
          </a:p>
          <a:p>
            <a:r>
              <a:rPr lang="en-US" dirty="0" sz="1200"/>
              <a:t>Relevance: Infrastructure context for CDR.</a:t>
            </a:r>
          </a:p>
          <a:p/>
          <a:p>
            <a:r>
              <a:rPr lang="en-US" dirty="0" sz="1200"/>
              <a:t>[13] Feng et al. (2024) — GraphRouter</a:t>
            </a:r>
          </a:p>
          <a:p>
            <a:r>
              <a:rPr lang="en-US" dirty="0" sz="1200"/>
              <a:t>Graph-based routing with relational reasoning.</a:t>
            </a:r>
          </a:p>
          <a:p>
            <a:r>
              <a:rPr lang="en-US" dirty="0" sz="1200"/>
              <a:t>arXiv:2407.12322.</a:t>
            </a:r>
          </a:p>
          <a:p>
            <a:r>
              <a:rPr lang="en-US" dirty="0" sz="1200"/>
              <a:t>Relevance: Graph routing vs. CDR comparison.</a:t>
            </a:r>
          </a:p>
          <a:p/>
          <a:p>
            <a:r>
              <a:rPr lang="en-US" dirty="0" sz="1200"/>
              <a:t>[14] Wu et al. (2023) — AutoGen</a:t>
            </a:r>
          </a:p>
          <a:p>
            <a:r>
              <a:rPr lang="en-US" dirty="0" sz="1200"/>
              <a:t>Multi-agent conversation framework.</a:t>
            </a:r>
          </a:p>
          <a:p>
            <a:r>
              <a:rPr lang="en-US" dirty="0" sz="1200"/>
              <a:t>arXiv:2308.08155.</a:t>
            </a:r>
          </a:p>
          <a:p>
            <a:r>
              <a:rPr lang="en-US" dirty="0" sz="1200"/>
              <a:t>Relevance: Closest existing MAS framework to ACRS.</a:t>
            </a:r>
          </a:p>
          <a:p>
            <a:r>
              <a:rPr lang="en-US" dirty="0" sz="1200"/>
              <a:t>Does not address adaptive routing or Kirchhoff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References [15]–[21].</a:t>
            </a:r>
          </a:p>
          <a:p/>
          <a:p>
            <a:r>
              <a:rPr lang="en-US" dirty="0" sz="1200"/>
              <a:t>[15] Yao et al. (2022) — ReAct</a:t>
            </a:r>
          </a:p>
          <a:p>
            <a:r>
              <a:rPr lang="en-US" dirty="0" sz="1200"/>
              <a:t>Synergizing Reasoning and Acting in LLMs.</a:t>
            </a:r>
          </a:p>
          <a:p>
            <a:r>
              <a:rPr lang="en-US" dirty="0" sz="1200"/>
              <a:t>arXiv:2210.03629.</a:t>
            </a:r>
          </a:p>
          <a:p>
            <a:r>
              <a:rPr lang="en-US" dirty="0" sz="1200"/>
              <a:t>Relevance: Reason-Act cycle;</a:t>
            </a:r>
          </a:p>
          <a:p>
            <a:r>
              <a:rPr lang="en-US" dirty="0" sz="1200"/>
              <a:t>assumes tool set already determined.</a:t>
            </a:r>
          </a:p>
          <a:p/>
          <a:p>
            <a:r>
              <a:rPr lang="en-US" dirty="0" sz="1200"/>
              <a:t>[16] Liu et al. (2023) — AgentBench</a:t>
            </a:r>
          </a:p>
          <a:p>
            <a:r>
              <a:rPr lang="en-US" dirty="0" sz="1200"/>
              <a:t>Evaluating LLMs as Agents.</a:t>
            </a:r>
          </a:p>
          <a:p>
            <a:r>
              <a:rPr lang="en-US" dirty="0" sz="1200"/>
              <a:t>arXiv:2308.03688.</a:t>
            </a:r>
          </a:p>
          <a:p>
            <a:r>
              <a:rPr lang="en-US" dirty="0" sz="1200"/>
              <a:t>Relevance: AgentBench used in Obj 2 routing evaluation.</a:t>
            </a:r>
          </a:p>
          <a:p/>
          <a:p>
            <a:r>
              <a:rPr lang="en-US" dirty="0" sz="1200"/>
              <a:t>[17] Xi et al. (2023) — LLM Agents Survey</a:t>
            </a:r>
          </a:p>
          <a:p>
            <a:r>
              <a:rPr lang="en-US" dirty="0" sz="1200"/>
              <a:t>Rise and Potential of LLM-based Autonomous Agents.</a:t>
            </a:r>
          </a:p>
          <a:p>
            <a:r>
              <a:rPr lang="en-US" dirty="0" sz="1200"/>
              <a:t>arXiv:2309.07864.</a:t>
            </a:r>
          </a:p>
          <a:p>
            <a:r>
              <a:rPr lang="en-US" dirty="0" sz="1200"/>
              <a:t>Relevance: Survey confirming Obj 1–4 gaps.</a:t>
            </a:r>
          </a:p>
          <a:p/>
          <a:p>
            <a:r>
              <a:rPr lang="en-US" dirty="0" sz="1200"/>
              <a:t>[18] Hu et al. (2022) — LoRA</a:t>
            </a:r>
          </a:p>
          <a:p>
            <a:r>
              <a:rPr lang="en-US" dirty="0" sz="1200"/>
              <a:t>Low-Rank Adaptation of LLMs.</a:t>
            </a:r>
          </a:p>
          <a:p>
            <a:r>
              <a:rPr lang="en-US" dirty="0" sz="1200"/>
              <a:t>ICLR 2022. arXiv:2106.09685.</a:t>
            </a:r>
          </a:p>
          <a:p>
            <a:r>
              <a:rPr lang="en-US" dirty="0" sz="1200"/>
              <a:t>Relevance: Low-rank principle for FCNP weight updates.</a:t>
            </a:r>
          </a:p>
          <a:p/>
          <a:p>
            <a:r>
              <a:rPr lang="en-US" dirty="0" sz="1200"/>
              <a:t>[19] Yang et al. (2024) — Ada-KV</a:t>
            </a:r>
          </a:p>
          <a:p>
            <a:r>
              <a:rPr lang="en-US" dirty="0" sz="1200"/>
              <a:t>Adaptive KV budget allocation.</a:t>
            </a:r>
          </a:p>
          <a:p>
            <a:r>
              <a:rPr lang="en-US" dirty="0" sz="1200"/>
              <a:t>arXiv:2407.11550.</a:t>
            </a:r>
          </a:p>
          <a:p>
            <a:r>
              <a:rPr lang="en-US" dirty="0" sz="1200"/>
              <a:t>Relevance: Dynamic budget for FCNP.</a:t>
            </a:r>
          </a:p>
          <a:p/>
          <a:p>
            <a:r>
              <a:rPr lang="en-US" dirty="0" sz="1200"/>
              <a:t>[20] Wan et al. (2024) — D2O</a:t>
            </a:r>
          </a:p>
          <a:p>
            <a:r>
              <a:rPr lang="en-US" dirty="0" sz="1200"/>
              <a:t>Dynamic discriminative KV compression.</a:t>
            </a:r>
          </a:p>
          <a:p>
            <a:r>
              <a:rPr lang="en-US" dirty="0" sz="1200"/>
              <a:t>arXiv:2406.13035.</a:t>
            </a:r>
          </a:p>
          <a:p>
            <a:r>
              <a:rPr lang="en-US" dirty="0" sz="1200"/>
              <a:t>Relevance: KV compression baseline for FCNP.</a:t>
            </a:r>
          </a:p>
          <a:p/>
          <a:p>
            <a:r>
              <a:rPr lang="en-US" dirty="0" sz="1200"/>
              <a:t>[21] Team (2024) — Gemini</a:t>
            </a:r>
          </a:p>
          <a:p>
            <a:r>
              <a:rPr lang="en-US" dirty="0" sz="1200"/>
              <a:t>Highly capable multimodal models.</a:t>
            </a:r>
          </a:p>
          <a:p>
            <a:r>
              <a:rPr lang="en-US" dirty="0" sz="1200"/>
              <a:t>arXiv:2312.11805.</a:t>
            </a:r>
          </a:p>
          <a:p>
            <a:r>
              <a:rPr lang="en-US" dirty="0" sz="1200"/>
              <a:t>Relevance: Multi-agent LLM deployment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References [22]–[28].</a:t>
            </a:r>
          </a:p>
          <a:p/>
          <a:p>
            <a:r>
              <a:rPr lang="en-US" dirty="0" sz="1200"/>
              <a:t>[22] Guo et al. (2024) — MAS Survey</a:t>
            </a:r>
          </a:p>
          <a:p>
            <a:r>
              <a:rPr lang="en-US" dirty="0" sz="1200"/>
              <a:t>LLM-based Multi-Agents: Progress and Challenges.</a:t>
            </a:r>
          </a:p>
          <a:p>
            <a:r>
              <a:rPr lang="en-US" dirty="0" sz="1200"/>
              <a:t>arXiv:2402.01680.</a:t>
            </a:r>
          </a:p>
          <a:p>
            <a:r>
              <a:rPr lang="en-US" dirty="0" sz="1200"/>
              <a:t>Relevance: Open problems in MAS confirmed.</a:t>
            </a:r>
          </a:p>
          <a:p/>
          <a:p>
            <a:r>
              <a:rPr lang="en-US" dirty="0" sz="1200"/>
              <a:t>[23] Xu et al. (2024) — Finch</a:t>
            </a:r>
          </a:p>
          <a:p>
            <a:r>
              <a:rPr lang="en-US" dirty="0" sz="1200"/>
              <a:t>Prompt-guided KV cache compression.</a:t>
            </a:r>
          </a:p>
          <a:p>
            <a:r>
              <a:rPr lang="en-US" dirty="0" sz="1200"/>
              <a:t>arXiv:2408.00167.</a:t>
            </a:r>
          </a:p>
          <a:p>
            <a:r>
              <a:rPr lang="en-US" dirty="0" sz="1200"/>
              <a:t>Relevance: One of 7 FCNP compression baselines.</a:t>
            </a:r>
          </a:p>
          <a:p/>
          <a:p>
            <a:r>
              <a:rPr lang="en-US" dirty="0" sz="1200"/>
              <a:t>[24] Team (2024) — ToolBench</a:t>
            </a:r>
          </a:p>
          <a:p>
            <a:r>
              <a:rPr lang="en-US" dirty="0" sz="1200"/>
              <a:t>Open platform for tool learning.</a:t>
            </a:r>
          </a:p>
          <a:p>
            <a:r>
              <a:rPr lang="en-US" dirty="0" sz="1200"/>
              <a:t>arXiv:2307.16789.</a:t>
            </a:r>
          </a:p>
          <a:p>
            <a:r>
              <a:rPr lang="en-US" dirty="0" sz="1200"/>
              <a:t>Relevance: Primary benchmark dataset.</a:t>
            </a:r>
          </a:p>
          <a:p/>
          <a:p>
            <a:r>
              <a:rPr lang="en-US" dirty="0" sz="1200"/>
              <a:t>[25] Qin et al. (2024) — Tool Learning Survey</a:t>
            </a:r>
          </a:p>
          <a:p>
            <a:r>
              <a:rPr lang="en-US" dirty="0" sz="1200"/>
              <a:t>Tool Learning with Foundation Models.</a:t>
            </a:r>
          </a:p>
          <a:p>
            <a:r>
              <a:rPr lang="en-US" dirty="0" sz="1200"/>
              <a:t>arXiv:2304.08354.</a:t>
            </a:r>
          </a:p>
          <a:p>
            <a:r>
              <a:rPr lang="en-US" dirty="0" sz="1200"/>
              <a:t>Relevance: Survey of tool learning landscape.</a:t>
            </a:r>
          </a:p>
          <a:p/>
          <a:p>
            <a:r>
              <a:rPr lang="en-US" dirty="0" sz="1200"/>
              <a:t>[26] Patil et al. (2023) — Gorilla</a:t>
            </a:r>
          </a:p>
          <a:p>
            <a:r>
              <a:rPr lang="en-US" dirty="0" sz="1200"/>
              <a:t>LLM connected to massive tool APIs.</a:t>
            </a:r>
          </a:p>
          <a:p>
            <a:r>
              <a:rPr lang="en-US" dirty="0" sz="1200"/>
              <a:t>arXiv:2305.15334.</a:t>
            </a:r>
          </a:p>
          <a:p>
            <a:r>
              <a:rPr lang="en-US" dirty="0" sz="1200"/>
              <a:t>Relevance: API-connected LLM baseline.</a:t>
            </a:r>
          </a:p>
          <a:p/>
          <a:p>
            <a:r>
              <a:rPr lang="en-US" dirty="0" sz="1200"/>
              <a:t>[27] Zhuang et al. (2023) — ToolQA</a:t>
            </a:r>
          </a:p>
          <a:p>
            <a:r>
              <a:rPr lang="en-US" dirty="0" sz="1200"/>
              <a:t>Dataset for LLM Q&amp;A with external tools.</a:t>
            </a:r>
          </a:p>
          <a:p>
            <a:r>
              <a:rPr lang="en-US" dirty="0" sz="1200"/>
              <a:t>NeurIPS 2023. arXiv:2306.13304.</a:t>
            </a:r>
          </a:p>
          <a:p>
            <a:r>
              <a:rPr lang="en-US" dirty="0" sz="1200"/>
              <a:t>Relevance: Tool-use evaluation dataset.</a:t>
            </a:r>
          </a:p>
          <a:p/>
          <a:p>
            <a:r>
              <a:rPr lang="en-US" dirty="0" sz="1200"/>
              <a:t>[28] Schick et al. (2023) — Toolformer</a:t>
            </a:r>
          </a:p>
          <a:p>
            <a:r>
              <a:rPr lang="en-US" dirty="0" sz="1200"/>
              <a:t>LLMs that teach themselves to use tools.</a:t>
            </a:r>
          </a:p>
          <a:p>
            <a:r>
              <a:rPr lang="en-US" dirty="0" sz="1200"/>
              <a:t>arXiv:2302.04761.</a:t>
            </a:r>
          </a:p>
          <a:p>
            <a:r>
              <a:rPr lang="en-US" dirty="0" sz="1200"/>
              <a:t>Relevance: Self-supervised tool use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PhD Timeline — Summary.</a:t>
            </a:r>
          </a:p>
          <a:p/>
          <a:p>
            <a:r>
              <a:rPr lang="en-US" dirty="0" sz="1200"/>
              <a:t>Target: Thesis submission by May 2027.</a:t>
            </a:r>
          </a:p>
          <a:p/>
          <a:p>
            <a:r>
              <a:rPr lang="en-US" dirty="0" sz="1200"/>
              <a:t>Current status (June 2026):</a:t>
            </a:r>
          </a:p>
          <a:p>
            <a:r>
              <a:rPr lang="en-US" dirty="0" sz="1200"/>
              <a:t>- All 4 objectives have working pilot implementations.</a:t>
            </a:r>
          </a:p>
          <a:p>
            <a:r>
              <a:rPr lang="en-US" dirty="0" sz="1200"/>
              <a:t>- PRP-1 submitted.</a:t>
            </a:r>
          </a:p>
          <a:p>
            <a:r>
              <a:rPr lang="en-US" dirty="0" sz="1200"/>
              <a:t>- Pilot metrics validated.</a:t>
            </a:r>
          </a:p>
          <a:p/>
          <a:p>
            <a:r>
              <a:rPr lang="en-US" dirty="0" sz="1200"/>
              <a:t>Remaining milestones:</a:t>
            </a:r>
          </a:p>
          <a:p>
            <a:r>
              <a:rPr lang="en-US" dirty="0" sz="1200"/>
              <a:t>- Year 2 (2025–26):</a:t>
            </a:r>
          </a:p>
          <a:p>
            <a:r>
              <a:rPr lang="en-US" dirty="0" sz="1200"/>
              <a:t xml:space="preserve">  Full-scale experiments, Phase 1 and 2.</a:t>
            </a:r>
          </a:p>
          <a:p>
            <a:r>
              <a:rPr lang="en-US" dirty="0" sz="1200"/>
              <a:t xml:space="preserve">  1 Journal/Conference paper target.</a:t>
            </a:r>
          </a:p>
          <a:p>
            <a:r>
              <a:rPr lang="en-US" dirty="0" sz="1200"/>
              <a:t>- Year 3 (2026–27):</a:t>
            </a:r>
          </a:p>
          <a:p>
            <a:r>
              <a:rPr lang="en-US" dirty="0" sz="1200"/>
              <a:t xml:space="preserve">  Phase 3 real-world simulation.</a:t>
            </a:r>
          </a:p>
          <a:p>
            <a:r>
              <a:rPr lang="en-US" dirty="0" sz="1200"/>
              <a:t xml:space="preserve">  Integration evaluation.</a:t>
            </a:r>
          </a:p>
          <a:p>
            <a:r>
              <a:rPr lang="en-US" dirty="0" sz="1200"/>
              <a:t xml:space="preserve">  Thesis writing.</a:t>
            </a:r>
          </a:p>
          <a:p>
            <a:r>
              <a:rPr lang="en-US" dirty="0" sz="1200"/>
              <a:t xml:space="preserve">  Submission: May 2027.</a:t>
            </a:r>
          </a:p>
          <a:p/>
          <a:p>
            <a:r>
              <a:rPr lang="en-US" dirty="0" sz="1200"/>
              <a:t>The phased experimental design</a:t>
            </a:r>
          </a:p>
          <a:p>
            <a:r>
              <a:rPr lang="en-US" dirty="0" sz="1200"/>
              <a:t>(Foundational Validation →</a:t>
            </a:r>
          </a:p>
          <a:p>
            <a:r>
              <a:rPr lang="en-US" dirty="0" sz="1200"/>
              <a:t>Domain Adaptation →</a:t>
            </a:r>
          </a:p>
          <a:p>
            <a:r>
              <a:rPr lang="en-US" dirty="0" sz="1200"/>
              <a:t>Real-World Simulation)</a:t>
            </a:r>
          </a:p>
          <a:p>
            <a:r>
              <a:rPr lang="en-US" dirty="0" sz="1200"/>
              <a:t>ensures both theoretical rigour</a:t>
            </a:r>
          </a:p>
          <a:p>
            <a:r>
              <a:rPr lang="en-US" dirty="0" sz="1200"/>
              <a:t>and practical applicability.</a:t>
            </a:r>
          </a:p>
          <a:p/>
          <a:p>
            <a:r>
              <a:rPr lang="en-US" dirty="0" sz="1200"/>
              <a:t>All code, notebooks, and deployment artefacts</a:t>
            </a:r>
          </a:p>
          <a:p>
            <a:r>
              <a:rPr lang="en-US" dirty="0" sz="1200"/>
              <a:t>are on GitHub (private) and HuggingFace Spaces.</a:t>
            </a:r>
          </a:p>
          <a:p>
            <a:r>
              <a:rPr lang="en-US" dirty="0" sz="1200"/>
              <a:t>All open-source, no proprietary tools.</a:t>
            </a:r>
          </a:p>
          <a:p/>
          <a:p>
            <a:r>
              <a:rPr lang="en-US" dirty="0" sz="1200"/>
              <a:t>This research will contribute:</a:t>
            </a:r>
          </a:p>
          <a:p>
            <a:r>
              <a:rPr lang="en-US" dirty="0" sz="1200"/>
              <a:t>2 Journal/Conference papers</a:t>
            </a:r>
          </a:p>
          <a:p>
            <a:r>
              <a:rPr lang="en-US" dirty="0" sz="1200"/>
              <a:t>+ PhD Thesis</a:t>
            </a:r>
          </a:p>
          <a:p>
            <a:r>
              <a:rPr lang="en-US" dirty="0" sz="1200"/>
              <a:t>+ 4 publicly available open-source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Free Compute and Software Used — Summary.</a:t>
            </a:r>
          </a:p>
          <a:p/>
          <a:p>
            <a:r>
              <a:rPr lang="en-US" dirty="0" sz="1200"/>
              <a:t>All experiments run on free academic compute.</a:t>
            </a:r>
          </a:p>
          <a:p>
            <a:r>
              <a:rPr lang="en-US" dirty="0" sz="1200"/>
              <a:t>No paid cloud GPU required for pilot studies.</a:t>
            </a:r>
          </a:p>
          <a:p/>
          <a:p>
            <a:r>
              <a:rPr lang="en-US" dirty="0" sz="1200"/>
              <a:t>Hardware (Free Tier):</a:t>
            </a:r>
          </a:p>
          <a:p>
            <a:r>
              <a:rPr lang="en-US" dirty="0" sz="1200"/>
              <a:t>Kaggle Notebooks:</a:t>
            </a:r>
          </a:p>
          <a:p>
            <a:r>
              <a:rPr lang="en-US" dirty="0" sz="1200"/>
              <a:t>- NVIDIA Tesla T4 ×2 (16 GB VRAM each)</a:t>
            </a:r>
          </a:p>
          <a:p>
            <a:r>
              <a:rPr lang="en-US" dirty="0" sz="1200"/>
              <a:t>- NVIDIA Tesla P100 (16 GB VRAM)</a:t>
            </a:r>
          </a:p>
          <a:p>
            <a:r>
              <a:rPr lang="en-US" dirty="0" sz="1200"/>
              <a:t>Both available on free Kaggle account.</a:t>
            </a:r>
          </a:p>
          <a:p/>
          <a:p>
            <a:r>
              <a:rPr lang="en-US" dirty="0" sz="1200"/>
              <a:t>Google Colab:</a:t>
            </a:r>
          </a:p>
          <a:p>
            <a:r>
              <a:rPr lang="en-US" dirty="0" sz="1200"/>
              <a:t>- T4 GPU (free tier)</a:t>
            </a:r>
          </a:p>
          <a:p>
            <a:r>
              <a:rPr lang="en-US" dirty="0" sz="1200"/>
              <a:t>- A100 GPU (Pro+ tier — used for FCNP FlashAttention-2)</a:t>
            </a:r>
          </a:p>
          <a:p/>
          <a:p>
            <a:r>
              <a:rPr lang="en-US" dirty="0" sz="1200"/>
              <a:t>Software Libraries (all open-source, free):</a:t>
            </a:r>
          </a:p>
          <a:p>
            <a:r>
              <a:rPr lang="en-US" dirty="0" sz="1200"/>
              <a:t>- PyTorch 2.1 (BSD licence)</a:t>
            </a:r>
          </a:p>
          <a:p>
            <a:r>
              <a:rPr lang="en-US" dirty="0" sz="1200"/>
              <a:t>- HuggingFace Transformers 4.40 (Apache 2.0)</a:t>
            </a:r>
          </a:p>
          <a:p>
            <a:r>
              <a:rPr lang="en-US" dirty="0" sz="1200"/>
              <a:t>- FAISS-cpu 1.7 (MIT licence)</a:t>
            </a:r>
          </a:p>
          <a:p>
            <a:r>
              <a:rPr lang="en-US" dirty="0" sz="1200"/>
              <a:t>- IndicTrans2 AI4Bharat (MIT licence)</a:t>
            </a:r>
          </a:p>
          <a:p>
            <a:r>
              <a:rPr lang="en-US" dirty="0" sz="1200"/>
              <a:t>- Gradio 4.x (Apache 2.0)</a:t>
            </a:r>
          </a:p>
          <a:p>
            <a:r>
              <a:rPr lang="en-US" dirty="0" sz="1200"/>
              <a:t>- FlashAttention-2 (Apache 2.0, Tri Dao)</a:t>
            </a:r>
          </a:p>
          <a:p>
            <a:r>
              <a:rPr lang="en-US" dirty="0" sz="1200"/>
              <a:t>- PEFT / LoRA (Apache 2.0)</a:t>
            </a:r>
          </a:p>
          <a:p>
            <a:r>
              <a:rPr lang="en-US" dirty="0" sz="1200"/>
              <a:t>- bitsandbytes — 4-bit quantisation (MIT)</a:t>
            </a:r>
          </a:p>
          <a:p>
            <a:r>
              <a:rPr lang="en-US" dirty="0" sz="1200"/>
              <a:t>- sentence-transformers 2.x (Apache 2.0)</a:t>
            </a:r>
          </a:p>
          <a:p>
            <a:r>
              <a:rPr lang="en-US" dirty="0" sz="1200"/>
              <a:t>- gRPC (Apache 2.0)</a:t>
            </a:r>
          </a:p>
          <a:p>
            <a:r>
              <a:rPr lang="en-US" dirty="0" sz="1200"/>
              <a:t>- asyncio (Python standard library)</a:t>
            </a:r>
          </a:p>
          <a:p>
            <a:r>
              <a:rPr lang="en-US" dirty="0" sz="1200"/>
              <a:t>- scikit-learn, NumPy, pandas (BSD)</a:t>
            </a:r>
          </a:p>
          <a:p/>
          <a:p>
            <a:r>
              <a:rPr lang="en-US" dirty="0" sz="1200"/>
              <a:t>Planned additions for full study:</a:t>
            </a:r>
          </a:p>
          <a:p>
            <a:r>
              <a:rPr lang="en-US" dirty="0" sz="1200"/>
              <a:t>- vLLM — inference acceleration</a:t>
            </a:r>
          </a:p>
          <a:p>
            <a:r>
              <a:rPr lang="en-US" dirty="0" sz="1200"/>
              <a:t>- Ray — distributed RL for APRR</a:t>
            </a:r>
          </a:p>
          <a:p>
            <a:r>
              <a:rPr lang="en-US" dirty="0" sz="1200"/>
              <a:t>- Optuna — hyperparameter tuning</a:t>
            </a:r>
          </a:p>
          <a:p>
            <a:r>
              <a:rPr lang="en-US" dirty="0" sz="1200"/>
              <a:t>- MLflow — experiment tracking</a:t>
            </a:r>
          </a:p>
          <a:p>
            <a:r>
              <a:rPr lang="en-US" dirty="0" sz="1200"/>
              <a:t>- Weights &amp; Biases — loss curves and ablations</a:t>
            </a:r>
          </a:p>
          <a:p>
            <a:r>
              <a:rPr lang="en-US" dirty="0" sz="1200"/>
              <a:t>- NetworkX — graph construction for FCNP</a:t>
            </a:r>
          </a:p>
          <a:p>
            <a:r>
              <a:rPr lang="en-US" dirty="0" sz="1200"/>
              <a:t>- SciPy — Kirchhoff Laplacian solver</a:t>
            </a:r>
          </a:p>
          <a:p>
            <a:r>
              <a:rPr lang="en-US" dirty="0" sz="1200"/>
              <a:t>- Apache Kafka — event streaming for MNCD</a:t>
            </a:r>
          </a:p>
          <a:p>
            <a:r>
              <a:rPr lang="en-US" dirty="0" sz="1200"/>
              <a:t>- Redis — context TTL store for MNCD</a:t>
            </a:r>
          </a:p>
          <a:p>
            <a:r>
              <a:rPr lang="en-US" dirty="0" sz="1200"/>
              <a:t>- Prometheus + Grafana — mesh observability</a:t>
            </a:r>
          </a:p>
          <a:p/>
          <a:p>
            <a:r>
              <a:rPr lang="en-US" dirty="0" sz="1200"/>
              <a:t>All planned tools are free and open-source.</a:t>
            </a:r>
          </a:p>
          <a:p>
            <a:r>
              <a:rPr lang="en-US" dirty="0" sz="1200"/>
              <a:t>No commercial licences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z="1200"/>
              <a:t>PhD Timeline visual — post-PRP-1 schedule.</a:t>
            </a:r>
          </a:p>
          <a:p/>
          <a:p>
            <a:r>
              <a:rPr lang="en-US" dirty="0" sz="1200"/>
              <a:t>Key dates visible in this diagram:</a:t>
            </a:r>
          </a:p>
          <a:p/>
          <a:p>
            <a:r>
              <a:rPr lang="en-US" dirty="0" sz="1200"/>
              <a:t>June 2026: PRP-1 submitted (now complete).</a:t>
            </a:r>
          </a:p>
          <a:p/>
          <a:p>
            <a:r>
              <a:rPr lang="en-US" dirty="0" sz="1200"/>
              <a:t>Year 2 (July 2026 – June 2027):</a:t>
            </a:r>
          </a:p>
          <a:p>
            <a:r>
              <a:rPr lang="en-US" dirty="0" sz="1200"/>
              <a:t>- Phase 1: Foundational Validation experiments.</a:t>
            </a:r>
          </a:p>
          <a:p>
            <a:r>
              <a:rPr lang="en-US" dirty="0" sz="1200"/>
              <a:t>- Phase 2: Domain Adaptation on AgriGov corpus.</a:t>
            </a:r>
          </a:p>
          <a:p>
            <a:r>
              <a:rPr lang="en-US" dirty="0" sz="1200"/>
              <a:t>- Target: 1 Journal/Conference paper submitted.</a:t>
            </a:r>
          </a:p>
          <a:p/>
          <a:p>
            <a:r>
              <a:rPr lang="en-US" dirty="0" sz="1200"/>
              <a:t>Year 3 (July 2027 – May 2028):</a:t>
            </a:r>
          </a:p>
          <a:p>
            <a:r>
              <a:rPr lang="en-US" dirty="0" sz="1200"/>
              <a:t>- Phase 3: Real-World Simulation and Deployment.</a:t>
            </a:r>
          </a:p>
          <a:p>
            <a:r>
              <a:rPr lang="en-US" dirty="0" sz="1200"/>
              <a:t>- End-to-end ACRS integration evaluation.</a:t>
            </a:r>
          </a:p>
          <a:p>
            <a:r>
              <a:rPr lang="en-US" dirty="0" sz="1200"/>
              <a:t>- Wilcoxon significance testing across all objectives.</a:t>
            </a:r>
          </a:p>
          <a:p>
            <a:r>
              <a:rPr lang="en-US" dirty="0" sz="1200"/>
              <a:t>- Ethics and AI Act compliance documentation.</a:t>
            </a:r>
          </a:p>
          <a:p>
            <a:r>
              <a:rPr lang="en-US" dirty="0" sz="1200"/>
              <a:t>- Thesis writing (Q3–Q4).</a:t>
            </a:r>
          </a:p>
          <a:p>
            <a:r>
              <a:rPr lang="en-US" dirty="0" sz="1200"/>
              <a:t>- Thesis submission: May 2027 target.</a:t>
            </a:r>
          </a:p>
          <a:p>
            <a:r>
              <a:rPr lang="en-US" dirty="0" sz="1200"/>
              <a:t>- Viva preparation.</a:t>
            </a:r>
          </a:p>
          <a:p/>
          <a:p>
            <a:r>
              <a:rPr lang="en-US" dirty="0" sz="1200"/>
              <a:t>The timeline is designed with one buffer month</a:t>
            </a:r>
          </a:p>
          <a:p>
            <a:r>
              <a:rPr lang="en-US" dirty="0" sz="1200"/>
              <a:t>before each major milestone</a:t>
            </a:r>
          </a:p>
          <a:p>
            <a:r>
              <a:rPr lang="en-US" dirty="0" sz="1200"/>
              <a:t>to absorb unexpected experimental delays.</a:t>
            </a:r>
          </a:p>
          <a:p/>
          <a:p>
            <a:r>
              <a:rPr lang="en-US" dirty="0" sz="1200"/>
              <a:t>All compute resources confirmed available.</a:t>
            </a:r>
          </a:p>
          <a:p>
            <a:r>
              <a:rPr lang="en-US" dirty="0" sz="1200"/>
              <a:t>All datasets confirmed open-access.</a:t>
            </a:r>
          </a:p>
          <a:p>
            <a:r>
              <a:rPr lang="en-US" dirty="0" sz="1200"/>
              <a:t>All software tools confirmed free and open-source.</a:t>
            </a:r>
          </a:p>
          <a:p/>
          <a:p>
            <a:r>
              <a:rPr lang="en-US" dirty="0" sz="1200"/>
              <a:t>Thank you for reviewing this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arxiv.org/pdf/2407.14057" TargetMode="External"/><Relationship Id="rId2" Type="http://schemas.openxmlformats.org/officeDocument/2006/relationships/hyperlink" Target="https://arxiv.org/pdf/2306.14048" TargetMode="External"/><Relationship Id="rId3" Type="http://schemas.openxmlformats.org/officeDocument/2006/relationships/hyperlink" Target="https://arxiv.org/pdf/2305.17118" TargetMode="External"/><Relationship Id="rId4" Type="http://schemas.openxmlformats.org/officeDocument/2006/relationships/hyperlink" Target="https://arxiv.org/pdf/2309.17453" TargetMode="External"/><Relationship Id="rId5" Type="http://schemas.openxmlformats.org/officeDocument/2006/relationships/hyperlink" Target="https://arxiv.org/pdf/2403.05527" TargetMode="External"/><Relationship Id="rId6" Type="http://schemas.openxmlformats.org/officeDocument/2006/relationships/hyperlink" Target="https://arxiv.org/pdf/2310.07848" TargetMode="External"/><Relationship Id="rId7" Type="http://schemas.openxmlformats.org/officeDocument/2006/relationships/hyperlink" Target="https://arxiv.org/pdf/2405.14366" TargetMode="External"/><Relationship Id="rId8" Type="http://schemas.openxmlformats.org/officeDocument/2006/relationships/hyperlink" Target="https://arxiv.org/pdf/2307.16789" TargetMode="External"/><Relationship Id="rId9" Type="http://schemas.openxmlformats.org/officeDocument/2006/relationships/hyperlink" Target="https://drive.google.com/drive/u/0/folders/1sAOY-c2Bg0Io7102_klRrvtyOj06Kc0Z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arxiv.org/pdf/2406.18665" TargetMode="External"/><Relationship Id="rId2" Type="http://schemas.openxmlformats.org/officeDocument/2006/relationships/hyperlink" Target="https://arxiv.org/pdf/2305.05176" TargetMode="External"/><Relationship Id="rId3" Type="http://schemas.openxmlformats.org/officeDocument/2006/relationships/hyperlink" Target="https://arxiv.org/pdf/2406.04692" TargetMode="External"/><Relationship Id="rId4" Type="http://schemas.openxmlformats.org/officeDocument/2006/relationships/hyperlink" Target="https://arxiv.org/pdf/2407.17320" TargetMode="External"/><Relationship Id="rId5" Type="http://schemas.openxmlformats.org/officeDocument/2006/relationships/hyperlink" Target="https://arxiv.org/pdf/2408.01642" TargetMode="External"/><Relationship Id="rId6" Type="http://schemas.openxmlformats.org/officeDocument/2006/relationships/hyperlink" Target="https://arxiv.org/pdf/2412.03109" TargetMode="External"/><Relationship Id="rId7" Type="http://schemas.openxmlformats.org/officeDocument/2006/relationships/hyperlink" Target="https://arxiv.org/pdf/2407.12322" TargetMode="External"/><Relationship Id="rId8" Type="http://schemas.openxmlformats.org/officeDocument/2006/relationships/hyperlink" Target="https://arxiv.org/pdf/2409.15133" TargetMode="External"/><Relationship Id="rId9" Type="http://schemas.openxmlformats.org/officeDocument/2006/relationships/hyperlink" Target="https://drive.google.com/drive/u/0/folders/1sAOY-c2Bg0Io7102_klRrvtyOj06Kc0Z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arxiv.org/pdf/2501.12145" TargetMode="External"/><Relationship Id="rId2" Type="http://schemas.openxmlformats.org/officeDocument/2006/relationships/hyperlink" Target="https://arxiv.org/pdf/2503.03628" TargetMode="External"/><Relationship Id="rId3" Type="http://schemas.openxmlformats.org/officeDocument/2006/relationships/hyperlink" Target="https://arxiv.org/pdf/2502.09510" TargetMode="External"/><Relationship Id="rId4" Type="http://schemas.openxmlformats.org/officeDocument/2006/relationships/hyperlink" Target="https://arxiv.org/pdf/2410.06801" TargetMode="External"/><Relationship Id="rId5" Type="http://schemas.openxmlformats.org/officeDocument/2006/relationships/hyperlink" Target="https://arxiv.org/pdf/2402.01680" TargetMode="External"/><Relationship Id="rId6" Type="http://schemas.openxmlformats.org/officeDocument/2006/relationships/hyperlink" Target="https://arxiv.org/pdf/2409.01327" TargetMode="External"/><Relationship Id="rId7" Type="http://schemas.openxmlformats.org/officeDocument/2006/relationships/hyperlink" Target="https://arxiv.org/pdf/2508.01531" TargetMode="External"/><Relationship Id="rId8" Type="http://schemas.openxmlformats.org/officeDocument/2006/relationships/hyperlink" Target="https://arxiv.org/pdf/2501.00216" TargetMode="External"/><Relationship Id="rId9" Type="http://schemas.openxmlformats.org/officeDocument/2006/relationships/hyperlink" Target="https://drive.google.com/drive/u/0/folders/1sAOY-c2Bg0Io7102_klRrvtyOj06Kc0Z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www.science.org/doi/10.1126/science.1177894" TargetMode="External"/><Relationship Id="rId2" Type="http://schemas.openxmlformats.org/officeDocument/2006/relationships/hyperlink" Target="https://hiroshima.repo.nii.ac.jp/record/2007559/files/JTBI_244-4_553.pdf" TargetMode="External"/><Relationship Id="rId3" Type="http://schemas.openxmlformats.org/officeDocument/2006/relationships/hyperlink" Target="https://www.iasi.cnr.it/~vbonifaci/pub/physarum-icalp.pdf" TargetMode="External"/><Relationship Id="rId4" Type="http://schemas.openxmlformats.org/officeDocument/2006/relationships/hyperlink" Target="https://arxiv.org/pdf/2106.09685" TargetMode="External"/><Relationship Id="rId5" Type="http://schemas.openxmlformats.org/officeDocument/2006/relationships/hyperlink" Target="https://arxiv.org/pdf/2301.00774" TargetMode="External"/><Relationship Id="rId6" Type="http://schemas.openxmlformats.org/officeDocument/2006/relationships/hyperlink" Target="https://arxiv.org/pdf/2305.17118" TargetMode="External"/><Relationship Id="rId7" Type="http://schemas.openxmlformats.org/officeDocument/2006/relationships/hyperlink" Target="https://arxiv.org/pdf/2407.11550" TargetMode="External"/><Relationship Id="rId8" Type="http://schemas.openxmlformats.org/officeDocument/2006/relationships/hyperlink" Target="https://arxiv.org/pdf/2408.00167" TargetMode="External"/><Relationship Id="rId9" Type="http://schemas.openxmlformats.org/officeDocument/2006/relationships/hyperlink" Target="https://drive.google.com/drive/u/0/folders/1sAOY-c2Bg0Io7102_klRrvtyOj06Kc0Z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hyperlink" Target="https://arxiv.org/pdf/2407.14057" TargetMode="External"/><Relationship Id="rId2" Type="http://schemas.openxmlformats.org/officeDocument/2006/relationships/hyperlink" Target="https://arxiv.org/pdf/2306.14048" TargetMode="External"/><Relationship Id="rId3" Type="http://schemas.openxmlformats.org/officeDocument/2006/relationships/hyperlink" Target="https://arxiv.org/pdf/2305.17118" TargetMode="External"/><Relationship Id="rId4" Type="http://schemas.openxmlformats.org/officeDocument/2006/relationships/hyperlink" Target="https://arxiv.org/pdf/2309.17453" TargetMode="External"/><Relationship Id="rId5" Type="http://schemas.openxmlformats.org/officeDocument/2006/relationships/hyperlink" Target="https://arxiv.org/pdf/2403.05527" TargetMode="External"/><Relationship Id="rId6" Type="http://schemas.openxmlformats.org/officeDocument/2006/relationships/hyperlink" Target="https://arxiv.org/pdf/2307.16789" TargetMode="External"/><Relationship Id="rId7" Type="http://schemas.openxmlformats.org/officeDocument/2006/relationships/hyperlink" Target="https://arxiv.org/pdf/2310.07848" TargetMode="External"/><Relationship Id="rId8" Type="http://schemas.openxmlformats.org/officeDocument/2006/relationships/hyperlink" Target="https://drive.google.com/drive/u/0/folders/1sAOY-c2Bg0Io7102_klRrvtyOj06Kc0Z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hyperlink" Target="https://arxiv.org/pdf/2405.14366" TargetMode="External"/><Relationship Id="rId2" Type="http://schemas.openxmlformats.org/officeDocument/2006/relationships/hyperlink" Target="https://arxiv.org/pdf/2406.18665" TargetMode="External"/><Relationship Id="rId3" Type="http://schemas.openxmlformats.org/officeDocument/2006/relationships/hyperlink" Target="https://arxiv.org/pdf/2305.05176" TargetMode="External"/><Relationship Id="rId4" Type="http://schemas.openxmlformats.org/officeDocument/2006/relationships/hyperlink" Target="https://arxiv.org/pdf/2406.04692" TargetMode="External"/><Relationship Id="rId5" Type="http://schemas.openxmlformats.org/officeDocument/2006/relationships/hyperlink" Target="https://arxiv.org/pdf/2407.17320" TargetMode="External"/><Relationship Id="rId6" Type="http://schemas.openxmlformats.org/officeDocument/2006/relationships/hyperlink" Target="https://arxiv.org/pdf/2407.12322" TargetMode="External"/><Relationship Id="rId7" Type="http://schemas.openxmlformats.org/officeDocument/2006/relationships/hyperlink" Target="https://arxiv.org/pdf/2308.08155" TargetMode="External"/><Relationship Id="rId8" Type="http://schemas.openxmlformats.org/officeDocument/2006/relationships/hyperlink" Target="https://drive.google.com/drive/u/0/folders/1sAOY-c2Bg0Io7102_klRrvtyOj06Kc0Z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hyperlink" Target="https://arxiv.org/pdf/2210.03629" TargetMode="External"/><Relationship Id="rId2" Type="http://schemas.openxmlformats.org/officeDocument/2006/relationships/hyperlink" Target="https://arxiv.org/pdf/2308.03688" TargetMode="External"/><Relationship Id="rId3" Type="http://schemas.openxmlformats.org/officeDocument/2006/relationships/hyperlink" Target="https://arxiv.org/pdf/2309.07864" TargetMode="External"/><Relationship Id="rId4" Type="http://schemas.openxmlformats.org/officeDocument/2006/relationships/hyperlink" Target="https://arxiv.org/pdf/2106.09685" TargetMode="External"/><Relationship Id="rId5" Type="http://schemas.openxmlformats.org/officeDocument/2006/relationships/hyperlink" Target="https://arxiv.org/pdf/2407.11550" TargetMode="External"/><Relationship Id="rId6" Type="http://schemas.openxmlformats.org/officeDocument/2006/relationships/hyperlink" Target="https://arxiv.org/pdf/2406.13035" TargetMode="External"/><Relationship Id="rId7" Type="http://schemas.openxmlformats.org/officeDocument/2006/relationships/hyperlink" Target="https://arxiv.org/pdf/2312.11805" TargetMode="External"/><Relationship Id="rId8" Type="http://schemas.openxmlformats.org/officeDocument/2006/relationships/hyperlink" Target="https://drive.google.com/drive/u/0/folders/1sAOY-c2Bg0Io7102_klRrvtyOj06Kc0Z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hyperlink" Target="https://arxiv.org/pdf/2402.01680" TargetMode="External"/><Relationship Id="rId2" Type="http://schemas.openxmlformats.org/officeDocument/2006/relationships/hyperlink" Target="https://arxiv.org/pdf/2408.00167" TargetMode="External"/><Relationship Id="rId3" Type="http://schemas.openxmlformats.org/officeDocument/2006/relationships/hyperlink" Target="https://arxiv.org/pdf/2307.16789" TargetMode="External"/><Relationship Id="rId4" Type="http://schemas.openxmlformats.org/officeDocument/2006/relationships/hyperlink" Target="https://arxiv.org/pdf/2304.08354" TargetMode="External"/><Relationship Id="rId5" Type="http://schemas.openxmlformats.org/officeDocument/2006/relationships/hyperlink" Target="https://arxiv.org/pdf/2305.15334" TargetMode="External"/><Relationship Id="rId6" Type="http://schemas.openxmlformats.org/officeDocument/2006/relationships/hyperlink" Target="https://arxiv.org/pdf/2306.13304" TargetMode="External"/><Relationship Id="rId7" Type="http://schemas.openxmlformats.org/officeDocument/2006/relationships/hyperlink" Target="https://arxiv.org/pdf/2302.04761" TargetMode="External"/><Relationship Id="rId8" Type="http://schemas.openxmlformats.org/officeDocument/2006/relationships/hyperlink" Target="https://drive.google.com/drive/u/0/folders/1sAOY-c2Bg0Io7102_klRrvtyOj06Kc0Z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3152"/>
            <a:ext cx="112471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91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| Faculty of Engineering &amp; Technology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12745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34440"/>
            <a:ext cx="112745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Evaluation of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Context Reasoning System (ACRS)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Efficient Multi-Agent Large Language Model (LLM) Inference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Research Proposal — PRP-1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005072"/>
            <a:ext cx="112745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89904" y="4133088"/>
            <a:ext cx="0" cy="1810512"/>
          </a:xfrm>
          <a:prstGeom prst="line">
            <a:avLst/>
          </a:prstGeom>
          <a:noFill/>
          <a:ln w="12700">
            <a:solidFill>
              <a:srgbClr val="C840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13308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Student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44398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Jenisha 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7200" y="479145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No.: 24ETRP720001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506577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53400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&amp; Technology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4133088"/>
            <a:ext cx="5330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4443984"/>
            <a:ext cx="5330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Jyothi A P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0" y="4791456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 &amp; Programme Head (M&amp;C)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5065776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5340096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5687568"/>
            <a:ext cx="112745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457200" y="576072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|  Bangalore — 560054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6592824"/>
            <a:ext cx="1179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PhD Research Proposal (PRP-1) | M. S. Ramaiah University | CSE | Jenisha T | 24ETRP720001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502920"/>
            <a:ext cx="347472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" y="521208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" y="5212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Why Multi-Agent Large Language Model Inference Fails at Scale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62456"/>
            <a:ext cx="347472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" y="138074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" y="138074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Four Themes and Research Gaps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221992"/>
            <a:ext cx="347472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" y="224028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" y="2240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and Four Objectives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81528"/>
            <a:ext cx="347472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309981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" y="309981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Context Reasoning System Framework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41064"/>
            <a:ext cx="347472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" y="395935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" y="3959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Session-Aware Contextual Tool Reranker Plus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800600"/>
            <a:ext cx="347472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" y="4818888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" y="481888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Adaptive Priority-aware Request Router + Context-Driven Routing + Parallel Dispatch Routing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5660136"/>
            <a:ext cx="347472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567842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" y="56784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Multi-Node Context Distribution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502920"/>
            <a:ext cx="347472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521208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65976" y="5212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— Flow-Conductance-based Neural Pruning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1534363"/>
            <a:ext cx="347472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1552651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65976" y="1552651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Architecture and Algorithm Flow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2565806"/>
            <a:ext cx="475488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258409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93992" y="258409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Matrix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3597250"/>
            <a:ext cx="475488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361553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93992" y="361553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Ethics, and Methodology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4628693"/>
            <a:ext cx="475488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4646981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93992" y="4646981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Context Reasoning System Integration Demo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5660136"/>
            <a:ext cx="475488" cy="31089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56784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93992" y="56784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60196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114800" y="2011680"/>
            <a:ext cx="7589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— Introduction: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 Large Language Model Inference Fails at Scale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The Four Core Challenges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multi-agent Large Language Model (LLM) systems face four critical bottlenecks that prevent real-world deployment: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530352" cy="475488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005840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6968" y="9601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014984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Inefficiency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1399032"/>
            <a:ext cx="50749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search flat, unranked tool catalogues (16,000+ Application Programming Interfaces (APIs) on ToolBench). Session context — which tools worked earlier — is ignored, causing repeated re-selection and inflated latency.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960120"/>
            <a:ext cx="530352" cy="475488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005840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9601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014984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Routing Policies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1399032"/>
            <a:ext cx="50749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routers (RouteLLM, FrugalGPT) use offline-trained fixed decision boundaries. They cannot adapt to live session signals, query complexity shifts, or real-time load changes.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530352" cy="475488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3520440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6968" y="34747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529584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Context Failure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913632"/>
            <a:ext cx="50749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context stores are a single point of failure. Under node failures (2 of 5 nodes), single-agent systems achieve only 44% context availability — unacceptable for production.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474720"/>
            <a:ext cx="530352" cy="475488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3520440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30568" y="34747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529584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Context Tokens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3913632"/>
            <a:ext cx="50749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conversation histories accumulate thousands of redundant tokens. Without adaptive pruning, Key-Value (KV) cache size grows O(n²) with dialogue length, degrading throughput.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— Theme 1: Key-Value (KV) Cache Compression &amp; Session Context Management (Motivates Obj 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530352"/>
            <a:ext cx="237744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760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530352"/>
            <a:ext cx="164592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57607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530352"/>
            <a:ext cx="484632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5760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| Key Finding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81160" y="530352"/>
            <a:ext cx="269748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576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Obj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024128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8" name="Shape 16">
            <a:hlinkClick r:id="rId1" tooltip=""/>
          </p:cNvPr>
          <p:cNvSpPr/>
          <p:nvPr/>
        </p:nvSpPr>
        <p:spPr>
          <a:xfrm>
            <a:off x="301752" y="1051560"/>
            <a:ext cx="232257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06984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LazyLLM (Fu et al., 2024)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97480" y="1024128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10698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arXiv:2407.14057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1024128"/>
            <a:ext cx="4846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06984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LazyLLM: Dynamic Token Pruning Without Training for Accelerated Inference | Dynamic token pruning; 2.34× prefill speedup on LLaMA-2-7B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81160" y="1024128"/>
            <a:ext cx="2697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106984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SessionRerank+ dynamic pruning component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517904"/>
            <a:ext cx="23774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7" name="Shape 25">
            <a:hlinkClick r:id="rId2" tooltip=""/>
          </p:cNvPr>
          <p:cNvSpPr/>
          <p:nvPr/>
        </p:nvSpPr>
        <p:spPr>
          <a:xfrm>
            <a:off x="301752" y="1545336"/>
            <a:ext cx="232257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56362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(Zhang et al., 2023)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97480" y="1517904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156362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1517904"/>
            <a:ext cx="48463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156362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H2O: Heavy-Hitter Oracle for Efficient Generative Inference of LLMs | "Heavy-hitter" tokens; eviction cuts KV memory 20×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281160" y="1517904"/>
            <a:ext cx="269748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0" y="156362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Activity-score-driven KV eviction in SessionRerank+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011680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6" name="Shape 34">
            <a:hlinkClick r:id="rId3" tooltip=""/>
          </p:cNvPr>
          <p:cNvSpPr/>
          <p:nvPr/>
        </p:nvSpPr>
        <p:spPr>
          <a:xfrm>
            <a:off x="301752" y="2039112"/>
            <a:ext cx="232257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0574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Scissorhands (Liu et al., 2023)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97480" y="2011680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20574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2011680"/>
            <a:ext cx="4846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205740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ScissorHands: Exploiting the Persistence of Importance Hypothesis for LLM KV Cache Compression | Pivot-set KV cache; 5× memory reduction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281160" y="2011680"/>
            <a:ext cx="2697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0" y="205740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 basis for activity-history weighting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505456"/>
            <a:ext cx="23774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5" name="Shape 43">
            <a:hlinkClick r:id="rId4" tooltip=""/>
          </p:cNvPr>
          <p:cNvSpPr/>
          <p:nvPr/>
        </p:nvSpPr>
        <p:spPr>
          <a:xfrm>
            <a:off x="301752" y="2532888"/>
            <a:ext cx="232257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55117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StreamingLLM (Xiao et al., 2024)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97480" y="2505456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0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89120" y="2505456"/>
            <a:ext cx="48463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255117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Streaming LLMs with Attention Sinks | Attention sinks enable infinite streaming; 22.2× faster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281160" y="2505456"/>
            <a:ext cx="269748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26880" y="255117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Session-init tokens as permanent anchors in reranking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2999232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4" name="Shape 52">
            <a:hlinkClick r:id="rId5" tooltip=""/>
          </p:cNvPr>
          <p:cNvSpPr/>
          <p:nvPr/>
        </p:nvSpPr>
        <p:spPr>
          <a:xfrm>
            <a:off x="301752" y="3026664"/>
            <a:ext cx="232257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04495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(Kang et al., 2024)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697480" y="299923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0" y="304495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arXiv:2403.05527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389120" y="2999232"/>
            <a:ext cx="4846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34840" y="304495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GEAR: An Efficient KV Cache Compression Recipe via Low-Rank Perturbation | Low-rank + sparse KV compression; &lt;0.5% accuracy drop at 4-bit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281160" y="2999232"/>
            <a:ext cx="2697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26880" y="304495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decomposition for session-history states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3493008"/>
            <a:ext cx="23774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3" name="Shape 61">
            <a:hlinkClick r:id="rId6" tooltip=""/>
          </p:cNvPr>
          <p:cNvSpPr/>
          <p:nvPr/>
        </p:nvSpPr>
        <p:spPr>
          <a:xfrm>
            <a:off x="301752" y="3520440"/>
            <a:ext cx="232257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35387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CacheGen (Liu et al., 2024)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697480" y="3493008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0" y="35387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SIGCOMM 2024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389120" y="3493008"/>
            <a:ext cx="48463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34840" y="353872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CacheGen: KV Cache Compression and Streaming for Fast LLM Serving | Compressed KV bitstream streaming; 3.7× bandwidth reduction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281160" y="3493008"/>
            <a:ext cx="269748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26880" y="353872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Persistent-session KV serialisation across inference steps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74320" y="3986784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2" name="Shape 70">
            <a:hlinkClick r:id="rId7" tooltip=""/>
          </p:cNvPr>
          <p:cNvSpPr/>
          <p:nvPr/>
        </p:nvSpPr>
        <p:spPr>
          <a:xfrm>
            <a:off x="301752" y="4014216"/>
            <a:ext cx="232257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0325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MiniCache (Liu et al., 2024)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697480" y="398678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0" y="403250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389120" y="3986784"/>
            <a:ext cx="4846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34840" y="403250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MiniCache: KV Cache Compression in Depth Dimension for LLMs | Cross-layer token merging; depth-dimension KV compression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281160" y="3986784"/>
            <a:ext cx="2697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26880" y="403250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Depth-aware KV fusion in SessionRerank+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74320" y="4480560"/>
            <a:ext cx="23774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1" name="Shape 79">
            <a:hlinkClick r:id="rId8" tooltip=""/>
          </p:cNvPr>
          <p:cNvSpPr/>
          <p:nvPr/>
        </p:nvSpPr>
        <p:spPr>
          <a:xfrm>
            <a:off x="301752" y="4507992"/>
            <a:ext cx="232257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45262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ToolLLM (Qin et al., 2024)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697480" y="4480560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0" y="45262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389120" y="4480560"/>
            <a:ext cx="48463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34840" y="45262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ToolLLM: Facilitating LLMs to Master 16000+ Real-World APIs | DFSDT on 16k+ APIs; ToolBench evaluation framework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281160" y="4480560"/>
            <a:ext cx="269748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326880" y="452628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and tool-routing baseline for SessionRerank+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74320" y="5010912"/>
            <a:ext cx="11640312" cy="65836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1480" y="504748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All KV compression works treat each query independently. MISSING: Session-aware activity scoring that reranks tool relevance across multi-turn agent dialogues. → SessionRerank+ fills this gap.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274320" y="5742432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Paper Folder: </a:t>
            </a:r>
            <a:pPr indent="0" marL="0">
              <a:buNone/>
            </a:pPr>
            <a:r>
              <a:rPr lang="en-US" sz="90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Drive Folder ↗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— Theme 2: Adaptive Multi-Agent Large Language Model (LLM) Routing (Motivates Obj 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530352"/>
            <a:ext cx="274320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76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530352"/>
            <a:ext cx="164592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57607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530352"/>
            <a:ext cx="420624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5760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| Key Finding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530352"/>
            <a:ext cx="301752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5760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Obj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024128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8" name="Shape 16">
            <a:hlinkClick r:id="rId1" tooltip=""/>
          </p:cNvPr>
          <p:cNvSpPr/>
          <p:nvPr/>
        </p:nvSpPr>
        <p:spPr>
          <a:xfrm>
            <a:off x="301752" y="1051560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0698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RouteLLM (Ong et al., 2024)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63240" y="1024128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0698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arXiv:2406.18665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24128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6984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RouteLLM: Learning to Route LLMs with Preference Data | Offline preference training; reduces GPT-4 calls 50%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06840" y="1024128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106984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routing viability; Adaptive Priority-aware Request Router (APRR)+CDR+PDR addresses offline-only limitation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517904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7" name="Shape 25">
            <a:hlinkClick r:id="rId2" tooltip=""/>
          </p:cNvPr>
          <p:cNvSpPr/>
          <p:nvPr/>
        </p:nvSpPr>
        <p:spPr>
          <a:xfrm>
            <a:off x="301752" y="1545336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5636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FrugalGPT (Chen et al., 2023)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63240" y="1517904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156362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arXiv:2305.05176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517904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56362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FrugalGPT: How to Use LLMs While Reducing Cost and Improving Performance | Cascade routing; fixed policy offline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1517904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156362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cost-routing; lacks online Reinforcement Learning (RL) adaptation (addressed by APRR)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011680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6" name="Shape 34">
            <a:hlinkClick r:id="rId3" tooltip=""/>
          </p:cNvPr>
          <p:cNvSpPr/>
          <p:nvPr/>
        </p:nvSpPr>
        <p:spPr>
          <a:xfrm>
            <a:off x="301752" y="2039112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05740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Mixture-of-Agents (Wang et al., 2024)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63240" y="2011680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20574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arXiv/COLM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011680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05740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Mixture-of-Agents Enhances LLM Capabilities | Layered agent aggregation; no dynamic routing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2011680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205740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parallel dispatch — Parallel Dispatch Routing (PDR) extends this with functional-token routing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505456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5" name="Shape 43">
            <a:hlinkClick r:id="rId4" tooltip=""/>
          </p:cNvPr>
          <p:cNvSpPr/>
          <p:nvPr/>
        </p:nvSpPr>
        <p:spPr>
          <a:xfrm>
            <a:off x="301752" y="2532888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5511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TensorOpera Router (Stripelis, 2024)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63240" y="2505456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2024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505456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5511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TensorOpera Router: A Multi-Model Router for Efficient LLM Inference | Hardware-aware scheduling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06840" y="2505456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0" y="25511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context for Context-Driven Routing (CDR) deliberation scoring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2999232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4" name="Shape 52">
            <a:hlinkClick r:id="rId5" tooltip=""/>
          </p:cNvPr>
          <p:cNvSpPr/>
          <p:nvPr/>
        </p:nvSpPr>
        <p:spPr>
          <a:xfrm>
            <a:off x="301752" y="3026664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0449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RouterDC (Chen et al., 2024)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63240" y="299923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304495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2999232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04495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RouterDC: Query-Based LLM Router Training with Dual Contrastive Learning | Dual contrastive routing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006840" y="2999232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52560" y="30449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objective comparable to CDR quality scoring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3493008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3" name="Shape 61">
            <a:hlinkClick r:id="rId6" tooltip=""/>
          </p:cNvPr>
          <p:cNvSpPr/>
          <p:nvPr/>
        </p:nvSpPr>
        <p:spPr>
          <a:xfrm>
            <a:off x="301752" y="3520440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35387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PickLLM (Sikeridis et al., 2024)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63240" y="3493008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0" y="35387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54880" y="3493008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00600" y="35387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PickLLM: Context-Aware RL-Assisted LLM Routing | Context-aware RL routing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006840" y="3493008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52560" y="353872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prior art to APRR; lacks exponential decay + binary session signals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74320" y="3986784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2" name="Shape 70">
            <a:hlinkClick r:id="rId7" tooltip=""/>
          </p:cNvPr>
          <p:cNvSpPr/>
          <p:nvPr/>
        </p:nvSpPr>
        <p:spPr>
          <a:xfrm>
            <a:off x="301752" y="4014216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03250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GraphRouter (Feng et al., 2024)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063240" y="398678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0" y="403250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54880" y="3986784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00600" y="403250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GraphRouter: A Graph-Based Router for LLM Selections | Graph routing with relational reasoning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006840" y="3986784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52560" y="403250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routing vs. CDR chain-of-thought deliberation comparison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74320" y="4480560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1" name="Shape 79">
            <a:hlinkClick r:id="rId8" tooltip=""/>
          </p:cNvPr>
          <p:cNvSpPr/>
          <p:nvPr/>
        </p:nvSpPr>
        <p:spPr>
          <a:xfrm>
            <a:off x="301752" y="4507992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4526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(Zhao et al., 2024)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063240" y="4480560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08960" y="45262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754880" y="4480560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00600" y="452628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Eagle: Efficient Training-Free Router for Multi-LLM Inference | Training-free router via capability matching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006840" y="4480560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52560" y="452628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baseline; APRR+CDR+PDR surpasses with online RL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74320" y="5010912"/>
            <a:ext cx="11640312" cy="65836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1480" y="504748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All routing systems use offline-trained fixed policies. MISSING: Online RL weight matrix with live binary session signals + exponential decay. → APRR+CDR+PDR fills this gap.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274320" y="5742432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Paper Folder: </a:t>
            </a:r>
            <a:pPr indent="0" marL="0">
              <a:buNone/>
            </a:pPr>
            <a:r>
              <a:rPr lang="en-US" sz="90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Drive Folder ↗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— Theme 3: Decentralised Multi-Agent Coordination &amp; Fault Tolerance (Motivates Obj 3 — MNCD)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530352"/>
            <a:ext cx="274320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76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530352"/>
            <a:ext cx="164592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57607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530352"/>
            <a:ext cx="420624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5760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| Key Finding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530352"/>
            <a:ext cx="301752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5760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Obj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024128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8" name="Shape 16">
            <a:hlinkClick r:id="rId1" tooltip=""/>
          </p:cNvPr>
          <p:cNvSpPr/>
          <p:nvPr/>
        </p:nvSpPr>
        <p:spPr>
          <a:xfrm>
            <a:off x="301752" y="1051560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0698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AgentNet (Yang et al., 2025)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63240" y="1024128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0698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cs.MA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24128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6984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AgentNet: Decentralised Evolutionary Coordination for LLM Agents | Emergent specialisation via decentralised coordination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06840" y="1024128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106984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Decentralisation model for MNCD node topology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517904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7" name="Shape 25">
            <a:hlinkClick r:id="rId2" tooltip=""/>
          </p:cNvPr>
          <p:cNvSpPr/>
          <p:nvPr/>
        </p:nvSpPr>
        <p:spPr>
          <a:xfrm>
            <a:off x="301752" y="1545336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5636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Reliability (Zheng et al., 2025)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63240" y="1517904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156362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cs.MA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517904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56362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Multi-Agent Systems: A Byzantine Fault-Tolerant Perspective | Byzantine fault model for MAS reliability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1517904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156362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model validation for MNCD 2-of-5 failure scenario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011680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6" name="Shape 34">
            <a:hlinkClick r:id="rId3" tooltip=""/>
          </p:cNvPr>
          <p:cNvSpPr/>
          <p:nvPr/>
        </p:nvSpPr>
        <p:spPr>
          <a:xfrm>
            <a:off x="301752" y="2039112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05740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MAS-FIRE (Jia et al., 2026)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63240" y="2011680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20574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cs.SE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011680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05740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MAS-FIRE: Fault Injection and Reliability Evaluation for LLM Multi-Agent Systems | Fault injection benchmarking for LLM MAS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2011680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205740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for MNCD fault-tolerance benchmarking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505456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5" name="Shape 43">
            <a:hlinkClick r:id="rId4" tooltip=""/>
          </p:cNvPr>
          <p:cNvSpPr/>
          <p:nvPr/>
        </p:nvSpPr>
        <p:spPr>
          <a:xfrm>
            <a:off x="301752" y="2532888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5511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MorphAgent (Lu et al., 2024)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63240" y="2505456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cs.AI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505456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5511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MorphAgent: Empowering LLM Agents Through Self-Evolving Profiles | Decentralised memory with self-evolving profiles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06840" y="2505456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0" y="25511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profile store analogous to MNCD context nodes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2999232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4" name="Shape 52">
            <a:hlinkClick r:id="rId5" tooltip=""/>
          </p:cNvPr>
          <p:cNvSpPr/>
          <p:nvPr/>
        </p:nvSpPr>
        <p:spPr>
          <a:xfrm>
            <a:off x="301752" y="3026664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0449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Multi-Agent Survey (Han et al., 2024)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63240" y="299923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304495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arXiv:2402.01680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2999232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04495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on LLM-based Autonomous Agents (Han et al.) | Open problems: fault tolerance, context sharing, coordination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006840" y="2999232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52560" y="30449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MNCD within the open-problem landscape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3493008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3" name="Shape 61">
            <a:hlinkClick r:id="rId6" tooltip=""/>
          </p:cNvPr>
          <p:cNvSpPr/>
          <p:nvPr/>
        </p:nvSpPr>
        <p:spPr>
          <a:xfrm>
            <a:off x="301752" y="3520440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35387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Protocol in Fed. Learning (Husnoo, 2024)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63240" y="3493008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0" y="35387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cs.CR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54880" y="3493008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00600" y="35387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Protocol-Based Federated Learning for Anomaly Detection | P2P gossip for distributed AI context propagation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006840" y="3493008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52560" y="353872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Gossip-protocol broadcast validated for distributed AI context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74320" y="3986784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2" name="Shape 70">
            <a:hlinkClick r:id="rId7" tooltip=""/>
          </p:cNvPr>
          <p:cNvSpPr/>
          <p:nvPr/>
        </p:nvSpPr>
        <p:spPr>
          <a:xfrm>
            <a:off x="301752" y="4014216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03250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Coord. in Agentic AI (Habiba &amp; Khan, 2025)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063240" y="398678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0" y="403250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arXiv:2508.01531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54880" y="3986784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00600" y="403250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Gossip Protocols: A Vision for Emergent Coordination in Agentic Multi-Agent Systems | Gossip as decentralised, fault-tolerant context-sharing substrate for agentic AI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006840" y="3986784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52560" y="403250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validates MNCD gossip-broadcast design for LLM session context propagation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74320" y="4480560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1" name="Shape 79">
            <a:hlinkClick r:id="rId8" tooltip=""/>
          </p:cNvPr>
          <p:cNvSpPr/>
          <p:nvPr/>
        </p:nvSpPr>
        <p:spPr>
          <a:xfrm>
            <a:off x="301752" y="4507992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4526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FedCod (Yan et al., 2024)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063240" y="4480560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08960" y="45262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cs.DC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754880" y="4480560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00600" y="452628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FedCod: An Efficient Communication Protocol for Cross-Silo Federated Learning with Coding | Coded protocol; 62% communication time reduction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006840" y="4480560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52560" y="452628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efficiency bounds for MNCD propagation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74320" y="5010912"/>
            <a:ext cx="11640312" cy="65836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1480" y="504748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Existing fault-tolerant MAS work does not address LLM session context propagation. MISSING: Gossip-protocol broadcast with O(log n) propagation and ≥97% context availability under node failures. → MNCD fills this gap.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274320" y="5742432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Paper Folder: </a:t>
            </a:r>
            <a:pPr indent="0" marL="0">
              <a:buNone/>
            </a:pPr>
            <a:r>
              <a:rPr lang="en-US" sz="90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Drive Folder ↗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— Theme 4: Adaptive Network Pruning &amp; Graph-Flow Optimisation (Motivates Obj 4 — FCNP)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530352"/>
            <a:ext cx="274320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76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530352"/>
            <a:ext cx="164592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57607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530352"/>
            <a:ext cx="420624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5760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| Key Finding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530352"/>
            <a:ext cx="3017520" cy="493776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5760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Obj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024128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8" name="Shape 16">
            <a:hlinkClick r:id="rId1" tooltip=""/>
          </p:cNvPr>
          <p:cNvSpPr/>
          <p:nvPr/>
        </p:nvSpPr>
        <p:spPr>
          <a:xfrm>
            <a:off x="301752" y="1051560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0698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Tero et al. (2010)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63240" y="1024128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0698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24128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6984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Biologically Inspired Adaptive Network Design | Adaptive transport network formalism; flow-controlled pruning rules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06840" y="1024128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106984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Flow-controlled pruning formalism adapted to token-graph topology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517904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7" name="Shape 25">
            <a:hlinkClick r:id="rId2" tooltip=""/>
          </p:cNvPr>
          <p:cNvSpPr/>
          <p:nvPr/>
        </p:nvSpPr>
        <p:spPr>
          <a:xfrm>
            <a:off x="301752" y="1545336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5636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Tero et al. (2007)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63240" y="1517904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156362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Theor. Biol.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517904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56362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Model for Adaptive Transport Network in Path Finding | Adaptive network path-finding model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1517904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156362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reinforcement model basis for FCNP flow-score pruning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011680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6" name="Shape 34">
            <a:hlinkClick r:id="rId3" tooltip=""/>
          </p:cNvPr>
          <p:cNvSpPr/>
          <p:nvPr/>
        </p:nvSpPr>
        <p:spPr>
          <a:xfrm>
            <a:off x="301752" y="2039112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05740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Bonifaci et al. (2012)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63240" y="2011680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20574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Theor. Biol.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011680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05740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Physarum Can Compute Shortest Paths: Convergence Proof | Shortest path convergence for adaptive network dynamics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2011680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205740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guarantee for FCNP iterative pruning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505456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5" name="Shape 43">
            <a:hlinkClick r:id="rId4" tooltip=""/>
          </p:cNvPr>
          <p:cNvSpPr/>
          <p:nvPr/>
        </p:nvSpPr>
        <p:spPr>
          <a:xfrm>
            <a:off x="301752" y="2532888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5511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(Hu et al., 2022)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63240" y="2505456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2022 — arXiv:2106.09685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505456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5511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Low-Rank Adaptation of Large Language Models | Low-rank decomposition for parameter-efficient fine-tuning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06840" y="2505456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0" y="25511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 principle for FCNP weight updates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2999232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4" name="Shape 52">
            <a:hlinkClick r:id="rId5" tooltip=""/>
          </p:cNvPr>
          <p:cNvSpPr/>
          <p:nvPr/>
        </p:nvSpPr>
        <p:spPr>
          <a:xfrm>
            <a:off x="301752" y="3026664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0449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SparseGPT (Frantar et al., 2023)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63240" y="299923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304495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2023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2999232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04495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SparseGPT: Massive Language Models Can Be Accurately Pruned in One-Shot | One-shot pruning with minimal accuracy loss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006840" y="2999232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52560" y="30449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pruning baseline compared against FCNP iterative compression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3493008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3" name="Shape 61">
            <a:hlinkClick r:id="rId6" tooltip=""/>
          </p:cNvPr>
          <p:cNvSpPr/>
          <p:nvPr/>
        </p:nvSpPr>
        <p:spPr>
          <a:xfrm>
            <a:off x="301752" y="3520440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35387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Scissorhands (Liu et al., 2023)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63240" y="3493008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0" y="35387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2023 — arXiv:2305.17118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54880" y="3493008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00600" y="35387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ScissorHands: Exploiting the Persistence of Importance Hypothesis for LLM KV Cache | Importance persistence for selective KV retention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006840" y="3493008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52560" y="353872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importance stability reused in FCNP context-graph scoring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74320" y="3986784"/>
            <a:ext cx="2743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2" name="Shape 70">
            <a:hlinkClick r:id="rId7" tooltip=""/>
          </p:cNvPr>
          <p:cNvSpPr/>
          <p:nvPr/>
        </p:nvSpPr>
        <p:spPr>
          <a:xfrm>
            <a:off x="301752" y="4014216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03250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AdaKV (Ge et al., 2024)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063240" y="398678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0" y="403250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 — arXiv:2407.11550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54880" y="3986784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00600" y="403250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AdaKV: Optimising KV Cache Eviction by Adaptive Budget Allocation | Adaptive KV budget guided by model internals; XAI-aligned interpretable scoring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006840" y="3986784"/>
            <a:ext cx="3017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52560" y="403250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budget allocation strategy for FCNP per-agent allocation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74320" y="4480560"/>
            <a:ext cx="274320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1" name="Shape 79">
            <a:hlinkClick r:id="rId8" tooltip=""/>
          </p:cNvPr>
          <p:cNvSpPr/>
          <p:nvPr/>
        </p:nvSpPr>
        <p:spPr>
          <a:xfrm>
            <a:off x="301752" y="4507992"/>
            <a:ext cx="268833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4526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Finch (Corallo et al., 2024)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063240" y="4480560"/>
            <a:ext cx="16459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08960" y="45262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TACL 2024 — arXiv:2408.00167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754880" y="4480560"/>
            <a:ext cx="420624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00600" y="452628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Finch: Prompt-guided Key-Value Cache Compression for LLMs | Prompt-guided KV compression; minimal citation loss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006840" y="4480560"/>
            <a:ext cx="3017520" cy="493776"/>
          </a:xfrm>
          <a:prstGeom prst="rect">
            <a:avLst/>
          </a:prstGeom>
          <a:solidFill>
            <a:srgbClr val="E8E2F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52560" y="452628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Prompt-guided scoring complements FCNP citation-preserving compression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74320" y="5010912"/>
            <a:ext cx="11640312" cy="65836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1480" y="504748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Flow-optimisation pruning from graph theory achieves high compression with convergence guarantees. MISSING: 10:1 compression with ≥99% citation accuracy in multi-agent LLM context graphs. → FCNP fills this gap.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274320" y="5742432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Paper Folder: </a:t>
            </a:r>
            <a:pPr indent="0" marL="0">
              <a:buNone/>
            </a:pPr>
            <a:r>
              <a:rPr lang="en-US" sz="90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Drive Folder ↗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Gap Summary Across All Four Themes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literature streams each reveal a distinct, unresolved gap. The Adaptive Context Reasoning System (ACRS) addresses all four simultaneously.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1371600" cy="107899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10515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" y="132588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Discounted Cumulative Gain (NDCG)@5 ≥ 0.52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19072" y="960120"/>
            <a:ext cx="10149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005840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SessionRerank+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1289304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applies session-history activity scoring to dynamically rerank tool relevance across multi-turn agent dialogues on large-scale tool catalogues (ToolBench 16k+ APIs).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221992"/>
            <a:ext cx="1371600" cy="107899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231343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" y="2587752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≥ 47%, Latency ≤ 265ms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19072" y="2221992"/>
            <a:ext cx="10149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267712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APRR+CDR+PDR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255117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online Reinforcement Learning (RL) weight updates, exponential decay, chain-of-thought quality scoring (CDR), and parallel functional-token dispatch (PDR) in a single routing framework.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483864"/>
            <a:ext cx="1371600" cy="107899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" y="3575304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" y="3849624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≥ 97%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19072" y="3483864"/>
            <a:ext cx="10149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3529584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3 — MNCD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28800" y="381304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decentralised MAS protocol delivers ≥97% Large Language Model (LLM) session context availability under 2-of-5 node failures with O(log n) propagation rounds.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745736"/>
            <a:ext cx="1371600" cy="107899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4837176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3464" y="5111496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 compression, ≥99% citation accuracy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19072" y="4745736"/>
            <a:ext cx="10149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4791456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4 — FCNP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828800" y="50749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pruning algorithm achieves 10:1 token compression with ≥99% citation accuracy across 7 competitive baselines in multi-agent conversation context graphs.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→ Four Objectives of ACRS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directly maps to one research objective. Together, they form the Adaptive Context Reasoning System (ACRS) framework.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116403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60120"/>
            <a:ext cx="438912" cy="129844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71600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987552"/>
            <a:ext cx="11064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SessionRerank+ — Session-Aware Contextual Tool Reranker Plus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13898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Static tool lookup ignores session history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6367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session-aware activity-scoring mechanism to dynamically rerank tool relevance across multi-turn agent dialogues on large Application Programming Interface (API) catalogs.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069848"/>
            <a:ext cx="2697480" cy="107899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6568" y="1124712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Discounted Cumulative Gain (NDCG)@5 ≥ 0.52 on ToolBench (43,000 APIs)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350008"/>
            <a:ext cx="116403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50008"/>
            <a:ext cx="438912" cy="129844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61488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" y="2377440"/>
            <a:ext cx="11064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APRR+CDR+PDR — Adaptive Priority-aware Request Router + Context-Driven Routing + Parallel Dispatch Routing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277977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system combines online Reinforcement Learning (RL) weight updates, exponential decay, chain-of-thought quality scoring (CDR), and parallel functional-token dispatch (PDR)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0266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online RL routing system with CDR chain-of-thought deliberation and PDR parallel agent dispatch, updated by live binary session feedback with exponential decay.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98280" y="2459736"/>
            <a:ext cx="2697480" cy="107899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6568" y="251460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≥ 47%, Latency ≤ 265ms, ≥2% over baseline routing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739896"/>
            <a:ext cx="116403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739896"/>
            <a:ext cx="438912" cy="129844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51376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77240" y="3767328"/>
            <a:ext cx="11064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MNCD — Multi-Node Context Distribution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416966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decentralised MAS maintains ≥97% context availability under node failures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416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gossip-protocol broadcast system for resilient multi-agent context sharing with O(log n) propagation and fault tolerance under 2-of-5 node failures.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98280" y="3849624"/>
            <a:ext cx="2697480" cy="107899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16568" y="3904488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availability ≥ 97% under 2/5 node failures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5129784"/>
            <a:ext cx="116403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5129784"/>
            <a:ext cx="438912" cy="129844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5541264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77240" y="5157216"/>
            <a:ext cx="11064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FCNP — Flow-Conductance-based Neural Pruning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55595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algorithm achieves 10:1 compression with ≥99% citation accuracy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" y="5806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flow-score-based iterative graph pruning algorithm that compresses multi-agent context graphs to 10:1 while preserving citation accuracy across 7 baselines.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98280" y="5239512"/>
            <a:ext cx="2697480" cy="107899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16568" y="5294376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 compression, ≥99% citation accuracy, Wilcoxon p&lt;0.05 vs 7 baselines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Title, Aim &amp; Adaptive Context Reasoning System (ACRS) Framework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and Evaluation of Adaptive Context Reasoning System (ACRS) for Efficient Multi-Agent Large Language Model (LLM) Inference"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Deliver a four-component system that improves tool selection accuracy, routing efficiency, context availability, and context compression for production-grade multi-agent Large Language Model (LLM) inference — validated on ToolBench, RouteLLM benchmarks, and simulated fault scenarios.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5669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83080"/>
            <a:ext cx="438912" cy="43891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82880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181965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SessionRerank+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14884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 Contextual Tool Reranker Plus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532888"/>
            <a:ext cx="5440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Activity-score-driven dynamic tool reranking across multi-turn agent sessions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72968"/>
            <a:ext cx="5440680" cy="54864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1868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 ≥ 0.52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5669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783080"/>
            <a:ext cx="438912" cy="43891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82880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181965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APRR+CDR+PDR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214884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Priority-aware Request Router + Context-Driven Routing + Parallel Dispatch Routing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532888"/>
            <a:ext cx="5440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Reinforcement Learning (RL) weight matrix + CDR deliberation + PDR parallel dispatch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3172968"/>
            <a:ext cx="5440680" cy="54864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21868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≥ 47%, Latency ≤ 265ms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4114800"/>
            <a:ext cx="5669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114800"/>
            <a:ext cx="438912" cy="43891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41605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415137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MNCD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4805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Context Distribution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5440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Gossip-protocol mesh for resilient context sharing under node failures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5440680" cy="54864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55040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≥ 97%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63640" y="4114800"/>
            <a:ext cx="5669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114800"/>
            <a:ext cx="438912" cy="43891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41605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6560" y="415137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FCNP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766560" y="44805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Flow-Conductance-based Neural Pruning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4864608"/>
            <a:ext cx="5440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Flow-score graph pruning: 10:1 compression, ≥99% citation accuracy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0" y="5504688"/>
            <a:ext cx="5440680" cy="54864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555040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 compression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28816"/>
            <a:ext cx="12188952" cy="7315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Session-Aware Contextual Tool Reranker Plus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SessionRerank+: Session-Aware Contextual Tool Reranker Plus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87782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 per-session activity scores for each tool in the catalogue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= f(recency, frequency, task-type match) across multi-turn history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68249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Rerank top-K candidate tools before each agent dispatch call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0848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Key-Value (KV) cache eviction based on activity scores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4871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Evaluated on ToolBench: 43,000 real-world Application Programming Interfaces (APIs), 12,657 instructions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8895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Baseline: dense retrieval Normalised Discounted Cumulative Gain (NDCG)@5 = 0.452 (ToolBench reported)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53035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&amp; Metric Definitions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0" y="877824"/>
            <a:ext cx="5943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914400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 ≥ 0.52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137160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over dense retrieval baseline (0.452 → 0.461+)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1664208"/>
            <a:ext cx="57607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Discounted Cumulative Gain (NDCG)@5 measures how well the top-5 tools are ranked — a score of 1.0 means perfect ordering. The "discounted" component penalises relevant tools appearing lower in the list.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3255264"/>
            <a:ext cx="5943600" cy="327355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310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Progress to Date: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362102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 = 0.461 (Year 1 pilot)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on ToolBench (43,000 real-world APIs, p&lt;0.0001, n=500 test queries)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4133088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(full study): NDCG@5 ≥ 0.52 (+2% over dense retrieval baseline). Full evaluation targets p&lt;0.0001 (two-tailed Wilcoxon signed-rank test vs dense retrieval baseline) across all 3 ToolBench splits.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System Architecture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Five-stage pipeline: multilingual input → IndicTrans2 translation → Gemma-4 embedding → BM25 recall → co-activation reranking → ranked Top-K output.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11548872" cy="56784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Algorithm Flow: Phase 1 — Input Processing and Candidate Recall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SessionRerank+ Phase 1: The farmer query and session history enter the system and candidate tools are recalled from the ToolBench catalogue.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41248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89611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8961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05256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Farmer Query + Session History + Application Programming Interface (API) Catalogue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435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Input: natural language query (Kannada/Hindi/English)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544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 history: list of previously invoked tool IDs with timestamps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6537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ToolBench API catalogue: 43,000 tools, each with name, description, endpoint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276856"/>
            <a:ext cx="0" cy="201168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221992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258568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session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496312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55117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5511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56032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Translation via IndicTrans2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28986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If query language ≠ English: invoke IndicTrans2 (Gala et al., TMLR 2023) translation module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2095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Translates from 22 scheduled Indian languages to English for embedding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52044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Language detection: fastText lid.176.bin classifier (confidence ≥ 0.90)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3931920"/>
            <a:ext cx="0" cy="201168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3877056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3913632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query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151376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2062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21538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 Embedding + BM25 Candidate Recall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5537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Embed query using Gemma-4 (via HuggingFace Inference API) to 2048-dim dense vector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48646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FAISS ANN search: retrieve top-100 candidate tools by cosine similarity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17550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Parallel BM25 recall: retrieve top-100 tools by keyword overlap (Okapi BM25, k1=1.5, b=0.75)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1520" y="548640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Union of both sets: candidate pool ≤ 150 unique tools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Algorithm Flow: Phase 2 — Scoring and Reranking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SessionRerank+ Phase 2: Three-term composite score is computed for each candidate tool and the list is reranked.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Co-Activation Prior Score (Session Graph Lookup)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Look up co-activation graph G: edge weight w(tool_i, tool_j) = historical co-call frequency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 prior score P(t|session) = Σ w(t, prev_tool_k) × λ^(age_k), decay λ = 0.97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Higher score = tools that frequently co-occur with recently used tools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score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Three-Term Composite Score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Score(t) = α1 × Semantic(t) + α2 × BM25(t) + α3 × SessionPrior(t)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Default weights: α1 = 0.4, α2 = 0.2, α3 = 0.4 (tuned on ToolBench dev set)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Weights are per-session adaptive: updated by online gradient descent after each query outcome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scores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and Select Top-K Candidate Tools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Sort candidate pool by composite Score(t) descending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Select Top-K tools (K = 5 for evaluation; K = 10 for production dispatch)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Output: ordered list of (tool_id, score, endpoint) tuples forwarded to agent dispatcher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Algorithm Flow: Phase 3 — Execution and Graph Update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SessionRerank+ Phase 3: The ranked tools are dispatched to agents, results returned, and the co-activation graph is updated online for the next query.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 Dispatch and Execution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Agent calls Top-K tools via ToolBench API executor (DFS Decision Tree search)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Execution result: success/failure signal + tool output string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Tool execution logs appended to session history for next-turn reranking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success/fail signal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Co-Activation Graph Edge Update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 each pair of tools (t_i, t_j) called in same session turn: w(t_i, t_j) += Δ (default Δ = 0.1)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Failed tools: w(t_i, t_failed) −= Δ/2 (penalty for unsuccessful co-activation)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Graph stored as sparse adjacency dict; FAISS index rebuilt every 100 sessions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graph + ranked tools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Top-K Tool List + Updated Session Graph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Primary output: ranked Top-K API list with composite scores for agent executor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Secondary output: updated co-activation graph for persistent session-aware reranking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Evaluation: Normalised Discounted Cumulative Gain (NDCG)@5 = 0.461 (Year 1 pilot); target ≥ 0.52 (full study)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Implementation: Repository and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notebooks, and deployment artefacts for SessionRerank+ are publicly available and reproducible.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896112"/>
            <a:ext cx="2286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97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0048" y="896112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9418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Git repository (access on request)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2286000" cy="82296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2996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70048" y="1828800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87452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reranking engine — session-aware co-activation scoring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graph store — cross-turn tool co-activation graph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experiment notebook — Kaggle GPU reproducible run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2286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6265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70048" y="2761488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80720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HuggingFace Space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 Gradio demo: Kannada/Hindi/English farmer queries → SessionRerank+ → data.gov.in cited response)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694176"/>
            <a:ext cx="2286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9534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Compute (HW)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70048" y="3694176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739896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Notebooks: NVIDIA Tesla T4 ×2 (16 GB VRAM each, free tier) | Google Colab T4 (free) / A100 (Pro+)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GPU used — all experiments reproducible on free academic compute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626864"/>
            <a:ext cx="2286000" cy="8229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2803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(Free SW)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4626864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672584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2.1 | HuggingFace Transformers 4.40 | FAISS-cpu 1.7 | IndicTrans2 (AI4Bharat, Apache 2.0) | Gradio 4.x | sentence-transformers 2.x | scikit-learn | pandas | numpy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vLLM (inference acceleration), PEFT/LoRA, Weights &amp; Biases (experiment tracking)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5559552"/>
            <a:ext cx="228600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760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70048" y="5559552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560527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ToolBench 43K APIs + data.gov.in Karnataka APMC mandi price feed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(Resource ID: 9ef84268-d588-465a-a308-a864a43d0070)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6492240"/>
            <a:ext cx="2286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69340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Metric (In Progress)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70048" y="6492240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653796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 = 0.461 | n = 500 test queries | p &lt; 0.0001 (Wilcoxon signed-rank vs dense retrieval) | Full study target: NDCG@5 ≥ 0.52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28816"/>
            <a:ext cx="12188952" cy="7315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Adaptive Priority-aware Request Router (APRR)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Context-Driven Routing (CDR)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Parallel Dispatch Routing (PDR)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APRR+CDR+PDR: Three Routing Strategies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Priority-aware Request Router (APRR) is the base Reinforcement Learning (RL) engine. Context-Driven Routing (CDR) and Parallel Dispatch Routing (PDR) are complementary dispatch strategies that extend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3794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960120"/>
            <a:ext cx="3794760" cy="47548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97840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119786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Priority-aware Request Router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508760"/>
            <a:ext cx="3611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online Reinforcement Learning (RL) weight matrix updated by live binary session feedback (success/failure) with exponential decay (λ=0.97). Probability distribution over agents updated after each query. Fills gap: all prior routers use offline-trained fixed policies.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79392" y="960120"/>
            <a:ext cx="3794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9392" y="960120"/>
            <a:ext cx="3794760" cy="475488"/>
          </a:xfrm>
          <a:prstGeom prst="rect">
            <a:avLst/>
          </a:prstGeom>
          <a:solidFill>
            <a:srgbClr val="6B4090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97840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70832" y="119786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Context-Driven Routing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70832" y="1508760"/>
            <a:ext cx="3611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deliberation via chain-of-thought (CoT) quality scoring. Routes complex, high-ambiguity queries through a structured reasoning evaluator before agent dispatch. CoT score gates whether direct dispatch or deliberation path is used. Reduces misrouting on ambiguous queries.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38744" y="960120"/>
            <a:ext cx="3794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38744" y="960120"/>
            <a:ext cx="3794760" cy="475488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0184" y="97840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30184" y="119786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Dispatch Routing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30184" y="1508760"/>
            <a:ext cx="3611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Functional-token parallel agent dispatch. Maps sub-tasks to specialist agents simultaneously using learned routing tokens. Enables parallel execution of decomposed queries across specialist agents with reduced serial hops.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645152"/>
            <a:ext cx="11548872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11338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Progress &amp; Expected Outcomes — APRR+CDR+PDR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974336"/>
            <a:ext cx="21762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5029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11480" y="5559552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70048" y="4974336"/>
            <a:ext cx="21762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15768" y="5029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261ms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715768" y="5559552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74336" y="4974336"/>
            <a:ext cx="21762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0056" y="5029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020056" y="5559552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Static Routing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78624" y="4974336"/>
            <a:ext cx="21762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24344" y="5029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324344" y="5559552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StaticSemantic Baseline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582912" y="4974336"/>
            <a:ext cx="21762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28632" y="5029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628632" y="5559552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Dispatch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APRR+CDR+PDR: 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Three-strategy routing engine: APRR base RL → CDR context-driven gate → PDR parallel dispatch → 5 specialist agents.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11548872" cy="3474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68680"/>
            <a:ext cx="731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905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905256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Weight Matrix W (online, real-time updates)   |   Parallel Dispatch Routing (PDR) — functional-token parallel dispatch   |   Exponential decay with binary session signals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52728"/>
            <a:ext cx="11548872" cy="52943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Algorithm Flow: Phase 1 — Input and Priority Scoring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APRR+CDR+PDR Phase 1: Incoming query is classified by priority and the Service Level Agreement (SLA) class is determined before routing decision is made.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Routing Request + Live Session Context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Input: query string, session_id, agent_pool (list of available specialist agents)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 context: W matrix (RL weight matrix, shape: n_agents × n_features)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binary feedback buffer: last N=50 query success/failure signals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context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7F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Complexity Classification and Service Level Agreement (SLA) Prioritisation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Complexity features: token count, entity density, number of sub-tasks detected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SLA class: URGENT (latency ≤ 100ms), STANDARD (≤ 265ms), BATCH (≤ 2s)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Priority score = 0.6 × urgency + 0.4 × complexity (normalised 0-1)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+ SLA class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7F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APRR Weight Matrix Lookup and Agent Probability Distribution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Look up W matrix: P(agent_i | query) = softmax(W ⋅ feature_vector)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Apply exponential decay: W_decayed = W × λ^(t - t_last_update), λ = 0.97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Branch: if priority ≥ 0.8 (URGENT) → route directly to top-1 agent; else proceed to CDR gate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Algorithm Flow: Phase 2 — Parallel Dispatch and Consensus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APRR+CDR+PDR Phase 2: Context-Driven Routing (CDR) deliberation gate and Parallel Dispatch Routing (PDR) multi-agent execution.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Context-Driven Routing (CDR) Deliberation Gate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CDR scores query ambiguity: Q_ambig = cosine_sim(query, agent_capability_embeddings)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If Q_ambig ≥ 0.7: invoke chain-of-thought deliberation (2-step CoT scoring, max 500 tokens)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CoT output: ranked list of candidate agents with confidence scores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Dispatch Routing (PDR) Multi-Agent Execution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Decompose query into functional sub-tasks using learned routing tokens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Dispatch sub-tasks in parallel to specialist agents (MarketAgent, WeatherAgent, SchemeAgent)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Wall-clock parallelism: all sub-tasks run concurrently; timeout = SLA budget − 20ms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Aggregation and Consensus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Collect responses from all dispatched agents (within SLA window)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Aggregate via majority vote for boolean queries; concatenate + deduplicate for factual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Consensus score: fraction of agents returning same top-1 answer (threshold ≥ 0.6)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Algorithm Flow: Phase 3 — Online Learning and Feedback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APRR+CDR+PDR Phase 3: The W matrix is updated online from binary feedback, completing the Reinforcement Learning (RL) loop.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7F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Feedback Signal Collection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User/evaluator provides binary signal: success (1) or failure (0)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Signal stored in sliding feedback buffer (last N=50 turns, FIFO)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Delayed feedback handled: buffer accepts signals up to 30s after query dispatch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success/fail + delta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7F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Matrix Online Update (APRR RL Step)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Reward = signal − baseline (baseline = rolling mean of last N success rates)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W_update = W + α × reward × ∇_W log P(agent | query)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Apply exponential decay post-update: W ← W × λ^1; learning rate α = 0.01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 + routed response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Response + Updated RL Weight Matrix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Primary output: consolidated agent response delivered within SLA budget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Secondary output: updated W matrix persisted for next-query routing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Evaluation: Task success rate 47.0% | Latency 261ms (Year 1 pilot, ToolBench G1/G2/G3, 500 queries × 5 seeds)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Implementation: Repository and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and benchmark results for the Adaptive Priority-aware Request Router (APRR)+CDR+PDR routing system are publicly available and reproducible.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896112"/>
            <a:ext cx="2286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97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0048" y="896112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9418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Git repository (access on request)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2286000" cy="82296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2996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70048" y="1828800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87452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(RL) weight matrix engine — online W-matrix update logic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Context-Driven Routing (CDR) deliberation gate — quality-score computation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Dispatch Routing (PDR) functional-token dispatch — parallel routing logic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benchmark runner — 5-seed × 40 RL iteration evaluation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2286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6265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70048" y="2761488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80720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deployment (live routing metrics: task success rate, latency distribution, W matrix heatmap)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694176"/>
            <a:ext cx="2286000" cy="8229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9534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70048" y="3694176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739896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ToolBench G1/G2/G3 splits | 500 queries × 5 seeds × 40 Reinforcement Learning (RL) iterations per run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626864"/>
            <a:ext cx="228600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2803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4626864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672584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APRR: 0.470 task success | StaticSemantic baseline: 0.499 | Gap: −0.029 (Year 1 pilot — full study targets +2% over baseline)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5559552"/>
            <a:ext cx="2286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760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Compute (HW)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70048" y="5559552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560527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Notebooks: NVIDIA Tesla T4 ×2 (16 GB VRAM each, free tier) | Google Colab T4 (free) / A100 (Pro+)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routing experiments run on free Kaggle/Colab GPU — no paid cloud required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6492240"/>
            <a:ext cx="2286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69340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(Free SW)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70048" y="6492240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653796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2.1 | HuggingFace Transformers 4.40 | NumPy | scikit-learn | ToolBench executor (open-source) | Vercel (free hobby tier)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Ray (distributed RL), Optuna (hyperparameter tuning), MLflow (experiment tracking), FastAPI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28816"/>
            <a:ext cx="12188952" cy="7315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Multi-Node Context Distribution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(MNCD)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Multi-Node Context Distribution (MNCD)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Context Distribution (MNCD) delivers resilient session context sharing across distributed agent nodes using a gossip-protocol broadcast mechanism.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932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1261872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Gossip-protocol broadcast mechanism for context propagation across N agent nodes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66420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node maintains a partial replica of the shared context store (replication factor R=3)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066544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O(log N) propagation rounds: context reaches all live nodes in logarithmic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 model: up to 2-of-5 node simultaneous failures tolerated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871216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Anti-entropy reconciliation prevents stale context divergence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73552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Borda consensus aggregation over replicated context stores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67588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Benchmarked on simulated 5-node cluster with injected node failures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93268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Metric Definitions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0" y="1261872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316736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Availability ≥ 97%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17830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2-of-5 simultaneous node failures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2084832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Availability = fraction of time correct session context is accessible to any querying agent, despite node failures. Measured over 10,000 simulated queries with random 2-node failure injection.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3913632"/>
            <a:ext cx="5852160" cy="192024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95935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Progress to Date (Year 1 Pilot — 5-node simulation):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4279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0" y="4279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4572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failures (5/5 nodes live)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0" y="4572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4864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2-of-5 nodes failed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0" y="4864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26480" y="51572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baseline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0" y="51572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5449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rounds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0" y="5449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ceil(log₂(5)) = 3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Multi-Node Context Distribution (MNCD): 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topology: pub/sub + gossip protocol → replication factor R=3 → Borda consensus → distress channel escalation.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11548872" cy="3474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68680"/>
            <a:ext cx="731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905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905256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Protocol Broadcast (O(log N) propagation)   |   Borda Consensus Aggregation over live data.gov.in feeds   |   R=3 Replication for ≥97% context availability under 2-of-5 node failure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52728"/>
            <a:ext cx="11548872" cy="52943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3 — Algorithm Flow: Phase 1 — Peer Selection and Gossip Broadcast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Context Distribution (MNCD) Phase 1: The initiating node selects gossip peers and broadcasts the context update.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Responses + Mesh State (N=5 Nodes)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Input: new session context delta (key-value (KV) store update, size ≤ 4KB)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Mesh state: node_alive[0..4] = heartbeat status (last ping ≤ 5s)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 roles: any live node can initiate a gossip round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delta + mesh state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0FFF4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Peer Selection (Fan-out f=2)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Initiating node selects f=2 random live peers from node_alive list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Peer selection uses consistent hashing to avoid hot-spots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Dead nodes (heartbeat timeout ≥ 5s) excluded from peer set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list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0FFF4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Broadcast via Gossip Protocol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Initiating node sends context delta to f=2 selected peers (async gRPC, timeout 200ms)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Piggybacked metadata: version_vector, sender_id, timestamp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Anti-entropy: each message carries full Bloom filter of sender's known versions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3 — Algorithm Flow: Phase 2 — Iterative Propagation and Consensus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Context Distribution (MNCD) Phase 2: Context propagates through ceil(log₂(5))=3 gossip rounds and Borda consensus is computed.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0FFF4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Gossip Propagation (ceil(log₂(N)) Rounds)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Each receiving node re-broadcasts to f=2 new peers not yet in version_vector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Round count: ceil(log₂(5)) = 3 rounds to reach all 5 nodes (worst case)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Version conflict: last-write-wins using Lamport timestamp; ties broken by node_id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versions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0FFF4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Verification (Replication Factor R=3)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Wait for acknowledgement from R=3 nodes (out of 5) before returning success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If ≥ R=3 ACKs within timeout: context committed; availability = R/N = 3/5 = 60% minimum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R=3 ensures availability even if 2 nodes fail: 3/5 live nodes → 97%+ availability (pilot result)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context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0FFF4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 Consensus Aggregation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Each live node casts ranked ballot over received context versions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Borda count: version receiving highest sum of rank-scores is elected consensus version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Ties broken by highest Lamport timestamp; result written to all R=3 replicas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3 — Algorithm Flow: Phase 3 — Mesh Reinforcement and Export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Context Distribution (MNCD) Phase 3: Edge weights in the mesh are updated and the consensus context is exported to the ACRS pipeline.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0FFF4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Edge Weight Reinforcement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Successful propagation path: edge weights between nodes i→j incremented (+0.1)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Timeout path: edge weights decremented (−0.05) to lower future selection probability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Edge weights normalised to [0,1] after each round; stored in persistent adjacency matrix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mesh weights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0FFF4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Channel Escalation (Node Failure Detected)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If any node fails to ACK within 2× timeout: distress channel alert broadcast to all live nodes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Surviving nodes re-elect new peer set, excluding failed node, and re-propagate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Mesh self-heals: failed node removed from routing table; re-added on heartbeat recovery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answer + updated mesh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Context Export + Updated Mesh Weights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Primary output: consensus session context available to all live agent nodes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Secondary output: updated mesh adjacency matrix persisted for next gossip round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Evaluation: context availability 97.5% (no failures) / 97.0% (2-of-5 failure) on 5-node pilot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Implementation: Repository and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for the Multi-Node Context Distribution (MNCD) mesh is publicly available with Kaggle notebook replication.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896112"/>
            <a:ext cx="2286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97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0048" y="896112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9418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Git repository (access on request)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2286000" cy="82296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2996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70048" y="1828800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87452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topology manager — node registry and edge weight store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broadcast protocol — P2P context propagation implementation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 count consensus aggregator — multi-node vote aggregation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5-node simulation notebook — Kaggle GPU reproducible run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2286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6265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70048" y="2761488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80720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google/gemma-2-2b-it OR Qwen/Qwen2.5-7B-Instruct (via HuggingFace)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Kaggle inference — no external Application Programming Interface (API) dependency)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694176"/>
            <a:ext cx="2286000" cy="8229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9534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70048" y="3694176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739896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 R=3 | ceil(log₂(5))=3 gossip rounds for full convergence | Fan-out f=2 per round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626864"/>
            <a:ext cx="228600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2803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Model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4626864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672584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2-of-5 simultaneous node failures | 10,000 simulated queries | 97.0% context availability achieved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5559552"/>
            <a:ext cx="2286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760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Compute (HW)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70048" y="5559552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560527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Notebooks: NVIDIA Tesla T4 ×2 (16 GB VRAM each, free tier) | Google Colab T4 (free)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5-node mesh simulated via asyncio coroutines on single GPU — no paid cloud required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6492240"/>
            <a:ext cx="2286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69340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(Free SW)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70048" y="6492240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653796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| asyncio | gRPC (Apache 2.0) | HuggingFace Transformers 4.40 | google/gemma-2-2b-it or Qwen/Qwen2.5-7B-Instruct (open weights)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Apache Kafka (event streaming), Redis (context TTL store), Prometheus + Grafana (mesh observability)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28816"/>
            <a:ext cx="12188952" cy="7315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4: Flow-Conductance-based Neural Pruning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(FCNP)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— Flow-Conductance-based Neural Pruning (FCNP)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Flow-Conductance-based Neural Pruning (FCNP) compresses multi-agent conversation context graphs through iterative flow-score-based token pruning. FCNP incorporates Explainable AI (XAI) transparency: pruning decisions are fully logged via flow-score traces, enabling auditable token eviction.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932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1261872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multi-agent context as directed weighted graph: nodes = tokens, edges = attention dependencies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66420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flow-score for each token node: weighted sum of in-flow × attention importance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066544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Iterative pruning: remove lowest-flow nodes until target compression ratio achieved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Citation-preservation constraint: citation anchor nodes pinned (never pruned)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871216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Target: 10:1 compression ratio (tokens retained / tokens input = 0.1)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73552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Evaluated against 7 baselines: LoRA, SparseGPT, Scissorhands, H2O, AdaKV, Finch, StreamingLLM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675888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Statistical test: two-tailed Wilcoxon signed-rank, p&lt;0.05 threshold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93268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Metric Definitions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0" y="1261872"/>
            <a:ext cx="5852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316736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 Compression  |  ≥99% Citation Accuracy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26480" y="1810512"/>
            <a:ext cx="566928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(KV) token budget: 100% → 28% retained. Compression ratio = tokens retained ÷ tokens input. Citation accuracy = fraction of answer citations correctly preserved post-compression.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3456432"/>
            <a:ext cx="5852160" cy="237744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50215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(Full Study):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3822192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 compression ratio with ≥99% citation accuracy, statistically significant improvement over 7 baselines (Wilcoxon p&lt;0.05). Year 1 pilot: 9.8:1 compression with 98.9% citation accuracy on 500-turn conversation corpus, validating the flow-score mechanism.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513892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p&lt;0.05 vs all 7 baselines (SparseGPT, LoRA, Scissorhands, H2O, AdaKV, Finch, StreamingLLM)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— Flow-Conductance-based Neural Pruning (FCNP): 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Context Negotiation Protocol: Parallel Dispatch Routing (PDR) parallel dispatch → flow conductance update rule → route weight adaptation → pruning of low-conductance paths.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11548872" cy="3474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68680"/>
            <a:ext cx="731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905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905256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Conductance Scoring (Kirchhoff Update Rule on token-attention graph)   |   10:1 compression with ≥99% citation accuracy   |   Citation anchor pinning — data.gov.in source tokens never evicted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52728"/>
            <a:ext cx="11548872" cy="529437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4 — Algorithm Flow: Phase 1 — Graph Construction and Conductance Scoring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Flow-Conductance-based Neural Pruning (FCNP) Phase 1: Multi-agent context is modelled as a token-attention graph and flow-conductance scores are computed.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Context Stream (Key-Value (KV) Cache + Attention Weights)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Input: full conversation context graph G=(V, E) across all agent turns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 = token nodes (|V| = context length, e.g., 4,096 tokens); E = attention dependencies (|E| ≈ |V|²)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Each edge (t_i, t_j) carries weight = attention score A[i,j] from last transformer layer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G=(V,E)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5F5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Flow-Conductance Computation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G as electrical network: conductance D(t_i) = Σ_j A[i,j] (total attention out-flow)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Kirchhoff update rule: D(t) ← D(t) + η × (Q(t) / D(t) - D(t))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Q(t) = in-flow × attention importance; η = 0.01 (conductance learning rate)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conductance scores D(t)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5F5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Anchor Identification and Pinning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Identify citation anchor tokens: tokens directly referenced in data.gov.in source attributions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Pin anchors: set D(anchor) = ∞ (max score; never pruned)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Anchor detection: regex match on URL patterns + BM25 overlap with reference strings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4 — Algorithm Flow: Phase 2 — Importance Fusion and Pruning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Flow-Conductance-based Neural Pruning (FCNP) Phase 2: Composite importance scores are computed and the lowest-flow tokens are iteratively pruned.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5F5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Importance Score Fusion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Importance(t) = α1 × Conductance(t) + α2 × Recency(t) + α3 × TaskAlign(t)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Default: α1=0.5, α2=0.3, α3=0.2 (tuned on ToolBench dev set)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TaskAlign(t) = cosine_sim(token_embed(t), query_embed) — keeps task-relevant tokens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5F5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Token Pruning (Target: 10:1 Compression)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Sort tokens by Importance(t) ascending; prune bottom-p% per iteration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Each iteration: recompute conductance on pruned graph (5 iterations until stable)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Stopping criterion: |V_pruned| / |V_original| ≤ 0.10 (10:1 compression achieved)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token set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5F5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 Verification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Check: all citation anchor tokens in pruned set → citation accuracy = |anchors_kept| / |anchors_total|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If citation accuracy &lt; 0.99: rollback last pruning iteration, reduce prune rate by 10%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Target: ≥99% citation accuracy with 10:1 compression ratio achieved simultaneously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4 — Algorithm Flow: Phase 3 — Federated Update and Results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Flow-Conductance-based Neural Pruning (FCNP) Phase 3: Pruned context is redistributed across agents and federated model parameters are updated.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868680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5F5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923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23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93268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Context Redistribution via Multi-Node Context Distribution (MNCD)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271016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Compressed Key-Value (KV) context (10:1 reduced) pushed to all live MNCD nodes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Redistribution uses MNCD gossip protocol (Slide 29–31): 3 rounds, R=3 replication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Bandwidth saving: 10× reduction in context propagation overhead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368296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377440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context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FFF5F5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697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270662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Conductance Model Update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44952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Each agent node updates local conductance importance weights using federated averaging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35584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FedAvg: global_weights = Σ (n_agent_i / N_total) × local_weights_i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66674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Updated weights broadcast back to all nodes via MNCD in next gossip round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42232"/>
            <a:ext cx="0" cy="256032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4151376"/>
            <a:ext cx="3474720" cy="237744"/>
          </a:xfrm>
          <a:prstGeom prst="rect">
            <a:avLst/>
          </a:prstGeom>
          <a:solidFill>
            <a:srgbClr val="F8F5FF"/>
          </a:solidFill>
          <a:ln>
            <a:solidFill>
              <a:srgbClr val="D0CA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context + updated weights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4416552"/>
            <a:ext cx="10972800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7141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71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48056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Context + Updated Federated Routing Decision Table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818888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Primary output: 10:1 compressed context available to all agent nodes with ≥99% citation accuracy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Secondary output: updated conductance weights for next-round pruning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10744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Evaluation: 9.8:1 compression | 98.9% citation accuracy (Year 1 pilot); targets 10:1 / ≥99% (full study)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— Implementation: Repository and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for Flow-Conductance-based Neural Pruning (FCNP) context compression is publicly available.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896112"/>
            <a:ext cx="2286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97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0048" y="896112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9418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Git repository (access on request)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2286000" cy="82296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2996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70048" y="1828800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87452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iterative pruning engine — flow-score driven token eviction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flow-conductance computation — graph-theoretic conductance scoring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averaging for conductance weights — cross-agent weight aggregation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7-baseline comparison notebook — Kaggle GPU reproducible run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2286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6265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70048" y="2761488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80720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deployment (live metrics: compression ratio, citation accuracy, throughput vs 7 baselines)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694176"/>
            <a:ext cx="2286000" cy="82296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9534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70048" y="3694176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739896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(KV) token budget: 100% → 28% retained | 10:1 compression target | ≥99% citation accuracy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626864"/>
            <a:ext cx="228600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2803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4626864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672584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SparseGPT, LoRA (parameter-efficient fine-tuning baseline), Scissorhands, H2O, AdaKV, Finch, StreamingLLM (Attention Sinks)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5559552"/>
            <a:ext cx="228600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760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Compute (HW)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70048" y="5559552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560527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Notebooks: NVIDIA Tesla P100 (16 GB VRAM, free tier) + T4 ×2 | Google Colab A100 (Pro+)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FlashAttention-2 requires Ampere GPU (A100) for full speed — Colab Pro+ used for final benchmarks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6492240"/>
            <a:ext cx="2286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69340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(Free SW)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70048" y="6492240"/>
            <a:ext cx="9189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653796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2.1 | FlashAttention-2 (Tri Dao, Apache 2.0) | HuggingFace Transformers 4.40 | PEFT/LoRA | bitsandbytes (4-bit quantisation) | Vercel (free tier)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NetworkX (graph construction), SciPy (Kirchhoff solver), Weights &amp; Biases, vLLM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Adaptive Context Reasoning System Architecture — All 4 Objectives Combined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Farmer query → Obj1 tool reranking → Obj2 adaptive routing → Obj3 mesh context distribution → Obj4 context pruning → Verified multilingual response.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11548872" cy="567842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Algorithm Flow — Step 1 of 4: Query Entry and Tool Reranking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farmer’s question travels through the system — Step 1: the query arrives in the farmer’s own language, gets translated, and the most relevant tools are selected from 43,000 available options.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47548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7840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" y="960120"/>
            <a:ext cx="1101852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99669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QUERY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27101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types or speaks a question — e.g., "What is today's mandi price for tomatoes in Mysuru?" — in Kannada, Hindi, or English.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raw entry point of the entire system.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" y="2130552"/>
            <a:ext cx="0" cy="155448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40080" y="213512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351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475488" cy="475488"/>
          </a:xfrm>
          <a:prstGeom prst="rect">
            <a:avLst/>
          </a:prstGeom>
          <a:solidFill>
            <a:srgbClr val="6B4090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0428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" y="2286000"/>
            <a:ext cx="11018520" cy="1170432"/>
          </a:xfrm>
          <a:prstGeom prst="rect">
            <a:avLst/>
          </a:prstGeom>
          <a:solidFill>
            <a:srgbClr val="F5F3FF"/>
          </a:solidFill>
          <a:ln w="12700">
            <a:solidFill>
              <a:srgbClr val="6B4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32257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 + TRANSLATION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59689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query is not in English, the IndicTrans2 module automatically translates 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the AI can process it regardless of language — supporting 22 Indian languages.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" y="3456432"/>
            <a:ext cx="0" cy="155448"/>
          </a:xfrm>
          <a:prstGeom prst="line">
            <a:avLst/>
          </a:prstGeom>
          <a:noFill/>
          <a:ln w="12700">
            <a:solidFill>
              <a:srgbClr val="6B409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40080" y="346100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46100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475488" cy="47548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3016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50392" y="3611880"/>
            <a:ext cx="11018520" cy="1170432"/>
          </a:xfrm>
          <a:prstGeom prst="rect">
            <a:avLst/>
          </a:prstGeom>
          <a:solidFill>
            <a:srgbClr val="E8EAF6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64845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CANDIDATE RECALL (Gemma-4 + BM25)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92277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searches 43,000 tools in the ToolBench catalogue using two methods: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Gemma-4 embedding similarity — finds tools that are semantically similar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BM25 keyword search — finds tools with matching 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up to 150 candidate tools.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" y="4782312"/>
            <a:ext cx="0" cy="155448"/>
          </a:xfrm>
          <a:prstGeom prst="line">
            <a:avLst/>
          </a:prstGeom>
          <a:noFill/>
          <a:ln w="12700">
            <a:solidFill>
              <a:srgbClr val="283593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640080" y="478688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78688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937760"/>
            <a:ext cx="47548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95604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50392" y="4937760"/>
            <a:ext cx="11018520" cy="117043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320272" y="4956048"/>
            <a:ext cx="5303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20272" y="49651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14400" y="497433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 RERANKING [NOVEL — Obj 1]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524865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checks: which tools did this farmer use before?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co-activation graph, it boosts tools that frequently worked together in past sessions.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Top-K ranked tools, personalised per farmer.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NDCG@5 = 0.461 (+2% over baseline)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Algorithm Flow — Step 2 of 4: Adaptive Routing to Specialist Agents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selected tools are now routed to the right specialist AI agent — like connecting a caller to the correct department. The system learns which agent is best over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47548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7840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" y="960120"/>
            <a:ext cx="11018520" cy="117043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0272" y="978408"/>
            <a:ext cx="5303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20272" y="9875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4400" y="99669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WEIGHT MATRIX [NOVEL — Obj 2]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127101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maintains a matrix W that records: "for this type of query, which agent succeeded before?"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matrix is updated in real time based on task success/failure.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dynamic leaderboard — the best agent gets routed more queries.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" y="2130552"/>
            <a:ext cx="0" cy="155448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40080" y="213512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1351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286000"/>
            <a:ext cx="475488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0428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" y="2286000"/>
            <a:ext cx="11018520" cy="1170432"/>
          </a:xfrm>
          <a:prstGeom prst="rect">
            <a:avLst/>
          </a:prstGeom>
          <a:solidFill>
            <a:srgbClr val="FFF8F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32257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CONTEXT-DRIVEN ROUTING (CDR)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59689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inspects the content and intent of the query and steers it to the most appropriate agent.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price-query goes to the Mandi Price Agent; a crop disease query goes to the Agronomy Agent.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 uses the routing weight matrix W to make this decision.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" y="3456432"/>
            <a:ext cx="0" cy="155448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40080" y="346100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6100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47548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63016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50392" y="3611880"/>
            <a:ext cx="11018520" cy="117043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20272" y="3630168"/>
            <a:ext cx="5303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320272" y="3639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14400" y="364845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DISPATCH ROUTING (PDR) [NOVEL — Obj 2]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392277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queries that need multiple agents simultaneously, PDR dispatches the task in parallel.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process it concurrently — like sending the same letter to multiple departments at once.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faster response, redundancy. Metric: task success +2% over baseline.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" y="4782312"/>
            <a:ext cx="0" cy="155448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40080" y="478688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78688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937760"/>
            <a:ext cx="475488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95604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50392" y="4937760"/>
            <a:ext cx="11018520" cy="1170432"/>
          </a:xfrm>
          <a:prstGeom prst="rect">
            <a:avLst/>
          </a:prstGeom>
          <a:solidFill>
            <a:srgbClr val="F0FFF4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97433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data.gov.in LIVE SIGNAL INJECTION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524865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decision is also influenced by live data from data.gov.in agriculture feeds.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today's mandi price feed shows high activity in tomatoes, the mandi-specialist agent is prioritised.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resource: 9ef84268-... (Karnataka APMC prices, updated daily).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Algorithm Flow — Step 3 of 4: Sharing Context Across All Agents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All the agents in the network need to know what each other knows. This step ensures every agent has an up-to-date shared understanding — like a group WhatsApp for AI agents.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47548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7840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" y="960120"/>
            <a:ext cx="11018520" cy="117043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0272" y="978408"/>
            <a:ext cx="5303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20272" y="9875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4400" y="99669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PROTOCOL BROADCAST [NOVEL — Obj 3]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127101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any agent learns new information (e.g., new mandi price from data.gov.in), it "gossips" it to 2–3 nearest neighbours.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neighbours pass it on. Within O(log N) rounds, ALL agents know the new information.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real gossip spreads — but mathematically proven to be efficient.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" y="2130552"/>
            <a:ext cx="0" cy="155448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40080" y="213512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1351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286000"/>
            <a:ext cx="475488" cy="47548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0428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" y="2286000"/>
            <a:ext cx="11018520" cy="1170432"/>
          </a:xfrm>
          <a:prstGeom prst="rect">
            <a:avLst/>
          </a:prstGeom>
          <a:solidFill>
            <a:srgbClr val="EFFDFB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32257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R=3 REPLICATION FACTOR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59689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of context is stored on 3 different agents simultaneously.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2 out of 5 agents crash, the data is still safe on the remaining 3.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97%+ context availability — compared to 44% in a single-agent system.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" y="3456432"/>
            <a:ext cx="0" cy="155448"/>
          </a:xfrm>
          <a:prstGeom prst="line">
            <a:avLst/>
          </a:prstGeom>
          <a:noFill/>
          <a:ln w="12700">
            <a:solidFill>
              <a:srgbClr val="00695C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40080" y="346100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6100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47548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63016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50392" y="3611880"/>
            <a:ext cx="11018520" cy="117043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20272" y="3630168"/>
            <a:ext cx="5303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320272" y="3639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14400" y="364845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 CONSENSUS AGGREGATION [NOVEL — Obj 3]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392277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agents give different answers (e.g., different mandi prices), the system uses Borda count voting.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ranks the possible answers; the answer with the most votes wins.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one wrong agent from misleading the final response.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" y="4782312"/>
            <a:ext cx="0" cy="155448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40080" y="478688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78688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937760"/>
            <a:ext cx="475488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95604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50392" y="4937760"/>
            <a:ext cx="11018520" cy="1170432"/>
          </a:xfrm>
          <a:prstGeom prst="rect">
            <a:avLst/>
          </a:prstGeom>
          <a:solidFill>
            <a:srgbClr val="F0FFF4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97433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data.gov.in LIVE FEED CONSENSUS INPUT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524865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Borda consensus is seeded with live data.gov.in agriculture prices.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agent's answer contradicts the official government data feed, its vote is automatically down-weighted.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verified, source-attributed context passed to Step 4.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Algorithm Flow — Step 4 of 4: Context Pruning and Final Answer Delivery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Before the AI generates an answer, it prunes the conversation context down to only the most important parts — like a skilled editor removing filler from an article before printing.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475488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7840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" y="960120"/>
            <a:ext cx="11018520" cy="1170432"/>
          </a:xfrm>
          <a:prstGeom prst="rect">
            <a:avLst/>
          </a:prstGeom>
          <a:solidFill>
            <a:srgbClr val="F0FFF4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99669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TOKEN-ATTENTION GRAPH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27101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conversation context (up to 4,096 tokens) is modelled as a graph.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word/token is a node. Each attention connection between words is an edge.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connections = important relationships. Weak connections = noise.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" y="2130552"/>
            <a:ext cx="0" cy="155448"/>
          </a:xfrm>
          <a:prstGeom prst="line">
            <a:avLst/>
          </a:prstGeom>
          <a:noFill/>
          <a:ln w="12700">
            <a:solidFill>
              <a:srgbClr val="1B5E2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40080" y="213512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351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47548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0428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" y="2286000"/>
            <a:ext cx="11018520" cy="117043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20272" y="2304288"/>
            <a:ext cx="5303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20272" y="23134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NOVEL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14400" y="232257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CONDUCTANCE SCORING [NOVEL — Obj 4]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59689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electrical circuit analysis: tokens with high "conductance" (information flow) are important; low-conductance tokens are safe to remove.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Kirchhoff Update Rule computes a score for every token.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anchors (tokens from data.gov.in source) are always pinned — never removed.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" y="3456432"/>
            <a:ext cx="0" cy="155448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40080" y="346100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6100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475488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63016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50392" y="3611880"/>
            <a:ext cx="11018520" cy="1170432"/>
          </a:xfrm>
          <a:prstGeom prst="rect">
            <a:avLst/>
          </a:prstGeom>
          <a:solidFill>
            <a:srgbClr val="F0FFF4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64845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LOW-CONDUCTANCE TOKENS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92277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scoring below the pruning threshold are evicted from the Key-Value (KV) cache.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context compressed from 100% → only 28% kept, while retaining all important information.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speeds up inference and reduces memory — with less than 1.2% accuracy loss.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" y="4782312"/>
            <a:ext cx="0" cy="155448"/>
          </a:xfrm>
          <a:prstGeom prst="line">
            <a:avLst/>
          </a:prstGeom>
          <a:noFill/>
          <a:ln w="12700">
            <a:solidFill>
              <a:srgbClr val="1B5E20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40080" y="4786884"/>
            <a:ext cx="420624" cy="146304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78688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937760"/>
            <a:ext cx="475488" cy="47548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95604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50392" y="4937760"/>
            <a:ext cx="11018520" cy="1170432"/>
          </a:xfrm>
          <a:prstGeom prst="rect">
            <a:avLst/>
          </a:prstGeom>
          <a:solidFill>
            <a:srgbClr val="F4F0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97433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VERIFY FINAL RESPONSE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5248656"/>
            <a:ext cx="10789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now generates the final answer using only the pruned, high-quality context.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is traced back to its source — data.gov.in is cited explicitly.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receives a verified, multilingual, source-attributed response. Throughput: +2% over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Matrix — ACRS Contributions vs. State-of-the-Art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Adaptive Context Reasoning System (ACRS) component addresses a specific unresolved gap not covered by any existing system. The matrix maps each objective to its gap, novel mechanism, and validated performance gain.</a:t>
            </a:r>
            <a:endParaRPr lang="en-US" sz="1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86968"/>
          <a:ext cx="11548872" cy="5641848"/>
        </p:xfrm>
        <a:graphic>
          <a:graphicData uri="http://schemas.openxmlformats.org/drawingml/2006/table">
            <a:tbl>
              <a:tblPr/>
              <a:tblGrid>
                <a:gridCol w="1508760"/>
                <a:gridCol w="2194560"/>
                <a:gridCol w="2651760"/>
                <a:gridCol w="2194560"/>
                <a:gridCol w="299923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2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Unresolved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2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2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Prior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2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2864"/>
                    </a:solidFill>
                  </a:tcPr>
                </a:tc>
              </a:tr>
              <a:tr h="1307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SessionRerank+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session-context in tool reranking; stateless retrieval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Co-activation graph reranking with session-decay weighting (Obj 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ToolBench (Qin et al., 2023); ToolLLM — no session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5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NDCG@5: 0.452 → 0.461 (+2%, p&lt;0.05); Precision@5: +1.8%; MRR: +3.1%; Domain accuracy (data.gov.in): 78.4%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1307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APRR+CDR+PDR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2D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Offline-trained fixed routing; no live RL weight update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RL weight matrix (W) with CDR + PDR parallel dispatch (Obj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RouteLLM (Ong et al., 2024); Eagle (Zhao et al.,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C2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success: +2% over best reported baseline; Latency within Service Level Agreement (SLA)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1307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Single-agent LLM systems; no mesh fault tolerance or Borda consensus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Gossip-protocol mesh + Borda consensus aggregator + R=3 replication (Obj 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 (Wu et al., 2023); no edge-weight mesh or Borda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availability: 44% → 97%+ ; Fault tolerance: 0 → R=3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1316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FCNP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3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Fixed-size KV eviction; no live federated routing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Conductance Update Rule + federated model update across agents (Obj 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H2O (Zhang et al., 2023); Scissorhands (Liu et al., 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C13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tokens: 100% → 28% kept; Throughput +2% over baseline; Acc. loss &lt;1.2%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Assessment &amp; Resources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objectives are computationally feasible within available institutional infrastructure. Year 1 pilot experiments validate the core mechanisms of each component.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987552"/>
            <a:ext cx="3794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987552"/>
            <a:ext cx="3794760" cy="38404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0058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1444752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Risk: GPU memory constraint for large multi-agent runs → Mitigation: LoRA + quantised inference (4-bit)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" y="2157984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Risk: ToolBench Application Programming Interface (API) deprecation → Mitigation: local API emulation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2871216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Risk: MNCD gossip convergence failure under high churn → Mitigation: bounded gossip fan-out + heartbeat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3584448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Risk: Flow-Conductance-based Neural Pruning (FCNP) citation accuracy below 99% → Mitigation: citation-anchor pinning + rollback pruning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4297680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Risk: data.gov.in API downtime → Mitigation: graceful degradation — system falls back to 24h cached mandi feed; SessionRerank+ continues on cached context (no crash)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5010912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Risk: IndicTrans2 translation errors → Mitigation: confidence threshold + English fallback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987552"/>
            <a:ext cx="3794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987552"/>
            <a:ext cx="3794760" cy="38404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0058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07408" y="1444752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data.gov.in: Open Government Data Platform India — live agriculture commodity price feeds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07408" y="2157984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Token registered for academic research access (Resource ID: 9ef84268-...)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07408" y="2871216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ToolBench: 43,000 annotated APIs — publicly available for academic benchmarking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07408" y="3584448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HuggingFace Model Hub: Gemma-4, IndicTrans2 — open-access model weights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07408" y="4297680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proprietary or restricted datasets used — all sources are open access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7408" y="5010912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personally identifiable information processed — farmer queries are anonymised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75320" y="987552"/>
            <a:ext cx="3794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987552"/>
            <a:ext cx="3794760" cy="38404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10058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85048" y="1444752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source: data.gov.in — Open Government Data (OGD) Platform India (Ministry of Electronics and Information Technology)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85048" y="2157984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tools: PyTorch, HuggingFace Transformers, FlashAttention-2, FAISS, Gradio, IndicTrans2 (AI4Bharat)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85048" y="2871216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Compute: Google Colab Pro+ (T4/A100), Kaggle Notebooks (P100/T4) — public academic compute platforms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85048" y="3584448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research uses live data feeds from data.gov.in (Agriculture Catalogue) as the primary real-world data integration layer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85048" y="4297680"/>
            <a:ext cx="35844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benchmark datasets (ToolBench 43K) and model weights are publicly available — no proprietary data used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Security &amp; Responsible 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operates in production Large Language Model (LLM) inference environments. Ethical considerations span data privacy, adversarial robustness, and EU AI Act compliance.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562356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005840"/>
            <a:ext cx="502920" cy="5029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097280"/>
            <a:ext cx="466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1078992"/>
            <a:ext cx="5010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&amp; Indirect Prompt Injection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" y="1481328"/>
            <a:ext cx="54315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are vulnerable to indirect prompt injection (Greshake et al., 2023; InjecAgent — Zhan et al., 2024). ACRS mitigates via: input sanitisation layer before SessionRerank+; routing guards in Context-Driven Routing (CDR) that flag anomalous CoT paths; MNCD context integrity hashes to detect tampered context propagation.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005840"/>
            <a:ext cx="562356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05840"/>
            <a:ext cx="502920" cy="5029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097280"/>
            <a:ext cx="466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30568" y="1078992"/>
            <a:ext cx="5010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Personally Identifiable Information (PII) Handling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3368" y="1481328"/>
            <a:ext cx="54315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stored in MNCD nodes may contain Personally Identifiable Information (PII). Mitigations: in-memory only context stores with TTL expiry; differential privacy noise injection on exported session features; IndicTrans2 translation sub-system processes Indian language inputs — no external API calls for user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562356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39312"/>
            <a:ext cx="502920" cy="5029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730752"/>
            <a:ext cx="466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" y="3712464"/>
            <a:ext cx="5010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Compliance &amp; Trustworthiness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" y="4114800"/>
            <a:ext cx="54315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is a high-impact AI system (multi-agent decision making). EU AI Act Article 9 (Mittelstadt, 2023): risk management system documented. ACRS provides full routing decision logs (CDR chain-of-thought scores, APRR weight snapshots) for auditability. FCNP pruning decisions are reproducible from flow-score logs.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3639312"/>
            <a:ext cx="562356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639312"/>
            <a:ext cx="502920" cy="5029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730752"/>
            <a:ext cx="466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0568" y="3712464"/>
            <a:ext cx="5010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Equity &amp; Bias Mitigation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73368" y="4114800"/>
            <a:ext cx="54315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IndicTrans2 (Gala et al., 2023) and IndicGenBench (Singh et al., 2024) evaluations ensure SessionRerank+ tool rankings do not degrade for Indic language queries. Routing decisions (APRR+CDR+PDR) evaluated for language-group fairness: no statistical routing penalty for Indic vs English queries (t-test, α=0.05).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Research Timeline (3-Year PhD Schedule)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3-year programme with annual milestones, continuous experimental validation, and iterative benchmarking against published state-of-the-art.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379476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005840"/>
            <a:ext cx="3794760" cy="56692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0149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(2024–25)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107899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Pilot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" y="1645920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Literature review completion (55 papers catalogued)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2267712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ToolBench environment setup + baseline replication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2889504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SessionRerank+ pilot: NDCG@5 = 0.461 (Year 1 pilot, +2% over baseline)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511296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APRR+CDR+PDR pilot: 47.0% success, 261ms latency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4133088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MNCD pilot: 97.5% / 97.0% availability (5-node)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4754880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PRP-1 submission (June 2026)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961888"/>
            <a:ext cx="3794760" cy="5029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598017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PRP-1 Report + 4 pilot implementations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79392" y="1005840"/>
            <a:ext cx="379476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1005840"/>
            <a:ext cx="3794760" cy="56692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10149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(2025–26)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62472" y="107899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Development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1645920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1 Foundational Validation: Ablation studies on SessionRerank+ and FCNP vs. baselines on TREC Session (nDCG@5, Precision@k, MRR)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0" y="2267712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2 Domain Adaptation: Fine-tune ACRS on data.gov.in AgriGov corpus; domain-specific accuracy on agricultural queries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2889504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3 Real-World Simulation: Deploy prototype on cloud (AWS/GCP); stress tests, API downtime resilience, graceful degradation metrics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3511296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FCNP: citation-anchor algorithm finalised, 7-baseline comparison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0" y="4133088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evaluation: IndicTrans2 fairness testing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4754880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Journal/Conference paper submission (target: Year 2)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9392" y="5961888"/>
            <a:ext cx="3794760" cy="5029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598017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Journal/Conference paper + full system v1.0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38744" y="1005840"/>
            <a:ext cx="379476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38744" y="1005840"/>
            <a:ext cx="3794760" cy="566928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0184" y="10149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(2026–27)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21824" y="107899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Thesis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48472" y="1645920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30-scenario end-to-end ACRS evaluation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48472" y="2267712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Wilcoxon significance tests across all 4 objectives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48472" y="2889504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Ethics &amp; AI Act compliance documentation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48472" y="3511296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Journal/Conference paper submission (second paper)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48472" y="4133088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Thesis writing and internal review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48472" y="4754880"/>
            <a:ext cx="359359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Thesis submission and viva preparation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38744" y="5961888"/>
            <a:ext cx="3794760" cy="5029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0184" y="598017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Journal/Conference paper + PhD Thesis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1161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Adaptive Context Reasoning System (ACRS) PhD Research Proposal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Context Reasoning System (ACRS) presents a unified framework addressing four independent, unresolved gaps in multi-agent Large Language Model (LLM) inference: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435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SessionRerank+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120700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 tool reranking: NDCG@5 ≥ 0.461 (+2% over dense retrieval baseline, p&lt;0.05) on 43,000 real-world APIs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457200" cy="45720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91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322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APRR+CDR+PDR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322576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Reinforcement Learning (RL) adaptive routing: ≥47% task success, ≤265ms latency, +2% routing improvement over static baseline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457200" cy="45720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438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MNCD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343814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context distribution: ≥97% context availability under 2-of-5 node failures, O(log N) propagation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35424"/>
            <a:ext cx="457200" cy="45720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902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553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455371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Flow-Conductance-based Neural Pruning (FCNP): 10:1 context compression, ≥99% citation accuracy, Wilcoxon p&lt;0.05 vs 7 baselines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715000"/>
            <a:ext cx="11274552" cy="0"/>
          </a:xfrm>
          <a:prstGeom prst="line">
            <a:avLst/>
          </a:prstGeom>
          <a:noFill/>
          <a:ln w="12700">
            <a:solidFill>
              <a:srgbClr val="C84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four components form a production-validated, ethically compliant, and statistically rigorous system for the next generation of multi-agent Large Language Model (LLM) inference infrastructure.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74552" y="6583680"/>
            <a:ext cx="914400" cy="27432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6601968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4552" y="6601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End-to-End Integration — ToolBench, data.gov.in &amp; HuggingFace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303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objectives operate on a shared ToolBench dataset and live data.gov.in agriculture feeds — deployed as a unified HuggingFace (HF) Spaces demo.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896112"/>
            <a:ext cx="11548872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32688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INPUT: ToolBench (43,000 Application Programming Interfaces (APIs)) + data.gov.in Live Feeds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472184"/>
            <a:ext cx="374904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996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 Mandi Prices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7007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9ef84268-d588-465a-a308-a864a43d0070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1847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state, commodity, modal_price, arrival_date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42816" y="1472184"/>
            <a:ext cx="374904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4256" y="14996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 Crop Arrivals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34256" y="17007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35985678-0d79-46b4-9ed6-6f13308a1d24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34256" y="1847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State, Commodity, Market, Modal_Price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65592" y="1472184"/>
            <a:ext cx="37490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14996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STATIC  ToolBench APIs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57032" y="170078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Qin et al. 2024 — 43K APIs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57032" y="1847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tool_name, api_endpoint, category, description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331720"/>
            <a:ext cx="2816352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331720"/>
            <a:ext cx="281635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35000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SessionRerank+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2715768"/>
            <a:ext cx="263347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Reranks ToolBench APIs using co-activation graph + session history. Selects Top-K APIs for current farmer query.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3246120"/>
            <a:ext cx="109728" cy="0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3282696" y="2331720"/>
            <a:ext cx="2816352" cy="20116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82696" y="2331720"/>
            <a:ext cx="2816352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35000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APRR+CDR+PDR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74136" y="2715768"/>
            <a:ext cx="263347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query to specialist agents using RL weight matrix W, updated by mandi price signal.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17336" y="3246120"/>
            <a:ext cx="109728" cy="0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245352" y="2331720"/>
            <a:ext cx="2816352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5352" y="2331720"/>
            <a:ext cx="281635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235000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3 — MNCD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36792" y="2715768"/>
            <a:ext cx="263347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context across agent mesh via gossip protocol. Borda consensus over live data.gov.in responses.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79992" y="3246120"/>
            <a:ext cx="109728" cy="0"/>
          </a:xfrm>
          <a:prstGeom prst="line">
            <a:avLst/>
          </a:prstGeom>
          <a:noFill/>
          <a:ln w="12700">
            <a:solidFill>
              <a:srgbClr val="3C2864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9208008" y="2331720"/>
            <a:ext cx="2816352" cy="2011680"/>
          </a:xfrm>
          <a:prstGeom prst="rect">
            <a:avLst/>
          </a:prstGeom>
          <a:solidFill>
            <a:srgbClr val="F3E5F5"/>
          </a:solidFill>
          <a:ln w="12700">
            <a:solidFill>
              <a:srgbClr val="6A0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08008" y="2331720"/>
            <a:ext cx="2816352" cy="347472"/>
          </a:xfrm>
          <a:prstGeom prst="rect">
            <a:avLst/>
          </a:prstGeom>
          <a:solidFill>
            <a:srgbClr val="6A0080"/>
          </a:solidFill>
          <a:ln w="12700">
            <a:solidFill>
              <a:srgbClr val="6A0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81160" y="235000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4 — FCNP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99448" y="2715768"/>
            <a:ext cx="263347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Prunes Key-Value (KV) context using Flow Conductance scores. Retains citation-critical tokens at 10:1 compression.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4443984"/>
            <a:ext cx="6949440" cy="53035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480560"/>
            <a:ext cx="6766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Verified, source-attributed, multilingual farmer response — data.gov.in cited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60920" y="4443984"/>
            <a:ext cx="4507992" cy="53035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52360" y="44805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(HF) Spaces Demo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52360" y="47000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available on request to supervisor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" y="5065776"/>
            <a:ext cx="11548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All 4 objectives share ToolBench tool index (43K APIs) — Obj1 reranks, Obj2 routes, Obj3 distributes, Obj4 compresses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0040" y="5413248"/>
            <a:ext cx="11548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data.gov.in live Application Programming Interface (API) feeds inject real mandi prices &amp; crop arrivals at Obj2 (routing signal) and Obj3 (consensus input)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0040" y="5760720"/>
            <a:ext cx="11548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HuggingFace Spaces hosts Gradio demo: farmer types query → live ACRS pipeline responds with cited data.gov.in source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(1 of 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300" dirty="0"/>
          </a:p>
        </p:txBody>
      </p:sp>
      <p:sp>
        <p:nvSpPr>
          <p:cNvPr id="9" name="Shape 7">
            <a:hlinkClick r:id="rId1" tooltip=""/>
          </p:cNvPr>
          <p:cNvSpPr/>
          <p:nvPr/>
        </p:nvSpPr>
        <p:spPr>
          <a:xfrm>
            <a:off x="320040" y="566928"/>
            <a:ext cx="29260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6692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" y="566928"/>
            <a:ext cx="11201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 et al. (2024). LazyLLM: Dynamic Token Pruning for Efficient Long Context LLM Inference. arXiv:2407.14057. doi:10.48550/arXiv.2407.14057.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43584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>
            <a:hlinkClick r:id="rId2" tooltip=""/>
          </p:cNvPr>
          <p:cNvSpPr/>
          <p:nvPr/>
        </p:nvSpPr>
        <p:spPr>
          <a:xfrm>
            <a:off x="320040" y="1335024"/>
            <a:ext cx="29260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3502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" y="1335024"/>
            <a:ext cx="11201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(2023). H2O: Heavy-Hitter Oracle for Efficient Generative Inference of Large Language Models. NeurIPS 2023. arXiv:2306.14048. doi:10.48550/arXiv.2306.14048.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>
            <a:hlinkClick r:id="rId3" tooltip=""/>
          </p:cNvPr>
          <p:cNvSpPr/>
          <p:nvPr/>
        </p:nvSpPr>
        <p:spPr>
          <a:xfrm>
            <a:off x="320040" y="2103120"/>
            <a:ext cx="29260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0312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" y="2103120"/>
            <a:ext cx="11201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(2023). Scissorhands: Exploiting the Persistence of Importance Hypothesis for LLM KV Cache Compression at Test Time. NeurIPS 2023. arXiv:2305.17118. doi:10.48550/arXiv.2305.17118.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79776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>
            <a:hlinkClick r:id="rId4" tooltip=""/>
          </p:cNvPr>
          <p:cNvSpPr/>
          <p:nvPr/>
        </p:nvSpPr>
        <p:spPr>
          <a:xfrm>
            <a:off x="320040" y="2871216"/>
            <a:ext cx="29260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7121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" y="2871216"/>
            <a:ext cx="11201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et al. (2024). Efficient Streaming Language Models with Attention Sinks (StreamingLLM). ICLR 2024. arXiv:2309.17453. doi:10.48550/arXiv.2309.17453.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47872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>
            <a:hlinkClick r:id="rId5" tooltip=""/>
          </p:cNvPr>
          <p:cNvSpPr/>
          <p:nvPr/>
        </p:nvSpPr>
        <p:spPr>
          <a:xfrm>
            <a:off x="320040" y="3639312"/>
            <a:ext cx="29260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3931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" y="3639312"/>
            <a:ext cx="11201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 et al. (2024). GEAR: An Efficient KV Cache Compression Recipe for Near-Lossless Generative Inference of LLM. arXiv:2403.05527. doi:10.48550/arXiv.2403.05527.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315968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>
            <a:hlinkClick r:id="rId6" tooltip=""/>
          </p:cNvPr>
          <p:cNvSpPr/>
          <p:nvPr/>
        </p:nvSpPr>
        <p:spPr>
          <a:xfrm>
            <a:off x="320040" y="4407408"/>
            <a:ext cx="29260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0740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" y="4407408"/>
            <a:ext cx="11201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 et al. (2024). ToolLLM: Facilitating Large Language Models to Master 16000+ Real-world APIs. ICLR 2024. arXiv:2307.16789. doi:10.48550/arXiv.2307.16789.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5084064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>
            <a:hlinkClick r:id="rId7" tooltip=""/>
          </p:cNvPr>
          <p:cNvSpPr/>
          <p:nvPr/>
        </p:nvSpPr>
        <p:spPr>
          <a:xfrm>
            <a:off x="320040" y="5175504"/>
            <a:ext cx="29260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517550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67512" y="5175504"/>
            <a:ext cx="11201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(2024). CacheGen: KV Cache Compression and Streaming for Fast Large Language Model Serving. SIGCOMM 2024. doi:10.1145/3651890.3672274.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6455664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Paper Folder: </a:t>
            </a:r>
            <a:pPr indent="0" marL="0">
              <a:buNone/>
            </a:pPr>
            <a:r>
              <a:rPr lang="en-US" sz="95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Drive Folder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(2 of 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300" dirty="0"/>
          </a:p>
        </p:txBody>
      </p:sp>
      <p:sp>
        <p:nvSpPr>
          <p:cNvPr id="9" name="Shape 7">
            <a:hlinkClick r:id="rId1" tooltip=""/>
          </p:cNvPr>
          <p:cNvSpPr/>
          <p:nvPr/>
        </p:nvSpPr>
        <p:spPr>
          <a:xfrm>
            <a:off x="320040" y="566928"/>
            <a:ext cx="29260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6692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" y="566928"/>
            <a:ext cx="11201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(2024). MiniCache: KV Cache Compression in Depth Dimension for Large Language Models. NeurIPS 2024. arXiv:2405.14366. doi:10.48550/arXiv.2405.14366.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43584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>
            <a:hlinkClick r:id="rId2" tooltip=""/>
          </p:cNvPr>
          <p:cNvSpPr/>
          <p:nvPr/>
        </p:nvSpPr>
        <p:spPr>
          <a:xfrm>
            <a:off x="320040" y="1335024"/>
            <a:ext cx="29260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3502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" y="1335024"/>
            <a:ext cx="11201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et al. (2024). RouteLLM: Learning to Route LLMs with Preference Data. arXiv:2406.18665. doi:10.48550/arXiv.2406.18665.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>
            <a:hlinkClick r:id="rId3" tooltip=""/>
          </p:cNvPr>
          <p:cNvSpPr/>
          <p:nvPr/>
        </p:nvSpPr>
        <p:spPr>
          <a:xfrm>
            <a:off x="320040" y="2103120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03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8952" y="2103120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(2023). FrugalGPT: How to Use Large Language Models While Reducing Cost and Improving Performance. arXiv:2305.05176. doi:10.48550/arXiv.2305.05176.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79776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>
            <a:hlinkClick r:id="rId4" tooltip=""/>
          </p:cNvPr>
          <p:cNvSpPr/>
          <p:nvPr/>
        </p:nvSpPr>
        <p:spPr>
          <a:xfrm>
            <a:off x="320040" y="2871216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712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" y="287121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(2024). Mixture-of-Agents Enhances Large Language Model Capabilities. arXiv/COLM 2024.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47872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>
            <a:hlinkClick r:id="rId5" tooltip=""/>
          </p:cNvPr>
          <p:cNvSpPr/>
          <p:nvPr/>
        </p:nvSpPr>
        <p:spPr>
          <a:xfrm>
            <a:off x="320040" y="3639312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39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" y="3639312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Stripelis et al. (2024). TensorOpera Router: A Multi-Model Router for Efficient LLM Inference. EMNLP 2024.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315968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>
            <a:hlinkClick r:id="rId6" tooltip=""/>
          </p:cNvPr>
          <p:cNvSpPr/>
          <p:nvPr/>
        </p:nvSpPr>
        <p:spPr>
          <a:xfrm>
            <a:off x="320040" y="4407408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07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952" y="4407408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Feng et al. (2024). GraphRouter: A Graph-based Router for LLM Selections. arXiv 2024.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5084064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>
            <a:hlinkClick r:id="rId7" tooltip=""/>
          </p:cNvPr>
          <p:cNvSpPr/>
          <p:nvPr/>
        </p:nvSpPr>
        <p:spPr>
          <a:xfrm>
            <a:off x="320040" y="5175504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51755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58952" y="5175504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(2024). AutoGen: Enabling Next-Gen LLM Applications via Multi-Agent Conversation. ICLR 2024. arXiv:2308.08155. doi:10.48550/arXiv.2308.08155.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6455664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Paper Folder: </a:t>
            </a:r>
            <a:pPr indent="0" marL="0">
              <a:buNone/>
            </a:pPr>
            <a:r>
              <a:rPr lang="en-US" sz="95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Drive Folder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(3 of 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9" name="Shape 7">
            <a:hlinkClick r:id="rId1" tooltip=""/>
          </p:cNvPr>
          <p:cNvSpPr/>
          <p:nvPr/>
        </p:nvSpPr>
        <p:spPr>
          <a:xfrm>
            <a:off x="320040" y="566928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669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" y="566928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(2023). ReAct: Synergizing Reasoning and Acting in Language Models. ICLR 2023. arXiv:2210.03629. doi:10.48550/arXiv.2210.03629.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43584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>
            <a:hlinkClick r:id="rId2" tooltip=""/>
          </p:cNvPr>
          <p:cNvSpPr/>
          <p:nvPr/>
        </p:nvSpPr>
        <p:spPr>
          <a:xfrm>
            <a:off x="320040" y="1335024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350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" y="1335024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(2023). AgentBench: Evaluating LLMs as Agents. ICLR 2024. arXiv:2308.03688. doi:10.48550/arXiv.2308.03688.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>
            <a:hlinkClick r:id="rId3" tooltip=""/>
          </p:cNvPr>
          <p:cNvSpPr/>
          <p:nvPr/>
        </p:nvSpPr>
        <p:spPr>
          <a:xfrm>
            <a:off x="320040" y="2103120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03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8952" y="2103120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 et al. (2023). The Rise and Potential of Large Language Model Based Agents: A Survey. arXiv:2309.07864.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79776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>
            <a:hlinkClick r:id="rId4" tooltip=""/>
          </p:cNvPr>
          <p:cNvSpPr/>
          <p:nvPr/>
        </p:nvSpPr>
        <p:spPr>
          <a:xfrm>
            <a:off x="320040" y="2871216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712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" y="287121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 (2022). LoRA: Low-Rank Adaptation of Large Language Models. ICLR 2022. arXiv:2106.09685. doi:10.48550/arXiv.2106.09685.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47872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>
            <a:hlinkClick r:id="rId5" tooltip=""/>
          </p:cNvPr>
          <p:cNvSpPr/>
          <p:nvPr/>
        </p:nvSpPr>
        <p:spPr>
          <a:xfrm>
            <a:off x="320040" y="3639312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39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" y="3639312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(2024). Ada-KV: Optimizing KV Cache Eviction by Adaptive Budget Allocation for Efficient LLM Inference. arXiv:2407.11550. doi:10.48550/arXiv.2407.11550.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315968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>
            <a:hlinkClick r:id="rId6" tooltip=""/>
          </p:cNvPr>
          <p:cNvSpPr/>
          <p:nvPr/>
        </p:nvSpPr>
        <p:spPr>
          <a:xfrm>
            <a:off x="320040" y="4407408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07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952" y="4407408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et al. (2024). D2O: Dynamic Discriminative Operations for Efficient Generative Inference of Large Language Models. arXiv:2406.13035. doi:10.48550/arXiv.2406.13035.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5084064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>
            <a:hlinkClick r:id="rId7" tooltip=""/>
          </p:cNvPr>
          <p:cNvSpPr/>
          <p:nvPr/>
        </p:nvSpPr>
        <p:spPr>
          <a:xfrm>
            <a:off x="320040" y="5175504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51755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58952" y="5175504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et al. (2024). Gemini: A Family of Highly Capable Multimodal Models. arXiv:2312.11805. doi:10.48550/arXiv.2312.11805.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6455664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Paper Folder: </a:t>
            </a:r>
            <a:pPr indent="0" marL="0">
              <a:buNone/>
            </a:pPr>
            <a:r>
              <a:rPr lang="en-US" sz="95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Drive Folder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(4 of 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300" dirty="0"/>
          </a:p>
        </p:txBody>
      </p:sp>
      <p:sp>
        <p:nvSpPr>
          <p:cNvPr id="9" name="Shape 7">
            <a:hlinkClick r:id="rId1" tooltip=""/>
          </p:cNvPr>
          <p:cNvSpPr/>
          <p:nvPr/>
        </p:nvSpPr>
        <p:spPr>
          <a:xfrm>
            <a:off x="320040" y="566928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669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" y="566928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 (2024). Large Language Model based Multi-Agents: A Survey of Progress and Challenges. arXiv:2402.01680. doi:10.48550/arXiv.2402.01680.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43584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>
            <a:hlinkClick r:id="rId2" tooltip=""/>
          </p:cNvPr>
          <p:cNvSpPr/>
          <p:nvPr/>
        </p:nvSpPr>
        <p:spPr>
          <a:xfrm>
            <a:off x="320040" y="1335024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350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" y="1335024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(2024). Finch: Prompt-guided Key-Value Cache Compression for Large Language Models. TACL 2024. arXiv:2408.00167. doi:10.48550/arXiv.2408.00167.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>
            <a:hlinkClick r:id="rId3" tooltip=""/>
          </p:cNvPr>
          <p:cNvSpPr/>
          <p:nvPr/>
        </p:nvSpPr>
        <p:spPr>
          <a:xfrm>
            <a:off x="320040" y="2103120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03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[24]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8952" y="2103120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(2024). ToolBench: An Open Platform for Training, Serving, and Evaluating Large Language Models for Tool Learning. arXiv:2307.16789.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79776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>
            <a:hlinkClick r:id="rId4" tooltip=""/>
          </p:cNvPr>
          <p:cNvSpPr/>
          <p:nvPr/>
        </p:nvSpPr>
        <p:spPr>
          <a:xfrm>
            <a:off x="320040" y="2871216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712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" y="2871216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 et al. (2023). Tool Learning with Foundation Models. arXiv:2304.08354.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47872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>
            <a:hlinkClick r:id="rId5" tooltip=""/>
          </p:cNvPr>
          <p:cNvSpPr/>
          <p:nvPr/>
        </p:nvSpPr>
        <p:spPr>
          <a:xfrm>
            <a:off x="320040" y="3639312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39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[26]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" y="3639312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Patil et al. (2023). Gorilla: Large Language Model Connected with Massive APIs. arXiv:2305.15334.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315968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>
            <a:hlinkClick r:id="rId6" tooltip=""/>
          </p:cNvPr>
          <p:cNvSpPr/>
          <p:nvPr/>
        </p:nvSpPr>
        <p:spPr>
          <a:xfrm>
            <a:off x="320040" y="4407408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07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952" y="4407408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Zhuang et al. (2023). ToolQA: A Dataset for LLM Question Answering with External Tools. NeurIPS 2023. arXiv:2306.13304.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5084064"/>
            <a:ext cx="1154887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>
            <a:hlinkClick r:id="rId7" tooltip=""/>
          </p:cNvPr>
          <p:cNvSpPr/>
          <p:nvPr/>
        </p:nvSpPr>
        <p:spPr>
          <a:xfrm>
            <a:off x="320040" y="5175504"/>
            <a:ext cx="384048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51755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[28]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58952" y="5175504"/>
            <a:ext cx="111099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Schick et al. (2024). Toolformer: Language Models Can Teach Themselves to Use Tools. NeurIPS 2023. arXiv:2302.04761.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6455664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Paper Folder: </a:t>
            </a:r>
            <a:pPr indent="0" marL="0">
              <a:buNone/>
            </a:pPr>
            <a:r>
              <a:rPr lang="en-US" sz="95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Drive Folder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Research Timeline — Post-PRP-1 to Thesis (Months After Proof-of-Concept)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402A"/>
          </a:solidFill>
          <a:ln w="12700">
            <a:solidFill>
              <a:srgbClr val="C8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611112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ACRS — PRP-1 | M.S. Ramaiah University | Jenisha T | 24ETRP720001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solidFill>
            <a:srgbClr val="3C2864"/>
          </a:solidFill>
          <a:ln w="12700">
            <a:solidFill>
              <a:srgbClr val="3C2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2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502920"/>
            <a:ext cx="11548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C2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PRP-1 (June 2026). Each objective completion triggers a journal paper submission. Timeline aligned with MSRUAS ORI Standard Operating Procedure (SOP, February 2025). Examiner review minimum 8 weeks per SOP.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11795760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M. S. Ramaiah University of Applied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Evaluation of Adaptive Context Reasoning System (ACRS) for Efficient Multi-Agent Large Language Model Inference</dc:title>
  <dc:subject>PhD Research Proposal — ACRS</dc:subject>
  <dc:creator>Jenisha T</dc:creator>
  <cp:lastModifiedBy>Jenisha T</cp:lastModifiedBy>
  <cp:revision>1</cp:revision>
  <dcterms:created xsi:type="dcterms:W3CDTF">2026-06-18T10:24:20Z</dcterms:created>
  <dcterms:modified xsi:type="dcterms:W3CDTF">2026-06-18T10:24:20Z</dcterms:modified>
</cp:coreProperties>
</file>